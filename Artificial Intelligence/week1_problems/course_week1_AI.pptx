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57" r:id="rId5"/>
    <p:sldId id="261" r:id="rId6"/>
    <p:sldId id="347" r:id="rId7"/>
    <p:sldId id="349" r:id="rId8"/>
    <p:sldId id="354" r:id="rId9"/>
    <p:sldId id="355" r:id="rId10"/>
    <p:sldId id="353" r:id="rId11"/>
    <p:sldId id="263" r:id="rId12"/>
    <p:sldId id="264" r:id="rId13"/>
    <p:sldId id="265" r:id="rId14"/>
    <p:sldId id="267" r:id="rId15"/>
    <p:sldId id="268" r:id="rId16"/>
    <p:sldId id="402" r:id="rId17"/>
    <p:sldId id="403" r:id="rId18"/>
    <p:sldId id="356" r:id="rId19"/>
    <p:sldId id="270" r:id="rId20"/>
    <p:sldId id="357" r:id="rId21"/>
    <p:sldId id="358" r:id="rId22"/>
    <p:sldId id="362" r:id="rId23"/>
    <p:sldId id="363" r:id="rId24"/>
    <p:sldId id="273" r:id="rId25"/>
    <p:sldId id="364" r:id="rId26"/>
    <p:sldId id="276" r:id="rId27"/>
    <p:sldId id="277" r:id="rId28"/>
    <p:sldId id="278" r:id="rId29"/>
    <p:sldId id="279" r:id="rId30"/>
    <p:sldId id="280" r:id="rId31"/>
    <p:sldId id="281" r:id="rId32"/>
    <p:sldId id="282" r:id="rId33"/>
    <p:sldId id="283" r:id="rId34"/>
    <p:sldId id="284" r:id="rId35"/>
    <p:sldId id="285" r:id="rId36"/>
    <p:sldId id="286" r:id="rId37"/>
    <p:sldId id="365" r:id="rId38"/>
    <p:sldId id="287" r:id="rId39"/>
    <p:sldId id="288" r:id="rId40"/>
    <p:sldId id="289" r:id="rId41"/>
    <p:sldId id="290" r:id="rId42"/>
    <p:sldId id="291" r:id="rId43"/>
    <p:sldId id="292"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66" r:id="rId59"/>
    <p:sldId id="367" r:id="rId60"/>
    <p:sldId id="368" r:id="rId61"/>
    <p:sldId id="370" r:id="rId62"/>
    <p:sldId id="371" r:id="rId63"/>
    <p:sldId id="372" r:id="rId64"/>
    <p:sldId id="374" r:id="rId65"/>
    <p:sldId id="314" r:id="rId66"/>
    <p:sldId id="315" r:id="rId67"/>
    <p:sldId id="317" r:id="rId68"/>
    <p:sldId id="318" r:id="rId69"/>
    <p:sldId id="319" r:id="rId70"/>
    <p:sldId id="320" r:id="rId71"/>
    <p:sldId id="322" r:id="rId72"/>
    <p:sldId id="327" r:id="rId73"/>
    <p:sldId id="323" r:id="rId74"/>
    <p:sldId id="324" r:id="rId75"/>
    <p:sldId id="325" r:id="rId76"/>
    <p:sldId id="382" r:id="rId77"/>
    <p:sldId id="383" r:id="rId78"/>
    <p:sldId id="384" r:id="rId79"/>
    <p:sldId id="385" r:id="rId80"/>
    <p:sldId id="386" r:id="rId81"/>
    <p:sldId id="387" r:id="rId82"/>
    <p:sldId id="326" r:id="rId83"/>
    <p:sldId id="328" r:id="rId84"/>
    <p:sldId id="329" r:id="rId85"/>
    <p:sldId id="330" r:id="rId86"/>
    <p:sldId id="331" r:id="rId87"/>
    <p:sldId id="332" r:id="rId88"/>
    <p:sldId id="333" r:id="rId89"/>
    <p:sldId id="334" r:id="rId90"/>
    <p:sldId id="335" r:id="rId91"/>
    <p:sldId id="336" r:id="rId92"/>
    <p:sldId id="337" r:id="rId93"/>
    <p:sldId id="338" r:id="rId94"/>
    <p:sldId id="339" r:id="rId95"/>
    <p:sldId id="340" r:id="rId96"/>
    <p:sldId id="341" r:id="rId97"/>
    <p:sldId id="342" r:id="rId98"/>
    <p:sldId id="343" r:id="rId99"/>
    <p:sldId id="344" r:id="rId100"/>
    <p:sldId id="345" r:id="rId101"/>
    <p:sldId id="346" r:id="rId102"/>
    <p:sldId id="388" r:id="rId103"/>
    <p:sldId id="389" r:id="rId104"/>
    <p:sldId id="390" r:id="rId105"/>
    <p:sldId id="391" r:id="rId106"/>
    <p:sldId id="392" r:id="rId107"/>
    <p:sldId id="393" r:id="rId108"/>
    <p:sldId id="394" r:id="rId109"/>
    <p:sldId id="395" r:id="rId110"/>
    <p:sldId id="396" r:id="rId111"/>
    <p:sldId id="398" r:id="rId112"/>
    <p:sldId id="399" r:id="rId113"/>
    <p:sldId id="400" r:id="rId114"/>
    <p:sldId id="401"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8" Type="http://schemas.openxmlformats.org/officeDocument/2006/relationships/tableStyles" Target="tableStyles.xml"/><Relationship Id="rId117" Type="http://schemas.openxmlformats.org/officeDocument/2006/relationships/viewProps" Target="viewProps.xml"/><Relationship Id="rId116" Type="http://schemas.openxmlformats.org/officeDocument/2006/relationships/presProps" Target="presProps.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7"/>
          <p:cNvSpPr txBox="1">
            <a:spLocks noGrp="1"/>
          </p:cNvSpPr>
          <p:nvPr/>
        </p:nvSpPr>
        <p:spPr>
          <a:xfrm>
            <a:off x="3971925" y="8774113"/>
            <a:ext cx="3038475" cy="461962"/>
          </a:xfrm>
          <a:prstGeom prst="rect">
            <a:avLst/>
          </a:prstGeom>
          <a:noFill/>
          <a:ln w="9525">
            <a:noFill/>
          </a:ln>
        </p:spPr>
        <p:txBody>
          <a:bodyPr lIns="93170" tIns="46586" rIns="93170" bIns="46586" anchor="b" anchorCtr="0"/>
          <a:p>
            <a:pPr lvl="0" algn="r" defTabSz="932180"/>
            <a:fld id="{9A0DB2DC-4C9A-4742-B13C-FB6460FD3503}" type="slidenum">
              <a:rPr lang="en-US" altLang="zh-CN" sz="1200" dirty="0">
                <a:latin typeface="Times New Roman" panose="02020603050405020304" pitchFamily="18" charset="0"/>
              </a:rPr>
            </a:fld>
            <a:endParaRPr lang="en-US" altLang="zh-CN" sz="1200" dirty="0">
              <a:latin typeface="Times New Roman" panose="02020603050405020304" pitchFamily="18" charset="0"/>
            </a:endParaRPr>
          </a:p>
        </p:txBody>
      </p:sp>
      <p:sp>
        <p:nvSpPr>
          <p:cNvPr id="5122" name="Rectangle 2"/>
          <p:cNvSpPr>
            <a:spLocks noGrp="1" noRot="1" noTextEdit="1"/>
          </p:cNvSpPr>
          <p:nvPr>
            <p:ph type="sldImg"/>
          </p:nvPr>
        </p:nvSpPr>
        <p:spPr/>
      </p:sp>
      <p:sp>
        <p:nvSpPr>
          <p:cNvPr id="5123" name="Rectangle 3"/>
          <p:cNvSpPr>
            <a:spLocks noGrp="1"/>
          </p:cNvSpPr>
          <p:nvPr>
            <p:ph type="body"/>
          </p:nvPr>
        </p:nvSpPr>
        <p:spPr/>
        <p:txBody>
          <a:bodyPr wrap="square" lIns="93170" tIns="46586" rIns="93170" bIns="46586" anchor="t" anchorCtr="0"/>
          <a:p>
            <a:pPr lvl="0"/>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a:latin typeface="Calibri" panose="020F0502020204030204" charset="0"/>
                <a:cs typeface="Calibri" panose="020F0502020204030204" charset="0"/>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sz="1800">
                <a:latin typeface="Calibri" panose="020F0502020204030204" charset="0"/>
                <a:cs typeface="Calibri" panose="020F0502020204030204" charset="0"/>
              </a:defRPr>
            </a:lvl1pPr>
            <a:lvl2pPr>
              <a:defRPr sz="1800">
                <a:latin typeface="Calibri" panose="020F0502020204030204" charset="0"/>
                <a:cs typeface="Calibri" panose="020F0502020204030204" charset="0"/>
              </a:defRPr>
            </a:lvl2pPr>
            <a:lvl3pPr>
              <a:defRPr sz="1800">
                <a:latin typeface="Calibri" panose="020F0502020204030204" charset="0"/>
                <a:cs typeface="Calibri" panose="020F0502020204030204" charset="0"/>
              </a:defRPr>
            </a:lvl3pPr>
            <a:lvl4pPr>
              <a:defRPr sz="1800">
                <a:latin typeface="Calibri" panose="020F0502020204030204" charset="0"/>
                <a:cs typeface="Calibri" panose="020F0502020204030204" charset="0"/>
              </a:defRPr>
            </a:lvl4pPr>
            <a:lvl5pPr>
              <a:defRPr sz="1800">
                <a:latin typeface="Calibri" panose="020F0502020204030204" charset="0"/>
                <a:cs typeface="Calibri" panose="020F0502020204030204" charset="0"/>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timing>
    <p:tnLst>
      <p:par>
        <p:cTn id="1" dur="indefinite" restart="never" nodeType="tmRoot"/>
      </p:par>
    </p:tnLst>
  </p:timing>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63A1C593-65D0-4073-BCC9-577B9352EA97}" type="datetime1">
              <a:rPr lang="en-US" smtClean="0"/>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marL="0" lvl="0" indent="0" algn="ctr" defTabSz="914400" eaLnBrk="1" fontAlgn="base" latinLnBrk="0" hangingPunct="1">
        <a:lnSpc>
          <a:spcPct val="100000"/>
        </a:lnSpc>
        <a:spcBef>
          <a:spcPct val="0"/>
        </a:spcBef>
        <a:spcAft>
          <a:spcPct val="0"/>
        </a:spcAft>
        <a:buNone/>
        <a:defRPr sz="4000" b="0" i="0" u="none" kern="1200" baseline="0">
          <a:solidFill>
            <a:schemeClr val="tx2"/>
          </a:solidFill>
          <a:latin typeface="Calibri" panose="020F0502020204030204" charset="0"/>
          <a:ea typeface="+mj-ea"/>
          <a:cs typeface="Calibri" panose="020F0502020204030204" charset="0"/>
        </a:defRPr>
      </a:lvl1pPr>
    </p:titleStyle>
    <p:bodyStyle>
      <a:lvl1pPr marL="342900" lvl="0" indent="-3429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Calibri" panose="020F0502020204030204" charset="0"/>
          <a:ea typeface="+mn-ea"/>
          <a:cs typeface="Calibri" panose="020F0502020204030204" charset="0"/>
        </a:defRPr>
      </a:lvl1pPr>
      <a:lvl2pPr marL="742950" lvl="1" indent="-285750" algn="l" defTabSz="914400" eaLnBrk="1" fontAlgn="base" latinLnBrk="0" hangingPunct="1">
        <a:lnSpc>
          <a:spcPct val="100000"/>
        </a:lnSpc>
        <a:spcBef>
          <a:spcPct val="20000"/>
        </a:spcBef>
        <a:spcAft>
          <a:spcPct val="0"/>
        </a:spcAft>
        <a:buChar char="–"/>
        <a:defRPr sz="1800" b="0" i="0" u="none" kern="1200" baseline="0">
          <a:solidFill>
            <a:schemeClr val="tx1"/>
          </a:solidFill>
          <a:latin typeface="Calibri" panose="020F0502020204030204" charset="0"/>
          <a:ea typeface="+mn-ea"/>
          <a:cs typeface="Calibri" panose="020F0502020204030204" charset="0"/>
        </a:defRPr>
      </a:lvl2pPr>
      <a:lvl3pPr marL="1143000" lvl="2"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Calibri" panose="020F0502020204030204" charset="0"/>
          <a:ea typeface="+mn-ea"/>
          <a:cs typeface="Calibri" panose="020F050202020403020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Calibri" panose="020F0502020204030204" charset="0"/>
          <a:ea typeface="+mn-ea"/>
          <a:cs typeface="Calibri" panose="020F050202020403020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Calibri" panose="020F0502020204030204" charset="0"/>
          <a:ea typeface="+mn-ea"/>
          <a:cs typeface="Calibri" panose="020F0502020204030204" charset="0"/>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image" Target="../media/image3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6.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7.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8.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9.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0.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1.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2.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4.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5.jpe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jpe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jpeg"/><Relationship Id="rId1" Type="http://schemas.openxmlformats.org/officeDocument/2006/relationships/image" Target="../media/image47.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0.jpe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1.jpe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2.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3.jpe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4.jpe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image" Target="../media/image56.jpe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ai.googleblog.com/2022/04/pathways-language-model-palm-scaling-to.html" TargetMode="External"/><Relationship Id="rId1" Type="http://schemas.openxmlformats.org/officeDocument/2006/relationships/image" Target="../media/image63.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5.png"/><Relationship Id="rId1" Type="http://schemas.openxmlformats.org/officeDocument/2006/relationships/image" Target="../media/image64.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6.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8.jpeg"/><Relationship Id="rId1" Type="http://schemas.openxmlformats.org/officeDocument/2006/relationships/image" Target="../media/image67.jpe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0.jpeg"/><Relationship Id="rId1" Type="http://schemas.openxmlformats.org/officeDocument/2006/relationships/image" Target="../media/image69.jpeg"/></Relationships>
</file>

<file path=ppt/slides/_rels/slide9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image" Target="../media/image71.jpe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5.jpeg"/><Relationship Id="rId1" Type="http://schemas.openxmlformats.org/officeDocument/2006/relationships/image" Target="../media/image74.jpeg"/></Relationships>
</file>

<file path=ppt/slides/_rels/slide9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9.jpeg"/><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image" Target="../media/image76.jpe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jpe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jpe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2.jpe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jpe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5.jpeg"/><Relationship Id="rId1" Type="http://schemas.openxmlformats.org/officeDocument/2006/relationships/image" Target="../media/image84.jpe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6.jpe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7.jpe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8.jpe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9.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anaconda.com/downloa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Rectangle 2061"/>
          <p:cNvSpPr txBox="1">
            <a:spLocks noGrp="1"/>
          </p:cNvSpPr>
          <p:nvPr/>
        </p:nvSpPr>
        <p:spPr>
          <a:xfrm>
            <a:off x="8763000" y="6477000"/>
            <a:ext cx="1905000" cy="381000"/>
          </a:xfrm>
          <a:prstGeom prst="rect">
            <a:avLst/>
          </a:prstGeom>
          <a:noFill/>
          <a:ln w="9525">
            <a:noFill/>
          </a:ln>
        </p:spPr>
        <p:txBody>
          <a:bodyPr anchor="b" anchorCtr="0"/>
          <a:p>
            <a:pPr algn="r"/>
            <a:fld id="{9A0DB2DC-4C9A-4742-B13C-FB6460FD3503}" type="slidenum">
              <a:rPr lang="en-US" altLang="zh-CN" sz="1200" dirty="0">
                <a:latin typeface="Tahoma" panose="020B0604030504040204" pitchFamily="34" charset="0"/>
              </a:rPr>
            </a:fld>
            <a:endParaRPr lang="en-US" altLang="zh-CN" sz="1200" dirty="0">
              <a:latin typeface="Tahoma" panose="020B0604030504040204" pitchFamily="34" charset="0"/>
            </a:endParaRPr>
          </a:p>
        </p:txBody>
      </p:sp>
      <p:sp>
        <p:nvSpPr>
          <p:cNvPr id="4098" name="Rectangle 1026"/>
          <p:cNvSpPr>
            <a:spLocks noGrp="1"/>
          </p:cNvSpPr>
          <p:nvPr>
            <p:ph type="title"/>
          </p:nvPr>
        </p:nvSpPr>
        <p:spPr>
          <a:xfrm>
            <a:off x="1182370" y="304800"/>
            <a:ext cx="9609455" cy="3733800"/>
          </a:xfrm>
        </p:spPr>
        <p:txBody>
          <a:bodyPr vert="horz" wrap="square" lIns="91440" tIns="45720" rIns="91440" bIns="45720" anchor="b" anchorCtr="0"/>
          <a:p>
            <a:pPr algn="ctr"/>
            <a:r>
              <a:rPr lang="en-US" altLang="en-US" sz="4800" dirty="0"/>
              <a:t>CSC 63106 – Artificial Intelligence</a:t>
            </a:r>
            <a:br>
              <a:rPr lang="en-US" altLang="en-US" sz="4800" dirty="0"/>
            </a:br>
            <a:r>
              <a:rPr lang="en-US" sz="4800" dirty="0"/>
              <a:t> </a:t>
            </a:r>
            <a:br>
              <a:rPr lang="en-US" sz="4800" dirty="0"/>
            </a:br>
            <a:r>
              <a:rPr lang="en-US" sz="3200" dirty="0"/>
              <a:t>— </a:t>
            </a:r>
            <a:r>
              <a:rPr lang="en-US" altLang="en-US" sz="2800" dirty="0"/>
              <a:t>Introduction to AI</a:t>
            </a:r>
            <a:r>
              <a:rPr lang="en-US" sz="2800" dirty="0"/>
              <a:t> —</a:t>
            </a:r>
            <a:endParaRPr lang="en-US" sz="2800" dirty="0"/>
          </a:p>
        </p:txBody>
      </p:sp>
      <p:sp>
        <p:nvSpPr>
          <p:cNvPr id="4099" name="Rectangle 1027"/>
          <p:cNvSpPr>
            <a:spLocks noGrp="1"/>
          </p:cNvSpPr>
          <p:nvPr>
            <p:ph type="body" idx="4294967295"/>
          </p:nvPr>
        </p:nvSpPr>
        <p:spPr>
          <a:xfrm>
            <a:off x="1828800" y="4267200"/>
            <a:ext cx="8305800" cy="2286000"/>
          </a:xfrm>
        </p:spPr>
        <p:txBody>
          <a:bodyPr vert="horz" wrap="square" lIns="91440" tIns="45720" rIns="91440" bIns="45720" anchor="t" anchorCtr="0"/>
          <a:p>
            <a:pPr algn="ctr">
              <a:lnSpc>
                <a:spcPct val="110000"/>
              </a:lnSpc>
              <a:buNone/>
            </a:pPr>
            <a:r>
              <a:rPr lang="en-US" dirty="0"/>
              <a:t>By Harriet Sibitenda</a:t>
            </a:r>
            <a:endParaRPr lang="en-US" dirty="0"/>
          </a:p>
          <a:p>
            <a:pPr algn="ctr">
              <a:lnSpc>
                <a:spcPct val="110000"/>
              </a:lnSpc>
              <a:buNone/>
            </a:pPr>
            <a:endParaRPr lang="en-US" sz="2400" dirty="0"/>
          </a:p>
          <a:p>
            <a:pPr algn="ctr">
              <a:lnSpc>
                <a:spcPct val="110000"/>
              </a:lnSpc>
              <a:buNone/>
            </a:pPr>
            <a:r>
              <a:rPr lang="en-US" sz="2400" dirty="0"/>
              <a:t>BCS</a:t>
            </a:r>
            <a:endParaRPr lang="en-US" sz="2400" dirty="0"/>
          </a:p>
        </p:txBody>
      </p:sp>
      <p:sp>
        <p:nvSpPr>
          <p:cNvPr id="2" name="Date Placeholder 1"/>
          <p:cNvSpPr>
            <a:spLocks noGrp="1"/>
          </p:cNvSpPr>
          <p:nvPr>
            <p:ph type="dt" sz="half" idx="10"/>
          </p:nvPr>
        </p:nvSpPr>
        <p:spPr/>
        <p:txBody>
          <a:bodyPr/>
          <a:p>
            <a:fld id="{63A1C593-65D0-4073-BCC9-577B9352EA97}" type="datetime1">
              <a:rPr lang="en-US" smtClean="0"/>
            </a:fld>
            <a:endParaRPr lang="en-US"/>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Outline</a:t>
            </a:r>
            <a:endParaRPr lang="en-US"/>
          </a:p>
        </p:txBody>
      </p:sp>
      <p:sp>
        <p:nvSpPr>
          <p:cNvPr id="3" name="Content Placeholder 2"/>
          <p:cNvSpPr>
            <a:spLocks noGrp="1"/>
          </p:cNvSpPr>
          <p:nvPr>
            <p:ph idx="1"/>
          </p:nvPr>
        </p:nvSpPr>
        <p:spPr/>
        <p:txBody>
          <a:bodyPr>
            <a:noAutofit/>
          </a:bodyPr>
          <a:p>
            <a:r>
              <a:rPr lang="en-US" altLang="en-US" sz="1700">
                <a:latin typeface="Calibri" panose="020F0502020204030204" charset="0"/>
                <a:cs typeface="Calibri" panose="020F0502020204030204" charset="0"/>
              </a:rPr>
              <a:t>What is AI?  Definitions (McCarthy, Minsky, modern)</a:t>
            </a:r>
            <a:endParaRPr lang="en-US" altLang="en-US" sz="1700">
              <a:latin typeface="Calibri" panose="020F0502020204030204" charset="0"/>
              <a:cs typeface="Calibri" panose="020F0502020204030204" charset="0"/>
            </a:endParaRPr>
          </a:p>
          <a:p>
            <a:endParaRPr lang="en-US" altLang="en-US" sz="1700">
              <a:latin typeface="Calibri" panose="020F0502020204030204" charset="0"/>
              <a:cs typeface="Calibri" panose="020F0502020204030204" charset="0"/>
            </a:endParaRPr>
          </a:p>
          <a:p>
            <a:r>
              <a:rPr lang="en-US" altLang="en-US" sz="1700">
                <a:latin typeface="Calibri" panose="020F0502020204030204" charset="0"/>
                <a:cs typeface="Calibri" panose="020F0502020204030204" charset="0"/>
              </a:rPr>
              <a:t>Brief History Timeline: Turing (1950), Dartmouth (1956), neural networks, modern breakthroughs</a:t>
            </a:r>
            <a:endParaRPr lang="en-US" altLang="en-US" sz="1700">
              <a:latin typeface="Calibri" panose="020F0502020204030204" charset="0"/>
              <a:cs typeface="Calibri" panose="020F0502020204030204" charset="0"/>
            </a:endParaRPr>
          </a:p>
          <a:p>
            <a:endParaRPr lang="en-US" altLang="en-US" sz="1700">
              <a:latin typeface="Calibri" panose="020F0502020204030204" charset="0"/>
              <a:cs typeface="Calibri" panose="020F0502020204030204" charset="0"/>
            </a:endParaRPr>
          </a:p>
          <a:p>
            <a:r>
              <a:rPr lang="en-US" altLang="en-US" sz="1700">
                <a:latin typeface="Calibri" panose="020F0502020204030204" charset="0"/>
                <a:cs typeface="Calibri" panose="020F0502020204030204" charset="0"/>
              </a:rPr>
              <a:t>Types of AI: Reactive, limited memory, theory of mind, self-aware</a:t>
            </a:r>
            <a:endParaRPr lang="en-US" altLang="en-US" sz="1700">
              <a:latin typeface="Calibri" panose="020F0502020204030204" charset="0"/>
              <a:cs typeface="Calibri" panose="020F0502020204030204" charset="0"/>
            </a:endParaRPr>
          </a:p>
          <a:p>
            <a:endParaRPr lang="en-US" altLang="en-US" sz="1700">
              <a:latin typeface="Calibri" panose="020F0502020204030204" charset="0"/>
              <a:cs typeface="Calibri" panose="020F0502020204030204" charset="0"/>
            </a:endParaRPr>
          </a:p>
          <a:p>
            <a:r>
              <a:rPr lang="en-US" altLang="en-US" sz="1700">
                <a:latin typeface="Calibri" panose="020F0502020204030204" charset="0"/>
                <a:cs typeface="Calibri" panose="020F0502020204030204" charset="0"/>
              </a:rPr>
              <a:t>Applications Across Domains: Healthcare, finance, robotics, games, autonomous systems</a:t>
            </a:r>
            <a:endParaRPr lang="en-US" altLang="en-US" sz="1700">
              <a:latin typeface="Calibri" panose="020F0502020204030204" charset="0"/>
              <a:cs typeface="Calibri" panose="020F0502020204030204" charset="0"/>
            </a:endParaRPr>
          </a:p>
          <a:p>
            <a:endParaRPr lang="en-US" altLang="en-US" sz="1700">
              <a:latin typeface="Calibri" panose="020F0502020204030204" charset="0"/>
              <a:cs typeface="Calibri" panose="020F0502020204030204" charset="0"/>
            </a:endParaRPr>
          </a:p>
          <a:p>
            <a:r>
              <a:rPr lang="en-US" altLang="en-US" sz="1700">
                <a:latin typeface="Calibri" panose="020F0502020204030204" charset="0"/>
                <a:cs typeface="Calibri" panose="020F0502020204030204" charset="0"/>
              </a:rPr>
              <a:t>Key Milestones &amp; Models: Early systems to deep learning, generative AI</a:t>
            </a:r>
            <a:endParaRPr lang="en-US" altLang="en-US" sz="1700">
              <a:latin typeface="Calibri" panose="020F0502020204030204" charset="0"/>
              <a:cs typeface="Calibri" panose="020F0502020204030204" charset="0"/>
            </a:endParaRPr>
          </a:p>
          <a:p>
            <a:endParaRPr lang="en-US" altLang="en-US" sz="1700">
              <a:latin typeface="Calibri" panose="020F0502020204030204" charset="0"/>
              <a:cs typeface="Calibri" panose="020F0502020204030204" charset="0"/>
            </a:endParaRPr>
          </a:p>
          <a:p>
            <a:r>
              <a:rPr lang="en-US" altLang="en-US" sz="1700">
                <a:latin typeface="Calibri" panose="020F0502020204030204" charset="0"/>
                <a:cs typeface="Calibri" panose="020F0502020204030204" charset="0"/>
              </a:rPr>
              <a:t>Tools &amp; Languages: Python, scikit-learn, TensorFlow; (upcoming later weeks)</a:t>
            </a:r>
            <a:endParaRPr lang="en-US" altLang="en-US" sz="1700">
              <a:latin typeface="Calibri" panose="020F0502020204030204" charset="0"/>
              <a:cs typeface="Calibri" panose="020F0502020204030204" charset="0"/>
            </a:endParaRPr>
          </a:p>
          <a:p>
            <a:pPr marL="0" indent="0">
              <a:buNone/>
            </a:pPr>
            <a:endParaRPr lang="en-US" altLang="en-US" sz="1700">
              <a:latin typeface="Calibri" panose="020F0502020204030204" charset="0"/>
              <a:cs typeface="Calibri" panose="020F0502020204030204" charset="0"/>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8540" y="38049"/>
            <a:ext cx="6748145" cy="627380"/>
          </a:xfrm>
          <a:prstGeom prst="rect">
            <a:avLst/>
          </a:prstGeom>
        </p:spPr>
        <p:txBody>
          <a:bodyPr vert="horz" wrap="square" lIns="0" tIns="12065" rIns="0" bIns="0" rtlCol="0">
            <a:spAutoFit/>
          </a:bodyPr>
          <a:lstStyle/>
          <a:p>
            <a:pPr marL="12700">
              <a:lnSpc>
                <a:spcPct val="100000"/>
              </a:lnSpc>
              <a:spcBef>
                <a:spcPts val="95"/>
              </a:spcBef>
            </a:pPr>
            <a:r>
              <a:rPr sz="4000" dirty="0"/>
              <a:t>What</a:t>
            </a:r>
            <a:r>
              <a:rPr sz="4000" spc="-150" dirty="0"/>
              <a:t> </a:t>
            </a:r>
            <a:r>
              <a:rPr sz="4000" dirty="0"/>
              <a:t>is</a:t>
            </a:r>
            <a:r>
              <a:rPr sz="4000" spc="-275" dirty="0"/>
              <a:t> </a:t>
            </a:r>
            <a:r>
              <a:rPr sz="4000" dirty="0"/>
              <a:t>Artificial</a:t>
            </a:r>
            <a:r>
              <a:rPr sz="4000" spc="-125" dirty="0"/>
              <a:t> </a:t>
            </a:r>
            <a:r>
              <a:rPr sz="4000" dirty="0"/>
              <a:t>Intelligence</a:t>
            </a:r>
            <a:r>
              <a:rPr sz="4000" spc="-105" dirty="0"/>
              <a:t> </a:t>
            </a:r>
            <a:r>
              <a:rPr sz="4000" spc="-50" dirty="0"/>
              <a:t>?</a:t>
            </a:r>
            <a:endParaRPr sz="4000"/>
          </a:p>
        </p:txBody>
      </p:sp>
      <p:sp>
        <p:nvSpPr>
          <p:cNvPr id="3" name="object 3"/>
          <p:cNvSpPr txBox="1"/>
          <p:nvPr/>
        </p:nvSpPr>
        <p:spPr>
          <a:xfrm>
            <a:off x="321945" y="670560"/>
            <a:ext cx="11574780" cy="2444750"/>
          </a:xfrm>
          <a:prstGeom prst="rect">
            <a:avLst/>
          </a:prstGeom>
        </p:spPr>
        <p:txBody>
          <a:bodyPr vert="horz" wrap="square" lIns="0" tIns="161925" rIns="0" bIns="0" rtlCol="0">
            <a:spAutoFit/>
          </a:bodyPr>
          <a:lstStyle/>
          <a:p>
            <a:pPr marL="285115" indent="-272415">
              <a:lnSpc>
                <a:spcPct val="100000"/>
              </a:lnSpc>
              <a:spcBef>
                <a:spcPts val="1275"/>
              </a:spcBef>
              <a:buClr>
                <a:srgbClr val="D24717"/>
              </a:buClr>
              <a:buSzPct val="85000"/>
              <a:buFont typeface="Segoe UI Symbol" panose="020B0502040204020203"/>
              <a:buChar char="⚫"/>
              <a:tabLst>
                <a:tab pos="285115" algn="l"/>
              </a:tabLst>
            </a:pPr>
            <a:r>
              <a:rPr dirty="0">
                <a:latin typeface="Calibri" panose="020F0502020204030204" charset="0"/>
                <a:cs typeface="Calibri" panose="020F0502020204030204" charset="0"/>
              </a:rPr>
              <a:t>making</a:t>
            </a:r>
            <a:r>
              <a:rPr spc="-70" dirty="0">
                <a:latin typeface="Calibri" panose="020F0502020204030204" charset="0"/>
                <a:cs typeface="Calibri" panose="020F0502020204030204" charset="0"/>
              </a:rPr>
              <a:t> </a:t>
            </a:r>
            <a:r>
              <a:rPr dirty="0">
                <a:latin typeface="Calibri" panose="020F0502020204030204" charset="0"/>
                <a:cs typeface="Calibri" panose="020F0502020204030204" charset="0"/>
              </a:rPr>
              <a:t>computers</a:t>
            </a:r>
            <a:r>
              <a:rPr spc="-80" dirty="0">
                <a:latin typeface="Calibri" panose="020F0502020204030204" charset="0"/>
                <a:cs typeface="Calibri" panose="020F0502020204030204" charset="0"/>
              </a:rPr>
              <a:t> </a:t>
            </a:r>
            <a:r>
              <a:rPr dirty="0">
                <a:latin typeface="Calibri" panose="020F0502020204030204" charset="0"/>
                <a:cs typeface="Calibri" panose="020F0502020204030204" charset="0"/>
              </a:rPr>
              <a:t>that</a:t>
            </a:r>
            <a:r>
              <a:rPr spc="-9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think?</a:t>
            </a:r>
            <a:endParaRPr>
              <a:latin typeface="Calibri" panose="020F0502020204030204" charset="0"/>
              <a:cs typeface="Calibri" panose="020F0502020204030204" charset="0"/>
            </a:endParaRPr>
          </a:p>
          <a:p>
            <a:pPr marL="285115" marR="446405" indent="-273050">
              <a:lnSpc>
                <a:spcPct val="120000"/>
              </a:lnSpc>
              <a:spcBef>
                <a:spcPts val="600"/>
              </a:spcBef>
              <a:buClr>
                <a:srgbClr val="D24717"/>
              </a:buClr>
              <a:buSzPct val="85000"/>
              <a:buFont typeface="Segoe UI Symbol" panose="020B0502040204020203"/>
              <a:buChar char="⚫"/>
              <a:tabLst>
                <a:tab pos="285115" algn="l"/>
              </a:tabLst>
            </a:pPr>
            <a:r>
              <a:rPr dirty="0">
                <a:latin typeface="Calibri" panose="020F0502020204030204" charset="0"/>
                <a:cs typeface="Calibri" panose="020F0502020204030204" charset="0"/>
              </a:rPr>
              <a:t>the</a:t>
            </a:r>
            <a:r>
              <a:rPr spc="-80" dirty="0">
                <a:latin typeface="Calibri" panose="020F0502020204030204" charset="0"/>
                <a:cs typeface="Calibri" panose="020F0502020204030204" charset="0"/>
              </a:rPr>
              <a:t> </a:t>
            </a:r>
            <a:r>
              <a:rPr dirty="0">
                <a:latin typeface="Calibri" panose="020F0502020204030204" charset="0"/>
                <a:cs typeface="Calibri" panose="020F0502020204030204" charset="0"/>
              </a:rPr>
              <a:t>automation</a:t>
            </a:r>
            <a:r>
              <a:rPr spc="-75" dirty="0">
                <a:latin typeface="Calibri" panose="020F0502020204030204" charset="0"/>
                <a:cs typeface="Calibri" panose="020F0502020204030204" charset="0"/>
              </a:rPr>
              <a:t> </a:t>
            </a:r>
            <a:r>
              <a:rPr dirty="0">
                <a:latin typeface="Calibri" panose="020F0502020204030204" charset="0"/>
                <a:cs typeface="Calibri" panose="020F0502020204030204" charset="0"/>
              </a:rPr>
              <a:t>of</a:t>
            </a:r>
            <a:r>
              <a:rPr spc="-80" dirty="0">
                <a:latin typeface="Calibri" panose="020F0502020204030204" charset="0"/>
                <a:cs typeface="Calibri" panose="020F0502020204030204" charset="0"/>
              </a:rPr>
              <a:t> </a:t>
            </a:r>
            <a:r>
              <a:rPr dirty="0">
                <a:latin typeface="Calibri" panose="020F0502020204030204" charset="0"/>
                <a:cs typeface="Calibri" panose="020F0502020204030204" charset="0"/>
              </a:rPr>
              <a:t>activities</a:t>
            </a:r>
            <a:r>
              <a:rPr spc="-65" dirty="0">
                <a:latin typeface="Calibri" panose="020F0502020204030204" charset="0"/>
                <a:cs typeface="Calibri" panose="020F0502020204030204" charset="0"/>
              </a:rPr>
              <a:t> </a:t>
            </a:r>
            <a:r>
              <a:rPr dirty="0">
                <a:latin typeface="Calibri" panose="020F0502020204030204" charset="0"/>
                <a:cs typeface="Calibri" panose="020F0502020204030204" charset="0"/>
              </a:rPr>
              <a:t>we</a:t>
            </a:r>
            <a:r>
              <a:rPr spc="-80" dirty="0">
                <a:latin typeface="Calibri" panose="020F0502020204030204" charset="0"/>
                <a:cs typeface="Calibri" panose="020F0502020204030204" charset="0"/>
              </a:rPr>
              <a:t> </a:t>
            </a:r>
            <a:r>
              <a:rPr dirty="0">
                <a:latin typeface="Calibri" panose="020F0502020204030204" charset="0"/>
                <a:cs typeface="Calibri" panose="020F0502020204030204" charset="0"/>
              </a:rPr>
              <a:t>associate</a:t>
            </a:r>
            <a:r>
              <a:rPr spc="-70" dirty="0">
                <a:latin typeface="Calibri" panose="020F0502020204030204" charset="0"/>
                <a:cs typeface="Calibri" panose="020F0502020204030204" charset="0"/>
              </a:rPr>
              <a:t> </a:t>
            </a:r>
            <a:r>
              <a:rPr dirty="0">
                <a:latin typeface="Calibri" panose="020F0502020204030204" charset="0"/>
                <a:cs typeface="Calibri" panose="020F0502020204030204" charset="0"/>
              </a:rPr>
              <a:t>with</a:t>
            </a:r>
            <a:r>
              <a:rPr spc="-6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human </a:t>
            </a:r>
            <a:r>
              <a:rPr dirty="0">
                <a:latin typeface="Calibri" panose="020F0502020204030204" charset="0"/>
                <a:cs typeface="Calibri" panose="020F0502020204030204" charset="0"/>
              </a:rPr>
              <a:t>thinking,</a:t>
            </a:r>
            <a:r>
              <a:rPr spc="-75" dirty="0">
                <a:latin typeface="Calibri" panose="020F0502020204030204" charset="0"/>
                <a:cs typeface="Calibri" panose="020F0502020204030204" charset="0"/>
              </a:rPr>
              <a:t> </a:t>
            </a:r>
            <a:r>
              <a:rPr dirty="0">
                <a:latin typeface="Calibri" panose="020F0502020204030204" charset="0"/>
                <a:cs typeface="Calibri" panose="020F0502020204030204" charset="0"/>
              </a:rPr>
              <a:t>like</a:t>
            </a:r>
            <a:r>
              <a:rPr spc="-85" dirty="0">
                <a:latin typeface="Calibri" panose="020F0502020204030204" charset="0"/>
                <a:cs typeface="Calibri" panose="020F0502020204030204" charset="0"/>
              </a:rPr>
              <a:t> </a:t>
            </a:r>
            <a:r>
              <a:rPr dirty="0">
                <a:latin typeface="Calibri" panose="020F0502020204030204" charset="0"/>
                <a:cs typeface="Calibri" panose="020F0502020204030204" charset="0"/>
              </a:rPr>
              <a:t>decision</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making,</a:t>
            </a:r>
            <a:r>
              <a:rPr spc="-85" dirty="0">
                <a:latin typeface="Calibri" panose="020F0502020204030204" charset="0"/>
                <a:cs typeface="Calibri" panose="020F0502020204030204" charset="0"/>
              </a:rPr>
              <a:t> </a:t>
            </a:r>
            <a:r>
              <a:rPr dirty="0">
                <a:latin typeface="Calibri" panose="020F0502020204030204" charset="0"/>
                <a:cs typeface="Calibri" panose="020F0502020204030204" charset="0"/>
              </a:rPr>
              <a:t>learning</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a:t>
            </a:r>
            <a:r>
              <a:rPr spc="-114" dirty="0">
                <a:latin typeface="Calibri" panose="020F0502020204030204" charset="0"/>
                <a:cs typeface="Calibri" panose="020F0502020204030204" charset="0"/>
              </a:rPr>
              <a:t> </a:t>
            </a:r>
            <a:r>
              <a:rPr spc="-50" dirty="0">
                <a:latin typeface="Calibri" panose="020F0502020204030204" charset="0"/>
                <a:cs typeface="Calibri" panose="020F0502020204030204" charset="0"/>
              </a:rPr>
              <a:t>?</a:t>
            </a:r>
            <a:endParaRPr>
              <a:latin typeface="Calibri" panose="020F0502020204030204" charset="0"/>
              <a:cs typeface="Calibri" panose="020F0502020204030204" charset="0"/>
            </a:endParaRPr>
          </a:p>
          <a:p>
            <a:pPr marL="285115" marR="158750" indent="-273050">
              <a:lnSpc>
                <a:spcPct val="120000"/>
              </a:lnSpc>
              <a:spcBef>
                <a:spcPts val="600"/>
              </a:spcBef>
              <a:buClr>
                <a:srgbClr val="D24717"/>
              </a:buClr>
              <a:buSzPct val="85000"/>
              <a:buFont typeface="Segoe UI Symbol" panose="020B0502040204020203"/>
              <a:buChar char="⚫"/>
              <a:tabLst>
                <a:tab pos="285115" algn="l"/>
              </a:tabLst>
            </a:pPr>
            <a:r>
              <a:rPr dirty="0">
                <a:latin typeface="Calibri" panose="020F0502020204030204" charset="0"/>
                <a:cs typeface="Calibri" panose="020F0502020204030204" charset="0"/>
              </a:rPr>
              <a:t>the</a:t>
            </a:r>
            <a:r>
              <a:rPr spc="-65" dirty="0">
                <a:latin typeface="Calibri" panose="020F0502020204030204" charset="0"/>
                <a:cs typeface="Calibri" panose="020F0502020204030204" charset="0"/>
              </a:rPr>
              <a:t> </a:t>
            </a:r>
            <a:r>
              <a:rPr dirty="0">
                <a:latin typeface="Calibri" panose="020F0502020204030204" charset="0"/>
                <a:cs typeface="Calibri" panose="020F0502020204030204" charset="0"/>
              </a:rPr>
              <a:t>art</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of</a:t>
            </a:r>
            <a:r>
              <a:rPr spc="-65" dirty="0">
                <a:latin typeface="Calibri" panose="020F0502020204030204" charset="0"/>
                <a:cs typeface="Calibri" panose="020F0502020204030204" charset="0"/>
              </a:rPr>
              <a:t> </a:t>
            </a:r>
            <a:r>
              <a:rPr dirty="0">
                <a:latin typeface="Calibri" panose="020F0502020204030204" charset="0"/>
                <a:cs typeface="Calibri" panose="020F0502020204030204" charset="0"/>
              </a:rPr>
              <a:t>creating</a:t>
            </a:r>
            <a:r>
              <a:rPr spc="-65" dirty="0">
                <a:latin typeface="Calibri" panose="020F0502020204030204" charset="0"/>
                <a:cs typeface="Calibri" panose="020F0502020204030204" charset="0"/>
              </a:rPr>
              <a:t> </a:t>
            </a:r>
            <a:r>
              <a:rPr dirty="0">
                <a:latin typeface="Calibri" panose="020F0502020204030204" charset="0"/>
                <a:cs typeface="Calibri" panose="020F0502020204030204" charset="0"/>
              </a:rPr>
              <a:t>machines</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that</a:t>
            </a:r>
            <a:r>
              <a:rPr spc="-65" dirty="0">
                <a:latin typeface="Calibri" panose="020F0502020204030204" charset="0"/>
                <a:cs typeface="Calibri" panose="020F0502020204030204" charset="0"/>
              </a:rPr>
              <a:t> </a:t>
            </a:r>
            <a:r>
              <a:rPr dirty="0">
                <a:latin typeface="Calibri" panose="020F0502020204030204" charset="0"/>
                <a:cs typeface="Calibri" panose="020F0502020204030204" charset="0"/>
              </a:rPr>
              <a:t>perform</a:t>
            </a:r>
            <a:r>
              <a:rPr spc="-70" dirty="0">
                <a:latin typeface="Calibri" panose="020F0502020204030204" charset="0"/>
                <a:cs typeface="Calibri" panose="020F0502020204030204" charset="0"/>
              </a:rPr>
              <a:t> </a:t>
            </a:r>
            <a:r>
              <a:rPr dirty="0">
                <a:latin typeface="Calibri" panose="020F0502020204030204" charset="0"/>
                <a:cs typeface="Calibri" panose="020F0502020204030204" charset="0"/>
              </a:rPr>
              <a:t>functions</a:t>
            </a:r>
            <a:r>
              <a:rPr spc="-60" dirty="0">
                <a:latin typeface="Calibri" panose="020F0502020204030204" charset="0"/>
                <a:cs typeface="Calibri" panose="020F0502020204030204" charset="0"/>
              </a:rPr>
              <a:t> </a:t>
            </a:r>
            <a:r>
              <a:rPr spc="-20" dirty="0">
                <a:latin typeface="Calibri" panose="020F0502020204030204" charset="0"/>
                <a:cs typeface="Calibri" panose="020F0502020204030204" charset="0"/>
              </a:rPr>
              <a:t>that </a:t>
            </a:r>
            <a:r>
              <a:rPr dirty="0">
                <a:latin typeface="Calibri" panose="020F0502020204030204" charset="0"/>
                <a:cs typeface="Calibri" panose="020F0502020204030204" charset="0"/>
              </a:rPr>
              <a:t>require</a:t>
            </a:r>
            <a:r>
              <a:rPr spc="-90" dirty="0">
                <a:latin typeface="Calibri" panose="020F0502020204030204" charset="0"/>
                <a:cs typeface="Calibri" panose="020F0502020204030204" charset="0"/>
              </a:rPr>
              <a:t> </a:t>
            </a:r>
            <a:r>
              <a:rPr dirty="0">
                <a:latin typeface="Calibri" panose="020F0502020204030204" charset="0"/>
                <a:cs typeface="Calibri" panose="020F0502020204030204" charset="0"/>
              </a:rPr>
              <a:t>intelligence</a:t>
            </a:r>
            <a:r>
              <a:rPr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when</a:t>
            </a:r>
            <a:r>
              <a:rPr spc="-105" dirty="0">
                <a:latin typeface="Calibri" panose="020F0502020204030204" charset="0"/>
                <a:cs typeface="Calibri" panose="020F0502020204030204" charset="0"/>
              </a:rPr>
              <a:t> </a:t>
            </a:r>
            <a:r>
              <a:rPr dirty="0">
                <a:latin typeface="Calibri" panose="020F0502020204030204" charset="0"/>
                <a:cs typeface="Calibri" panose="020F0502020204030204" charset="0"/>
              </a:rPr>
              <a:t>performed</a:t>
            </a:r>
            <a:r>
              <a:rPr spc="-100" dirty="0">
                <a:latin typeface="Calibri" panose="020F0502020204030204" charset="0"/>
                <a:cs typeface="Calibri" panose="020F0502020204030204" charset="0"/>
              </a:rPr>
              <a:t> </a:t>
            </a:r>
            <a:r>
              <a:rPr dirty="0">
                <a:latin typeface="Calibri" panose="020F0502020204030204" charset="0"/>
                <a:cs typeface="Calibri" panose="020F0502020204030204" charset="0"/>
              </a:rPr>
              <a:t>by</a:t>
            </a:r>
            <a:r>
              <a:rPr spc="-110" dirty="0">
                <a:latin typeface="Calibri" panose="020F0502020204030204" charset="0"/>
                <a:cs typeface="Calibri" panose="020F0502020204030204" charset="0"/>
              </a:rPr>
              <a:t> </a:t>
            </a:r>
            <a:r>
              <a:rPr dirty="0">
                <a:latin typeface="Calibri" panose="020F0502020204030204" charset="0"/>
                <a:cs typeface="Calibri" panose="020F0502020204030204" charset="0"/>
              </a:rPr>
              <a:t>people</a:t>
            </a:r>
            <a:r>
              <a:rPr spc="-70" dirty="0">
                <a:latin typeface="Calibri" panose="020F0502020204030204" charset="0"/>
                <a:cs typeface="Calibri" panose="020F0502020204030204" charset="0"/>
              </a:rPr>
              <a:t> </a:t>
            </a:r>
            <a:r>
              <a:rPr spc="-60" dirty="0">
                <a:latin typeface="Calibri" panose="020F0502020204030204" charset="0"/>
                <a:cs typeface="Calibri" panose="020F0502020204030204" charset="0"/>
              </a:rPr>
              <a:t>?</a:t>
            </a:r>
            <a:endParaRPr>
              <a:latin typeface="Calibri" panose="020F0502020204030204" charset="0"/>
              <a:cs typeface="Calibri" panose="020F0502020204030204" charset="0"/>
            </a:endParaRPr>
          </a:p>
          <a:p>
            <a:pPr marL="285115" indent="-272415">
              <a:lnSpc>
                <a:spcPct val="100000"/>
              </a:lnSpc>
              <a:spcBef>
                <a:spcPts val="1180"/>
              </a:spcBef>
              <a:buClr>
                <a:srgbClr val="D24717"/>
              </a:buClr>
              <a:buSzPct val="85000"/>
              <a:buFont typeface="Segoe UI Symbol" panose="020B0502040204020203"/>
              <a:buChar char="⚫"/>
              <a:tabLst>
                <a:tab pos="285115" algn="l"/>
              </a:tabLst>
            </a:pPr>
            <a:r>
              <a:rPr dirty="0">
                <a:latin typeface="Calibri" panose="020F0502020204030204" charset="0"/>
                <a:cs typeface="Calibri" panose="020F0502020204030204" charset="0"/>
              </a:rPr>
              <a:t>the</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study</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of</a:t>
            </a:r>
            <a:r>
              <a:rPr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mental</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faculties</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through</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the</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use</a:t>
            </a:r>
            <a:r>
              <a:rPr spc="-50" dirty="0">
                <a:latin typeface="Calibri" panose="020F0502020204030204" charset="0"/>
                <a:cs typeface="Calibri" panose="020F0502020204030204" charset="0"/>
              </a:rPr>
              <a:t> </a:t>
            </a:r>
            <a:r>
              <a:rPr spc="-25" dirty="0">
                <a:latin typeface="Calibri" panose="020F0502020204030204" charset="0"/>
                <a:cs typeface="Calibri" panose="020F0502020204030204" charset="0"/>
              </a:rPr>
              <a:t>of</a:t>
            </a:r>
            <a:endParaRPr>
              <a:latin typeface="Calibri" panose="020F0502020204030204" charset="0"/>
              <a:cs typeface="Calibri" panose="020F0502020204030204" charset="0"/>
            </a:endParaRPr>
          </a:p>
          <a:p>
            <a:pPr marL="285115">
              <a:lnSpc>
                <a:spcPct val="100000"/>
              </a:lnSpc>
              <a:spcBef>
                <a:spcPts val="575"/>
              </a:spcBef>
            </a:pPr>
            <a:r>
              <a:rPr dirty="0">
                <a:latin typeface="Calibri" panose="020F0502020204030204" charset="0"/>
                <a:cs typeface="Calibri" panose="020F0502020204030204" charset="0"/>
              </a:rPr>
              <a:t>computational</a:t>
            </a:r>
            <a:r>
              <a:rPr spc="-120" dirty="0">
                <a:latin typeface="Calibri" panose="020F0502020204030204" charset="0"/>
                <a:cs typeface="Calibri" panose="020F0502020204030204" charset="0"/>
              </a:rPr>
              <a:t> </a:t>
            </a:r>
            <a:r>
              <a:rPr dirty="0">
                <a:latin typeface="Calibri" panose="020F0502020204030204" charset="0"/>
                <a:cs typeface="Calibri" panose="020F0502020204030204" charset="0"/>
              </a:rPr>
              <a:t>models</a:t>
            </a:r>
            <a:r>
              <a:rPr spc="-125" dirty="0">
                <a:latin typeface="Calibri" panose="020F0502020204030204" charset="0"/>
                <a:cs typeface="Calibri" panose="020F0502020204030204" charset="0"/>
              </a:rPr>
              <a:t> </a:t>
            </a:r>
            <a:r>
              <a:rPr spc="-50" dirty="0">
                <a:latin typeface="Calibri" panose="020F0502020204030204" charset="0"/>
                <a:cs typeface="Calibri" panose="020F0502020204030204" charset="0"/>
              </a:rPr>
              <a:t>?</a:t>
            </a:r>
            <a:endParaRPr>
              <a:latin typeface="Calibri" panose="020F0502020204030204" charset="0"/>
              <a:cs typeface="Calibri" panose="020F0502020204030204" charset="0"/>
            </a:endParaRPr>
          </a:p>
          <a:p>
            <a:pPr marL="285115" marR="5080" indent="-273050">
              <a:lnSpc>
                <a:spcPct val="120000"/>
              </a:lnSpc>
              <a:spcBef>
                <a:spcPts val="600"/>
              </a:spcBef>
              <a:buClr>
                <a:srgbClr val="D24717"/>
              </a:buClr>
              <a:buSzPct val="85000"/>
              <a:buFont typeface="Segoe UI Symbol" panose="020B0502040204020203"/>
              <a:buChar char="⚫"/>
              <a:tabLst>
                <a:tab pos="285115" algn="l"/>
              </a:tabLst>
            </a:pPr>
            <a:r>
              <a:rPr dirty="0">
                <a:latin typeface="Calibri" panose="020F0502020204030204" charset="0"/>
                <a:cs typeface="Calibri" panose="020F0502020204030204" charset="0"/>
              </a:rPr>
              <a:t>a</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branch</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of</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computer</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science</a:t>
            </a:r>
            <a:r>
              <a:rPr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that</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is</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concerned</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with</a:t>
            </a:r>
            <a:r>
              <a:rPr spc="-45" dirty="0">
                <a:latin typeface="Calibri" panose="020F0502020204030204" charset="0"/>
                <a:cs typeface="Calibri" panose="020F0502020204030204" charset="0"/>
              </a:rPr>
              <a:t> </a:t>
            </a:r>
            <a:r>
              <a:rPr spc="-25" dirty="0">
                <a:latin typeface="Calibri" panose="020F0502020204030204" charset="0"/>
                <a:cs typeface="Calibri" panose="020F0502020204030204" charset="0"/>
              </a:rPr>
              <a:t>the </a:t>
            </a:r>
            <a:r>
              <a:rPr dirty="0">
                <a:latin typeface="Calibri" panose="020F0502020204030204" charset="0"/>
                <a:cs typeface="Calibri" panose="020F0502020204030204" charset="0"/>
              </a:rPr>
              <a:t>automation</a:t>
            </a:r>
            <a:r>
              <a:rPr spc="-100" dirty="0">
                <a:latin typeface="Calibri" panose="020F0502020204030204" charset="0"/>
                <a:cs typeface="Calibri" panose="020F0502020204030204" charset="0"/>
              </a:rPr>
              <a:t> </a:t>
            </a:r>
            <a:r>
              <a:rPr dirty="0">
                <a:latin typeface="Calibri" panose="020F0502020204030204" charset="0"/>
                <a:cs typeface="Calibri" panose="020F0502020204030204" charset="0"/>
              </a:rPr>
              <a:t>of</a:t>
            </a:r>
            <a:r>
              <a:rPr spc="-105" dirty="0">
                <a:latin typeface="Calibri" panose="020F0502020204030204" charset="0"/>
                <a:cs typeface="Calibri" panose="020F0502020204030204" charset="0"/>
              </a:rPr>
              <a:t> </a:t>
            </a:r>
            <a:r>
              <a:rPr dirty="0">
                <a:latin typeface="Calibri" panose="020F0502020204030204" charset="0"/>
                <a:cs typeface="Calibri" panose="020F0502020204030204" charset="0"/>
              </a:rPr>
              <a:t>intelligent</a:t>
            </a:r>
            <a:r>
              <a:rPr spc="-80" dirty="0">
                <a:latin typeface="Calibri" panose="020F0502020204030204" charset="0"/>
                <a:cs typeface="Calibri" panose="020F0502020204030204" charset="0"/>
              </a:rPr>
              <a:t> </a:t>
            </a:r>
            <a:r>
              <a:rPr dirty="0">
                <a:latin typeface="Calibri" panose="020F0502020204030204" charset="0"/>
                <a:cs typeface="Calibri" panose="020F0502020204030204" charset="0"/>
              </a:rPr>
              <a:t>behaviour</a:t>
            </a:r>
            <a:r>
              <a:rPr spc="-85" dirty="0">
                <a:latin typeface="Calibri" panose="020F0502020204030204" charset="0"/>
                <a:cs typeface="Calibri" panose="020F0502020204030204" charset="0"/>
              </a:rPr>
              <a:t> </a:t>
            </a:r>
            <a:r>
              <a:rPr spc="-50" dirty="0">
                <a:latin typeface="Calibri" panose="020F0502020204030204" charset="0"/>
                <a:cs typeface="Calibri" panose="020F0502020204030204" charset="0"/>
              </a:rPr>
              <a:t>?</a:t>
            </a:r>
            <a:endParaRPr>
              <a:latin typeface="Calibri" panose="020F0502020204030204" charset="0"/>
              <a:cs typeface="Calibri" panose="020F0502020204030204" charset="0"/>
            </a:endParaRPr>
          </a:p>
        </p:txBody>
      </p:sp>
      <p:pic>
        <p:nvPicPr>
          <p:cNvPr id="4" name="object 4"/>
          <p:cNvPicPr/>
          <p:nvPr/>
        </p:nvPicPr>
        <p:blipFill>
          <a:blip r:embed="rId1" cstate="print"/>
          <a:stretch>
            <a:fillRect/>
          </a:stretch>
        </p:blipFill>
        <p:spPr>
          <a:xfrm>
            <a:off x="2209800" y="4770120"/>
            <a:ext cx="2438400" cy="1897380"/>
          </a:xfrm>
          <a:prstGeom prst="rect">
            <a:avLst/>
          </a:prstGeom>
        </p:spPr>
      </p:pic>
      <p:pic>
        <p:nvPicPr>
          <p:cNvPr id="5" name="object 5"/>
          <p:cNvPicPr/>
          <p:nvPr/>
        </p:nvPicPr>
        <p:blipFill>
          <a:blip r:embed="rId2" cstate="print"/>
          <a:stretch>
            <a:fillRect/>
          </a:stretch>
        </p:blipFill>
        <p:spPr>
          <a:xfrm>
            <a:off x="4876800" y="4495800"/>
            <a:ext cx="5544311" cy="2065020"/>
          </a:xfrm>
          <a:prstGeom prst="rect">
            <a:avLst/>
          </a:prstGeom>
        </p:spPr>
      </p:pic>
      <p:sp>
        <p:nvSpPr>
          <p:cNvPr id="6" name="Date Placeholder 5"/>
          <p:cNvSpPr>
            <a:spLocks noGrp="1"/>
          </p:cNvSpPr>
          <p:nvPr>
            <p:ph type="dt" sz="half" idx="10"/>
          </p:nvPr>
        </p:nvSpPr>
        <p:spPr/>
        <p:txBody>
          <a:bodyPr/>
          <a:p>
            <a:fld id="{63A1C593-65D0-4073-BCC9-577B9352EA97}" type="datetime1">
              <a:rPr lang="en-US" smtClean="0"/>
            </a:fld>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3485" y="685990"/>
            <a:ext cx="5985510" cy="628650"/>
          </a:xfrm>
          <a:prstGeom prst="rect">
            <a:avLst/>
          </a:prstGeom>
        </p:spPr>
        <p:txBody>
          <a:bodyPr vert="horz" wrap="square" lIns="0" tIns="13335" rIns="0" bIns="0" rtlCol="0">
            <a:spAutoFit/>
          </a:bodyPr>
          <a:lstStyle/>
          <a:p>
            <a:pPr marL="12700">
              <a:lnSpc>
                <a:spcPct val="100000"/>
              </a:lnSpc>
              <a:spcBef>
                <a:spcPts val="105"/>
              </a:spcBef>
            </a:pPr>
            <a:r>
              <a:rPr lang="en-US" dirty="0"/>
              <a:t>Definition of AI</a:t>
            </a:r>
            <a:endParaRPr spc="-20" dirty="0"/>
          </a:p>
        </p:txBody>
      </p:sp>
      <p:sp>
        <p:nvSpPr>
          <p:cNvPr id="8" name="Content Placeholder 7"/>
          <p:cNvSpPr>
            <a:spLocks noGrp="1"/>
          </p:cNvSpPr>
          <p:nvPr>
            <p:ph idx="1"/>
          </p:nvPr>
        </p:nvSpPr>
        <p:spPr>
          <a:xfrm>
            <a:off x="609600" y="1600200"/>
            <a:ext cx="9975215" cy="4526280"/>
          </a:xfrm>
        </p:spPr>
        <p:txBody>
          <a:bodyPr/>
          <a:p>
            <a:pPr marL="233045" indent="-220345">
              <a:lnSpc>
                <a:spcPct val="100000"/>
              </a:lnSpc>
              <a:spcBef>
                <a:spcPts val="480"/>
              </a:spcBef>
              <a:buClr>
                <a:srgbClr val="0AD0D9"/>
              </a:buClr>
              <a:buSzPct val="94000"/>
              <a:buFont typeface="Wingdings" panose="05000000000000000000"/>
              <a:buChar char=""/>
              <a:tabLst>
                <a:tab pos="233045" algn="l"/>
              </a:tabLst>
            </a:pPr>
            <a:r>
              <a:rPr dirty="0">
                <a:solidFill>
                  <a:srgbClr val="083762"/>
                </a:solidFill>
                <a:sym typeface="+mn-ea"/>
              </a:rPr>
              <a:t>WHAT</a:t>
            </a:r>
            <a:r>
              <a:rPr spc="-20" dirty="0">
                <a:solidFill>
                  <a:srgbClr val="083762"/>
                </a:solidFill>
                <a:sym typeface="+mn-ea"/>
              </a:rPr>
              <a:t> </a:t>
            </a:r>
            <a:r>
              <a:rPr dirty="0">
                <a:solidFill>
                  <a:srgbClr val="083762"/>
                </a:solidFill>
                <a:sym typeface="+mn-ea"/>
              </a:rPr>
              <a:t>IS</a:t>
            </a:r>
            <a:r>
              <a:rPr spc="-25" dirty="0">
                <a:solidFill>
                  <a:srgbClr val="083762"/>
                </a:solidFill>
                <a:sym typeface="+mn-ea"/>
              </a:rPr>
              <a:t> </a:t>
            </a:r>
            <a:r>
              <a:rPr spc="-10" dirty="0">
                <a:solidFill>
                  <a:srgbClr val="083762"/>
                </a:solidFill>
                <a:sym typeface="+mn-ea"/>
              </a:rPr>
              <a:t>INTELLIGENCE?</a:t>
            </a:r>
            <a:endParaRPr spc="-10" dirty="0">
              <a:solidFill>
                <a:srgbClr val="083762"/>
              </a:solidFill>
              <a:sym typeface="+mn-ea"/>
            </a:endParaRPr>
          </a:p>
          <a:p>
            <a:pPr marL="12700" marR="485140">
              <a:lnSpc>
                <a:spcPct val="100000"/>
              </a:lnSpc>
              <a:spcBef>
                <a:spcPts val="385"/>
              </a:spcBef>
            </a:pPr>
            <a:r>
              <a:rPr dirty="0">
                <a:sym typeface="+mn-ea"/>
              </a:rPr>
              <a:t>The</a:t>
            </a:r>
            <a:r>
              <a:rPr spc="-30" dirty="0">
                <a:sym typeface="+mn-ea"/>
              </a:rPr>
              <a:t> </a:t>
            </a:r>
            <a:r>
              <a:rPr dirty="0">
                <a:sym typeface="+mn-ea"/>
              </a:rPr>
              <a:t>ability</a:t>
            </a:r>
            <a:r>
              <a:rPr spc="-10" dirty="0">
                <a:sym typeface="+mn-ea"/>
              </a:rPr>
              <a:t> </a:t>
            </a:r>
            <a:r>
              <a:rPr dirty="0">
                <a:sym typeface="+mn-ea"/>
              </a:rPr>
              <a:t>to</a:t>
            </a:r>
            <a:r>
              <a:rPr spc="-45" dirty="0">
                <a:sym typeface="+mn-ea"/>
              </a:rPr>
              <a:t> </a:t>
            </a:r>
            <a:r>
              <a:rPr dirty="0">
                <a:sym typeface="+mn-ea"/>
              </a:rPr>
              <a:t>learn</a:t>
            </a:r>
            <a:r>
              <a:rPr spc="-10" dirty="0">
                <a:sym typeface="+mn-ea"/>
              </a:rPr>
              <a:t> </a:t>
            </a:r>
            <a:r>
              <a:rPr dirty="0">
                <a:sym typeface="+mn-ea"/>
              </a:rPr>
              <a:t>and</a:t>
            </a:r>
            <a:r>
              <a:rPr spc="-25" dirty="0">
                <a:sym typeface="+mn-ea"/>
              </a:rPr>
              <a:t> </a:t>
            </a:r>
            <a:r>
              <a:rPr dirty="0">
                <a:sym typeface="+mn-ea"/>
              </a:rPr>
              <a:t>perform</a:t>
            </a:r>
            <a:r>
              <a:rPr spc="-20" dirty="0">
                <a:sym typeface="+mn-ea"/>
              </a:rPr>
              <a:t> </a:t>
            </a:r>
            <a:r>
              <a:rPr spc="-10" dirty="0">
                <a:sym typeface="+mn-ea"/>
              </a:rPr>
              <a:t>suitable </a:t>
            </a:r>
            <a:r>
              <a:rPr dirty="0">
                <a:sym typeface="+mn-ea"/>
              </a:rPr>
              <a:t>techniques</a:t>
            </a:r>
            <a:r>
              <a:rPr spc="-25" dirty="0">
                <a:sym typeface="+mn-ea"/>
              </a:rPr>
              <a:t> </a:t>
            </a:r>
            <a:r>
              <a:rPr dirty="0">
                <a:sym typeface="+mn-ea"/>
              </a:rPr>
              <a:t>to</a:t>
            </a:r>
            <a:r>
              <a:rPr spc="-65" dirty="0">
                <a:sym typeface="+mn-ea"/>
              </a:rPr>
              <a:t> </a:t>
            </a:r>
            <a:r>
              <a:rPr dirty="0">
                <a:sym typeface="+mn-ea"/>
              </a:rPr>
              <a:t>solve</a:t>
            </a:r>
            <a:r>
              <a:rPr spc="-50" dirty="0">
                <a:sym typeface="+mn-ea"/>
              </a:rPr>
              <a:t> </a:t>
            </a:r>
            <a:r>
              <a:rPr dirty="0">
                <a:sym typeface="+mn-ea"/>
              </a:rPr>
              <a:t>problems</a:t>
            </a:r>
            <a:r>
              <a:rPr spc="-35" dirty="0">
                <a:sym typeface="+mn-ea"/>
              </a:rPr>
              <a:t> </a:t>
            </a:r>
            <a:r>
              <a:rPr dirty="0">
                <a:sym typeface="+mn-ea"/>
              </a:rPr>
              <a:t>and</a:t>
            </a:r>
            <a:r>
              <a:rPr spc="-45" dirty="0">
                <a:sym typeface="+mn-ea"/>
              </a:rPr>
              <a:t> </a:t>
            </a:r>
            <a:r>
              <a:rPr spc="-10" dirty="0">
                <a:sym typeface="+mn-ea"/>
              </a:rPr>
              <a:t>achieve </a:t>
            </a:r>
            <a:r>
              <a:rPr dirty="0">
                <a:sym typeface="+mn-ea"/>
              </a:rPr>
              <a:t>goals,</a:t>
            </a:r>
            <a:r>
              <a:rPr spc="-40" dirty="0">
                <a:sym typeface="+mn-ea"/>
              </a:rPr>
              <a:t> </a:t>
            </a:r>
            <a:r>
              <a:rPr dirty="0">
                <a:sym typeface="+mn-ea"/>
              </a:rPr>
              <a:t>appropriate</a:t>
            </a:r>
            <a:r>
              <a:rPr spc="-30" dirty="0">
                <a:sym typeface="+mn-ea"/>
              </a:rPr>
              <a:t> </a:t>
            </a:r>
            <a:r>
              <a:rPr dirty="0">
                <a:sym typeface="+mn-ea"/>
              </a:rPr>
              <a:t>to</a:t>
            </a:r>
            <a:r>
              <a:rPr spc="-55" dirty="0">
                <a:sym typeface="+mn-ea"/>
              </a:rPr>
              <a:t> </a:t>
            </a:r>
            <a:r>
              <a:rPr dirty="0">
                <a:sym typeface="+mn-ea"/>
              </a:rPr>
              <a:t>the</a:t>
            </a:r>
            <a:r>
              <a:rPr spc="-45" dirty="0">
                <a:sym typeface="+mn-ea"/>
              </a:rPr>
              <a:t> </a:t>
            </a:r>
            <a:r>
              <a:rPr dirty="0">
                <a:sym typeface="+mn-ea"/>
              </a:rPr>
              <a:t>context</a:t>
            </a:r>
            <a:r>
              <a:rPr spc="-45" dirty="0">
                <a:sym typeface="+mn-ea"/>
              </a:rPr>
              <a:t> </a:t>
            </a:r>
            <a:r>
              <a:rPr dirty="0">
                <a:sym typeface="+mn-ea"/>
              </a:rPr>
              <a:t>in</a:t>
            </a:r>
            <a:r>
              <a:rPr spc="-40" dirty="0">
                <a:sym typeface="+mn-ea"/>
              </a:rPr>
              <a:t> </a:t>
            </a:r>
            <a:r>
              <a:rPr spc="-25" dirty="0">
                <a:sym typeface="+mn-ea"/>
              </a:rPr>
              <a:t>an </a:t>
            </a:r>
            <a:r>
              <a:rPr dirty="0">
                <a:sym typeface="+mn-ea"/>
              </a:rPr>
              <a:t>uncertain,</a:t>
            </a:r>
            <a:r>
              <a:rPr spc="-30" dirty="0">
                <a:sym typeface="+mn-ea"/>
              </a:rPr>
              <a:t> </a:t>
            </a:r>
            <a:r>
              <a:rPr spc="-20" dirty="0">
                <a:sym typeface="+mn-ea"/>
              </a:rPr>
              <a:t>ever-</a:t>
            </a:r>
            <a:r>
              <a:rPr dirty="0">
                <a:sym typeface="+mn-ea"/>
              </a:rPr>
              <a:t>varying</a:t>
            </a:r>
            <a:r>
              <a:rPr spc="-5" dirty="0">
                <a:sym typeface="+mn-ea"/>
              </a:rPr>
              <a:t> </a:t>
            </a:r>
            <a:r>
              <a:rPr spc="-10" dirty="0">
                <a:sym typeface="+mn-ea"/>
              </a:rPr>
              <a:t>world.</a:t>
            </a:r>
            <a:endParaRPr spc="-10" dirty="0">
              <a:sym typeface="+mn-ea"/>
            </a:endParaRPr>
          </a:p>
          <a:p>
            <a:pPr marL="12700" marR="485140">
              <a:lnSpc>
                <a:spcPct val="100000"/>
              </a:lnSpc>
              <a:spcBef>
                <a:spcPts val="385"/>
              </a:spcBef>
            </a:pPr>
          </a:p>
          <a:p>
            <a:pPr marL="283845" indent="-271145">
              <a:lnSpc>
                <a:spcPct val="100000"/>
              </a:lnSpc>
              <a:spcBef>
                <a:spcPts val="385"/>
              </a:spcBef>
              <a:buClr>
                <a:srgbClr val="0AD0D9"/>
              </a:buClr>
              <a:buSzPct val="94000"/>
              <a:buFont typeface="Wingdings" panose="05000000000000000000"/>
              <a:buChar char=""/>
              <a:tabLst>
                <a:tab pos="283845" algn="l"/>
              </a:tabLst>
            </a:pPr>
            <a:r>
              <a:rPr spc="-10" dirty="0">
                <a:sym typeface="+mn-ea"/>
              </a:rPr>
              <a:t>DEFINITION</a:t>
            </a:r>
            <a:r>
              <a:rPr spc="-25" dirty="0">
                <a:sym typeface="+mn-ea"/>
              </a:rPr>
              <a:t> </a:t>
            </a:r>
            <a:r>
              <a:rPr dirty="0">
                <a:sym typeface="+mn-ea"/>
              </a:rPr>
              <a:t>OF</a:t>
            </a:r>
            <a:r>
              <a:rPr spc="-15" dirty="0">
                <a:sym typeface="+mn-ea"/>
              </a:rPr>
              <a:t> </a:t>
            </a:r>
            <a:r>
              <a:rPr spc="-25" dirty="0">
                <a:sym typeface="+mn-ea"/>
              </a:rPr>
              <a:t>AI</a:t>
            </a:r>
            <a:endParaRPr spc="-25" dirty="0">
              <a:sym typeface="+mn-ea"/>
            </a:endParaRPr>
          </a:p>
          <a:p>
            <a:pPr marL="12700" marR="5080" indent="-635">
              <a:lnSpc>
                <a:spcPct val="100000"/>
              </a:lnSpc>
              <a:spcBef>
                <a:spcPts val="385"/>
              </a:spcBef>
              <a:buClr>
                <a:srgbClr val="0AD0D9"/>
              </a:buClr>
              <a:buSzPct val="88000"/>
              <a:buFont typeface="Wingdings" panose="05000000000000000000"/>
              <a:buChar char=""/>
              <a:tabLst>
                <a:tab pos="166370" algn="l"/>
              </a:tabLst>
            </a:pPr>
            <a:r>
              <a:rPr dirty="0">
                <a:sym typeface="+mn-ea"/>
              </a:rPr>
              <a:t>	Artificial</a:t>
            </a:r>
            <a:r>
              <a:rPr spc="-5" dirty="0">
                <a:sym typeface="+mn-ea"/>
              </a:rPr>
              <a:t> </a:t>
            </a:r>
            <a:r>
              <a:rPr dirty="0">
                <a:sym typeface="+mn-ea"/>
              </a:rPr>
              <a:t>Intelligence</a:t>
            </a:r>
            <a:r>
              <a:rPr spc="-20" dirty="0">
                <a:sym typeface="+mn-ea"/>
              </a:rPr>
              <a:t> </a:t>
            </a:r>
            <a:r>
              <a:rPr dirty="0">
                <a:sym typeface="+mn-ea"/>
              </a:rPr>
              <a:t>(AI),</a:t>
            </a:r>
            <a:r>
              <a:rPr spc="-30" dirty="0">
                <a:sym typeface="+mn-ea"/>
              </a:rPr>
              <a:t> </a:t>
            </a:r>
            <a:r>
              <a:rPr dirty="0">
                <a:sym typeface="+mn-ea"/>
              </a:rPr>
              <a:t>a</a:t>
            </a:r>
            <a:r>
              <a:rPr spc="-40" dirty="0">
                <a:sym typeface="+mn-ea"/>
              </a:rPr>
              <a:t> </a:t>
            </a:r>
            <a:r>
              <a:rPr dirty="0">
                <a:sym typeface="+mn-ea"/>
              </a:rPr>
              <a:t>term</a:t>
            </a:r>
            <a:r>
              <a:rPr spc="-50" dirty="0">
                <a:sym typeface="+mn-ea"/>
              </a:rPr>
              <a:t> </a:t>
            </a:r>
            <a:r>
              <a:rPr dirty="0">
                <a:sym typeface="+mn-ea"/>
              </a:rPr>
              <a:t>coined</a:t>
            </a:r>
            <a:r>
              <a:rPr spc="-25" dirty="0">
                <a:sym typeface="+mn-ea"/>
              </a:rPr>
              <a:t> by </a:t>
            </a:r>
            <a:r>
              <a:rPr dirty="0">
                <a:sym typeface="+mn-ea"/>
              </a:rPr>
              <a:t>emeritus</a:t>
            </a:r>
            <a:r>
              <a:rPr spc="-50" dirty="0">
                <a:sym typeface="+mn-ea"/>
              </a:rPr>
              <a:t> </a:t>
            </a:r>
            <a:r>
              <a:rPr dirty="0">
                <a:sym typeface="+mn-ea"/>
              </a:rPr>
              <a:t>Stanford</a:t>
            </a:r>
            <a:r>
              <a:rPr spc="-45" dirty="0">
                <a:sym typeface="+mn-ea"/>
              </a:rPr>
              <a:t> </a:t>
            </a:r>
            <a:r>
              <a:rPr dirty="0">
                <a:sym typeface="+mn-ea"/>
              </a:rPr>
              <a:t>Professor</a:t>
            </a:r>
            <a:r>
              <a:rPr spc="-40" dirty="0">
                <a:sym typeface="+mn-ea"/>
              </a:rPr>
              <a:t> </a:t>
            </a:r>
            <a:r>
              <a:rPr dirty="0">
                <a:solidFill>
                  <a:srgbClr val="089CA2"/>
                </a:solidFill>
                <a:sym typeface="+mn-ea"/>
              </a:rPr>
              <a:t>John</a:t>
            </a:r>
            <a:r>
              <a:rPr spc="-60" dirty="0">
                <a:solidFill>
                  <a:srgbClr val="089CA2"/>
                </a:solidFill>
                <a:sym typeface="+mn-ea"/>
              </a:rPr>
              <a:t> </a:t>
            </a:r>
            <a:r>
              <a:rPr dirty="0">
                <a:solidFill>
                  <a:srgbClr val="089CA2"/>
                </a:solidFill>
                <a:sym typeface="+mn-ea"/>
              </a:rPr>
              <a:t>McCarthy</a:t>
            </a:r>
            <a:r>
              <a:rPr spc="-35" dirty="0">
                <a:solidFill>
                  <a:srgbClr val="089CA2"/>
                </a:solidFill>
                <a:sym typeface="+mn-ea"/>
              </a:rPr>
              <a:t> </a:t>
            </a:r>
            <a:r>
              <a:rPr spc="-25" dirty="0">
                <a:sym typeface="+mn-ea"/>
              </a:rPr>
              <a:t>in </a:t>
            </a:r>
            <a:r>
              <a:rPr dirty="0">
                <a:sym typeface="+mn-ea"/>
              </a:rPr>
              <a:t>1955,</a:t>
            </a:r>
            <a:r>
              <a:rPr spc="-15" dirty="0">
                <a:sym typeface="+mn-ea"/>
              </a:rPr>
              <a:t> </a:t>
            </a:r>
            <a:r>
              <a:rPr dirty="0">
                <a:sym typeface="+mn-ea"/>
              </a:rPr>
              <a:t>was</a:t>
            </a:r>
            <a:r>
              <a:rPr spc="-40" dirty="0">
                <a:sym typeface="+mn-ea"/>
              </a:rPr>
              <a:t> </a:t>
            </a:r>
            <a:r>
              <a:rPr dirty="0">
                <a:sym typeface="+mn-ea"/>
              </a:rPr>
              <a:t>defined</a:t>
            </a:r>
            <a:r>
              <a:rPr spc="5" dirty="0">
                <a:sym typeface="+mn-ea"/>
              </a:rPr>
              <a:t> </a:t>
            </a:r>
            <a:r>
              <a:rPr dirty="0">
                <a:sym typeface="+mn-ea"/>
              </a:rPr>
              <a:t>by</a:t>
            </a:r>
            <a:r>
              <a:rPr spc="-30" dirty="0">
                <a:sym typeface="+mn-ea"/>
              </a:rPr>
              <a:t> </a:t>
            </a:r>
            <a:r>
              <a:rPr dirty="0">
                <a:sym typeface="+mn-ea"/>
              </a:rPr>
              <a:t>him</a:t>
            </a:r>
            <a:r>
              <a:rPr spc="-10" dirty="0">
                <a:sym typeface="+mn-ea"/>
              </a:rPr>
              <a:t> </a:t>
            </a:r>
            <a:r>
              <a:rPr dirty="0">
                <a:sym typeface="+mn-ea"/>
              </a:rPr>
              <a:t>as</a:t>
            </a:r>
            <a:r>
              <a:rPr spc="-40" dirty="0">
                <a:sym typeface="+mn-ea"/>
              </a:rPr>
              <a:t> </a:t>
            </a:r>
            <a:r>
              <a:rPr dirty="0">
                <a:sym typeface="+mn-ea"/>
              </a:rPr>
              <a:t>“</a:t>
            </a:r>
            <a:r>
              <a:rPr spc="-25" dirty="0">
                <a:sym typeface="+mn-ea"/>
              </a:rPr>
              <a:t> </a:t>
            </a:r>
            <a:r>
              <a:rPr dirty="0">
                <a:solidFill>
                  <a:srgbClr val="7D9531"/>
                </a:solidFill>
                <a:sym typeface="+mn-ea"/>
              </a:rPr>
              <a:t>the</a:t>
            </a:r>
            <a:r>
              <a:rPr spc="-30" dirty="0">
                <a:solidFill>
                  <a:srgbClr val="7D9531"/>
                </a:solidFill>
                <a:sym typeface="+mn-ea"/>
              </a:rPr>
              <a:t> </a:t>
            </a:r>
            <a:r>
              <a:rPr dirty="0">
                <a:solidFill>
                  <a:srgbClr val="7D9531"/>
                </a:solidFill>
                <a:sym typeface="+mn-ea"/>
              </a:rPr>
              <a:t>science</a:t>
            </a:r>
            <a:r>
              <a:rPr spc="-5" dirty="0">
                <a:solidFill>
                  <a:srgbClr val="7D9531"/>
                </a:solidFill>
                <a:sym typeface="+mn-ea"/>
              </a:rPr>
              <a:t> </a:t>
            </a:r>
            <a:r>
              <a:rPr spc="-25" dirty="0">
                <a:solidFill>
                  <a:srgbClr val="7D9531"/>
                </a:solidFill>
                <a:sym typeface="+mn-ea"/>
              </a:rPr>
              <a:t>and </a:t>
            </a:r>
            <a:r>
              <a:rPr spc="-10" dirty="0">
                <a:solidFill>
                  <a:srgbClr val="7D9531"/>
                </a:solidFill>
                <a:sym typeface="+mn-ea"/>
              </a:rPr>
              <a:t>engineering</a:t>
            </a:r>
            <a:r>
              <a:rPr spc="-35" dirty="0">
                <a:solidFill>
                  <a:srgbClr val="7D9531"/>
                </a:solidFill>
                <a:sym typeface="+mn-ea"/>
              </a:rPr>
              <a:t> </a:t>
            </a:r>
            <a:r>
              <a:rPr dirty="0">
                <a:solidFill>
                  <a:srgbClr val="7D9531"/>
                </a:solidFill>
                <a:sym typeface="+mn-ea"/>
              </a:rPr>
              <a:t>of</a:t>
            </a:r>
            <a:r>
              <a:rPr spc="-60" dirty="0">
                <a:solidFill>
                  <a:srgbClr val="7D9531"/>
                </a:solidFill>
                <a:sym typeface="+mn-ea"/>
              </a:rPr>
              <a:t> </a:t>
            </a:r>
            <a:r>
              <a:rPr dirty="0">
                <a:solidFill>
                  <a:srgbClr val="7D9531"/>
                </a:solidFill>
                <a:sym typeface="+mn-ea"/>
              </a:rPr>
              <a:t>making</a:t>
            </a:r>
            <a:r>
              <a:rPr spc="-35" dirty="0">
                <a:solidFill>
                  <a:srgbClr val="7D9531"/>
                </a:solidFill>
                <a:sym typeface="+mn-ea"/>
              </a:rPr>
              <a:t> </a:t>
            </a:r>
            <a:r>
              <a:rPr dirty="0">
                <a:solidFill>
                  <a:srgbClr val="7D9531"/>
                </a:solidFill>
                <a:sym typeface="+mn-ea"/>
              </a:rPr>
              <a:t>intelligent</a:t>
            </a:r>
            <a:r>
              <a:rPr spc="-25" dirty="0">
                <a:solidFill>
                  <a:srgbClr val="7D9531"/>
                </a:solidFill>
                <a:sym typeface="+mn-ea"/>
              </a:rPr>
              <a:t> </a:t>
            </a:r>
            <a:r>
              <a:rPr dirty="0">
                <a:solidFill>
                  <a:srgbClr val="7D9531"/>
                </a:solidFill>
                <a:sym typeface="+mn-ea"/>
              </a:rPr>
              <a:t>machines </a:t>
            </a:r>
            <a:r>
              <a:rPr spc="-25" dirty="0">
                <a:sym typeface="+mn-ea"/>
              </a:rPr>
              <a:t>”.</a:t>
            </a:r>
            <a:endParaRPr spc="-25" dirty="0">
              <a:sym typeface="+mn-ea"/>
            </a:endParaRPr>
          </a:p>
          <a:p>
            <a:pPr marL="12700" marR="343535" indent="202565">
              <a:lnSpc>
                <a:spcPct val="100000"/>
              </a:lnSpc>
              <a:spcBef>
                <a:spcPts val="385"/>
              </a:spcBef>
              <a:buClr>
                <a:srgbClr val="0AD0D9"/>
              </a:buClr>
              <a:buSzPct val="88000"/>
              <a:buFont typeface="Wingdings" panose="05000000000000000000"/>
              <a:buChar char=""/>
              <a:tabLst>
                <a:tab pos="215265" algn="l"/>
              </a:tabLst>
            </a:pPr>
            <a:endParaRPr dirty="0">
              <a:sym typeface="+mn-ea"/>
            </a:endParaRPr>
          </a:p>
          <a:p>
            <a:pPr marL="12700" marR="5080" indent="-635" algn="l">
              <a:lnSpc>
                <a:spcPct val="100000"/>
              </a:lnSpc>
              <a:spcBef>
                <a:spcPts val="385"/>
              </a:spcBef>
              <a:buClr>
                <a:srgbClr val="0AD0D9"/>
              </a:buClr>
              <a:buSzPct val="88000"/>
              <a:buFont typeface="Wingdings" panose="05000000000000000000"/>
              <a:buChar char=""/>
              <a:tabLst>
                <a:tab pos="166370" algn="l"/>
              </a:tabLst>
            </a:pPr>
            <a:r>
              <a:rPr dirty="0">
                <a:sym typeface="+mn-ea"/>
              </a:rPr>
              <a:t>A</a:t>
            </a:r>
            <a:r>
              <a:rPr lang="en-US" dirty="0">
                <a:sym typeface="+mn-ea"/>
              </a:rPr>
              <a:t>I </a:t>
            </a:r>
            <a:r>
              <a:rPr dirty="0">
                <a:sym typeface="+mn-ea"/>
              </a:rPr>
              <a:t>is when a computer program makes decisions by mimicking the way a human thinks.</a:t>
            </a:r>
            <a:endParaRPr dirty="0"/>
          </a:p>
          <a:p>
            <a:pPr marL="12700" marR="343535" indent="202565">
              <a:lnSpc>
                <a:spcPct val="100000"/>
              </a:lnSpc>
              <a:spcBef>
                <a:spcPts val="385"/>
              </a:spcBef>
              <a:buClr>
                <a:srgbClr val="0AD0D9"/>
              </a:buClr>
              <a:buSzPct val="88000"/>
              <a:buFont typeface="Wingdings" panose="05000000000000000000"/>
              <a:buChar char=""/>
              <a:tabLst>
                <a:tab pos="215265" algn="l"/>
              </a:tabLst>
            </a:pPr>
            <a:endParaRPr dirty="0">
              <a:sym typeface="+mn-ea"/>
            </a:endParaRPr>
          </a:p>
          <a:p>
            <a:pPr marL="12700" marR="343535" indent="202565">
              <a:lnSpc>
                <a:spcPct val="100000"/>
              </a:lnSpc>
              <a:spcBef>
                <a:spcPts val="385"/>
              </a:spcBef>
              <a:buClr>
                <a:srgbClr val="0AD0D9"/>
              </a:buClr>
              <a:buSzPct val="88000"/>
              <a:buFont typeface="Wingdings" panose="05000000000000000000"/>
              <a:buChar char=""/>
              <a:tabLst>
                <a:tab pos="215265" algn="l"/>
              </a:tabLst>
            </a:pPr>
            <a:endParaRPr dirty="0">
              <a:sym typeface="+mn-ea"/>
            </a:endParaRPr>
          </a:p>
          <a:p>
            <a:pPr marL="12700" marR="343535" indent="202565">
              <a:lnSpc>
                <a:spcPct val="100000"/>
              </a:lnSpc>
              <a:spcBef>
                <a:spcPts val="385"/>
              </a:spcBef>
              <a:buClr>
                <a:srgbClr val="0AD0D9"/>
              </a:buClr>
              <a:buSzPct val="88000"/>
              <a:buFont typeface="Wingdings" panose="05000000000000000000"/>
              <a:buChar char=""/>
              <a:tabLst>
                <a:tab pos="215265" algn="l"/>
              </a:tabLst>
            </a:pPr>
            <a:r>
              <a:rPr dirty="0">
                <a:sym typeface="+mn-ea"/>
              </a:rPr>
              <a:t>Much</a:t>
            </a:r>
            <a:r>
              <a:rPr spc="-25" dirty="0">
                <a:sym typeface="+mn-ea"/>
              </a:rPr>
              <a:t> </a:t>
            </a:r>
            <a:r>
              <a:rPr dirty="0">
                <a:sym typeface="+mn-ea"/>
              </a:rPr>
              <a:t>research</a:t>
            </a:r>
            <a:r>
              <a:rPr spc="-10" dirty="0">
                <a:sym typeface="+mn-ea"/>
              </a:rPr>
              <a:t> </a:t>
            </a:r>
            <a:r>
              <a:rPr dirty="0">
                <a:sym typeface="+mn-ea"/>
              </a:rPr>
              <a:t>has</a:t>
            </a:r>
            <a:r>
              <a:rPr spc="-20" dirty="0">
                <a:sym typeface="+mn-ea"/>
              </a:rPr>
              <a:t> </a:t>
            </a:r>
            <a:r>
              <a:rPr dirty="0">
                <a:sym typeface="+mn-ea"/>
              </a:rPr>
              <a:t>humans</a:t>
            </a:r>
            <a:r>
              <a:rPr spc="-20" dirty="0">
                <a:sym typeface="+mn-ea"/>
              </a:rPr>
              <a:t> </a:t>
            </a:r>
            <a:r>
              <a:rPr spc="-10" dirty="0">
                <a:sym typeface="+mn-ea"/>
              </a:rPr>
              <a:t>program </a:t>
            </a:r>
            <a:r>
              <a:rPr dirty="0">
                <a:sym typeface="+mn-ea"/>
              </a:rPr>
              <a:t>machines</a:t>
            </a:r>
            <a:r>
              <a:rPr spc="-15" dirty="0">
                <a:sym typeface="+mn-ea"/>
              </a:rPr>
              <a:t> </a:t>
            </a:r>
            <a:r>
              <a:rPr dirty="0">
                <a:sym typeface="+mn-ea"/>
              </a:rPr>
              <a:t>to</a:t>
            </a:r>
            <a:r>
              <a:rPr spc="-50" dirty="0">
                <a:sym typeface="+mn-ea"/>
              </a:rPr>
              <a:t> </a:t>
            </a:r>
            <a:r>
              <a:rPr dirty="0">
                <a:sym typeface="+mn-ea"/>
              </a:rPr>
              <a:t>behave</a:t>
            </a:r>
            <a:r>
              <a:rPr spc="-10" dirty="0">
                <a:sym typeface="+mn-ea"/>
              </a:rPr>
              <a:t> </a:t>
            </a:r>
            <a:r>
              <a:rPr dirty="0">
                <a:sym typeface="+mn-ea"/>
              </a:rPr>
              <a:t>in</a:t>
            </a:r>
            <a:r>
              <a:rPr spc="-40" dirty="0">
                <a:sym typeface="+mn-ea"/>
              </a:rPr>
              <a:t> </a:t>
            </a:r>
            <a:r>
              <a:rPr dirty="0">
                <a:sym typeface="+mn-ea"/>
              </a:rPr>
              <a:t>a</a:t>
            </a:r>
            <a:r>
              <a:rPr spc="-45" dirty="0">
                <a:sym typeface="+mn-ea"/>
              </a:rPr>
              <a:t> </a:t>
            </a:r>
            <a:r>
              <a:rPr dirty="0">
                <a:sym typeface="+mn-ea"/>
              </a:rPr>
              <a:t>clever</a:t>
            </a:r>
            <a:r>
              <a:rPr spc="-30" dirty="0">
                <a:sym typeface="+mn-ea"/>
              </a:rPr>
              <a:t> </a:t>
            </a:r>
            <a:r>
              <a:rPr dirty="0">
                <a:sym typeface="+mn-ea"/>
              </a:rPr>
              <a:t>way,</a:t>
            </a:r>
            <a:r>
              <a:rPr spc="-35" dirty="0">
                <a:sym typeface="+mn-ea"/>
              </a:rPr>
              <a:t> </a:t>
            </a:r>
            <a:r>
              <a:rPr spc="-20" dirty="0">
                <a:sym typeface="+mn-ea"/>
              </a:rPr>
              <a:t>like </a:t>
            </a:r>
            <a:r>
              <a:rPr dirty="0">
                <a:sym typeface="+mn-ea"/>
              </a:rPr>
              <a:t>playing</a:t>
            </a:r>
            <a:r>
              <a:rPr spc="-25" dirty="0">
                <a:sym typeface="+mn-ea"/>
              </a:rPr>
              <a:t> </a:t>
            </a:r>
            <a:r>
              <a:rPr dirty="0">
                <a:sym typeface="+mn-ea"/>
              </a:rPr>
              <a:t>chess,</a:t>
            </a:r>
            <a:r>
              <a:rPr spc="-30" dirty="0">
                <a:sym typeface="+mn-ea"/>
              </a:rPr>
              <a:t> </a:t>
            </a:r>
            <a:r>
              <a:rPr dirty="0">
                <a:sym typeface="+mn-ea"/>
              </a:rPr>
              <a:t>but,</a:t>
            </a:r>
            <a:r>
              <a:rPr spc="-40" dirty="0">
                <a:sym typeface="+mn-ea"/>
              </a:rPr>
              <a:t> </a:t>
            </a:r>
            <a:r>
              <a:rPr dirty="0">
                <a:sym typeface="+mn-ea"/>
              </a:rPr>
              <a:t>today,</a:t>
            </a:r>
            <a:r>
              <a:rPr spc="-25" dirty="0">
                <a:sym typeface="+mn-ea"/>
              </a:rPr>
              <a:t> </a:t>
            </a:r>
            <a:r>
              <a:rPr dirty="0">
                <a:sym typeface="+mn-ea"/>
              </a:rPr>
              <a:t>we</a:t>
            </a:r>
            <a:r>
              <a:rPr spc="-60" dirty="0">
                <a:sym typeface="+mn-ea"/>
              </a:rPr>
              <a:t> </a:t>
            </a:r>
            <a:r>
              <a:rPr spc="-10" dirty="0">
                <a:sym typeface="+mn-ea"/>
              </a:rPr>
              <a:t>emphasize </a:t>
            </a:r>
            <a:r>
              <a:rPr dirty="0">
                <a:sym typeface="+mn-ea"/>
              </a:rPr>
              <a:t>machines</a:t>
            </a:r>
            <a:r>
              <a:rPr spc="-15" dirty="0">
                <a:sym typeface="+mn-ea"/>
              </a:rPr>
              <a:t> </a:t>
            </a:r>
            <a:r>
              <a:rPr dirty="0">
                <a:sym typeface="+mn-ea"/>
              </a:rPr>
              <a:t>that</a:t>
            </a:r>
            <a:r>
              <a:rPr spc="-35" dirty="0">
                <a:sym typeface="+mn-ea"/>
              </a:rPr>
              <a:t> </a:t>
            </a:r>
            <a:r>
              <a:rPr dirty="0">
                <a:sym typeface="+mn-ea"/>
              </a:rPr>
              <a:t>can</a:t>
            </a:r>
            <a:r>
              <a:rPr spc="-40" dirty="0">
                <a:sym typeface="+mn-ea"/>
              </a:rPr>
              <a:t> </a:t>
            </a:r>
            <a:r>
              <a:rPr dirty="0">
                <a:sym typeface="+mn-ea"/>
              </a:rPr>
              <a:t>learn,</a:t>
            </a:r>
            <a:r>
              <a:rPr spc="-20" dirty="0">
                <a:sym typeface="+mn-ea"/>
              </a:rPr>
              <a:t> </a:t>
            </a:r>
            <a:r>
              <a:rPr dirty="0">
                <a:sym typeface="+mn-ea"/>
              </a:rPr>
              <a:t>at</a:t>
            </a:r>
            <a:r>
              <a:rPr spc="-50" dirty="0">
                <a:sym typeface="+mn-ea"/>
              </a:rPr>
              <a:t> </a:t>
            </a:r>
            <a:r>
              <a:rPr dirty="0">
                <a:sym typeface="+mn-ea"/>
              </a:rPr>
              <a:t>least</a:t>
            </a:r>
            <a:r>
              <a:rPr spc="-30" dirty="0">
                <a:sym typeface="+mn-ea"/>
              </a:rPr>
              <a:t> </a:t>
            </a:r>
            <a:r>
              <a:rPr spc="-10" dirty="0">
                <a:sym typeface="+mn-ea"/>
              </a:rPr>
              <a:t>somewhat </a:t>
            </a:r>
            <a:r>
              <a:rPr dirty="0">
                <a:sym typeface="+mn-ea"/>
              </a:rPr>
              <a:t>like</a:t>
            </a:r>
            <a:r>
              <a:rPr spc="-30" dirty="0">
                <a:sym typeface="+mn-ea"/>
              </a:rPr>
              <a:t> </a:t>
            </a:r>
            <a:r>
              <a:rPr dirty="0">
                <a:sym typeface="+mn-ea"/>
              </a:rPr>
              <a:t>human</a:t>
            </a:r>
            <a:r>
              <a:rPr spc="-20" dirty="0">
                <a:sym typeface="+mn-ea"/>
              </a:rPr>
              <a:t> </a:t>
            </a:r>
            <a:r>
              <a:rPr dirty="0">
                <a:sym typeface="+mn-ea"/>
              </a:rPr>
              <a:t>beings</a:t>
            </a:r>
            <a:r>
              <a:rPr spc="-30" dirty="0">
                <a:sym typeface="+mn-ea"/>
              </a:rPr>
              <a:t> </a:t>
            </a:r>
            <a:r>
              <a:rPr spc="-25" dirty="0">
                <a:sym typeface="+mn-ea"/>
              </a:rPr>
              <a:t>do.</a:t>
            </a:r>
            <a:endParaRPr spc="-25" dirty="0">
              <a:sym typeface="+mn-ea"/>
            </a:endParaRPr>
          </a:p>
          <a:p>
            <a:endParaRPr lang="en-US"/>
          </a:p>
        </p:txBody>
      </p:sp>
      <p:sp>
        <p:nvSpPr>
          <p:cNvPr id="3" name="object 3"/>
          <p:cNvSpPr txBox="1"/>
          <p:nvPr/>
        </p:nvSpPr>
        <p:spPr>
          <a:xfrm>
            <a:off x="2215387" y="1654578"/>
            <a:ext cx="4217035" cy="306705"/>
          </a:xfrm>
          <a:prstGeom prst="rect">
            <a:avLst/>
          </a:prstGeom>
        </p:spPr>
        <p:txBody>
          <a:bodyPr vert="horz" wrap="square" lIns="0" tIns="60960" rIns="0" bIns="0" rtlCol="0">
            <a:spAutoFit/>
          </a:bodyPr>
          <a:lstStyle/>
          <a:p>
            <a:pPr marL="233045" indent="-220345">
              <a:lnSpc>
                <a:spcPct val="100000"/>
              </a:lnSpc>
              <a:spcBef>
                <a:spcPts val="480"/>
              </a:spcBef>
              <a:buClr>
                <a:srgbClr val="0AD0D9"/>
              </a:buClr>
              <a:buSzPct val="94000"/>
              <a:buFont typeface="Wingdings" panose="05000000000000000000"/>
              <a:buChar char=""/>
              <a:tabLst>
                <a:tab pos="233045" algn="l"/>
              </a:tabLst>
            </a:pPr>
            <a:endParaRPr sz="1600">
              <a:latin typeface="Georgia" panose="02040502050405020303"/>
              <a:cs typeface="Georgia" panose="02040502050405020303"/>
            </a:endParaRPr>
          </a:p>
        </p:txBody>
      </p:sp>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347663"/>
            <a:ext cx="10972800" cy="996950"/>
          </a:xfrm>
          <a:prstGeom prst="rect">
            <a:avLst/>
          </a:prstGeom>
        </p:spPr>
        <p:txBody>
          <a:bodyPr vert="horz" wrap="square" lIns="0" tIns="381889" rIns="0" bIns="0" rtlCol="0">
            <a:spAutoFit/>
          </a:bodyPr>
          <a:lstStyle/>
          <a:p>
            <a:pPr marL="1039495">
              <a:lnSpc>
                <a:spcPct val="100000"/>
              </a:lnSpc>
              <a:spcBef>
                <a:spcPts val="105"/>
              </a:spcBef>
            </a:pPr>
            <a:r>
              <a:rPr lang="en-US" spc="-45" dirty="0"/>
              <a:t>Early History of AI</a:t>
            </a:r>
            <a:endParaRPr spc="-10" dirty="0"/>
          </a:p>
        </p:txBody>
      </p:sp>
      <p:sp>
        <p:nvSpPr>
          <p:cNvPr id="3" name="object 3"/>
          <p:cNvSpPr txBox="1"/>
          <p:nvPr/>
        </p:nvSpPr>
        <p:spPr>
          <a:xfrm>
            <a:off x="608965" y="1528445"/>
            <a:ext cx="10888345" cy="5012690"/>
          </a:xfrm>
          <a:prstGeom prst="rect">
            <a:avLst/>
          </a:prstGeom>
        </p:spPr>
        <p:txBody>
          <a:bodyPr vert="horz" wrap="square" lIns="0" tIns="12700" rIns="0" bIns="0" rtlCol="0">
            <a:noAutofit/>
          </a:bodyPr>
          <a:lstStyle/>
          <a:p>
            <a:pPr marL="12700" marR="50800" indent="160655">
              <a:lnSpc>
                <a:spcPct val="100000"/>
              </a:lnSpc>
              <a:spcBef>
                <a:spcPts val="100"/>
              </a:spcBef>
              <a:buClr>
                <a:srgbClr val="0AD0D9"/>
              </a:buClr>
              <a:buSzPct val="87000"/>
              <a:buFont typeface="Wingdings" panose="05000000000000000000"/>
              <a:buChar char=""/>
              <a:tabLst>
                <a:tab pos="173355" algn="l"/>
              </a:tabLst>
            </a:pPr>
            <a:r>
              <a:rPr b="1" dirty="0">
                <a:latin typeface="Calibri" panose="020F0502020204030204" charset="0"/>
                <a:cs typeface="Calibri" panose="020F0502020204030204" charset="0"/>
              </a:rPr>
              <a:t>1950:</a:t>
            </a:r>
            <a:r>
              <a:rPr b="1"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Alan</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Turing</a:t>
            </a:r>
            <a:r>
              <a:rPr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publishes</a:t>
            </a:r>
            <a:r>
              <a:rPr spc="-35" dirty="0">
                <a:latin typeface="Calibri" panose="020F0502020204030204" charset="0"/>
                <a:cs typeface="Calibri" panose="020F0502020204030204" charset="0"/>
              </a:rPr>
              <a:t> </a:t>
            </a:r>
            <a:r>
              <a:rPr i="1" dirty="0">
                <a:latin typeface="Calibri" panose="020F0502020204030204" charset="0"/>
                <a:cs typeface="Calibri" panose="020F0502020204030204" charset="0"/>
              </a:rPr>
              <a:t>Computing</a:t>
            </a:r>
            <a:r>
              <a:rPr i="1" spc="-15" dirty="0">
                <a:latin typeface="Calibri" panose="020F0502020204030204" charset="0"/>
                <a:cs typeface="Calibri" panose="020F0502020204030204" charset="0"/>
              </a:rPr>
              <a:t> </a:t>
            </a:r>
            <a:r>
              <a:rPr i="1" dirty="0">
                <a:latin typeface="Calibri" panose="020F0502020204030204" charset="0"/>
                <a:cs typeface="Calibri" panose="020F0502020204030204" charset="0"/>
              </a:rPr>
              <a:t>Machinery</a:t>
            </a:r>
            <a:r>
              <a:rPr i="1" spc="-50" dirty="0">
                <a:latin typeface="Calibri" panose="020F0502020204030204" charset="0"/>
                <a:cs typeface="Calibri" panose="020F0502020204030204" charset="0"/>
              </a:rPr>
              <a:t> </a:t>
            </a:r>
            <a:r>
              <a:rPr i="1" dirty="0">
                <a:latin typeface="Calibri" panose="020F0502020204030204" charset="0"/>
                <a:cs typeface="Calibri" panose="020F0502020204030204" charset="0"/>
              </a:rPr>
              <a:t>and</a:t>
            </a:r>
            <a:r>
              <a:rPr i="1" spc="-40" dirty="0">
                <a:latin typeface="Calibri" panose="020F0502020204030204" charset="0"/>
                <a:cs typeface="Calibri" panose="020F0502020204030204" charset="0"/>
              </a:rPr>
              <a:t> </a:t>
            </a:r>
            <a:r>
              <a:rPr i="1" dirty="0">
                <a:latin typeface="Calibri" panose="020F0502020204030204" charset="0"/>
                <a:cs typeface="Calibri" panose="020F0502020204030204" charset="0"/>
              </a:rPr>
              <a:t>Intelligence.</a:t>
            </a:r>
            <a:r>
              <a:rPr i="1" spc="-15" dirty="0">
                <a:latin typeface="Calibri" panose="020F0502020204030204" charset="0"/>
                <a:cs typeface="Calibri" panose="020F0502020204030204" charset="0"/>
              </a:rPr>
              <a:t> </a:t>
            </a:r>
            <a:r>
              <a:rPr dirty="0">
                <a:latin typeface="Calibri" panose="020F0502020204030204" charset="0"/>
                <a:cs typeface="Calibri" panose="020F0502020204030204" charset="0"/>
              </a:rPr>
              <a:t>In</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the</a:t>
            </a:r>
            <a:r>
              <a:rPr spc="-4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paper, Turing—</a:t>
            </a:r>
            <a:r>
              <a:rPr dirty="0">
                <a:latin typeface="Calibri" panose="020F0502020204030204" charset="0"/>
                <a:cs typeface="Calibri" panose="020F0502020204030204" charset="0"/>
              </a:rPr>
              <a:t>famous</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for</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breaking</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the</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Nazi's</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ENIGMA</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code</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during</a:t>
            </a:r>
            <a:r>
              <a:rPr spc="-3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WWII—</a:t>
            </a:r>
            <a:r>
              <a:rPr dirty="0">
                <a:latin typeface="Calibri" panose="020F0502020204030204" charset="0"/>
                <a:cs typeface="Calibri" panose="020F0502020204030204" charset="0"/>
              </a:rPr>
              <a:t>proposes</a:t>
            </a:r>
            <a:r>
              <a:rPr spc="15" dirty="0">
                <a:latin typeface="Calibri" panose="020F0502020204030204" charset="0"/>
                <a:cs typeface="Calibri" panose="020F0502020204030204" charset="0"/>
              </a:rPr>
              <a:t> </a:t>
            </a:r>
            <a:r>
              <a:rPr dirty="0">
                <a:latin typeface="Calibri" panose="020F0502020204030204" charset="0"/>
                <a:cs typeface="Calibri" panose="020F0502020204030204" charset="0"/>
              </a:rPr>
              <a:t>to</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answer</a:t>
            </a:r>
            <a:r>
              <a:rPr spc="-30" dirty="0">
                <a:latin typeface="Calibri" panose="020F0502020204030204" charset="0"/>
                <a:cs typeface="Calibri" panose="020F0502020204030204" charset="0"/>
              </a:rPr>
              <a:t> </a:t>
            </a:r>
            <a:r>
              <a:rPr spc="-25" dirty="0">
                <a:latin typeface="Calibri" panose="020F0502020204030204" charset="0"/>
                <a:cs typeface="Calibri" panose="020F0502020204030204" charset="0"/>
              </a:rPr>
              <a:t>the </a:t>
            </a:r>
            <a:r>
              <a:rPr dirty="0">
                <a:latin typeface="Calibri" panose="020F0502020204030204" charset="0"/>
                <a:cs typeface="Calibri" panose="020F0502020204030204" charset="0"/>
              </a:rPr>
              <a:t>question</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'can</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machines</a:t>
            </a:r>
            <a:r>
              <a:rPr spc="-3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think?’</a:t>
            </a:r>
            <a:endParaRPr>
              <a:latin typeface="Calibri" panose="020F0502020204030204" charset="0"/>
              <a:cs typeface="Calibri" panose="020F0502020204030204" charset="0"/>
            </a:endParaRPr>
          </a:p>
          <a:p>
            <a:pPr marL="12700" marR="5080" indent="160655">
              <a:lnSpc>
                <a:spcPct val="100000"/>
              </a:lnSpc>
              <a:spcBef>
                <a:spcPts val="360"/>
              </a:spcBef>
              <a:buClr>
                <a:srgbClr val="0AD0D9"/>
              </a:buClr>
              <a:buSzPct val="87000"/>
              <a:buFont typeface="Wingdings" panose="05000000000000000000"/>
              <a:buChar char=""/>
              <a:tabLst>
                <a:tab pos="173355" algn="l"/>
              </a:tabLst>
            </a:pPr>
            <a:r>
              <a:rPr b="1" dirty="0">
                <a:latin typeface="Calibri" panose="020F0502020204030204" charset="0"/>
                <a:cs typeface="Calibri" panose="020F0502020204030204" charset="0"/>
              </a:rPr>
              <a:t>1956:</a:t>
            </a:r>
            <a:r>
              <a:rPr b="1"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John</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McCarthy</a:t>
            </a:r>
            <a:r>
              <a:rPr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coins</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the</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term</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'artificial</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intelligence'</a:t>
            </a:r>
            <a:r>
              <a:rPr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at</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the</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first-ever</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AI</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conference</a:t>
            </a:r>
            <a:r>
              <a:rPr spc="-35" dirty="0">
                <a:latin typeface="Calibri" panose="020F0502020204030204" charset="0"/>
                <a:cs typeface="Calibri" panose="020F0502020204030204" charset="0"/>
              </a:rPr>
              <a:t> </a:t>
            </a:r>
            <a:r>
              <a:rPr spc="-25" dirty="0">
                <a:latin typeface="Calibri" panose="020F0502020204030204" charset="0"/>
                <a:cs typeface="Calibri" panose="020F0502020204030204" charset="0"/>
              </a:rPr>
              <a:t>at </a:t>
            </a:r>
            <a:r>
              <a:rPr dirty="0">
                <a:latin typeface="Calibri" panose="020F0502020204030204" charset="0"/>
                <a:cs typeface="Calibri" panose="020F0502020204030204" charset="0"/>
              </a:rPr>
              <a:t>Dartmouth</a:t>
            </a:r>
            <a:r>
              <a:rPr spc="-5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College.</a:t>
            </a:r>
            <a:endParaRPr>
              <a:latin typeface="Calibri" panose="020F0502020204030204" charset="0"/>
              <a:cs typeface="Calibri" panose="020F0502020204030204" charset="0"/>
            </a:endParaRPr>
          </a:p>
          <a:p>
            <a:pPr marL="12700" marR="90805" indent="160655">
              <a:lnSpc>
                <a:spcPct val="100000"/>
              </a:lnSpc>
              <a:spcBef>
                <a:spcPts val="360"/>
              </a:spcBef>
              <a:buClr>
                <a:srgbClr val="0AD0D9"/>
              </a:buClr>
              <a:buSzPct val="87000"/>
              <a:buFont typeface="Wingdings" panose="05000000000000000000"/>
              <a:buChar char=""/>
              <a:tabLst>
                <a:tab pos="173355" algn="l"/>
              </a:tabLst>
            </a:pPr>
            <a:r>
              <a:rPr b="1" dirty="0">
                <a:latin typeface="Calibri" panose="020F0502020204030204" charset="0"/>
                <a:cs typeface="Calibri" panose="020F0502020204030204" charset="0"/>
              </a:rPr>
              <a:t>1967:</a:t>
            </a:r>
            <a:r>
              <a:rPr b="1"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Frank</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Rosenblatt</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builds</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the</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Mark</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1</a:t>
            </a:r>
            <a:r>
              <a:rPr spc="-10" dirty="0">
                <a:latin typeface="Calibri" panose="020F0502020204030204" charset="0"/>
                <a:cs typeface="Calibri" panose="020F0502020204030204" charset="0"/>
              </a:rPr>
              <a:t> </a:t>
            </a:r>
            <a:r>
              <a:rPr dirty="0">
                <a:latin typeface="Calibri" panose="020F0502020204030204" charset="0"/>
                <a:cs typeface="Calibri" panose="020F0502020204030204" charset="0"/>
              </a:rPr>
              <a:t>Perceptron,</a:t>
            </a:r>
            <a:r>
              <a:rPr spc="-15" dirty="0">
                <a:latin typeface="Calibri" panose="020F0502020204030204" charset="0"/>
                <a:cs typeface="Calibri" panose="020F0502020204030204" charset="0"/>
              </a:rPr>
              <a:t> </a:t>
            </a:r>
            <a:r>
              <a:rPr dirty="0">
                <a:latin typeface="Calibri" panose="020F0502020204030204" charset="0"/>
                <a:cs typeface="Calibri" panose="020F0502020204030204" charset="0"/>
              </a:rPr>
              <a:t>the</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first</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computer</a:t>
            </a:r>
            <a:r>
              <a:rPr spc="-15" dirty="0">
                <a:latin typeface="Calibri" panose="020F0502020204030204" charset="0"/>
                <a:cs typeface="Calibri" panose="020F0502020204030204" charset="0"/>
              </a:rPr>
              <a:t> </a:t>
            </a:r>
            <a:r>
              <a:rPr dirty="0">
                <a:latin typeface="Calibri" panose="020F0502020204030204" charset="0"/>
                <a:cs typeface="Calibri" panose="020F0502020204030204" charset="0"/>
              </a:rPr>
              <a:t>based</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on</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a</a:t>
            </a:r>
            <a:r>
              <a:rPr spc="-4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neural </a:t>
            </a:r>
            <a:r>
              <a:rPr dirty="0">
                <a:latin typeface="Calibri" panose="020F0502020204030204" charset="0"/>
                <a:cs typeface="Calibri" panose="020F0502020204030204" charset="0"/>
              </a:rPr>
              <a:t>network</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that</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'learned'</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though</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trial</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3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error.</a:t>
            </a:r>
            <a:endParaRPr>
              <a:latin typeface="Calibri" panose="020F0502020204030204" charset="0"/>
              <a:cs typeface="Calibri" panose="020F0502020204030204" charset="0"/>
            </a:endParaRPr>
          </a:p>
          <a:p>
            <a:pPr marL="12700" marR="467360" indent="160655">
              <a:lnSpc>
                <a:spcPct val="100000"/>
              </a:lnSpc>
              <a:spcBef>
                <a:spcPts val="360"/>
              </a:spcBef>
              <a:buClr>
                <a:srgbClr val="0AD0D9"/>
              </a:buClr>
              <a:buSzPct val="87000"/>
              <a:buFont typeface="Wingdings" panose="05000000000000000000"/>
              <a:buChar char=""/>
              <a:tabLst>
                <a:tab pos="173355" algn="l"/>
              </a:tabLst>
            </a:pPr>
            <a:r>
              <a:rPr b="1" dirty="0">
                <a:latin typeface="Calibri" panose="020F0502020204030204" charset="0"/>
                <a:cs typeface="Calibri" panose="020F0502020204030204" charset="0"/>
              </a:rPr>
              <a:t>1980s:</a:t>
            </a:r>
            <a:r>
              <a:rPr b="1"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Neural</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networks</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which</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use</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a</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backpropagation</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algorithm</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to</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train</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itself</a:t>
            </a:r>
            <a:r>
              <a:rPr spc="-3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become </a:t>
            </a:r>
            <a:r>
              <a:rPr dirty="0">
                <a:latin typeface="Calibri" panose="020F0502020204030204" charset="0"/>
                <a:cs typeface="Calibri" panose="020F0502020204030204" charset="0"/>
              </a:rPr>
              <a:t>widely</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used</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in</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AI</a:t>
            </a:r>
            <a:r>
              <a:rPr spc="-2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applications.</a:t>
            </a:r>
            <a:endParaRPr>
              <a:latin typeface="Calibri" panose="020F0502020204030204" charset="0"/>
              <a:cs typeface="Calibri" panose="020F0502020204030204" charset="0"/>
            </a:endParaRPr>
          </a:p>
          <a:p>
            <a:pPr marL="12700" marR="80010" indent="160655">
              <a:lnSpc>
                <a:spcPct val="100000"/>
              </a:lnSpc>
              <a:spcBef>
                <a:spcPts val="365"/>
              </a:spcBef>
              <a:buClr>
                <a:srgbClr val="0AD0D9"/>
              </a:buClr>
              <a:buSzPct val="87000"/>
              <a:buFont typeface="Wingdings" panose="05000000000000000000"/>
              <a:buChar char=""/>
              <a:tabLst>
                <a:tab pos="173355" algn="l"/>
              </a:tabLst>
            </a:pPr>
            <a:r>
              <a:rPr b="1" dirty="0">
                <a:latin typeface="Calibri" panose="020F0502020204030204" charset="0"/>
                <a:cs typeface="Calibri" panose="020F0502020204030204" charset="0"/>
              </a:rPr>
              <a:t>1997:</a:t>
            </a:r>
            <a:r>
              <a:rPr b="1"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IBM's</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Deep</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Blue</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beats</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then</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world</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chess</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champion</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Garry</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Kasparov,</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in</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a</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chess</a:t>
            </a:r>
            <a:r>
              <a:rPr spc="-3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match </a:t>
            </a:r>
            <a:r>
              <a:rPr dirty="0">
                <a:latin typeface="Calibri" panose="020F0502020204030204" charset="0"/>
                <a:cs typeface="Calibri" panose="020F0502020204030204" charset="0"/>
              </a:rPr>
              <a:t>(and</a:t>
            </a:r>
            <a:r>
              <a:rPr spc="-2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rematch).</a:t>
            </a:r>
            <a:endParaRPr>
              <a:latin typeface="Calibri" panose="020F0502020204030204" charset="0"/>
              <a:cs typeface="Calibri" panose="020F0502020204030204" charset="0"/>
            </a:endParaRPr>
          </a:p>
          <a:p>
            <a:pPr marL="173355" indent="-160655">
              <a:lnSpc>
                <a:spcPct val="100000"/>
              </a:lnSpc>
              <a:spcBef>
                <a:spcPts val="360"/>
              </a:spcBef>
              <a:buClr>
                <a:srgbClr val="0AD0D9"/>
              </a:buClr>
              <a:buSzPct val="87000"/>
              <a:buFont typeface="Wingdings" panose="05000000000000000000"/>
              <a:buChar char=""/>
              <a:tabLst>
                <a:tab pos="173355" algn="l"/>
              </a:tabLst>
            </a:pPr>
            <a:r>
              <a:rPr b="1" dirty="0">
                <a:latin typeface="Calibri" panose="020F0502020204030204" charset="0"/>
                <a:cs typeface="Calibri" panose="020F0502020204030204" charset="0"/>
              </a:rPr>
              <a:t>2011:</a:t>
            </a:r>
            <a:r>
              <a:rPr b="1"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IBM</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Watson</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beats</a:t>
            </a:r>
            <a:r>
              <a:rPr spc="-2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champions</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Ken</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Jennings</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Brad</a:t>
            </a:r>
            <a:r>
              <a:rPr spc="-15" dirty="0">
                <a:latin typeface="Calibri" panose="020F0502020204030204" charset="0"/>
                <a:cs typeface="Calibri" panose="020F0502020204030204" charset="0"/>
              </a:rPr>
              <a:t> </a:t>
            </a:r>
            <a:r>
              <a:rPr dirty="0">
                <a:latin typeface="Calibri" panose="020F0502020204030204" charset="0"/>
                <a:cs typeface="Calibri" panose="020F0502020204030204" charset="0"/>
              </a:rPr>
              <a:t>Rutter</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at</a:t>
            </a:r>
            <a:r>
              <a:rPr spc="-25" dirty="0">
                <a:latin typeface="Calibri" panose="020F0502020204030204" charset="0"/>
                <a:cs typeface="Calibri" panose="020F0502020204030204" charset="0"/>
              </a:rPr>
              <a:t> </a:t>
            </a:r>
            <a:r>
              <a:rPr i="1" spc="-10" dirty="0">
                <a:latin typeface="Calibri" panose="020F0502020204030204" charset="0"/>
                <a:cs typeface="Calibri" panose="020F0502020204030204" charset="0"/>
              </a:rPr>
              <a:t>Jeopardy!</a:t>
            </a:r>
            <a:endParaRPr>
              <a:latin typeface="Calibri" panose="020F0502020204030204" charset="0"/>
              <a:cs typeface="Calibri" panose="020F0502020204030204" charset="0"/>
            </a:endParaRPr>
          </a:p>
          <a:p>
            <a:pPr marL="12700" marR="99695" indent="160655">
              <a:lnSpc>
                <a:spcPct val="100000"/>
              </a:lnSpc>
              <a:spcBef>
                <a:spcPts val="360"/>
              </a:spcBef>
              <a:buClr>
                <a:srgbClr val="0AD0D9"/>
              </a:buClr>
              <a:buSzPct val="87000"/>
              <a:buFont typeface="Wingdings" panose="05000000000000000000"/>
              <a:buChar char=""/>
              <a:tabLst>
                <a:tab pos="173355" algn="l"/>
              </a:tabLst>
            </a:pPr>
            <a:r>
              <a:rPr b="1" dirty="0">
                <a:latin typeface="Calibri" panose="020F0502020204030204" charset="0"/>
                <a:cs typeface="Calibri" panose="020F0502020204030204" charset="0"/>
              </a:rPr>
              <a:t>2015:</a:t>
            </a:r>
            <a:r>
              <a:rPr b="1"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Baidu's</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Minwa</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supercomputer</a:t>
            </a:r>
            <a:r>
              <a:rPr spc="-5" dirty="0">
                <a:latin typeface="Calibri" panose="020F0502020204030204" charset="0"/>
                <a:cs typeface="Calibri" panose="020F0502020204030204" charset="0"/>
              </a:rPr>
              <a:t> </a:t>
            </a:r>
            <a:r>
              <a:rPr dirty="0">
                <a:latin typeface="Calibri" panose="020F0502020204030204" charset="0"/>
                <a:cs typeface="Calibri" panose="020F0502020204030204" charset="0"/>
              </a:rPr>
              <a:t>uses</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a</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special</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kind</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of</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deep</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neural</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network</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called</a:t>
            </a:r>
            <a:r>
              <a:rPr spc="-55" dirty="0">
                <a:latin typeface="Calibri" panose="020F0502020204030204" charset="0"/>
                <a:cs typeface="Calibri" panose="020F0502020204030204" charset="0"/>
              </a:rPr>
              <a:t> </a:t>
            </a:r>
            <a:r>
              <a:rPr spc="-50" dirty="0">
                <a:latin typeface="Calibri" panose="020F0502020204030204" charset="0"/>
                <a:cs typeface="Calibri" panose="020F0502020204030204" charset="0"/>
              </a:rPr>
              <a:t>a </a:t>
            </a:r>
            <a:r>
              <a:rPr dirty="0">
                <a:latin typeface="Calibri" panose="020F0502020204030204" charset="0"/>
                <a:cs typeface="Calibri" panose="020F0502020204030204" charset="0"/>
              </a:rPr>
              <a:t>convolutional</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neural</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network</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to</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identify</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categorize</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images</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with</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a</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higher</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rate</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of</a:t>
            </a:r>
            <a:r>
              <a:rPr spc="-2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accuracy </a:t>
            </a:r>
            <a:r>
              <a:rPr dirty="0">
                <a:latin typeface="Calibri" panose="020F0502020204030204" charset="0"/>
                <a:cs typeface="Calibri" panose="020F0502020204030204" charset="0"/>
              </a:rPr>
              <a:t>than</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the</a:t>
            </a:r>
            <a:r>
              <a:rPr spc="-15" dirty="0">
                <a:latin typeface="Calibri" panose="020F0502020204030204" charset="0"/>
                <a:cs typeface="Calibri" panose="020F0502020204030204" charset="0"/>
              </a:rPr>
              <a:t> </a:t>
            </a:r>
            <a:r>
              <a:rPr dirty="0">
                <a:latin typeface="Calibri" panose="020F0502020204030204" charset="0"/>
                <a:cs typeface="Calibri" panose="020F0502020204030204" charset="0"/>
              </a:rPr>
              <a:t>average</a:t>
            </a:r>
            <a:r>
              <a:rPr spc="-1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human.</a:t>
            </a:r>
            <a:endParaRPr>
              <a:latin typeface="Calibri" panose="020F0502020204030204" charset="0"/>
              <a:cs typeface="Calibri" panose="020F0502020204030204" charset="0"/>
            </a:endParaRPr>
          </a:p>
          <a:p>
            <a:pPr marL="12700" marR="125730" indent="160655">
              <a:lnSpc>
                <a:spcPct val="100000"/>
              </a:lnSpc>
              <a:spcBef>
                <a:spcPts val="360"/>
              </a:spcBef>
              <a:buClr>
                <a:srgbClr val="0AD0D9"/>
              </a:buClr>
              <a:buSzPct val="87000"/>
              <a:buFont typeface="Wingdings" panose="05000000000000000000"/>
              <a:buChar char=""/>
              <a:tabLst>
                <a:tab pos="173355" algn="l"/>
              </a:tabLst>
            </a:pPr>
            <a:r>
              <a:rPr b="1" dirty="0">
                <a:latin typeface="Calibri" panose="020F0502020204030204" charset="0"/>
                <a:cs typeface="Calibri" panose="020F0502020204030204" charset="0"/>
              </a:rPr>
              <a:t>2016:</a:t>
            </a:r>
            <a:r>
              <a:rPr b="1" spc="-65" dirty="0">
                <a:latin typeface="Calibri" panose="020F0502020204030204" charset="0"/>
                <a:cs typeface="Calibri" panose="020F0502020204030204" charset="0"/>
              </a:rPr>
              <a:t> </a:t>
            </a:r>
            <a:r>
              <a:rPr dirty="0">
                <a:latin typeface="Calibri" panose="020F0502020204030204" charset="0"/>
                <a:cs typeface="Calibri" panose="020F0502020204030204" charset="0"/>
              </a:rPr>
              <a:t>DeepMind's</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AlphaGo</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program,</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powered</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by</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a</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deep</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neural</a:t>
            </a:r>
            <a:r>
              <a:rPr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network,</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beats</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Lee</a:t>
            </a:r>
            <a:r>
              <a:rPr spc="-3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Sodol, </a:t>
            </a:r>
            <a:r>
              <a:rPr dirty="0">
                <a:latin typeface="Calibri" panose="020F0502020204030204" charset="0"/>
                <a:cs typeface="Calibri" panose="020F0502020204030204" charset="0"/>
              </a:rPr>
              <a:t>the</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world</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champion</a:t>
            </a:r>
            <a:r>
              <a:rPr spc="-15" dirty="0">
                <a:latin typeface="Calibri" panose="020F0502020204030204" charset="0"/>
                <a:cs typeface="Calibri" panose="020F0502020204030204" charset="0"/>
              </a:rPr>
              <a:t> </a:t>
            </a:r>
            <a:r>
              <a:rPr dirty="0">
                <a:latin typeface="Calibri" panose="020F0502020204030204" charset="0"/>
                <a:cs typeface="Calibri" panose="020F0502020204030204" charset="0"/>
              </a:rPr>
              <a:t>Go</a:t>
            </a:r>
            <a:r>
              <a:rPr spc="-10" dirty="0">
                <a:latin typeface="Calibri" panose="020F0502020204030204" charset="0"/>
                <a:cs typeface="Calibri" panose="020F0502020204030204" charset="0"/>
              </a:rPr>
              <a:t> </a:t>
            </a:r>
            <a:r>
              <a:rPr dirty="0">
                <a:latin typeface="Calibri" panose="020F0502020204030204" charset="0"/>
                <a:cs typeface="Calibri" panose="020F0502020204030204" charset="0"/>
              </a:rPr>
              <a:t>player,</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in</a:t>
            </a:r>
            <a:r>
              <a:rPr spc="-15" dirty="0">
                <a:latin typeface="Calibri" panose="020F0502020204030204" charset="0"/>
                <a:cs typeface="Calibri" panose="020F0502020204030204" charset="0"/>
              </a:rPr>
              <a:t> </a:t>
            </a:r>
            <a:r>
              <a:rPr dirty="0">
                <a:latin typeface="Calibri" panose="020F0502020204030204" charset="0"/>
                <a:cs typeface="Calibri" panose="020F0502020204030204" charset="0"/>
              </a:rPr>
              <a:t>a</a:t>
            </a:r>
            <a:r>
              <a:rPr spc="-2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five-</a:t>
            </a:r>
            <a:r>
              <a:rPr dirty="0">
                <a:latin typeface="Calibri" panose="020F0502020204030204" charset="0"/>
                <a:cs typeface="Calibri" panose="020F0502020204030204" charset="0"/>
              </a:rPr>
              <a:t>game</a:t>
            </a:r>
            <a:r>
              <a:rPr spc="-2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match.</a:t>
            </a:r>
            <a:endParaRPr>
              <a:latin typeface="Calibri" panose="020F0502020204030204" charset="0"/>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509588"/>
            <a:ext cx="10972800" cy="673100"/>
          </a:xfrm>
          <a:prstGeom prst="rect">
            <a:avLst/>
          </a:prstGeom>
        </p:spPr>
        <p:txBody>
          <a:bodyPr vert="horz" wrap="square" lIns="0" tIns="57785" rIns="0" bIns="0" rtlCol="0">
            <a:spAutoFit/>
          </a:bodyPr>
          <a:lstStyle/>
          <a:p>
            <a:pPr marL="998855">
              <a:lnSpc>
                <a:spcPct val="100000"/>
              </a:lnSpc>
              <a:spcBef>
                <a:spcPts val="105"/>
              </a:spcBef>
            </a:pPr>
            <a:r>
              <a:rPr lang="en-US" dirty="0"/>
              <a:t>Current status of AI</a:t>
            </a:r>
            <a:endParaRPr spc="-10" dirty="0"/>
          </a:p>
        </p:txBody>
      </p:sp>
      <p:sp>
        <p:nvSpPr>
          <p:cNvPr id="3" name="object 3"/>
          <p:cNvSpPr txBox="1"/>
          <p:nvPr/>
        </p:nvSpPr>
        <p:spPr>
          <a:xfrm>
            <a:off x="365760" y="1082675"/>
            <a:ext cx="11487150" cy="5466080"/>
          </a:xfrm>
          <a:prstGeom prst="rect">
            <a:avLst/>
          </a:prstGeom>
        </p:spPr>
        <p:txBody>
          <a:bodyPr vert="horz" wrap="square" lIns="0" tIns="12700" rIns="0" bIns="0" rtlCol="0">
            <a:noAutofit/>
          </a:bodyPr>
          <a:lstStyle/>
          <a:p>
            <a:pPr marL="12700" marR="265430" indent="-11430">
              <a:lnSpc>
                <a:spcPct val="100000"/>
              </a:lnSpc>
              <a:spcBef>
                <a:spcPts val="435"/>
              </a:spcBef>
              <a:buClr>
                <a:srgbClr val="0AD0D9"/>
              </a:buClr>
              <a:buSzPct val="94000"/>
              <a:buFont typeface="Wingdings" panose="05000000000000000000"/>
              <a:buChar char=""/>
              <a:tabLst>
                <a:tab pos="185420" algn="l"/>
              </a:tabLst>
            </a:pPr>
            <a:r>
              <a:rPr dirty="0">
                <a:latin typeface="Calibri" panose="020F0502020204030204" charset="0"/>
                <a:cs typeface="Calibri" panose="020F0502020204030204" charset="0"/>
              </a:rPr>
              <a:t>	In</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2021,</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AI</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investments</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by</a:t>
            </a:r>
            <a:r>
              <a:rPr spc="-15" dirty="0">
                <a:latin typeface="Calibri" panose="020F0502020204030204" charset="0"/>
                <a:cs typeface="Calibri" panose="020F0502020204030204" charset="0"/>
              </a:rPr>
              <a:t> </a:t>
            </a:r>
            <a:r>
              <a:rPr dirty="0">
                <a:latin typeface="Calibri" panose="020F0502020204030204" charset="0"/>
                <a:cs typeface="Calibri" panose="020F0502020204030204" charset="0"/>
              </a:rPr>
              <a:t>corporations</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businesses,</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large</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2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small, </a:t>
            </a:r>
            <a:r>
              <a:rPr dirty="0">
                <a:latin typeface="Calibri" panose="020F0502020204030204" charset="0"/>
                <a:cs typeface="Calibri" panose="020F0502020204030204" charset="0"/>
              </a:rPr>
              <a:t>have</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reached</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new</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heights,</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exceeding</a:t>
            </a:r>
            <a:r>
              <a:rPr spc="-65" dirty="0">
                <a:latin typeface="Calibri" panose="020F0502020204030204" charset="0"/>
                <a:cs typeface="Calibri" panose="020F0502020204030204" charset="0"/>
              </a:rPr>
              <a:t> </a:t>
            </a:r>
            <a:r>
              <a:rPr dirty="0">
                <a:latin typeface="Calibri" panose="020F0502020204030204" charset="0"/>
                <a:cs typeface="Calibri" panose="020F0502020204030204" charset="0"/>
              </a:rPr>
              <a:t>all</a:t>
            </a:r>
            <a:r>
              <a:rPr spc="-65" dirty="0">
                <a:latin typeface="Calibri" panose="020F0502020204030204" charset="0"/>
                <a:cs typeface="Calibri" panose="020F0502020204030204" charset="0"/>
              </a:rPr>
              <a:t> </a:t>
            </a:r>
            <a:r>
              <a:rPr dirty="0">
                <a:latin typeface="Calibri" panose="020F0502020204030204" charset="0"/>
                <a:cs typeface="Calibri" panose="020F0502020204030204" charset="0"/>
              </a:rPr>
              <a:t>previous</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expectations</a:t>
            </a:r>
            <a:r>
              <a:rPr spc="-70" dirty="0">
                <a:latin typeface="Calibri" panose="020F0502020204030204" charset="0"/>
                <a:cs typeface="Calibri" panose="020F0502020204030204" charset="0"/>
              </a:rPr>
              <a:t> </a:t>
            </a:r>
            <a:r>
              <a:rPr spc="-25" dirty="0">
                <a:latin typeface="Calibri" panose="020F0502020204030204" charset="0"/>
                <a:cs typeface="Calibri" panose="020F0502020204030204" charset="0"/>
              </a:rPr>
              <a:t>and </a:t>
            </a:r>
            <a:r>
              <a:rPr spc="-10" dirty="0">
                <a:latin typeface="Calibri" panose="020F0502020204030204" charset="0"/>
                <a:cs typeface="Calibri" panose="020F0502020204030204" charset="0"/>
              </a:rPr>
              <a:t>predictions.</a:t>
            </a:r>
            <a:endParaRPr>
              <a:latin typeface="Calibri" panose="020F0502020204030204" charset="0"/>
              <a:cs typeface="Calibri" panose="020F0502020204030204" charset="0"/>
            </a:endParaRPr>
          </a:p>
          <a:p>
            <a:pPr marL="12700" marR="188595" indent="-11430">
              <a:lnSpc>
                <a:spcPct val="100000"/>
              </a:lnSpc>
              <a:spcBef>
                <a:spcPts val="435"/>
              </a:spcBef>
              <a:buClr>
                <a:srgbClr val="0AD0D9"/>
              </a:buClr>
              <a:buSzPct val="94000"/>
              <a:buFont typeface="Wingdings" panose="05000000000000000000"/>
              <a:buChar char=""/>
              <a:tabLst>
                <a:tab pos="185420" algn="l"/>
              </a:tabLst>
            </a:pPr>
            <a:r>
              <a:rPr spc="-20" dirty="0">
                <a:latin typeface="Calibri" panose="020F0502020204030204" charset="0"/>
                <a:cs typeface="Calibri" panose="020F0502020204030204" charset="0"/>
              </a:rPr>
              <a:t>	AI-</a:t>
            </a:r>
            <a:r>
              <a:rPr dirty="0">
                <a:latin typeface="Calibri" panose="020F0502020204030204" charset="0"/>
                <a:cs typeface="Calibri" panose="020F0502020204030204" charset="0"/>
              </a:rPr>
              <a:t>based</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software</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systems</a:t>
            </a:r>
            <a:r>
              <a:rPr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are</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comprised</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of</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many</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layers</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such</a:t>
            </a:r>
            <a:r>
              <a:rPr spc="-45" dirty="0">
                <a:latin typeface="Calibri" panose="020F0502020204030204" charset="0"/>
                <a:cs typeface="Calibri" panose="020F0502020204030204" charset="0"/>
              </a:rPr>
              <a:t> </a:t>
            </a:r>
            <a:r>
              <a:rPr spc="-25" dirty="0">
                <a:latin typeface="Calibri" panose="020F0502020204030204" charset="0"/>
                <a:cs typeface="Calibri" panose="020F0502020204030204" charset="0"/>
              </a:rPr>
              <a:t>as </a:t>
            </a:r>
            <a:r>
              <a:rPr dirty="0">
                <a:latin typeface="Calibri" panose="020F0502020204030204" charset="0"/>
                <a:cs typeface="Calibri" panose="020F0502020204030204" charset="0"/>
              </a:rPr>
              <a:t>foundational</a:t>
            </a:r>
            <a:r>
              <a:rPr spc="-75" dirty="0">
                <a:latin typeface="Calibri" panose="020F0502020204030204" charset="0"/>
                <a:cs typeface="Calibri" panose="020F0502020204030204" charset="0"/>
              </a:rPr>
              <a:t> </a:t>
            </a:r>
            <a:r>
              <a:rPr dirty="0">
                <a:latin typeface="Calibri" panose="020F0502020204030204" charset="0"/>
                <a:cs typeface="Calibri" panose="020F0502020204030204" charset="0"/>
              </a:rPr>
              <a:t>models,</a:t>
            </a:r>
            <a:r>
              <a:rPr spc="-70" dirty="0">
                <a:latin typeface="Calibri" panose="020F0502020204030204" charset="0"/>
                <a:cs typeface="Calibri" panose="020F0502020204030204" charset="0"/>
              </a:rPr>
              <a:t> </a:t>
            </a:r>
            <a:r>
              <a:rPr dirty="0">
                <a:latin typeface="Calibri" panose="020F0502020204030204" charset="0"/>
                <a:cs typeface="Calibri" panose="020F0502020204030204" charset="0"/>
              </a:rPr>
              <a:t>advanced</a:t>
            </a:r>
            <a:r>
              <a:rPr spc="-75" dirty="0">
                <a:latin typeface="Calibri" panose="020F0502020204030204" charset="0"/>
                <a:cs typeface="Calibri" panose="020F0502020204030204" charset="0"/>
              </a:rPr>
              <a:t> </a:t>
            </a:r>
            <a:r>
              <a:rPr dirty="0">
                <a:latin typeface="Calibri" panose="020F0502020204030204" charset="0"/>
                <a:cs typeface="Calibri" panose="020F0502020204030204" charset="0"/>
              </a:rPr>
              <a:t>algorithms,</a:t>
            </a:r>
            <a:r>
              <a:rPr spc="-70"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75" dirty="0">
                <a:latin typeface="Calibri" panose="020F0502020204030204" charset="0"/>
                <a:cs typeface="Calibri" panose="020F0502020204030204" charset="0"/>
              </a:rPr>
              <a:t> </a:t>
            </a:r>
            <a:r>
              <a:rPr dirty="0">
                <a:latin typeface="Calibri" panose="020F0502020204030204" charset="0"/>
                <a:cs typeface="Calibri" panose="020F0502020204030204" charset="0"/>
              </a:rPr>
              <a:t>automated</a:t>
            </a:r>
            <a:r>
              <a:rPr spc="-65" dirty="0">
                <a:latin typeface="Calibri" panose="020F0502020204030204" charset="0"/>
                <a:cs typeface="Calibri" panose="020F0502020204030204" charset="0"/>
              </a:rPr>
              <a:t> </a:t>
            </a:r>
            <a:r>
              <a:rPr dirty="0">
                <a:latin typeface="Calibri" panose="020F0502020204030204" charset="0"/>
                <a:cs typeface="Calibri" panose="020F0502020204030204" charset="0"/>
              </a:rPr>
              <a:t>reasoning</a:t>
            </a:r>
            <a:r>
              <a:rPr spc="-9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tools.</a:t>
            </a:r>
            <a:endParaRPr>
              <a:latin typeface="Calibri" panose="020F0502020204030204" charset="0"/>
              <a:cs typeface="Calibri" panose="020F0502020204030204" charset="0"/>
            </a:endParaRPr>
          </a:p>
          <a:p>
            <a:pPr marL="12700" marR="5080" indent="-11430">
              <a:lnSpc>
                <a:spcPct val="100000"/>
              </a:lnSpc>
              <a:spcBef>
                <a:spcPts val="430"/>
              </a:spcBef>
              <a:buClr>
                <a:srgbClr val="0AD0D9"/>
              </a:buClr>
              <a:buSzPct val="94000"/>
              <a:buFont typeface="Wingdings" panose="05000000000000000000"/>
              <a:buChar char=""/>
              <a:tabLst>
                <a:tab pos="185420" algn="l"/>
              </a:tabLst>
            </a:pPr>
            <a:r>
              <a:rPr dirty="0">
                <a:latin typeface="Calibri" panose="020F0502020204030204" charset="0"/>
                <a:cs typeface="Calibri" panose="020F0502020204030204" charset="0"/>
              </a:rPr>
              <a:t>	Language</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processing</a:t>
            </a:r>
            <a:r>
              <a:rPr spc="-60"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conversation</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interfaces</a:t>
            </a:r>
            <a:r>
              <a:rPr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are</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already</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able</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to</a:t>
            </a:r>
            <a:r>
              <a:rPr spc="-2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deliver </a:t>
            </a:r>
            <a:r>
              <a:rPr dirty="0">
                <a:latin typeface="Calibri" panose="020F0502020204030204" charset="0"/>
                <a:cs typeface="Calibri" panose="020F0502020204030204" charset="0"/>
              </a:rPr>
              <a:t>translation</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services,</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text</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understanding</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3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categorization,</a:t>
            </a:r>
            <a:r>
              <a:rPr spc="-3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speech </a:t>
            </a:r>
            <a:r>
              <a:rPr dirty="0">
                <a:latin typeface="Calibri" panose="020F0502020204030204" charset="0"/>
                <a:cs typeface="Calibri" panose="020F0502020204030204" charset="0"/>
              </a:rPr>
              <a:t>recognition,</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40" dirty="0">
                <a:latin typeface="Calibri" panose="020F0502020204030204" charset="0"/>
                <a:cs typeface="Calibri" panose="020F0502020204030204" charset="0"/>
              </a:rPr>
              <a:t> </a:t>
            </a:r>
            <a:r>
              <a:rPr dirty="0">
                <a:latin typeface="Calibri" panose="020F0502020204030204" charset="0"/>
                <a:cs typeface="Calibri" panose="020F0502020204030204" charset="0"/>
              </a:rPr>
              <a:t>even</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power</a:t>
            </a:r>
            <a:r>
              <a:rPr spc="-3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chatbots.</a:t>
            </a:r>
            <a:endParaRPr>
              <a:latin typeface="Calibri" panose="020F0502020204030204" charset="0"/>
              <a:cs typeface="Calibri" panose="020F0502020204030204" charset="0"/>
            </a:endParaRPr>
          </a:p>
          <a:p>
            <a:pPr marL="12700" marR="302895" indent="-11430">
              <a:lnSpc>
                <a:spcPct val="100000"/>
              </a:lnSpc>
              <a:spcBef>
                <a:spcPts val="435"/>
              </a:spcBef>
              <a:buClr>
                <a:srgbClr val="0AD0D9"/>
              </a:buClr>
              <a:buSzPct val="94000"/>
              <a:buFont typeface="Wingdings" panose="05000000000000000000"/>
              <a:buChar char=""/>
              <a:tabLst>
                <a:tab pos="185420" algn="l"/>
              </a:tabLst>
            </a:pPr>
            <a:r>
              <a:rPr dirty="0">
                <a:latin typeface="Calibri" panose="020F0502020204030204" charset="0"/>
                <a:cs typeface="Calibri" panose="020F0502020204030204" charset="0"/>
              </a:rPr>
              <a:t>	DALL.E</a:t>
            </a:r>
            <a:r>
              <a:rPr spc="-30"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GPT3</a:t>
            </a:r>
            <a:r>
              <a:rPr spc="-35" dirty="0">
                <a:latin typeface="Calibri" panose="020F0502020204030204" charset="0"/>
                <a:cs typeface="Calibri" panose="020F0502020204030204" charset="0"/>
              </a:rPr>
              <a:t> </a:t>
            </a:r>
            <a:r>
              <a:rPr dirty="0">
                <a:latin typeface="Calibri" panose="020F0502020204030204" charset="0"/>
                <a:cs typeface="Calibri" panose="020F0502020204030204" charset="0"/>
              </a:rPr>
              <a:t>are</a:t>
            </a:r>
            <a:r>
              <a:rPr spc="-25" dirty="0">
                <a:latin typeface="Calibri" panose="020F0502020204030204" charset="0"/>
                <a:cs typeface="Calibri" panose="020F0502020204030204" charset="0"/>
              </a:rPr>
              <a:t> </a:t>
            </a:r>
            <a:r>
              <a:rPr spc="-20" dirty="0">
                <a:latin typeface="Calibri" panose="020F0502020204030204" charset="0"/>
                <a:cs typeface="Calibri" panose="020F0502020204030204" charset="0"/>
              </a:rPr>
              <a:t>large-</a:t>
            </a:r>
            <a:r>
              <a:rPr dirty="0">
                <a:latin typeface="Calibri" panose="020F0502020204030204" charset="0"/>
                <a:cs typeface="Calibri" panose="020F0502020204030204" charset="0"/>
              </a:rPr>
              <a:t>scale</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models</a:t>
            </a:r>
            <a:r>
              <a:rPr spc="-20" dirty="0">
                <a:latin typeface="Calibri" panose="020F0502020204030204" charset="0"/>
                <a:cs typeface="Calibri" panose="020F0502020204030204" charset="0"/>
              </a:rPr>
              <a:t> </a:t>
            </a:r>
            <a:r>
              <a:rPr dirty="0">
                <a:latin typeface="Calibri" panose="020F0502020204030204" charset="0"/>
                <a:cs typeface="Calibri" panose="020F0502020204030204" charset="0"/>
              </a:rPr>
              <a:t>that</a:t>
            </a:r>
            <a:r>
              <a:rPr spc="-25" dirty="0">
                <a:latin typeface="Calibri" panose="020F0502020204030204" charset="0"/>
                <a:cs typeface="Calibri" panose="020F0502020204030204" charset="0"/>
              </a:rPr>
              <a:t> </a:t>
            </a:r>
            <a:r>
              <a:rPr dirty="0">
                <a:latin typeface="Calibri" panose="020F0502020204030204" charset="0"/>
                <a:cs typeface="Calibri" panose="020F0502020204030204" charset="0"/>
              </a:rPr>
              <a:t>have</a:t>
            </a:r>
            <a:r>
              <a:rPr spc="-15" dirty="0">
                <a:latin typeface="Calibri" panose="020F0502020204030204" charset="0"/>
                <a:cs typeface="Calibri" panose="020F0502020204030204" charset="0"/>
              </a:rPr>
              <a:t> </a:t>
            </a:r>
            <a:r>
              <a:rPr dirty="0">
                <a:latin typeface="Calibri" panose="020F0502020204030204" charset="0"/>
                <a:cs typeface="Calibri" panose="020F0502020204030204" charset="0"/>
              </a:rPr>
              <a:t>achieved</a:t>
            </a:r>
            <a:r>
              <a:rPr spc="-1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remarkable </a:t>
            </a:r>
            <a:r>
              <a:rPr dirty="0">
                <a:latin typeface="Calibri" panose="020F0502020204030204" charset="0"/>
                <a:cs typeface="Calibri" panose="020F0502020204030204" charset="0"/>
              </a:rPr>
              <a:t>results</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in</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computer</a:t>
            </a:r>
            <a:r>
              <a:rPr spc="-50" dirty="0">
                <a:latin typeface="Calibri" panose="020F0502020204030204" charset="0"/>
                <a:cs typeface="Calibri" panose="020F0502020204030204" charset="0"/>
              </a:rPr>
              <a:t> </a:t>
            </a:r>
            <a:r>
              <a:rPr dirty="0">
                <a:latin typeface="Calibri" panose="020F0502020204030204" charset="0"/>
                <a:cs typeface="Calibri" panose="020F0502020204030204" charset="0"/>
              </a:rPr>
              <a:t>vision</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natural</a:t>
            </a:r>
            <a:r>
              <a:rPr spc="-45" dirty="0">
                <a:latin typeface="Calibri" panose="020F0502020204030204" charset="0"/>
                <a:cs typeface="Calibri" panose="020F0502020204030204" charset="0"/>
              </a:rPr>
              <a:t> </a:t>
            </a:r>
            <a:r>
              <a:rPr dirty="0">
                <a:latin typeface="Calibri" panose="020F0502020204030204" charset="0"/>
                <a:cs typeface="Calibri" panose="020F0502020204030204" charset="0"/>
              </a:rPr>
              <a:t>language</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processing</a:t>
            </a:r>
            <a:r>
              <a:rPr spc="-7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(NLP).</a:t>
            </a:r>
            <a:endParaRPr spc="-10" dirty="0">
              <a:latin typeface="Calibri" panose="020F0502020204030204" charset="0"/>
              <a:cs typeface="Calibri" panose="020F0502020204030204" charset="0"/>
            </a:endParaRPr>
          </a:p>
          <a:p>
            <a:pPr marL="12700" marR="302895" indent="-11430">
              <a:lnSpc>
                <a:spcPct val="100000"/>
              </a:lnSpc>
              <a:spcBef>
                <a:spcPts val="435"/>
              </a:spcBef>
              <a:buClr>
                <a:srgbClr val="0AD0D9"/>
              </a:buClr>
              <a:buSzPct val="94000"/>
              <a:buFont typeface="Wingdings" panose="05000000000000000000"/>
              <a:buChar char=""/>
              <a:tabLst>
                <a:tab pos="185420" algn="l"/>
              </a:tabLst>
            </a:pPr>
            <a:r>
              <a:rPr lang="en-US" altLang="en-US">
                <a:latin typeface="Calibri" panose="020F0502020204030204" charset="0"/>
                <a:cs typeface="Calibri" panose="020F0502020204030204" charset="0"/>
              </a:rPr>
              <a:t>By 2025, multimodal AI systems (text, image, audio, video) have become mainstream, powering tools like GPT-4/5, Gemini, and Claude.</a:t>
            </a:r>
            <a:endParaRPr lang="en-US" altLang="en-US">
              <a:latin typeface="Calibri" panose="020F0502020204030204" charset="0"/>
              <a:cs typeface="Calibri" panose="020F0502020204030204" charset="0"/>
            </a:endParaRPr>
          </a:p>
          <a:p>
            <a:pPr marL="12700" marR="302895" indent="-11430">
              <a:lnSpc>
                <a:spcPct val="100000"/>
              </a:lnSpc>
              <a:spcBef>
                <a:spcPts val="435"/>
              </a:spcBef>
              <a:buClr>
                <a:srgbClr val="0AD0D9"/>
              </a:buClr>
              <a:buSzPct val="94000"/>
              <a:buFont typeface="Wingdings" panose="05000000000000000000"/>
              <a:buChar char=""/>
              <a:tabLst>
                <a:tab pos="185420" algn="l"/>
              </a:tabLst>
            </a:pPr>
            <a:r>
              <a:rPr lang="en-US" altLang="en-US">
                <a:latin typeface="Calibri" panose="020F0502020204030204" charset="0"/>
                <a:cs typeface="Calibri" panose="020F0502020204030204" charset="0"/>
              </a:rPr>
              <a:t>AI agents are now capable of autonomous task execution—planning, reasoning, and interacting across applications without human step-by-step instructions.</a:t>
            </a:r>
            <a:endParaRPr lang="en-US" altLang="en-US">
              <a:latin typeface="Calibri" panose="020F0502020204030204" charset="0"/>
              <a:cs typeface="Calibri" panose="020F0502020204030204" charset="0"/>
            </a:endParaRPr>
          </a:p>
          <a:p>
            <a:pPr marL="12700" marR="302895" indent="-11430">
              <a:lnSpc>
                <a:spcPct val="100000"/>
              </a:lnSpc>
              <a:spcBef>
                <a:spcPts val="435"/>
              </a:spcBef>
              <a:buClr>
                <a:srgbClr val="0AD0D9"/>
              </a:buClr>
              <a:buSzPct val="94000"/>
              <a:buFont typeface="Wingdings" panose="05000000000000000000"/>
              <a:buChar char=""/>
              <a:tabLst>
                <a:tab pos="185420" algn="l"/>
              </a:tabLst>
            </a:pPr>
            <a:r>
              <a:rPr lang="en-US" altLang="en-US">
                <a:latin typeface="Calibri" panose="020F0502020204030204" charset="0"/>
                <a:cs typeface="Calibri" panose="020F0502020204030204" charset="0"/>
              </a:rPr>
              <a:t>Generative AI is widely adopted in education, healthcare, law, and creative industries, supporting personalized tutoring, medical diagnostics, and content creation.</a:t>
            </a:r>
            <a:endParaRPr lang="en-US" altLang="en-US">
              <a:latin typeface="Calibri" panose="020F0502020204030204" charset="0"/>
              <a:cs typeface="Calibri" panose="020F0502020204030204" charset="0"/>
            </a:endParaRPr>
          </a:p>
          <a:p>
            <a:pPr marL="12700" marR="302895" indent="-11430">
              <a:lnSpc>
                <a:spcPct val="100000"/>
              </a:lnSpc>
              <a:spcBef>
                <a:spcPts val="435"/>
              </a:spcBef>
              <a:buClr>
                <a:srgbClr val="0AD0D9"/>
              </a:buClr>
              <a:buSzPct val="94000"/>
              <a:buFont typeface="Wingdings" panose="05000000000000000000"/>
              <a:buChar char=""/>
              <a:tabLst>
                <a:tab pos="185420" algn="l"/>
              </a:tabLst>
            </a:pPr>
            <a:r>
              <a:rPr lang="en-US" altLang="en-US">
                <a:latin typeface="Calibri" panose="020F0502020204030204" charset="0"/>
                <a:cs typeface="Calibri" panose="020F0502020204030204" charset="0"/>
              </a:rPr>
              <a:t>AI safety, ethics, and regulation have become major priorities, with governments and international organizations enforcing responsible AI usage.</a:t>
            </a:r>
            <a:endParaRPr lang="en-US" altLang="en-US">
              <a:latin typeface="Calibri" panose="020F0502020204030204" charset="0"/>
              <a:cs typeface="Calibri" panose="020F0502020204030204" charset="0"/>
            </a:endParaRPr>
          </a:p>
          <a:p>
            <a:pPr marL="12700" marR="302895" indent="-11430">
              <a:lnSpc>
                <a:spcPct val="100000"/>
              </a:lnSpc>
              <a:spcBef>
                <a:spcPts val="435"/>
              </a:spcBef>
              <a:buClr>
                <a:srgbClr val="0AD0D9"/>
              </a:buClr>
              <a:buSzPct val="94000"/>
              <a:buFont typeface="Wingdings" panose="05000000000000000000"/>
              <a:buChar char=""/>
              <a:tabLst>
                <a:tab pos="185420" algn="l"/>
              </a:tabLst>
            </a:pPr>
            <a:r>
              <a:rPr lang="en-US" altLang="en-US">
                <a:latin typeface="Calibri" panose="020F0502020204030204" charset="0"/>
                <a:cs typeface="Calibri" panose="020F0502020204030204" charset="0"/>
              </a:rPr>
              <a:t>Edge AI and on-device processing are reducing reliance on cloud-only models, improving privacy and accessibility.</a:t>
            </a:r>
            <a:endParaRPr lang="en-US" altLang="en-US">
              <a:latin typeface="Calibri" panose="020F0502020204030204" charset="0"/>
              <a:cs typeface="Calibri" panose="020F0502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424181"/>
            <a:ext cx="10972800" cy="843915"/>
          </a:xfrm>
          <a:prstGeom prst="rect">
            <a:avLst/>
          </a:prstGeom>
        </p:spPr>
        <p:txBody>
          <a:bodyPr vert="horz" wrap="square" lIns="0" tIns="228803" rIns="0" bIns="0" rtlCol="0">
            <a:spAutoFit/>
          </a:bodyPr>
          <a:lstStyle/>
          <a:p>
            <a:pPr marL="1320165">
              <a:lnSpc>
                <a:spcPct val="100000"/>
              </a:lnSpc>
              <a:spcBef>
                <a:spcPts val="105"/>
              </a:spcBef>
            </a:pPr>
            <a:r>
              <a:rPr lang="en-US" dirty="0"/>
              <a:t>Future of AI </a:t>
            </a:r>
            <a:endParaRPr spc="-10" dirty="0"/>
          </a:p>
        </p:txBody>
      </p:sp>
      <p:sp>
        <p:nvSpPr>
          <p:cNvPr id="3" name="object 3"/>
          <p:cNvSpPr txBox="1"/>
          <p:nvPr/>
        </p:nvSpPr>
        <p:spPr>
          <a:xfrm>
            <a:off x="2215387" y="1702053"/>
            <a:ext cx="7902575" cy="3503295"/>
          </a:xfrm>
          <a:prstGeom prst="rect">
            <a:avLst/>
          </a:prstGeom>
        </p:spPr>
        <p:txBody>
          <a:bodyPr vert="horz" wrap="square" lIns="0" tIns="12700" rIns="0" bIns="0" rtlCol="0">
            <a:spAutoFit/>
          </a:bodyPr>
          <a:lstStyle/>
          <a:p>
            <a:pPr marL="12700" marR="5080" indent="-1905">
              <a:lnSpc>
                <a:spcPct val="100000"/>
              </a:lnSpc>
              <a:spcBef>
                <a:spcPts val="100"/>
              </a:spcBef>
              <a:buClr>
                <a:srgbClr val="0AD0D9"/>
              </a:buClr>
              <a:buSzPct val="89000"/>
              <a:buFont typeface="Wingdings" panose="05000000000000000000"/>
              <a:buChar char=""/>
              <a:tabLst>
                <a:tab pos="185420" algn="l"/>
              </a:tabLst>
            </a:pPr>
            <a:r>
              <a:rPr sz="1800" dirty="0">
                <a:latin typeface="Georgia" panose="02040502050405020303"/>
                <a:cs typeface="Georgia" panose="02040502050405020303"/>
              </a:rPr>
              <a:t>	</a:t>
            </a:r>
            <a:r>
              <a:rPr sz="1800" dirty="0">
                <a:latin typeface="Georgia" panose="02040502050405020303"/>
                <a:cs typeface="Georgia" panose="02040502050405020303"/>
              </a:rPr>
              <a:t>The</a:t>
            </a:r>
            <a:r>
              <a:rPr sz="1800" spc="-10" dirty="0">
                <a:latin typeface="Georgia" panose="02040502050405020303"/>
                <a:cs typeface="Georgia" panose="02040502050405020303"/>
              </a:rPr>
              <a:t> </a:t>
            </a:r>
            <a:r>
              <a:rPr sz="1800" dirty="0">
                <a:latin typeface="Georgia" panose="02040502050405020303"/>
                <a:cs typeface="Georgia" panose="02040502050405020303"/>
              </a:rPr>
              <a:t>reason</a:t>
            </a:r>
            <a:r>
              <a:rPr sz="1800" spc="-15" dirty="0">
                <a:latin typeface="Georgia" panose="02040502050405020303"/>
                <a:cs typeface="Georgia" panose="02040502050405020303"/>
              </a:rPr>
              <a:t> </a:t>
            </a:r>
            <a:r>
              <a:rPr sz="1800" dirty="0">
                <a:latin typeface="Georgia" panose="02040502050405020303"/>
                <a:cs typeface="Georgia" panose="02040502050405020303"/>
              </a:rPr>
              <a:t>why</a:t>
            </a:r>
            <a:r>
              <a:rPr sz="1800" spc="-30" dirty="0">
                <a:latin typeface="Georgia" panose="02040502050405020303"/>
                <a:cs typeface="Georgia" panose="02040502050405020303"/>
              </a:rPr>
              <a:t> </a:t>
            </a:r>
            <a:r>
              <a:rPr sz="1800" dirty="0">
                <a:latin typeface="Georgia" panose="02040502050405020303"/>
                <a:cs typeface="Georgia" panose="02040502050405020303"/>
              </a:rPr>
              <a:t>is</a:t>
            </a:r>
            <a:r>
              <a:rPr sz="1800" spc="-15" dirty="0">
                <a:latin typeface="Georgia" panose="02040502050405020303"/>
                <a:cs typeface="Georgia" panose="02040502050405020303"/>
              </a:rPr>
              <a:t> </a:t>
            </a:r>
            <a:r>
              <a:rPr sz="1800" dirty="0">
                <a:latin typeface="Georgia" panose="02040502050405020303"/>
                <a:cs typeface="Georgia" panose="02040502050405020303"/>
              </a:rPr>
              <a:t>simple:</a:t>
            </a:r>
            <a:r>
              <a:rPr sz="1800" spc="-35" dirty="0">
                <a:latin typeface="Georgia" panose="02040502050405020303"/>
                <a:cs typeface="Georgia" panose="02040502050405020303"/>
              </a:rPr>
              <a:t> </a:t>
            </a:r>
            <a:r>
              <a:rPr sz="1800" dirty="0">
                <a:latin typeface="Georgia" panose="02040502050405020303"/>
                <a:cs typeface="Georgia" panose="02040502050405020303"/>
              </a:rPr>
              <a:t>if</a:t>
            </a:r>
            <a:r>
              <a:rPr sz="1800" spc="-15" dirty="0">
                <a:latin typeface="Georgia" panose="02040502050405020303"/>
                <a:cs typeface="Georgia" panose="02040502050405020303"/>
              </a:rPr>
              <a:t> </a:t>
            </a:r>
            <a:r>
              <a:rPr sz="1800" dirty="0">
                <a:latin typeface="Georgia" panose="02040502050405020303"/>
                <a:cs typeface="Georgia" panose="02040502050405020303"/>
              </a:rPr>
              <a:t>you</a:t>
            </a:r>
            <a:r>
              <a:rPr sz="1800" spc="-20" dirty="0">
                <a:latin typeface="Georgia" panose="02040502050405020303"/>
                <a:cs typeface="Georgia" panose="02040502050405020303"/>
              </a:rPr>
              <a:t> </a:t>
            </a:r>
            <a:r>
              <a:rPr sz="1800" dirty="0">
                <a:latin typeface="Georgia" panose="02040502050405020303"/>
                <a:cs typeface="Georgia" panose="02040502050405020303"/>
              </a:rPr>
              <a:t>can</a:t>
            </a:r>
            <a:r>
              <a:rPr sz="1800" spc="-15" dirty="0">
                <a:latin typeface="Georgia" panose="02040502050405020303"/>
                <a:cs typeface="Georgia" panose="02040502050405020303"/>
              </a:rPr>
              <a:t> </a:t>
            </a:r>
            <a:r>
              <a:rPr sz="1800" dirty="0">
                <a:latin typeface="Georgia" panose="02040502050405020303"/>
                <a:cs typeface="Georgia" panose="02040502050405020303"/>
              </a:rPr>
              <a:t>replace</a:t>
            </a:r>
            <a:r>
              <a:rPr sz="1800" spc="-15" dirty="0">
                <a:latin typeface="Georgia" panose="02040502050405020303"/>
                <a:cs typeface="Georgia" panose="02040502050405020303"/>
              </a:rPr>
              <a:t> </a:t>
            </a:r>
            <a:r>
              <a:rPr sz="1800" dirty="0">
                <a:latin typeface="Georgia" panose="02040502050405020303"/>
                <a:cs typeface="Georgia" panose="02040502050405020303"/>
              </a:rPr>
              <a:t>one</a:t>
            </a:r>
            <a:r>
              <a:rPr sz="1800" spc="-20" dirty="0">
                <a:latin typeface="Georgia" panose="02040502050405020303"/>
                <a:cs typeface="Georgia" panose="02040502050405020303"/>
              </a:rPr>
              <a:t> </a:t>
            </a:r>
            <a:r>
              <a:rPr sz="1800" dirty="0">
                <a:latin typeface="Georgia" panose="02040502050405020303"/>
                <a:cs typeface="Georgia" panose="02040502050405020303"/>
              </a:rPr>
              <a:t>person</a:t>
            </a:r>
            <a:r>
              <a:rPr sz="1800" spc="-25" dirty="0">
                <a:latin typeface="Georgia" panose="02040502050405020303"/>
                <a:cs typeface="Georgia" panose="02040502050405020303"/>
              </a:rPr>
              <a:t> </a:t>
            </a:r>
            <a:r>
              <a:rPr sz="1800" dirty="0">
                <a:latin typeface="Georgia" panose="02040502050405020303"/>
                <a:cs typeface="Georgia" panose="02040502050405020303"/>
              </a:rPr>
              <a:t>with</a:t>
            </a:r>
            <a:r>
              <a:rPr sz="1800" spc="-15" dirty="0">
                <a:latin typeface="Georgia" panose="02040502050405020303"/>
                <a:cs typeface="Georgia" panose="02040502050405020303"/>
              </a:rPr>
              <a:t> </a:t>
            </a:r>
            <a:r>
              <a:rPr sz="1800" dirty="0">
                <a:latin typeface="Georgia" panose="02040502050405020303"/>
                <a:cs typeface="Georgia" panose="02040502050405020303"/>
              </a:rPr>
              <a:t>an</a:t>
            </a:r>
            <a:r>
              <a:rPr sz="1800" spc="-20" dirty="0">
                <a:latin typeface="Georgia" panose="02040502050405020303"/>
                <a:cs typeface="Georgia" panose="02040502050405020303"/>
              </a:rPr>
              <a:t> </a:t>
            </a:r>
            <a:r>
              <a:rPr sz="1800" dirty="0">
                <a:latin typeface="Georgia" panose="02040502050405020303"/>
                <a:cs typeface="Georgia" panose="02040502050405020303"/>
              </a:rPr>
              <a:t>AGI</a:t>
            </a:r>
            <a:r>
              <a:rPr sz="1800" spc="-20" dirty="0">
                <a:latin typeface="Georgia" panose="02040502050405020303"/>
                <a:cs typeface="Georgia" panose="02040502050405020303"/>
              </a:rPr>
              <a:t> </a:t>
            </a:r>
            <a:r>
              <a:rPr sz="1800" spc="-10" dirty="0">
                <a:latin typeface="Georgia" panose="02040502050405020303"/>
                <a:cs typeface="Georgia" panose="02040502050405020303"/>
              </a:rPr>
              <a:t>system, </a:t>
            </a:r>
            <a:r>
              <a:rPr sz="1800" dirty="0">
                <a:latin typeface="Georgia" panose="02040502050405020303"/>
                <a:cs typeface="Georgia" panose="02040502050405020303"/>
              </a:rPr>
              <a:t>you</a:t>
            </a:r>
            <a:r>
              <a:rPr sz="1800" spc="-30" dirty="0">
                <a:latin typeface="Georgia" panose="02040502050405020303"/>
                <a:cs typeface="Georgia" panose="02040502050405020303"/>
              </a:rPr>
              <a:t> </a:t>
            </a:r>
            <a:r>
              <a:rPr sz="1800" dirty="0">
                <a:latin typeface="Georgia" panose="02040502050405020303"/>
                <a:cs typeface="Georgia" panose="02040502050405020303"/>
              </a:rPr>
              <a:t>don’t</a:t>
            </a:r>
            <a:r>
              <a:rPr sz="1800" spc="-25" dirty="0">
                <a:latin typeface="Georgia" panose="02040502050405020303"/>
                <a:cs typeface="Georgia" panose="02040502050405020303"/>
              </a:rPr>
              <a:t> </a:t>
            </a:r>
            <a:r>
              <a:rPr sz="1800" dirty="0">
                <a:latin typeface="Georgia" panose="02040502050405020303"/>
                <a:cs typeface="Georgia" panose="02040502050405020303"/>
              </a:rPr>
              <a:t>need</a:t>
            </a:r>
            <a:r>
              <a:rPr sz="1800" spc="-25" dirty="0">
                <a:latin typeface="Georgia" panose="02040502050405020303"/>
                <a:cs typeface="Georgia" panose="02040502050405020303"/>
              </a:rPr>
              <a:t> </a:t>
            </a:r>
            <a:r>
              <a:rPr sz="1800" dirty="0">
                <a:latin typeface="Georgia" panose="02040502050405020303"/>
                <a:cs typeface="Georgia" panose="02040502050405020303"/>
              </a:rPr>
              <a:t>one</a:t>
            </a:r>
            <a:r>
              <a:rPr sz="1800" spc="-25" dirty="0">
                <a:latin typeface="Georgia" panose="02040502050405020303"/>
                <a:cs typeface="Georgia" panose="02040502050405020303"/>
              </a:rPr>
              <a:t> </a:t>
            </a:r>
            <a:r>
              <a:rPr sz="1800" dirty="0">
                <a:latin typeface="Georgia" panose="02040502050405020303"/>
                <a:cs typeface="Georgia" panose="02040502050405020303"/>
              </a:rPr>
              <a:t>computer</a:t>
            </a:r>
            <a:r>
              <a:rPr sz="1800" spc="-30" dirty="0">
                <a:latin typeface="Georgia" panose="02040502050405020303"/>
                <a:cs typeface="Georgia" panose="02040502050405020303"/>
              </a:rPr>
              <a:t> </a:t>
            </a:r>
            <a:r>
              <a:rPr sz="1800" dirty="0">
                <a:latin typeface="Georgia" panose="02040502050405020303"/>
                <a:cs typeface="Georgia" panose="02040502050405020303"/>
              </a:rPr>
              <a:t>to</a:t>
            </a:r>
            <a:r>
              <a:rPr sz="1800" spc="-25" dirty="0">
                <a:latin typeface="Georgia" panose="02040502050405020303"/>
                <a:cs typeface="Georgia" panose="02040502050405020303"/>
              </a:rPr>
              <a:t> </a:t>
            </a:r>
            <a:r>
              <a:rPr sz="1800" dirty="0">
                <a:latin typeface="Georgia" panose="02040502050405020303"/>
                <a:cs typeface="Georgia" panose="02040502050405020303"/>
              </a:rPr>
              <a:t>do</a:t>
            </a:r>
            <a:r>
              <a:rPr sz="1800" spc="-25" dirty="0">
                <a:latin typeface="Georgia" panose="02040502050405020303"/>
                <a:cs typeface="Georgia" panose="02040502050405020303"/>
              </a:rPr>
              <a:t> </a:t>
            </a:r>
            <a:r>
              <a:rPr sz="1800" dirty="0">
                <a:latin typeface="Georgia" panose="02040502050405020303"/>
                <a:cs typeface="Georgia" panose="02040502050405020303"/>
              </a:rPr>
              <a:t>the</a:t>
            </a:r>
            <a:r>
              <a:rPr sz="1800" spc="-20" dirty="0">
                <a:latin typeface="Georgia" panose="02040502050405020303"/>
                <a:cs typeface="Georgia" panose="02040502050405020303"/>
              </a:rPr>
              <a:t> </a:t>
            </a:r>
            <a:r>
              <a:rPr sz="1800" dirty="0">
                <a:latin typeface="Georgia" panose="02040502050405020303"/>
                <a:cs typeface="Georgia" panose="02040502050405020303"/>
              </a:rPr>
              <a:t>work</a:t>
            </a:r>
            <a:r>
              <a:rPr sz="1800" spc="-5" dirty="0">
                <a:latin typeface="Georgia" panose="02040502050405020303"/>
                <a:cs typeface="Georgia" panose="02040502050405020303"/>
              </a:rPr>
              <a:t> </a:t>
            </a:r>
            <a:r>
              <a:rPr sz="1800" dirty="0">
                <a:latin typeface="Georgia" panose="02040502050405020303"/>
                <a:cs typeface="Georgia" panose="02040502050405020303"/>
              </a:rPr>
              <a:t>–</a:t>
            </a:r>
            <a:r>
              <a:rPr sz="1800" spc="-30" dirty="0">
                <a:latin typeface="Georgia" panose="02040502050405020303"/>
                <a:cs typeface="Georgia" panose="02040502050405020303"/>
              </a:rPr>
              <a:t> </a:t>
            </a:r>
            <a:r>
              <a:rPr sz="1800" dirty="0">
                <a:latin typeface="Georgia" panose="02040502050405020303"/>
                <a:cs typeface="Georgia" panose="02040502050405020303"/>
              </a:rPr>
              <a:t>you</a:t>
            </a:r>
            <a:r>
              <a:rPr sz="1800" spc="-25" dirty="0">
                <a:latin typeface="Georgia" panose="02040502050405020303"/>
                <a:cs typeface="Georgia" panose="02040502050405020303"/>
              </a:rPr>
              <a:t> </a:t>
            </a:r>
            <a:r>
              <a:rPr sz="1800" dirty="0">
                <a:latin typeface="Georgia" panose="02040502050405020303"/>
                <a:cs typeface="Georgia" panose="02040502050405020303"/>
              </a:rPr>
              <a:t>can</a:t>
            </a:r>
            <a:r>
              <a:rPr sz="1800" spc="-30" dirty="0">
                <a:latin typeface="Georgia" panose="02040502050405020303"/>
                <a:cs typeface="Georgia" panose="02040502050405020303"/>
              </a:rPr>
              <a:t> </a:t>
            </a:r>
            <a:r>
              <a:rPr sz="1800" dirty="0">
                <a:latin typeface="Georgia" panose="02040502050405020303"/>
                <a:cs typeface="Georgia" panose="02040502050405020303"/>
              </a:rPr>
              <a:t>spread</a:t>
            </a:r>
            <a:r>
              <a:rPr sz="1800" spc="-35" dirty="0">
                <a:latin typeface="Georgia" panose="02040502050405020303"/>
                <a:cs typeface="Georgia" panose="02040502050405020303"/>
              </a:rPr>
              <a:t> </a:t>
            </a:r>
            <a:r>
              <a:rPr sz="1800" dirty="0">
                <a:latin typeface="Georgia" panose="02040502050405020303"/>
                <a:cs typeface="Georgia" panose="02040502050405020303"/>
              </a:rPr>
              <a:t>it</a:t>
            </a:r>
            <a:r>
              <a:rPr sz="1800" spc="-35" dirty="0">
                <a:latin typeface="Georgia" panose="02040502050405020303"/>
                <a:cs typeface="Georgia" panose="02040502050405020303"/>
              </a:rPr>
              <a:t> </a:t>
            </a:r>
            <a:r>
              <a:rPr sz="1800" dirty="0">
                <a:latin typeface="Georgia" panose="02040502050405020303"/>
                <a:cs typeface="Georgia" panose="02040502050405020303"/>
              </a:rPr>
              <a:t>out</a:t>
            </a:r>
            <a:r>
              <a:rPr sz="1800" spc="-15" dirty="0">
                <a:latin typeface="Georgia" panose="02040502050405020303"/>
                <a:cs typeface="Georgia" panose="02040502050405020303"/>
              </a:rPr>
              <a:t> </a:t>
            </a:r>
            <a:r>
              <a:rPr sz="1800" spc="-10" dirty="0">
                <a:latin typeface="Georgia" panose="02040502050405020303"/>
                <a:cs typeface="Georgia" panose="02040502050405020303"/>
              </a:rPr>
              <a:t>across </a:t>
            </a:r>
            <a:r>
              <a:rPr sz="1800" dirty="0">
                <a:latin typeface="Georgia" panose="02040502050405020303"/>
                <a:cs typeface="Georgia" panose="02040502050405020303"/>
              </a:rPr>
              <a:t>thousands</a:t>
            </a:r>
            <a:r>
              <a:rPr sz="1800" spc="-30" dirty="0">
                <a:latin typeface="Georgia" panose="02040502050405020303"/>
                <a:cs typeface="Georgia" panose="02040502050405020303"/>
              </a:rPr>
              <a:t> </a:t>
            </a:r>
            <a:r>
              <a:rPr sz="1800" dirty="0">
                <a:latin typeface="Georgia" panose="02040502050405020303"/>
                <a:cs typeface="Georgia" panose="02040502050405020303"/>
              </a:rPr>
              <a:t>or</a:t>
            </a:r>
            <a:r>
              <a:rPr sz="1800" spc="-30" dirty="0">
                <a:latin typeface="Georgia" panose="02040502050405020303"/>
                <a:cs typeface="Georgia" panose="02040502050405020303"/>
              </a:rPr>
              <a:t> </a:t>
            </a:r>
            <a:r>
              <a:rPr sz="1800" dirty="0">
                <a:latin typeface="Georgia" panose="02040502050405020303"/>
                <a:cs typeface="Georgia" panose="02040502050405020303"/>
              </a:rPr>
              <a:t>millions</a:t>
            </a:r>
            <a:r>
              <a:rPr sz="1800" spc="-45" dirty="0">
                <a:latin typeface="Georgia" panose="02040502050405020303"/>
                <a:cs typeface="Georgia" panose="02040502050405020303"/>
              </a:rPr>
              <a:t> </a:t>
            </a:r>
            <a:r>
              <a:rPr sz="1800" dirty="0">
                <a:latin typeface="Georgia" panose="02040502050405020303"/>
                <a:cs typeface="Georgia" panose="02040502050405020303"/>
              </a:rPr>
              <a:t>of</a:t>
            </a:r>
            <a:r>
              <a:rPr sz="1800" spc="-20" dirty="0">
                <a:latin typeface="Georgia" panose="02040502050405020303"/>
                <a:cs typeface="Georgia" panose="02040502050405020303"/>
              </a:rPr>
              <a:t> </a:t>
            </a:r>
            <a:r>
              <a:rPr sz="1800" spc="-10" dirty="0">
                <a:latin typeface="Georgia" panose="02040502050405020303"/>
                <a:cs typeface="Georgia" panose="02040502050405020303"/>
              </a:rPr>
              <a:t>computers.</a:t>
            </a:r>
            <a:endParaRPr sz="1800">
              <a:latin typeface="Georgia" panose="02040502050405020303"/>
              <a:cs typeface="Georgia" panose="02040502050405020303"/>
            </a:endParaRPr>
          </a:p>
          <a:p>
            <a:pPr marL="12700" marR="408305" indent="-1905" algn="just">
              <a:lnSpc>
                <a:spcPct val="100000"/>
              </a:lnSpc>
              <a:spcBef>
                <a:spcPts val="435"/>
              </a:spcBef>
              <a:buClr>
                <a:srgbClr val="0AD0D9"/>
              </a:buClr>
              <a:buSzPct val="89000"/>
              <a:buFont typeface="Wingdings" panose="05000000000000000000"/>
              <a:buChar char=""/>
              <a:tabLst>
                <a:tab pos="185420" algn="l"/>
              </a:tabLst>
            </a:pPr>
            <a:r>
              <a:rPr sz="1800" dirty="0">
                <a:latin typeface="Georgia" panose="02040502050405020303"/>
                <a:cs typeface="Georgia" panose="02040502050405020303"/>
              </a:rPr>
              <a:t>	</a:t>
            </a:r>
            <a:r>
              <a:rPr sz="1800" dirty="0">
                <a:latin typeface="Georgia" panose="02040502050405020303"/>
                <a:cs typeface="Georgia" panose="02040502050405020303"/>
              </a:rPr>
              <a:t>AI</a:t>
            </a:r>
            <a:r>
              <a:rPr sz="1800" spc="-20" dirty="0">
                <a:latin typeface="Georgia" panose="02040502050405020303"/>
                <a:cs typeface="Georgia" panose="02040502050405020303"/>
              </a:rPr>
              <a:t> </a:t>
            </a:r>
            <a:r>
              <a:rPr sz="1800" dirty="0">
                <a:latin typeface="Georgia" panose="02040502050405020303"/>
                <a:cs typeface="Georgia" panose="02040502050405020303"/>
              </a:rPr>
              <a:t>is</a:t>
            </a:r>
            <a:r>
              <a:rPr sz="1800" spc="-20" dirty="0">
                <a:latin typeface="Georgia" panose="02040502050405020303"/>
                <a:cs typeface="Georgia" panose="02040502050405020303"/>
              </a:rPr>
              <a:t> </a:t>
            </a:r>
            <a:r>
              <a:rPr sz="1800" dirty="0">
                <a:latin typeface="Georgia" panose="02040502050405020303"/>
                <a:cs typeface="Georgia" panose="02040502050405020303"/>
              </a:rPr>
              <a:t>helping</a:t>
            </a:r>
            <a:r>
              <a:rPr sz="1800" spc="-45" dirty="0">
                <a:latin typeface="Georgia" panose="02040502050405020303"/>
                <a:cs typeface="Georgia" panose="02040502050405020303"/>
              </a:rPr>
              <a:t> </a:t>
            </a:r>
            <a:r>
              <a:rPr sz="1800" dirty="0">
                <a:latin typeface="Georgia" panose="02040502050405020303"/>
                <a:cs typeface="Georgia" panose="02040502050405020303"/>
              </a:rPr>
              <a:t>to</a:t>
            </a:r>
            <a:r>
              <a:rPr sz="1800" spc="-5" dirty="0">
                <a:latin typeface="Georgia" panose="02040502050405020303"/>
                <a:cs typeface="Georgia" panose="02040502050405020303"/>
              </a:rPr>
              <a:t> </a:t>
            </a:r>
            <a:r>
              <a:rPr sz="1800" dirty="0">
                <a:latin typeface="Georgia" panose="02040502050405020303"/>
                <a:cs typeface="Georgia" panose="02040502050405020303"/>
              </a:rPr>
              <a:t>achieve</a:t>
            </a:r>
            <a:r>
              <a:rPr sz="1800" spc="-15" dirty="0">
                <a:latin typeface="Georgia" panose="02040502050405020303"/>
                <a:cs typeface="Georgia" panose="02040502050405020303"/>
              </a:rPr>
              <a:t> </a:t>
            </a:r>
            <a:r>
              <a:rPr sz="1800" dirty="0">
                <a:latin typeface="Georgia" panose="02040502050405020303"/>
                <a:cs typeface="Georgia" panose="02040502050405020303"/>
              </a:rPr>
              <a:t>this</a:t>
            </a:r>
            <a:r>
              <a:rPr sz="1800" spc="-25" dirty="0">
                <a:latin typeface="Georgia" panose="02040502050405020303"/>
                <a:cs typeface="Georgia" panose="02040502050405020303"/>
              </a:rPr>
              <a:t> </a:t>
            </a:r>
            <a:r>
              <a:rPr sz="1800" dirty="0">
                <a:latin typeface="Georgia" panose="02040502050405020303"/>
                <a:cs typeface="Georgia" panose="02040502050405020303"/>
              </a:rPr>
              <a:t>reality</a:t>
            </a:r>
            <a:r>
              <a:rPr sz="1800" spc="-10" dirty="0">
                <a:latin typeface="Georgia" panose="02040502050405020303"/>
                <a:cs typeface="Georgia" panose="02040502050405020303"/>
              </a:rPr>
              <a:t> </a:t>
            </a:r>
            <a:r>
              <a:rPr sz="1800" dirty="0">
                <a:latin typeface="Georgia" panose="02040502050405020303"/>
                <a:cs typeface="Georgia" panose="02040502050405020303"/>
              </a:rPr>
              <a:t>by</a:t>
            </a:r>
            <a:r>
              <a:rPr sz="1800" spc="-15" dirty="0">
                <a:latin typeface="Georgia" panose="02040502050405020303"/>
                <a:cs typeface="Georgia" panose="02040502050405020303"/>
              </a:rPr>
              <a:t> </a:t>
            </a:r>
            <a:r>
              <a:rPr sz="1800" dirty="0">
                <a:latin typeface="Georgia" panose="02040502050405020303"/>
                <a:cs typeface="Georgia" panose="02040502050405020303"/>
              </a:rPr>
              <a:t>making</a:t>
            </a:r>
            <a:r>
              <a:rPr sz="1800" spc="-25" dirty="0">
                <a:latin typeface="Georgia" panose="02040502050405020303"/>
                <a:cs typeface="Georgia" panose="02040502050405020303"/>
              </a:rPr>
              <a:t> </a:t>
            </a:r>
            <a:r>
              <a:rPr sz="1800" dirty="0">
                <a:latin typeface="Georgia" panose="02040502050405020303"/>
                <a:cs typeface="Georgia" panose="02040502050405020303"/>
              </a:rPr>
              <a:t>objects</a:t>
            </a:r>
            <a:r>
              <a:rPr sz="1800" spc="-25" dirty="0">
                <a:latin typeface="Georgia" panose="02040502050405020303"/>
                <a:cs typeface="Georgia" panose="02040502050405020303"/>
              </a:rPr>
              <a:t> </a:t>
            </a:r>
            <a:r>
              <a:rPr sz="1800" dirty="0">
                <a:latin typeface="Georgia" panose="02040502050405020303"/>
                <a:cs typeface="Georgia" panose="02040502050405020303"/>
              </a:rPr>
              <a:t>look</a:t>
            </a:r>
            <a:r>
              <a:rPr sz="1800" spc="-20" dirty="0">
                <a:latin typeface="Georgia" panose="02040502050405020303"/>
                <a:cs typeface="Georgia" panose="02040502050405020303"/>
              </a:rPr>
              <a:t> </a:t>
            </a:r>
            <a:r>
              <a:rPr sz="1800" dirty="0">
                <a:latin typeface="Georgia" panose="02040502050405020303"/>
                <a:cs typeface="Georgia" panose="02040502050405020303"/>
              </a:rPr>
              <a:t>more</a:t>
            </a:r>
            <a:r>
              <a:rPr sz="1800" spc="-10" dirty="0">
                <a:latin typeface="Georgia" panose="02040502050405020303"/>
                <a:cs typeface="Georgia" panose="02040502050405020303"/>
              </a:rPr>
              <a:t> realistic </a:t>
            </a:r>
            <a:r>
              <a:rPr sz="1800" dirty="0">
                <a:latin typeface="Georgia" panose="02040502050405020303"/>
                <a:cs typeface="Georgia" panose="02040502050405020303"/>
              </a:rPr>
              <a:t>and</a:t>
            </a:r>
            <a:r>
              <a:rPr sz="1800" spc="-55" dirty="0">
                <a:latin typeface="Georgia" panose="02040502050405020303"/>
                <a:cs typeface="Georgia" panose="02040502050405020303"/>
              </a:rPr>
              <a:t> </a:t>
            </a:r>
            <a:r>
              <a:rPr sz="1800" dirty="0">
                <a:latin typeface="Georgia" panose="02040502050405020303"/>
                <a:cs typeface="Georgia" panose="02040502050405020303"/>
              </a:rPr>
              <a:t>enabling</a:t>
            </a:r>
            <a:r>
              <a:rPr sz="1800" spc="-55" dirty="0">
                <a:latin typeface="Georgia" panose="02040502050405020303"/>
                <a:cs typeface="Georgia" panose="02040502050405020303"/>
              </a:rPr>
              <a:t> </a:t>
            </a:r>
            <a:r>
              <a:rPr sz="1800" dirty="0">
                <a:latin typeface="Georgia" panose="02040502050405020303"/>
                <a:cs typeface="Georgia" panose="02040502050405020303"/>
              </a:rPr>
              <a:t>computer</a:t>
            </a:r>
            <a:r>
              <a:rPr sz="1800" spc="-50" dirty="0">
                <a:latin typeface="Georgia" panose="02040502050405020303"/>
                <a:cs typeface="Georgia" panose="02040502050405020303"/>
              </a:rPr>
              <a:t> </a:t>
            </a:r>
            <a:r>
              <a:rPr sz="1800" dirty="0">
                <a:latin typeface="Georgia" panose="02040502050405020303"/>
                <a:cs typeface="Georgia" panose="02040502050405020303"/>
              </a:rPr>
              <a:t>vision</a:t>
            </a:r>
            <a:r>
              <a:rPr sz="1800" spc="-55" dirty="0">
                <a:latin typeface="Georgia" panose="02040502050405020303"/>
                <a:cs typeface="Georgia" panose="02040502050405020303"/>
              </a:rPr>
              <a:t> </a:t>
            </a:r>
            <a:r>
              <a:rPr sz="1800" dirty="0">
                <a:latin typeface="Georgia" panose="02040502050405020303"/>
                <a:cs typeface="Georgia" panose="02040502050405020303"/>
              </a:rPr>
              <a:t>so</a:t>
            </a:r>
            <a:r>
              <a:rPr sz="1800" spc="-40" dirty="0">
                <a:latin typeface="Georgia" panose="02040502050405020303"/>
                <a:cs typeface="Georgia" panose="02040502050405020303"/>
              </a:rPr>
              <a:t> </a:t>
            </a:r>
            <a:r>
              <a:rPr sz="1800" dirty="0">
                <a:latin typeface="Georgia" panose="02040502050405020303"/>
                <a:cs typeface="Georgia" panose="02040502050405020303"/>
              </a:rPr>
              <a:t>users</a:t>
            </a:r>
            <a:r>
              <a:rPr sz="1800" spc="-55" dirty="0">
                <a:latin typeface="Georgia" panose="02040502050405020303"/>
                <a:cs typeface="Georgia" panose="02040502050405020303"/>
              </a:rPr>
              <a:t> </a:t>
            </a:r>
            <a:r>
              <a:rPr sz="1800" dirty="0">
                <a:latin typeface="Georgia" panose="02040502050405020303"/>
                <a:cs typeface="Georgia" panose="02040502050405020303"/>
              </a:rPr>
              <a:t>can</a:t>
            </a:r>
            <a:r>
              <a:rPr sz="1800" spc="-45" dirty="0">
                <a:latin typeface="Georgia" panose="02040502050405020303"/>
                <a:cs typeface="Georgia" panose="02040502050405020303"/>
              </a:rPr>
              <a:t> </a:t>
            </a:r>
            <a:r>
              <a:rPr sz="1800" dirty="0">
                <a:latin typeface="Georgia" panose="02040502050405020303"/>
                <a:cs typeface="Georgia" panose="02040502050405020303"/>
              </a:rPr>
              <a:t>interact</a:t>
            </a:r>
            <a:r>
              <a:rPr sz="1800" spc="-50" dirty="0">
                <a:latin typeface="Georgia" panose="02040502050405020303"/>
                <a:cs typeface="Georgia" panose="02040502050405020303"/>
              </a:rPr>
              <a:t> </a:t>
            </a:r>
            <a:r>
              <a:rPr sz="1800" dirty="0">
                <a:latin typeface="Georgia" panose="02040502050405020303"/>
                <a:cs typeface="Georgia" panose="02040502050405020303"/>
              </a:rPr>
              <a:t>with</a:t>
            </a:r>
            <a:r>
              <a:rPr sz="1800" spc="-60" dirty="0">
                <a:latin typeface="Georgia" panose="02040502050405020303"/>
                <a:cs typeface="Georgia" panose="02040502050405020303"/>
              </a:rPr>
              <a:t> </a:t>
            </a:r>
            <a:r>
              <a:rPr sz="1800" dirty="0">
                <a:latin typeface="Georgia" panose="02040502050405020303"/>
                <a:cs typeface="Georgia" panose="02040502050405020303"/>
              </a:rPr>
              <a:t>simulated</a:t>
            </a:r>
            <a:r>
              <a:rPr sz="1800" spc="-45" dirty="0">
                <a:latin typeface="Georgia" panose="02040502050405020303"/>
                <a:cs typeface="Georgia" panose="02040502050405020303"/>
              </a:rPr>
              <a:t> </a:t>
            </a:r>
            <a:r>
              <a:rPr sz="1800" spc="-10" dirty="0">
                <a:latin typeface="Georgia" panose="02040502050405020303"/>
                <a:cs typeface="Georgia" panose="02040502050405020303"/>
              </a:rPr>
              <a:t>objects </a:t>
            </a:r>
            <a:r>
              <a:rPr sz="1800" dirty="0">
                <a:latin typeface="Georgia" panose="02040502050405020303"/>
                <a:cs typeface="Georgia" panose="02040502050405020303"/>
              </a:rPr>
              <a:t>using</a:t>
            </a:r>
            <a:r>
              <a:rPr sz="1800" spc="-45" dirty="0">
                <a:latin typeface="Georgia" panose="02040502050405020303"/>
                <a:cs typeface="Georgia" panose="02040502050405020303"/>
              </a:rPr>
              <a:t> </a:t>
            </a:r>
            <a:r>
              <a:rPr sz="1800" dirty="0">
                <a:latin typeface="Georgia" panose="02040502050405020303"/>
                <a:cs typeface="Georgia" panose="02040502050405020303"/>
              </a:rPr>
              <a:t>their</a:t>
            </a:r>
            <a:r>
              <a:rPr sz="1800" spc="-30" dirty="0">
                <a:latin typeface="Georgia" panose="02040502050405020303"/>
                <a:cs typeface="Georgia" panose="02040502050405020303"/>
              </a:rPr>
              <a:t> </a:t>
            </a:r>
            <a:r>
              <a:rPr sz="1800" dirty="0">
                <a:latin typeface="Georgia" panose="02040502050405020303"/>
                <a:cs typeface="Georgia" panose="02040502050405020303"/>
              </a:rPr>
              <a:t>body</a:t>
            </a:r>
            <a:r>
              <a:rPr sz="1800" spc="-20" dirty="0">
                <a:latin typeface="Georgia" panose="02040502050405020303"/>
                <a:cs typeface="Georgia" panose="02040502050405020303"/>
              </a:rPr>
              <a:t> </a:t>
            </a:r>
            <a:r>
              <a:rPr sz="1800" spc="-10" dirty="0">
                <a:latin typeface="Georgia" panose="02040502050405020303"/>
                <a:cs typeface="Georgia" panose="02040502050405020303"/>
              </a:rPr>
              <a:t>movements.</a:t>
            </a:r>
            <a:endParaRPr sz="1800">
              <a:latin typeface="Georgia" panose="02040502050405020303"/>
              <a:cs typeface="Georgia" panose="02040502050405020303"/>
            </a:endParaRPr>
          </a:p>
          <a:p>
            <a:pPr marL="12700" marR="281305" indent="-1270">
              <a:lnSpc>
                <a:spcPct val="100000"/>
              </a:lnSpc>
              <a:spcBef>
                <a:spcPts val="430"/>
              </a:spcBef>
              <a:buClr>
                <a:srgbClr val="0AD0D9"/>
              </a:buClr>
              <a:buSzPct val="89000"/>
              <a:buFont typeface="Wingdings" panose="05000000000000000000"/>
              <a:buChar char=""/>
              <a:tabLst>
                <a:tab pos="186055" algn="l"/>
              </a:tabLst>
            </a:pPr>
            <a:r>
              <a:rPr sz="1800" dirty="0">
                <a:latin typeface="Georgia" panose="02040502050405020303"/>
                <a:cs typeface="Georgia" panose="02040502050405020303"/>
              </a:rPr>
              <a:t>	</a:t>
            </a:r>
            <a:r>
              <a:rPr sz="1800" dirty="0">
                <a:latin typeface="Georgia" panose="02040502050405020303"/>
                <a:cs typeface="Georgia" panose="02040502050405020303"/>
              </a:rPr>
              <a:t>Artificial</a:t>
            </a:r>
            <a:r>
              <a:rPr sz="1800" spc="-25" dirty="0">
                <a:latin typeface="Georgia" panose="02040502050405020303"/>
                <a:cs typeface="Georgia" panose="02040502050405020303"/>
              </a:rPr>
              <a:t> </a:t>
            </a:r>
            <a:r>
              <a:rPr sz="1800" dirty="0">
                <a:latin typeface="Georgia" panose="02040502050405020303"/>
                <a:cs typeface="Georgia" panose="02040502050405020303"/>
              </a:rPr>
              <a:t>general</a:t>
            </a:r>
            <a:r>
              <a:rPr sz="1800" spc="-30" dirty="0">
                <a:latin typeface="Georgia" panose="02040502050405020303"/>
                <a:cs typeface="Georgia" panose="02040502050405020303"/>
              </a:rPr>
              <a:t> </a:t>
            </a:r>
            <a:r>
              <a:rPr sz="1800" dirty="0">
                <a:latin typeface="Georgia" panose="02040502050405020303"/>
                <a:cs typeface="Georgia" panose="02040502050405020303"/>
              </a:rPr>
              <a:t>intelligence</a:t>
            </a:r>
            <a:r>
              <a:rPr sz="1800" spc="-40" dirty="0">
                <a:latin typeface="Georgia" panose="02040502050405020303"/>
                <a:cs typeface="Georgia" panose="02040502050405020303"/>
              </a:rPr>
              <a:t> </a:t>
            </a:r>
            <a:r>
              <a:rPr sz="1800" dirty="0">
                <a:latin typeface="Georgia" panose="02040502050405020303"/>
                <a:cs typeface="Georgia" panose="02040502050405020303"/>
              </a:rPr>
              <a:t>(AGI),</a:t>
            </a:r>
            <a:r>
              <a:rPr sz="1800" spc="-25" dirty="0">
                <a:latin typeface="Georgia" panose="02040502050405020303"/>
                <a:cs typeface="Georgia" panose="02040502050405020303"/>
              </a:rPr>
              <a:t> </a:t>
            </a:r>
            <a:r>
              <a:rPr sz="1800" dirty="0">
                <a:latin typeface="Georgia" panose="02040502050405020303"/>
                <a:cs typeface="Georgia" panose="02040502050405020303"/>
              </a:rPr>
              <a:t>the</a:t>
            </a:r>
            <a:r>
              <a:rPr sz="1800" spc="-15" dirty="0">
                <a:latin typeface="Georgia" panose="02040502050405020303"/>
                <a:cs typeface="Georgia" panose="02040502050405020303"/>
              </a:rPr>
              <a:t> </a:t>
            </a:r>
            <a:r>
              <a:rPr sz="1800" dirty="0">
                <a:latin typeface="Georgia" panose="02040502050405020303"/>
                <a:cs typeface="Georgia" panose="02040502050405020303"/>
              </a:rPr>
              <a:t>kind</a:t>
            </a:r>
            <a:r>
              <a:rPr sz="1800" spc="-15" dirty="0">
                <a:latin typeface="Georgia" panose="02040502050405020303"/>
                <a:cs typeface="Georgia" panose="02040502050405020303"/>
              </a:rPr>
              <a:t> </a:t>
            </a:r>
            <a:r>
              <a:rPr sz="1800" dirty="0">
                <a:latin typeface="Georgia" panose="02040502050405020303"/>
                <a:cs typeface="Georgia" panose="02040502050405020303"/>
              </a:rPr>
              <a:t>of</a:t>
            </a:r>
            <a:r>
              <a:rPr sz="1800" spc="-20" dirty="0">
                <a:latin typeface="Georgia" panose="02040502050405020303"/>
                <a:cs typeface="Georgia" panose="02040502050405020303"/>
              </a:rPr>
              <a:t> </a:t>
            </a:r>
            <a:r>
              <a:rPr sz="1800" dirty="0">
                <a:latin typeface="Georgia" panose="02040502050405020303"/>
                <a:cs typeface="Georgia" panose="02040502050405020303"/>
              </a:rPr>
              <a:t>AI</a:t>
            </a:r>
            <a:r>
              <a:rPr sz="1800" spc="-15" dirty="0">
                <a:latin typeface="Georgia" panose="02040502050405020303"/>
                <a:cs typeface="Georgia" panose="02040502050405020303"/>
              </a:rPr>
              <a:t> </a:t>
            </a:r>
            <a:r>
              <a:rPr sz="1800" dirty="0">
                <a:latin typeface="Georgia" panose="02040502050405020303"/>
                <a:cs typeface="Georgia" panose="02040502050405020303"/>
              </a:rPr>
              <a:t>capable</a:t>
            </a:r>
            <a:r>
              <a:rPr sz="1800" spc="-15" dirty="0">
                <a:latin typeface="Georgia" panose="02040502050405020303"/>
                <a:cs typeface="Georgia" panose="02040502050405020303"/>
              </a:rPr>
              <a:t> </a:t>
            </a:r>
            <a:r>
              <a:rPr sz="1800" dirty="0">
                <a:latin typeface="Georgia" panose="02040502050405020303"/>
                <a:cs typeface="Georgia" panose="02040502050405020303"/>
              </a:rPr>
              <a:t>of</a:t>
            </a:r>
            <a:r>
              <a:rPr sz="1800" spc="-30" dirty="0">
                <a:latin typeface="Georgia" panose="02040502050405020303"/>
                <a:cs typeface="Georgia" panose="02040502050405020303"/>
              </a:rPr>
              <a:t> </a:t>
            </a:r>
            <a:r>
              <a:rPr sz="1800" dirty="0">
                <a:latin typeface="Georgia" panose="02040502050405020303"/>
                <a:cs typeface="Georgia" panose="02040502050405020303"/>
              </a:rPr>
              <a:t>doing</a:t>
            </a:r>
            <a:r>
              <a:rPr sz="1800" spc="-20" dirty="0">
                <a:latin typeface="Georgia" panose="02040502050405020303"/>
                <a:cs typeface="Georgia" panose="02040502050405020303"/>
              </a:rPr>
              <a:t> </a:t>
            </a:r>
            <a:r>
              <a:rPr sz="1800" spc="-25" dirty="0">
                <a:latin typeface="Georgia" panose="02040502050405020303"/>
                <a:cs typeface="Georgia" panose="02040502050405020303"/>
              </a:rPr>
              <a:t>any </a:t>
            </a:r>
            <a:r>
              <a:rPr sz="1800" spc="-10" dirty="0">
                <a:latin typeface="Georgia" panose="02040502050405020303"/>
                <a:cs typeface="Georgia" panose="02040502050405020303"/>
              </a:rPr>
              <a:t>intellectual</a:t>
            </a:r>
            <a:r>
              <a:rPr sz="1800" spc="-40" dirty="0">
                <a:latin typeface="Georgia" panose="02040502050405020303"/>
                <a:cs typeface="Georgia" panose="02040502050405020303"/>
              </a:rPr>
              <a:t> </a:t>
            </a:r>
            <a:r>
              <a:rPr sz="1800" dirty="0">
                <a:latin typeface="Georgia" panose="02040502050405020303"/>
                <a:cs typeface="Georgia" panose="02040502050405020303"/>
              </a:rPr>
              <a:t>task</a:t>
            </a:r>
            <a:r>
              <a:rPr sz="1800" spc="-30" dirty="0">
                <a:latin typeface="Georgia" panose="02040502050405020303"/>
                <a:cs typeface="Georgia" panose="02040502050405020303"/>
              </a:rPr>
              <a:t> </a:t>
            </a:r>
            <a:r>
              <a:rPr sz="1800" dirty="0">
                <a:latin typeface="Georgia" panose="02040502050405020303"/>
                <a:cs typeface="Georgia" panose="02040502050405020303"/>
              </a:rPr>
              <a:t>that</a:t>
            </a:r>
            <a:r>
              <a:rPr sz="1800" spc="-10" dirty="0">
                <a:latin typeface="Georgia" panose="02040502050405020303"/>
                <a:cs typeface="Georgia" panose="02040502050405020303"/>
              </a:rPr>
              <a:t> </a:t>
            </a:r>
            <a:r>
              <a:rPr sz="1800" dirty="0">
                <a:latin typeface="Georgia" panose="02040502050405020303"/>
                <a:cs typeface="Georgia" panose="02040502050405020303"/>
              </a:rPr>
              <a:t>a</a:t>
            </a:r>
            <a:r>
              <a:rPr sz="1800" spc="-30" dirty="0">
                <a:latin typeface="Georgia" panose="02040502050405020303"/>
                <a:cs typeface="Georgia" panose="02040502050405020303"/>
              </a:rPr>
              <a:t> </a:t>
            </a:r>
            <a:r>
              <a:rPr sz="1800" dirty="0">
                <a:latin typeface="Georgia" panose="02040502050405020303"/>
                <a:cs typeface="Georgia" panose="02040502050405020303"/>
              </a:rPr>
              <a:t>human</a:t>
            </a:r>
            <a:r>
              <a:rPr sz="1800" spc="-15" dirty="0">
                <a:latin typeface="Georgia" panose="02040502050405020303"/>
                <a:cs typeface="Georgia" panose="02040502050405020303"/>
              </a:rPr>
              <a:t> </a:t>
            </a:r>
            <a:r>
              <a:rPr sz="1800" dirty="0">
                <a:latin typeface="Georgia" panose="02040502050405020303"/>
                <a:cs typeface="Georgia" panose="02040502050405020303"/>
              </a:rPr>
              <a:t>being</a:t>
            </a:r>
            <a:r>
              <a:rPr sz="1800" spc="-25" dirty="0">
                <a:latin typeface="Georgia" panose="02040502050405020303"/>
                <a:cs typeface="Georgia" panose="02040502050405020303"/>
              </a:rPr>
              <a:t> </a:t>
            </a:r>
            <a:r>
              <a:rPr sz="1800" dirty="0">
                <a:latin typeface="Georgia" panose="02040502050405020303"/>
                <a:cs typeface="Georgia" panose="02040502050405020303"/>
              </a:rPr>
              <a:t>can</a:t>
            </a:r>
            <a:r>
              <a:rPr sz="1800" spc="-40" dirty="0">
                <a:latin typeface="Georgia" panose="02040502050405020303"/>
                <a:cs typeface="Georgia" panose="02040502050405020303"/>
              </a:rPr>
              <a:t> </a:t>
            </a:r>
            <a:r>
              <a:rPr sz="1800" dirty="0">
                <a:latin typeface="Georgia" panose="02040502050405020303"/>
                <a:cs typeface="Georgia" panose="02040502050405020303"/>
              </a:rPr>
              <a:t>do</a:t>
            </a:r>
            <a:r>
              <a:rPr sz="1800" spc="-25" dirty="0">
                <a:latin typeface="Georgia" panose="02040502050405020303"/>
                <a:cs typeface="Georgia" panose="02040502050405020303"/>
              </a:rPr>
              <a:t> </a:t>
            </a:r>
            <a:r>
              <a:rPr sz="1800" dirty="0">
                <a:latin typeface="Georgia" panose="02040502050405020303"/>
                <a:cs typeface="Georgia" panose="02040502050405020303"/>
              </a:rPr>
              <a:t>but</a:t>
            </a:r>
            <a:r>
              <a:rPr sz="1800" spc="-15" dirty="0">
                <a:latin typeface="Georgia" panose="02040502050405020303"/>
                <a:cs typeface="Georgia" panose="02040502050405020303"/>
              </a:rPr>
              <a:t> </a:t>
            </a:r>
            <a:r>
              <a:rPr sz="1800" dirty="0">
                <a:latin typeface="Georgia" panose="02040502050405020303"/>
                <a:cs typeface="Georgia" panose="02040502050405020303"/>
              </a:rPr>
              <a:t>we’re</a:t>
            </a:r>
            <a:r>
              <a:rPr sz="1800" spc="-25" dirty="0">
                <a:latin typeface="Georgia" panose="02040502050405020303"/>
                <a:cs typeface="Georgia" panose="02040502050405020303"/>
              </a:rPr>
              <a:t> </a:t>
            </a:r>
            <a:r>
              <a:rPr sz="1800" dirty="0">
                <a:latin typeface="Georgia" panose="02040502050405020303"/>
                <a:cs typeface="Georgia" panose="02040502050405020303"/>
              </a:rPr>
              <a:t>already</a:t>
            </a:r>
            <a:r>
              <a:rPr sz="1800" spc="-25" dirty="0">
                <a:latin typeface="Georgia" panose="02040502050405020303"/>
                <a:cs typeface="Georgia" panose="02040502050405020303"/>
              </a:rPr>
              <a:t> </a:t>
            </a:r>
            <a:r>
              <a:rPr sz="1800" dirty="0">
                <a:latin typeface="Georgia" panose="02040502050405020303"/>
                <a:cs typeface="Georgia" panose="02040502050405020303"/>
              </a:rPr>
              <a:t>starting</a:t>
            </a:r>
            <a:r>
              <a:rPr sz="1800" spc="-40" dirty="0">
                <a:latin typeface="Georgia" panose="02040502050405020303"/>
                <a:cs typeface="Georgia" panose="02040502050405020303"/>
              </a:rPr>
              <a:t> </a:t>
            </a:r>
            <a:r>
              <a:rPr sz="1800" dirty="0">
                <a:latin typeface="Georgia" panose="02040502050405020303"/>
                <a:cs typeface="Georgia" panose="02040502050405020303"/>
              </a:rPr>
              <a:t>to</a:t>
            </a:r>
            <a:r>
              <a:rPr sz="1800" spc="-20" dirty="0">
                <a:latin typeface="Georgia" panose="02040502050405020303"/>
                <a:cs typeface="Georgia" panose="02040502050405020303"/>
              </a:rPr>
              <a:t> </a:t>
            </a:r>
            <a:r>
              <a:rPr sz="1800" spc="-25" dirty="0">
                <a:latin typeface="Georgia" panose="02040502050405020303"/>
                <a:cs typeface="Georgia" panose="02040502050405020303"/>
              </a:rPr>
              <a:t>see </a:t>
            </a:r>
            <a:r>
              <a:rPr sz="1800" dirty="0">
                <a:latin typeface="Georgia" panose="02040502050405020303"/>
                <a:cs typeface="Georgia" panose="02040502050405020303"/>
              </a:rPr>
              <a:t>plenty</a:t>
            </a:r>
            <a:r>
              <a:rPr sz="1800" spc="-45" dirty="0">
                <a:latin typeface="Georgia" panose="02040502050405020303"/>
                <a:cs typeface="Georgia" panose="02040502050405020303"/>
              </a:rPr>
              <a:t> </a:t>
            </a:r>
            <a:r>
              <a:rPr sz="1800" dirty="0">
                <a:latin typeface="Georgia" panose="02040502050405020303"/>
                <a:cs typeface="Georgia" panose="02040502050405020303"/>
              </a:rPr>
              <a:t>of</a:t>
            </a:r>
            <a:r>
              <a:rPr sz="1800" spc="-20" dirty="0">
                <a:latin typeface="Georgia" panose="02040502050405020303"/>
                <a:cs typeface="Georgia" panose="02040502050405020303"/>
              </a:rPr>
              <a:t> </a:t>
            </a:r>
            <a:r>
              <a:rPr sz="1800" dirty="0">
                <a:latin typeface="Georgia" panose="02040502050405020303"/>
                <a:cs typeface="Georgia" panose="02040502050405020303"/>
              </a:rPr>
              <a:t>progress</a:t>
            </a:r>
            <a:r>
              <a:rPr sz="1800" spc="-30" dirty="0">
                <a:latin typeface="Georgia" panose="02040502050405020303"/>
                <a:cs typeface="Georgia" panose="02040502050405020303"/>
              </a:rPr>
              <a:t> </a:t>
            </a:r>
            <a:r>
              <a:rPr sz="1800" dirty="0">
                <a:latin typeface="Georgia" panose="02040502050405020303"/>
                <a:cs typeface="Georgia" panose="02040502050405020303"/>
              </a:rPr>
              <a:t>in</a:t>
            </a:r>
            <a:r>
              <a:rPr sz="1800" spc="-25" dirty="0">
                <a:latin typeface="Georgia" panose="02040502050405020303"/>
                <a:cs typeface="Georgia" panose="02040502050405020303"/>
              </a:rPr>
              <a:t> </a:t>
            </a:r>
            <a:r>
              <a:rPr sz="1800" dirty="0">
                <a:latin typeface="Georgia" panose="02040502050405020303"/>
                <a:cs typeface="Georgia" panose="02040502050405020303"/>
              </a:rPr>
              <a:t>other</a:t>
            </a:r>
            <a:r>
              <a:rPr sz="1800" spc="-25" dirty="0">
                <a:latin typeface="Georgia" panose="02040502050405020303"/>
                <a:cs typeface="Georgia" panose="02040502050405020303"/>
              </a:rPr>
              <a:t> </a:t>
            </a:r>
            <a:r>
              <a:rPr sz="1800" dirty="0">
                <a:latin typeface="Georgia" panose="02040502050405020303"/>
                <a:cs typeface="Georgia" panose="02040502050405020303"/>
              </a:rPr>
              <a:t>areas</a:t>
            </a:r>
            <a:r>
              <a:rPr sz="1800" spc="-20" dirty="0">
                <a:latin typeface="Georgia" panose="02040502050405020303"/>
                <a:cs typeface="Georgia" panose="02040502050405020303"/>
              </a:rPr>
              <a:t> </a:t>
            </a:r>
            <a:r>
              <a:rPr sz="1800" dirty="0">
                <a:latin typeface="Georgia" panose="02040502050405020303"/>
                <a:cs typeface="Georgia" panose="02040502050405020303"/>
              </a:rPr>
              <a:t>of</a:t>
            </a:r>
            <a:r>
              <a:rPr sz="1800" spc="-20" dirty="0">
                <a:latin typeface="Georgia" panose="02040502050405020303"/>
                <a:cs typeface="Georgia" panose="02040502050405020303"/>
              </a:rPr>
              <a:t> </a:t>
            </a:r>
            <a:r>
              <a:rPr sz="1800" spc="-25" dirty="0">
                <a:latin typeface="Georgia" panose="02040502050405020303"/>
                <a:cs typeface="Georgia" panose="02040502050405020303"/>
              </a:rPr>
              <a:t>AI.</a:t>
            </a:r>
            <a:endParaRPr sz="1800">
              <a:latin typeface="Georgia" panose="02040502050405020303"/>
              <a:cs typeface="Georgia" panose="02040502050405020303"/>
            </a:endParaRPr>
          </a:p>
          <a:p>
            <a:pPr marL="12700" marR="8255" indent="-1905">
              <a:lnSpc>
                <a:spcPct val="100000"/>
              </a:lnSpc>
              <a:spcBef>
                <a:spcPts val="435"/>
              </a:spcBef>
              <a:buClr>
                <a:srgbClr val="0AD0D9"/>
              </a:buClr>
              <a:buSzPct val="89000"/>
              <a:buFont typeface="Wingdings" panose="05000000000000000000"/>
              <a:buChar char=""/>
              <a:tabLst>
                <a:tab pos="185420" algn="l"/>
              </a:tabLst>
            </a:pPr>
            <a:r>
              <a:rPr sz="1800" dirty="0">
                <a:latin typeface="Georgia" panose="02040502050405020303"/>
                <a:cs typeface="Georgia" panose="02040502050405020303"/>
              </a:rPr>
              <a:t>	</a:t>
            </a:r>
            <a:r>
              <a:rPr sz="1800" dirty="0">
                <a:latin typeface="Georgia" panose="02040502050405020303"/>
                <a:cs typeface="Georgia" panose="02040502050405020303"/>
              </a:rPr>
              <a:t>It</a:t>
            </a:r>
            <a:r>
              <a:rPr sz="1800" spc="-35" dirty="0">
                <a:latin typeface="Georgia" panose="02040502050405020303"/>
                <a:cs typeface="Georgia" panose="02040502050405020303"/>
              </a:rPr>
              <a:t> </a:t>
            </a:r>
            <a:r>
              <a:rPr sz="1800" dirty="0">
                <a:latin typeface="Georgia" panose="02040502050405020303"/>
                <a:cs typeface="Georgia" panose="02040502050405020303"/>
              </a:rPr>
              <a:t>is</a:t>
            </a:r>
            <a:r>
              <a:rPr sz="1800" spc="-30" dirty="0">
                <a:latin typeface="Georgia" panose="02040502050405020303"/>
                <a:cs typeface="Georgia" panose="02040502050405020303"/>
              </a:rPr>
              <a:t> </a:t>
            </a:r>
            <a:r>
              <a:rPr sz="1800" dirty="0">
                <a:latin typeface="Georgia" panose="02040502050405020303"/>
                <a:cs typeface="Georgia" panose="02040502050405020303"/>
              </a:rPr>
              <a:t>already</a:t>
            </a:r>
            <a:r>
              <a:rPr sz="1800" spc="-25" dirty="0">
                <a:latin typeface="Georgia" panose="02040502050405020303"/>
                <a:cs typeface="Georgia" panose="02040502050405020303"/>
              </a:rPr>
              <a:t> </a:t>
            </a:r>
            <a:r>
              <a:rPr sz="1800" dirty="0">
                <a:latin typeface="Georgia" panose="02040502050405020303"/>
                <a:cs typeface="Georgia" panose="02040502050405020303"/>
              </a:rPr>
              <a:t>the</a:t>
            </a:r>
            <a:r>
              <a:rPr sz="1800" spc="-15" dirty="0">
                <a:latin typeface="Georgia" panose="02040502050405020303"/>
                <a:cs typeface="Georgia" panose="02040502050405020303"/>
              </a:rPr>
              <a:t> </a:t>
            </a:r>
            <a:r>
              <a:rPr sz="1800" dirty="0">
                <a:latin typeface="Georgia" panose="02040502050405020303"/>
                <a:cs typeface="Georgia" panose="02040502050405020303"/>
              </a:rPr>
              <a:t>primary</a:t>
            </a:r>
            <a:r>
              <a:rPr sz="1800" spc="-25" dirty="0">
                <a:latin typeface="Georgia" panose="02040502050405020303"/>
                <a:cs typeface="Georgia" panose="02040502050405020303"/>
              </a:rPr>
              <a:t> </a:t>
            </a:r>
            <a:r>
              <a:rPr sz="1800" dirty="0">
                <a:latin typeface="Georgia" panose="02040502050405020303"/>
                <a:cs typeface="Georgia" panose="02040502050405020303"/>
              </a:rPr>
              <a:t>driver</a:t>
            </a:r>
            <a:r>
              <a:rPr sz="1800" spc="-20" dirty="0">
                <a:latin typeface="Georgia" panose="02040502050405020303"/>
                <a:cs typeface="Georgia" panose="02040502050405020303"/>
              </a:rPr>
              <a:t> </a:t>
            </a:r>
            <a:r>
              <a:rPr sz="1800" dirty="0">
                <a:latin typeface="Georgia" panose="02040502050405020303"/>
                <a:cs typeface="Georgia" panose="02040502050405020303"/>
              </a:rPr>
              <a:t>of</a:t>
            </a:r>
            <a:r>
              <a:rPr sz="1800" spc="-15" dirty="0">
                <a:latin typeface="Georgia" panose="02040502050405020303"/>
                <a:cs typeface="Georgia" panose="02040502050405020303"/>
              </a:rPr>
              <a:t> </a:t>
            </a:r>
            <a:r>
              <a:rPr sz="1800" dirty="0">
                <a:latin typeface="Georgia" panose="02040502050405020303"/>
                <a:cs typeface="Georgia" panose="02040502050405020303"/>
              </a:rPr>
              <a:t>developing</a:t>
            </a:r>
            <a:r>
              <a:rPr sz="1800" spc="-40" dirty="0">
                <a:latin typeface="Georgia" panose="02040502050405020303"/>
                <a:cs typeface="Georgia" panose="02040502050405020303"/>
              </a:rPr>
              <a:t> </a:t>
            </a:r>
            <a:r>
              <a:rPr sz="1800" dirty="0">
                <a:latin typeface="Georgia" panose="02040502050405020303"/>
                <a:cs typeface="Georgia" panose="02040502050405020303"/>
              </a:rPr>
              <a:t>technologies</a:t>
            </a:r>
            <a:r>
              <a:rPr sz="1800" spc="-35" dirty="0">
                <a:latin typeface="Georgia" panose="02040502050405020303"/>
                <a:cs typeface="Georgia" panose="02040502050405020303"/>
              </a:rPr>
              <a:t> </a:t>
            </a:r>
            <a:r>
              <a:rPr sz="1800" dirty="0">
                <a:latin typeface="Georgia" panose="02040502050405020303"/>
                <a:cs typeface="Georgia" panose="02040502050405020303"/>
              </a:rPr>
              <a:t>such</a:t>
            </a:r>
            <a:r>
              <a:rPr sz="1800" spc="-25" dirty="0">
                <a:latin typeface="Georgia" panose="02040502050405020303"/>
                <a:cs typeface="Georgia" panose="02040502050405020303"/>
              </a:rPr>
              <a:t> </a:t>
            </a:r>
            <a:r>
              <a:rPr sz="1800" dirty="0">
                <a:latin typeface="Georgia" panose="02040502050405020303"/>
                <a:cs typeface="Georgia" panose="02040502050405020303"/>
              </a:rPr>
              <a:t>as</a:t>
            </a:r>
            <a:r>
              <a:rPr sz="1800" spc="-35" dirty="0">
                <a:latin typeface="Georgia" panose="02040502050405020303"/>
                <a:cs typeface="Georgia" panose="02040502050405020303"/>
              </a:rPr>
              <a:t> </a:t>
            </a:r>
            <a:r>
              <a:rPr sz="1800" dirty="0">
                <a:latin typeface="Georgia" panose="02040502050405020303"/>
                <a:cs typeface="Georgia" panose="02040502050405020303"/>
              </a:rPr>
              <a:t>big</a:t>
            </a:r>
            <a:r>
              <a:rPr sz="1800" spc="-35" dirty="0">
                <a:latin typeface="Georgia" panose="02040502050405020303"/>
                <a:cs typeface="Georgia" panose="02040502050405020303"/>
              </a:rPr>
              <a:t> </a:t>
            </a:r>
            <a:r>
              <a:rPr sz="1800" spc="-10" dirty="0">
                <a:latin typeface="Georgia" panose="02040502050405020303"/>
                <a:cs typeface="Georgia" panose="02040502050405020303"/>
              </a:rPr>
              <a:t>data, </a:t>
            </a:r>
            <a:r>
              <a:rPr sz="1800" dirty="0">
                <a:latin typeface="Georgia" panose="02040502050405020303"/>
                <a:cs typeface="Georgia" panose="02040502050405020303"/>
              </a:rPr>
              <a:t>robots</a:t>
            </a:r>
            <a:r>
              <a:rPr sz="1800" spc="-25" dirty="0">
                <a:latin typeface="Georgia" panose="02040502050405020303"/>
                <a:cs typeface="Georgia" panose="02040502050405020303"/>
              </a:rPr>
              <a:t> </a:t>
            </a:r>
            <a:r>
              <a:rPr sz="1800" dirty="0">
                <a:latin typeface="Georgia" panose="02040502050405020303"/>
                <a:cs typeface="Georgia" panose="02040502050405020303"/>
              </a:rPr>
              <a:t>and</a:t>
            </a:r>
            <a:r>
              <a:rPr sz="1800" spc="-30" dirty="0">
                <a:latin typeface="Georgia" panose="02040502050405020303"/>
                <a:cs typeface="Georgia" panose="02040502050405020303"/>
              </a:rPr>
              <a:t> </a:t>
            </a:r>
            <a:r>
              <a:rPr sz="1800" dirty="0">
                <a:latin typeface="Georgia" panose="02040502050405020303"/>
                <a:cs typeface="Georgia" panose="02040502050405020303"/>
              </a:rPr>
              <a:t>the</a:t>
            </a:r>
            <a:r>
              <a:rPr sz="1800" spc="-25" dirty="0">
                <a:latin typeface="Georgia" panose="02040502050405020303"/>
                <a:cs typeface="Georgia" panose="02040502050405020303"/>
              </a:rPr>
              <a:t> </a:t>
            </a:r>
            <a:r>
              <a:rPr sz="1800" dirty="0">
                <a:latin typeface="Georgia" panose="02040502050405020303"/>
                <a:cs typeface="Georgia" panose="02040502050405020303"/>
              </a:rPr>
              <a:t>Internet</a:t>
            </a:r>
            <a:r>
              <a:rPr sz="1800" spc="-40" dirty="0">
                <a:latin typeface="Georgia" panose="02040502050405020303"/>
                <a:cs typeface="Georgia" panose="02040502050405020303"/>
              </a:rPr>
              <a:t> </a:t>
            </a:r>
            <a:r>
              <a:rPr sz="1800" dirty="0">
                <a:latin typeface="Georgia" panose="02040502050405020303"/>
                <a:cs typeface="Georgia" panose="02040502050405020303"/>
              </a:rPr>
              <a:t>of</a:t>
            </a:r>
            <a:r>
              <a:rPr sz="1800" spc="-25" dirty="0">
                <a:latin typeface="Georgia" panose="02040502050405020303"/>
                <a:cs typeface="Georgia" panose="02040502050405020303"/>
              </a:rPr>
              <a:t> </a:t>
            </a:r>
            <a:r>
              <a:rPr sz="1800" dirty="0">
                <a:latin typeface="Georgia" panose="02040502050405020303"/>
                <a:cs typeface="Georgia" panose="02040502050405020303"/>
              </a:rPr>
              <a:t>Things</a:t>
            </a:r>
            <a:r>
              <a:rPr sz="1800" spc="-40" dirty="0">
                <a:latin typeface="Georgia" panose="02040502050405020303"/>
                <a:cs typeface="Georgia" panose="02040502050405020303"/>
              </a:rPr>
              <a:t> </a:t>
            </a:r>
            <a:r>
              <a:rPr sz="1800" dirty="0">
                <a:latin typeface="Georgia" panose="02040502050405020303"/>
                <a:cs typeface="Georgia" panose="02040502050405020303"/>
              </a:rPr>
              <a:t>and</a:t>
            </a:r>
            <a:r>
              <a:rPr sz="1800" spc="-40" dirty="0">
                <a:latin typeface="Georgia" panose="02040502050405020303"/>
                <a:cs typeface="Georgia" panose="02040502050405020303"/>
              </a:rPr>
              <a:t> </a:t>
            </a:r>
            <a:r>
              <a:rPr sz="1800" dirty="0">
                <a:latin typeface="Georgia" panose="02040502050405020303"/>
                <a:cs typeface="Georgia" panose="02040502050405020303"/>
              </a:rPr>
              <a:t>it</a:t>
            </a:r>
            <a:r>
              <a:rPr sz="1800" spc="-35" dirty="0">
                <a:latin typeface="Georgia" panose="02040502050405020303"/>
                <a:cs typeface="Georgia" panose="02040502050405020303"/>
              </a:rPr>
              <a:t> </a:t>
            </a:r>
            <a:r>
              <a:rPr sz="1800" dirty="0">
                <a:latin typeface="Georgia" panose="02040502050405020303"/>
                <a:cs typeface="Georgia" panose="02040502050405020303"/>
              </a:rPr>
              <a:t>will</a:t>
            </a:r>
            <a:r>
              <a:rPr sz="1800" spc="-50" dirty="0">
                <a:latin typeface="Georgia" panose="02040502050405020303"/>
                <a:cs typeface="Georgia" panose="02040502050405020303"/>
              </a:rPr>
              <a:t> </a:t>
            </a:r>
            <a:r>
              <a:rPr sz="1800" dirty="0">
                <a:latin typeface="Georgia" panose="02040502050405020303"/>
                <a:cs typeface="Georgia" panose="02040502050405020303"/>
              </a:rPr>
              <a:t>continue</a:t>
            </a:r>
            <a:r>
              <a:rPr sz="1800" spc="-30" dirty="0">
                <a:latin typeface="Georgia" panose="02040502050405020303"/>
                <a:cs typeface="Georgia" panose="02040502050405020303"/>
              </a:rPr>
              <a:t> </a:t>
            </a:r>
            <a:r>
              <a:rPr sz="1800" dirty="0">
                <a:latin typeface="Georgia" panose="02040502050405020303"/>
                <a:cs typeface="Georgia" panose="02040502050405020303"/>
              </a:rPr>
              <a:t>to</a:t>
            </a:r>
            <a:r>
              <a:rPr sz="1800" spc="-25" dirty="0">
                <a:latin typeface="Georgia" panose="02040502050405020303"/>
                <a:cs typeface="Georgia" panose="02040502050405020303"/>
              </a:rPr>
              <a:t> </a:t>
            </a:r>
            <a:r>
              <a:rPr sz="1800" dirty="0">
                <a:latin typeface="Georgia" panose="02040502050405020303"/>
                <a:cs typeface="Georgia" panose="02040502050405020303"/>
              </a:rPr>
              <a:t>be</a:t>
            </a:r>
            <a:r>
              <a:rPr sz="1800" spc="-25" dirty="0">
                <a:latin typeface="Georgia" panose="02040502050405020303"/>
                <a:cs typeface="Georgia" panose="02040502050405020303"/>
              </a:rPr>
              <a:t> </a:t>
            </a:r>
            <a:r>
              <a:rPr sz="1800" dirty="0">
                <a:latin typeface="Georgia" panose="02040502050405020303"/>
                <a:cs typeface="Georgia" panose="02040502050405020303"/>
              </a:rPr>
              <a:t>a</a:t>
            </a:r>
            <a:r>
              <a:rPr sz="1800" spc="-35" dirty="0">
                <a:latin typeface="Georgia" panose="02040502050405020303"/>
                <a:cs typeface="Georgia" panose="02040502050405020303"/>
              </a:rPr>
              <a:t> </a:t>
            </a:r>
            <a:r>
              <a:rPr sz="1800" dirty="0">
                <a:latin typeface="Georgia" panose="02040502050405020303"/>
                <a:cs typeface="Georgia" panose="02040502050405020303"/>
              </a:rPr>
              <a:t>technical</a:t>
            </a:r>
            <a:r>
              <a:rPr sz="1800" spc="-40" dirty="0">
                <a:latin typeface="Georgia" panose="02040502050405020303"/>
                <a:cs typeface="Georgia" panose="02040502050405020303"/>
              </a:rPr>
              <a:t> </a:t>
            </a:r>
            <a:r>
              <a:rPr sz="1800" spc="-10" dirty="0">
                <a:latin typeface="Georgia" panose="02040502050405020303"/>
                <a:cs typeface="Georgia" panose="02040502050405020303"/>
              </a:rPr>
              <a:t>pioneer </a:t>
            </a:r>
            <a:r>
              <a:rPr sz="1800" dirty="0">
                <a:latin typeface="Georgia" panose="02040502050405020303"/>
                <a:cs typeface="Georgia" panose="02040502050405020303"/>
              </a:rPr>
              <a:t>in</a:t>
            </a:r>
            <a:r>
              <a:rPr sz="1800" spc="-20" dirty="0">
                <a:latin typeface="Georgia" panose="02040502050405020303"/>
                <a:cs typeface="Georgia" panose="02040502050405020303"/>
              </a:rPr>
              <a:t> </a:t>
            </a:r>
            <a:r>
              <a:rPr sz="1800" dirty="0">
                <a:latin typeface="Georgia" panose="02040502050405020303"/>
                <a:cs typeface="Georgia" panose="02040502050405020303"/>
              </a:rPr>
              <a:t>the</a:t>
            </a:r>
            <a:r>
              <a:rPr sz="1800" spc="-5" dirty="0">
                <a:latin typeface="Georgia" panose="02040502050405020303"/>
                <a:cs typeface="Georgia" panose="02040502050405020303"/>
              </a:rPr>
              <a:t> </a:t>
            </a:r>
            <a:r>
              <a:rPr sz="1800" spc="-10" dirty="0">
                <a:latin typeface="Georgia" panose="02040502050405020303"/>
                <a:cs typeface="Georgia" panose="02040502050405020303"/>
              </a:rPr>
              <a:t>foreseeable</a:t>
            </a:r>
            <a:r>
              <a:rPr sz="1800" spc="-15" dirty="0">
                <a:latin typeface="Georgia" panose="02040502050405020303"/>
                <a:cs typeface="Georgia" panose="02040502050405020303"/>
              </a:rPr>
              <a:t> </a:t>
            </a:r>
            <a:r>
              <a:rPr sz="1800" spc="-10" dirty="0">
                <a:latin typeface="Georgia" panose="02040502050405020303"/>
                <a:cs typeface="Georgia" panose="02040502050405020303"/>
              </a:rPr>
              <a:t>future.</a:t>
            </a:r>
            <a:endParaRPr sz="1800">
              <a:latin typeface="Georgia" panose="02040502050405020303"/>
              <a:cs typeface="Georgia" panose="020405020504050203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8865" y="801053"/>
            <a:ext cx="9947275" cy="628650"/>
          </a:xfrm>
          <a:prstGeom prst="rect">
            <a:avLst/>
          </a:prstGeom>
        </p:spPr>
        <p:txBody>
          <a:bodyPr vert="horz" wrap="square" lIns="0" tIns="13335" rIns="0" bIns="0" rtlCol="0">
            <a:spAutoFit/>
          </a:bodyPr>
          <a:lstStyle/>
          <a:p>
            <a:pPr marL="12700">
              <a:lnSpc>
                <a:spcPct val="100000"/>
              </a:lnSpc>
              <a:spcBef>
                <a:spcPts val="105"/>
              </a:spcBef>
            </a:pPr>
            <a:r>
              <a:rPr lang="en-US" dirty="0"/>
              <a:t>How does AI work? </a:t>
            </a:r>
            <a:endParaRPr spc="-10" dirty="0"/>
          </a:p>
        </p:txBody>
      </p:sp>
      <p:sp>
        <p:nvSpPr>
          <p:cNvPr id="3" name="object 3"/>
          <p:cNvSpPr txBox="1"/>
          <p:nvPr/>
        </p:nvSpPr>
        <p:spPr>
          <a:xfrm>
            <a:off x="2215387" y="1670050"/>
            <a:ext cx="7846059" cy="4234180"/>
          </a:xfrm>
          <a:prstGeom prst="rect">
            <a:avLst/>
          </a:prstGeom>
        </p:spPr>
        <p:txBody>
          <a:bodyPr vert="horz" wrap="square" lIns="0" tIns="13335" rIns="0" bIns="0" rtlCol="0">
            <a:spAutoFit/>
          </a:bodyPr>
          <a:lstStyle/>
          <a:p>
            <a:pPr marL="204470" indent="-193675">
              <a:lnSpc>
                <a:spcPts val="2280"/>
              </a:lnSpc>
              <a:spcBef>
                <a:spcPts val="105"/>
              </a:spcBef>
              <a:buClr>
                <a:srgbClr val="0AD0D9"/>
              </a:buClr>
              <a:buSzPct val="90000"/>
              <a:buFont typeface="Wingdings" panose="05000000000000000000"/>
              <a:buChar char=""/>
              <a:tabLst>
                <a:tab pos="204470" algn="l"/>
              </a:tabLst>
            </a:pPr>
            <a:r>
              <a:rPr sz="2000" dirty="0">
                <a:latin typeface="Georgia" panose="02040502050405020303"/>
                <a:cs typeface="Georgia" panose="02040502050405020303"/>
              </a:rPr>
              <a:t>AI</a:t>
            </a:r>
            <a:r>
              <a:rPr sz="2000" spc="-20" dirty="0">
                <a:latin typeface="Georgia" panose="02040502050405020303"/>
                <a:cs typeface="Georgia" panose="02040502050405020303"/>
              </a:rPr>
              <a:t> </a:t>
            </a:r>
            <a:r>
              <a:rPr sz="2000" dirty="0">
                <a:latin typeface="Georgia" panose="02040502050405020303"/>
                <a:cs typeface="Georgia" panose="02040502050405020303"/>
              </a:rPr>
              <a:t>requires</a:t>
            </a:r>
            <a:r>
              <a:rPr sz="2000" spc="-15" dirty="0">
                <a:latin typeface="Georgia" panose="02040502050405020303"/>
                <a:cs typeface="Georgia" panose="02040502050405020303"/>
              </a:rPr>
              <a:t> </a:t>
            </a:r>
            <a:r>
              <a:rPr sz="2000" dirty="0">
                <a:latin typeface="Georgia" panose="02040502050405020303"/>
                <a:cs typeface="Georgia" panose="02040502050405020303"/>
              </a:rPr>
              <a:t>a</a:t>
            </a:r>
            <a:r>
              <a:rPr sz="2000" spc="-10" dirty="0">
                <a:latin typeface="Georgia" panose="02040502050405020303"/>
                <a:cs typeface="Georgia" panose="02040502050405020303"/>
              </a:rPr>
              <a:t> </a:t>
            </a:r>
            <a:r>
              <a:rPr sz="2000" dirty="0">
                <a:latin typeface="Georgia" panose="02040502050405020303"/>
                <a:cs typeface="Georgia" panose="02040502050405020303"/>
              </a:rPr>
              <a:t>foundation</a:t>
            </a:r>
            <a:r>
              <a:rPr sz="2000" spc="-25" dirty="0">
                <a:latin typeface="Georgia" panose="02040502050405020303"/>
                <a:cs typeface="Georgia" panose="02040502050405020303"/>
              </a:rPr>
              <a:t> </a:t>
            </a:r>
            <a:r>
              <a:rPr sz="2000" dirty="0">
                <a:latin typeface="Georgia" panose="02040502050405020303"/>
                <a:cs typeface="Georgia" panose="02040502050405020303"/>
              </a:rPr>
              <a:t>of</a:t>
            </a:r>
            <a:r>
              <a:rPr sz="2000" spc="-20" dirty="0">
                <a:latin typeface="Georgia" panose="02040502050405020303"/>
                <a:cs typeface="Georgia" panose="02040502050405020303"/>
              </a:rPr>
              <a:t> </a:t>
            </a:r>
            <a:r>
              <a:rPr sz="2000" dirty="0">
                <a:latin typeface="Georgia" panose="02040502050405020303"/>
                <a:cs typeface="Georgia" panose="02040502050405020303"/>
              </a:rPr>
              <a:t>specialized</a:t>
            </a:r>
            <a:r>
              <a:rPr sz="2000" spc="-25" dirty="0">
                <a:latin typeface="Georgia" panose="02040502050405020303"/>
                <a:cs typeface="Georgia" panose="02040502050405020303"/>
              </a:rPr>
              <a:t> </a:t>
            </a:r>
            <a:r>
              <a:rPr sz="2000" dirty="0">
                <a:latin typeface="Georgia" panose="02040502050405020303"/>
                <a:cs typeface="Georgia" panose="02040502050405020303"/>
              </a:rPr>
              <a:t>hardware and</a:t>
            </a:r>
            <a:r>
              <a:rPr sz="2000" spc="-20" dirty="0">
                <a:latin typeface="Georgia" panose="02040502050405020303"/>
                <a:cs typeface="Georgia" panose="02040502050405020303"/>
              </a:rPr>
              <a:t> </a:t>
            </a:r>
            <a:r>
              <a:rPr sz="2000" dirty="0">
                <a:latin typeface="Georgia" panose="02040502050405020303"/>
                <a:cs typeface="Georgia" panose="02040502050405020303"/>
              </a:rPr>
              <a:t>software</a:t>
            </a:r>
            <a:r>
              <a:rPr sz="2000" spc="-20" dirty="0">
                <a:latin typeface="Georgia" panose="02040502050405020303"/>
                <a:cs typeface="Georgia" panose="02040502050405020303"/>
              </a:rPr>
              <a:t> </a:t>
            </a:r>
            <a:r>
              <a:rPr sz="2000" spc="-25" dirty="0">
                <a:latin typeface="Georgia" panose="02040502050405020303"/>
                <a:cs typeface="Georgia" panose="02040502050405020303"/>
              </a:rPr>
              <a:t>for</a:t>
            </a:r>
            <a:endParaRPr sz="2000">
              <a:latin typeface="Georgia" panose="02040502050405020303"/>
              <a:cs typeface="Georgia" panose="02040502050405020303"/>
            </a:endParaRPr>
          </a:p>
          <a:p>
            <a:pPr marL="12700">
              <a:lnSpc>
                <a:spcPts val="2280"/>
              </a:lnSpc>
            </a:pPr>
            <a:r>
              <a:rPr sz="2000" dirty="0">
                <a:latin typeface="Georgia" panose="02040502050405020303"/>
                <a:cs typeface="Georgia" panose="02040502050405020303"/>
              </a:rPr>
              <a:t>writing</a:t>
            </a:r>
            <a:r>
              <a:rPr sz="2000" spc="-30" dirty="0">
                <a:latin typeface="Georgia" panose="02040502050405020303"/>
                <a:cs typeface="Georgia" panose="02040502050405020303"/>
              </a:rPr>
              <a:t> </a:t>
            </a:r>
            <a:r>
              <a:rPr sz="2000" dirty="0">
                <a:latin typeface="Georgia" panose="02040502050405020303"/>
                <a:cs typeface="Georgia" panose="02040502050405020303"/>
              </a:rPr>
              <a:t>and</a:t>
            </a:r>
            <a:r>
              <a:rPr sz="2000" spc="-20" dirty="0">
                <a:latin typeface="Georgia" panose="02040502050405020303"/>
                <a:cs typeface="Georgia" panose="02040502050405020303"/>
              </a:rPr>
              <a:t> </a:t>
            </a:r>
            <a:r>
              <a:rPr sz="2000" dirty="0">
                <a:latin typeface="Georgia" panose="02040502050405020303"/>
                <a:cs typeface="Georgia" panose="02040502050405020303"/>
              </a:rPr>
              <a:t>training</a:t>
            </a:r>
            <a:r>
              <a:rPr sz="2000" spc="-25" dirty="0">
                <a:latin typeface="Georgia" panose="02040502050405020303"/>
                <a:cs typeface="Georgia" panose="02040502050405020303"/>
              </a:rPr>
              <a:t> </a:t>
            </a:r>
            <a:r>
              <a:rPr sz="2000" dirty="0">
                <a:latin typeface="Georgia" panose="02040502050405020303"/>
                <a:cs typeface="Georgia" panose="02040502050405020303"/>
              </a:rPr>
              <a:t>machine</a:t>
            </a:r>
            <a:r>
              <a:rPr sz="2000" spc="-25" dirty="0">
                <a:latin typeface="Georgia" panose="02040502050405020303"/>
                <a:cs typeface="Georgia" panose="02040502050405020303"/>
              </a:rPr>
              <a:t> </a:t>
            </a:r>
            <a:r>
              <a:rPr sz="2000" dirty="0">
                <a:latin typeface="Georgia" panose="02040502050405020303"/>
                <a:cs typeface="Georgia" panose="02040502050405020303"/>
              </a:rPr>
              <a:t>learning</a:t>
            </a:r>
            <a:r>
              <a:rPr sz="2000" spc="-30" dirty="0">
                <a:latin typeface="Georgia" panose="02040502050405020303"/>
                <a:cs typeface="Georgia" panose="02040502050405020303"/>
              </a:rPr>
              <a:t> </a:t>
            </a:r>
            <a:r>
              <a:rPr sz="2000" spc="-10" dirty="0">
                <a:latin typeface="Georgia" panose="02040502050405020303"/>
                <a:cs typeface="Georgia" panose="02040502050405020303"/>
              </a:rPr>
              <a:t>algorithms.</a:t>
            </a:r>
            <a:endParaRPr sz="2000">
              <a:latin typeface="Georgia" panose="02040502050405020303"/>
              <a:cs typeface="Georgia" panose="02040502050405020303"/>
            </a:endParaRPr>
          </a:p>
          <a:p>
            <a:pPr marL="12700" marR="267970" indent="-1905">
              <a:lnSpc>
                <a:spcPts val="2160"/>
              </a:lnSpc>
              <a:spcBef>
                <a:spcPts val="510"/>
              </a:spcBef>
              <a:buClr>
                <a:srgbClr val="0AD0D9"/>
              </a:buClr>
              <a:buSzPct val="90000"/>
              <a:buFont typeface="Wingdings" panose="05000000000000000000"/>
              <a:buChar char=""/>
              <a:tabLst>
                <a:tab pos="204470" algn="l"/>
              </a:tabLst>
            </a:pPr>
            <a:r>
              <a:rPr sz="2000" dirty="0">
                <a:latin typeface="Georgia" panose="02040502050405020303"/>
                <a:cs typeface="Georgia" panose="02040502050405020303"/>
              </a:rPr>
              <a:t>	</a:t>
            </a:r>
            <a:r>
              <a:rPr sz="2000" dirty="0">
                <a:latin typeface="Georgia" panose="02040502050405020303"/>
                <a:cs typeface="Georgia" panose="02040502050405020303"/>
              </a:rPr>
              <a:t>In</a:t>
            </a:r>
            <a:r>
              <a:rPr sz="2000" spc="-10" dirty="0">
                <a:latin typeface="Georgia" panose="02040502050405020303"/>
                <a:cs typeface="Georgia" panose="02040502050405020303"/>
              </a:rPr>
              <a:t> </a:t>
            </a:r>
            <a:r>
              <a:rPr sz="2000" dirty="0">
                <a:latin typeface="Georgia" panose="02040502050405020303"/>
                <a:cs typeface="Georgia" panose="02040502050405020303"/>
              </a:rPr>
              <a:t>general,</a:t>
            </a:r>
            <a:r>
              <a:rPr sz="2000" spc="-25" dirty="0">
                <a:latin typeface="Georgia" panose="02040502050405020303"/>
                <a:cs typeface="Georgia" panose="02040502050405020303"/>
              </a:rPr>
              <a:t> </a:t>
            </a:r>
            <a:r>
              <a:rPr sz="2000" dirty="0">
                <a:latin typeface="Georgia" panose="02040502050405020303"/>
                <a:cs typeface="Georgia" panose="02040502050405020303"/>
              </a:rPr>
              <a:t>AI</a:t>
            </a:r>
            <a:r>
              <a:rPr sz="2000" spc="-10" dirty="0">
                <a:latin typeface="Georgia" panose="02040502050405020303"/>
                <a:cs typeface="Georgia" panose="02040502050405020303"/>
              </a:rPr>
              <a:t> </a:t>
            </a:r>
            <a:r>
              <a:rPr sz="2000" dirty="0">
                <a:latin typeface="Georgia" panose="02040502050405020303"/>
                <a:cs typeface="Georgia" panose="02040502050405020303"/>
              </a:rPr>
              <a:t>systems</a:t>
            </a:r>
            <a:r>
              <a:rPr sz="2000" spc="-20" dirty="0">
                <a:latin typeface="Georgia" panose="02040502050405020303"/>
                <a:cs typeface="Georgia" panose="02040502050405020303"/>
              </a:rPr>
              <a:t> </a:t>
            </a:r>
            <a:r>
              <a:rPr sz="2000" dirty="0">
                <a:latin typeface="Georgia" panose="02040502050405020303"/>
                <a:cs typeface="Georgia" panose="02040502050405020303"/>
              </a:rPr>
              <a:t>work</a:t>
            </a:r>
            <a:r>
              <a:rPr sz="2000" spc="-10" dirty="0">
                <a:latin typeface="Georgia" panose="02040502050405020303"/>
                <a:cs typeface="Georgia" panose="02040502050405020303"/>
              </a:rPr>
              <a:t> </a:t>
            </a:r>
            <a:r>
              <a:rPr sz="2000" dirty="0">
                <a:latin typeface="Georgia" panose="02040502050405020303"/>
                <a:cs typeface="Georgia" panose="02040502050405020303"/>
              </a:rPr>
              <a:t>by</a:t>
            </a:r>
            <a:r>
              <a:rPr sz="2000" spc="-5" dirty="0">
                <a:latin typeface="Georgia" panose="02040502050405020303"/>
                <a:cs typeface="Georgia" panose="02040502050405020303"/>
              </a:rPr>
              <a:t> </a:t>
            </a:r>
            <a:r>
              <a:rPr sz="2000" dirty="0">
                <a:latin typeface="Georgia" panose="02040502050405020303"/>
                <a:cs typeface="Georgia" panose="02040502050405020303"/>
              </a:rPr>
              <a:t>ingesting</a:t>
            </a:r>
            <a:r>
              <a:rPr sz="2000" spc="-35" dirty="0">
                <a:latin typeface="Georgia" panose="02040502050405020303"/>
                <a:cs typeface="Georgia" panose="02040502050405020303"/>
              </a:rPr>
              <a:t> </a:t>
            </a:r>
            <a:r>
              <a:rPr sz="2000" dirty="0">
                <a:latin typeface="Georgia" panose="02040502050405020303"/>
                <a:cs typeface="Georgia" panose="02040502050405020303"/>
              </a:rPr>
              <a:t>large amounts</a:t>
            </a:r>
            <a:r>
              <a:rPr sz="2000" spc="-25" dirty="0">
                <a:latin typeface="Georgia" panose="02040502050405020303"/>
                <a:cs typeface="Georgia" panose="02040502050405020303"/>
              </a:rPr>
              <a:t> </a:t>
            </a:r>
            <a:r>
              <a:rPr sz="2000" dirty="0">
                <a:latin typeface="Georgia" panose="02040502050405020303"/>
                <a:cs typeface="Georgia" panose="02040502050405020303"/>
              </a:rPr>
              <a:t>of</a:t>
            </a:r>
            <a:r>
              <a:rPr sz="2000" spc="-5" dirty="0">
                <a:latin typeface="Georgia" panose="02040502050405020303"/>
                <a:cs typeface="Georgia" panose="02040502050405020303"/>
              </a:rPr>
              <a:t> </a:t>
            </a:r>
            <a:r>
              <a:rPr sz="2000" spc="-10" dirty="0">
                <a:latin typeface="Georgia" panose="02040502050405020303"/>
                <a:cs typeface="Georgia" panose="02040502050405020303"/>
              </a:rPr>
              <a:t>labeled </a:t>
            </a:r>
            <a:r>
              <a:rPr sz="2000" dirty="0">
                <a:latin typeface="Georgia" panose="02040502050405020303"/>
                <a:cs typeface="Georgia" panose="02040502050405020303"/>
              </a:rPr>
              <a:t>training</a:t>
            </a:r>
            <a:r>
              <a:rPr sz="2000" spc="-35" dirty="0">
                <a:latin typeface="Georgia" panose="02040502050405020303"/>
                <a:cs typeface="Georgia" panose="02040502050405020303"/>
              </a:rPr>
              <a:t> </a:t>
            </a:r>
            <a:r>
              <a:rPr sz="2000" dirty="0">
                <a:latin typeface="Georgia" panose="02040502050405020303"/>
                <a:cs typeface="Georgia" panose="02040502050405020303"/>
              </a:rPr>
              <a:t>data,</a:t>
            </a:r>
            <a:r>
              <a:rPr sz="2000" spc="-40" dirty="0">
                <a:latin typeface="Georgia" panose="02040502050405020303"/>
                <a:cs typeface="Georgia" panose="02040502050405020303"/>
              </a:rPr>
              <a:t> </a:t>
            </a:r>
            <a:r>
              <a:rPr sz="2000" dirty="0">
                <a:latin typeface="Georgia" panose="02040502050405020303"/>
                <a:cs typeface="Georgia" panose="02040502050405020303"/>
              </a:rPr>
              <a:t>analyzing</a:t>
            </a:r>
            <a:r>
              <a:rPr sz="2000" spc="-30" dirty="0">
                <a:latin typeface="Georgia" panose="02040502050405020303"/>
                <a:cs typeface="Georgia" panose="02040502050405020303"/>
              </a:rPr>
              <a:t> </a:t>
            </a:r>
            <a:r>
              <a:rPr sz="2000" dirty="0">
                <a:latin typeface="Georgia" panose="02040502050405020303"/>
                <a:cs typeface="Georgia" panose="02040502050405020303"/>
              </a:rPr>
              <a:t>the</a:t>
            </a:r>
            <a:r>
              <a:rPr sz="2000" spc="-45" dirty="0">
                <a:latin typeface="Georgia" panose="02040502050405020303"/>
                <a:cs typeface="Georgia" panose="02040502050405020303"/>
              </a:rPr>
              <a:t> </a:t>
            </a:r>
            <a:r>
              <a:rPr sz="2000" dirty="0">
                <a:latin typeface="Georgia" panose="02040502050405020303"/>
                <a:cs typeface="Georgia" panose="02040502050405020303"/>
              </a:rPr>
              <a:t>data</a:t>
            </a:r>
            <a:r>
              <a:rPr sz="2000" spc="-25" dirty="0">
                <a:latin typeface="Georgia" panose="02040502050405020303"/>
                <a:cs typeface="Georgia" panose="02040502050405020303"/>
              </a:rPr>
              <a:t> </a:t>
            </a:r>
            <a:r>
              <a:rPr sz="2000" dirty="0">
                <a:latin typeface="Georgia" panose="02040502050405020303"/>
                <a:cs typeface="Georgia" panose="02040502050405020303"/>
              </a:rPr>
              <a:t>for</a:t>
            </a:r>
            <a:r>
              <a:rPr sz="2000" spc="-40" dirty="0">
                <a:latin typeface="Georgia" panose="02040502050405020303"/>
                <a:cs typeface="Georgia" panose="02040502050405020303"/>
              </a:rPr>
              <a:t> </a:t>
            </a:r>
            <a:r>
              <a:rPr sz="2000" dirty="0">
                <a:latin typeface="Georgia" panose="02040502050405020303"/>
                <a:cs typeface="Georgia" panose="02040502050405020303"/>
              </a:rPr>
              <a:t>correlations</a:t>
            </a:r>
            <a:r>
              <a:rPr sz="2000" spc="-30" dirty="0">
                <a:latin typeface="Georgia" panose="02040502050405020303"/>
                <a:cs typeface="Georgia" panose="02040502050405020303"/>
              </a:rPr>
              <a:t> </a:t>
            </a:r>
            <a:r>
              <a:rPr sz="2000" dirty="0">
                <a:latin typeface="Georgia" panose="02040502050405020303"/>
                <a:cs typeface="Georgia" panose="02040502050405020303"/>
              </a:rPr>
              <a:t>and</a:t>
            </a:r>
            <a:r>
              <a:rPr sz="2000" spc="-25" dirty="0">
                <a:latin typeface="Georgia" panose="02040502050405020303"/>
                <a:cs typeface="Georgia" panose="02040502050405020303"/>
              </a:rPr>
              <a:t> </a:t>
            </a:r>
            <a:r>
              <a:rPr sz="2000" dirty="0">
                <a:latin typeface="Georgia" panose="02040502050405020303"/>
                <a:cs typeface="Georgia" panose="02040502050405020303"/>
              </a:rPr>
              <a:t>patterns,</a:t>
            </a:r>
            <a:r>
              <a:rPr sz="2000" spc="-45" dirty="0">
                <a:latin typeface="Georgia" panose="02040502050405020303"/>
                <a:cs typeface="Georgia" panose="02040502050405020303"/>
              </a:rPr>
              <a:t> </a:t>
            </a:r>
            <a:r>
              <a:rPr sz="2000" spc="-25" dirty="0">
                <a:latin typeface="Georgia" panose="02040502050405020303"/>
                <a:cs typeface="Georgia" panose="02040502050405020303"/>
              </a:rPr>
              <a:t>and </a:t>
            </a:r>
            <a:r>
              <a:rPr sz="2000" dirty="0">
                <a:latin typeface="Georgia" panose="02040502050405020303"/>
                <a:cs typeface="Georgia" panose="02040502050405020303"/>
              </a:rPr>
              <a:t>using</a:t>
            </a:r>
            <a:r>
              <a:rPr sz="2000" spc="-25" dirty="0">
                <a:latin typeface="Georgia" panose="02040502050405020303"/>
                <a:cs typeface="Georgia" panose="02040502050405020303"/>
              </a:rPr>
              <a:t> </a:t>
            </a:r>
            <a:r>
              <a:rPr sz="2000" dirty="0">
                <a:latin typeface="Georgia" panose="02040502050405020303"/>
                <a:cs typeface="Georgia" panose="02040502050405020303"/>
              </a:rPr>
              <a:t>these</a:t>
            </a:r>
            <a:r>
              <a:rPr sz="2000" spc="-50" dirty="0">
                <a:latin typeface="Georgia" panose="02040502050405020303"/>
                <a:cs typeface="Georgia" panose="02040502050405020303"/>
              </a:rPr>
              <a:t> </a:t>
            </a:r>
            <a:r>
              <a:rPr sz="2000" dirty="0">
                <a:latin typeface="Georgia" panose="02040502050405020303"/>
                <a:cs typeface="Georgia" panose="02040502050405020303"/>
              </a:rPr>
              <a:t>patterns</a:t>
            </a:r>
            <a:r>
              <a:rPr sz="2000" spc="-40" dirty="0">
                <a:latin typeface="Georgia" panose="02040502050405020303"/>
                <a:cs typeface="Georgia" panose="02040502050405020303"/>
              </a:rPr>
              <a:t> </a:t>
            </a:r>
            <a:r>
              <a:rPr sz="2000" dirty="0">
                <a:latin typeface="Georgia" panose="02040502050405020303"/>
                <a:cs typeface="Georgia" panose="02040502050405020303"/>
              </a:rPr>
              <a:t>to</a:t>
            </a:r>
            <a:r>
              <a:rPr sz="2000" spc="-35" dirty="0">
                <a:latin typeface="Georgia" panose="02040502050405020303"/>
                <a:cs typeface="Georgia" panose="02040502050405020303"/>
              </a:rPr>
              <a:t> </a:t>
            </a:r>
            <a:r>
              <a:rPr sz="2000" dirty="0">
                <a:latin typeface="Georgia" panose="02040502050405020303"/>
                <a:cs typeface="Georgia" panose="02040502050405020303"/>
              </a:rPr>
              <a:t>make</a:t>
            </a:r>
            <a:r>
              <a:rPr sz="2000" spc="-15" dirty="0">
                <a:latin typeface="Georgia" panose="02040502050405020303"/>
                <a:cs typeface="Georgia" panose="02040502050405020303"/>
              </a:rPr>
              <a:t> </a:t>
            </a:r>
            <a:r>
              <a:rPr sz="2000" dirty="0">
                <a:latin typeface="Georgia" panose="02040502050405020303"/>
                <a:cs typeface="Georgia" panose="02040502050405020303"/>
              </a:rPr>
              <a:t>predictions</a:t>
            </a:r>
            <a:r>
              <a:rPr sz="2000" spc="-35" dirty="0">
                <a:latin typeface="Georgia" panose="02040502050405020303"/>
                <a:cs typeface="Georgia" panose="02040502050405020303"/>
              </a:rPr>
              <a:t> </a:t>
            </a:r>
            <a:r>
              <a:rPr sz="2000" dirty="0">
                <a:latin typeface="Georgia" panose="02040502050405020303"/>
                <a:cs typeface="Georgia" panose="02040502050405020303"/>
              </a:rPr>
              <a:t>about</a:t>
            </a:r>
            <a:r>
              <a:rPr sz="2000" spc="-35" dirty="0">
                <a:latin typeface="Georgia" panose="02040502050405020303"/>
                <a:cs typeface="Georgia" panose="02040502050405020303"/>
              </a:rPr>
              <a:t> </a:t>
            </a:r>
            <a:r>
              <a:rPr sz="2000" dirty="0">
                <a:latin typeface="Georgia" panose="02040502050405020303"/>
                <a:cs typeface="Georgia" panose="02040502050405020303"/>
              </a:rPr>
              <a:t>future</a:t>
            </a:r>
            <a:r>
              <a:rPr sz="2000" spc="-30" dirty="0">
                <a:latin typeface="Georgia" panose="02040502050405020303"/>
                <a:cs typeface="Georgia" panose="02040502050405020303"/>
              </a:rPr>
              <a:t> </a:t>
            </a:r>
            <a:r>
              <a:rPr sz="2000" spc="-10" dirty="0">
                <a:latin typeface="Georgia" panose="02040502050405020303"/>
                <a:cs typeface="Georgia" panose="02040502050405020303"/>
              </a:rPr>
              <a:t>states.</a:t>
            </a:r>
            <a:endParaRPr sz="2000">
              <a:latin typeface="Georgia" panose="02040502050405020303"/>
              <a:cs typeface="Georgia" panose="02040502050405020303"/>
            </a:endParaRPr>
          </a:p>
          <a:p>
            <a:pPr marL="266700" indent="-254000">
              <a:lnSpc>
                <a:spcPts val="2280"/>
              </a:lnSpc>
              <a:spcBef>
                <a:spcPts val="210"/>
              </a:spcBef>
              <a:buClr>
                <a:srgbClr val="0AD0D9"/>
              </a:buClr>
              <a:buSzPct val="90000"/>
              <a:buFont typeface="Wingdings" panose="05000000000000000000"/>
              <a:buChar char=""/>
              <a:tabLst>
                <a:tab pos="266700" algn="l"/>
              </a:tabLst>
            </a:pPr>
            <a:r>
              <a:rPr sz="2000" dirty="0">
                <a:latin typeface="Georgia" panose="02040502050405020303"/>
                <a:cs typeface="Georgia" panose="02040502050405020303"/>
              </a:rPr>
              <a:t>AI</a:t>
            </a:r>
            <a:r>
              <a:rPr sz="2000" spc="-30" dirty="0">
                <a:latin typeface="Georgia" panose="02040502050405020303"/>
                <a:cs typeface="Georgia" panose="02040502050405020303"/>
              </a:rPr>
              <a:t> </a:t>
            </a:r>
            <a:r>
              <a:rPr sz="2000" dirty="0">
                <a:latin typeface="Georgia" panose="02040502050405020303"/>
                <a:cs typeface="Georgia" panose="02040502050405020303"/>
              </a:rPr>
              <a:t>programming focuses</a:t>
            </a:r>
            <a:r>
              <a:rPr sz="2000" spc="-25" dirty="0">
                <a:latin typeface="Georgia" panose="02040502050405020303"/>
                <a:cs typeface="Georgia" panose="02040502050405020303"/>
              </a:rPr>
              <a:t> </a:t>
            </a:r>
            <a:r>
              <a:rPr sz="2000" dirty="0">
                <a:latin typeface="Georgia" panose="02040502050405020303"/>
                <a:cs typeface="Georgia" panose="02040502050405020303"/>
              </a:rPr>
              <a:t>on</a:t>
            </a:r>
            <a:r>
              <a:rPr sz="2000" spc="-5" dirty="0">
                <a:latin typeface="Georgia" panose="02040502050405020303"/>
                <a:cs typeface="Georgia" panose="02040502050405020303"/>
              </a:rPr>
              <a:t> </a:t>
            </a:r>
            <a:r>
              <a:rPr sz="2000" dirty="0">
                <a:latin typeface="Georgia" panose="02040502050405020303"/>
                <a:cs typeface="Georgia" panose="02040502050405020303"/>
              </a:rPr>
              <a:t>three</a:t>
            </a:r>
            <a:r>
              <a:rPr sz="2000" spc="-25" dirty="0">
                <a:latin typeface="Georgia" panose="02040502050405020303"/>
                <a:cs typeface="Georgia" panose="02040502050405020303"/>
              </a:rPr>
              <a:t> </a:t>
            </a:r>
            <a:r>
              <a:rPr sz="2000" dirty="0">
                <a:latin typeface="Georgia" panose="02040502050405020303"/>
                <a:cs typeface="Georgia" panose="02040502050405020303"/>
              </a:rPr>
              <a:t>cognitive</a:t>
            </a:r>
            <a:r>
              <a:rPr sz="2000" spc="-45" dirty="0">
                <a:latin typeface="Georgia" panose="02040502050405020303"/>
                <a:cs typeface="Georgia" panose="02040502050405020303"/>
              </a:rPr>
              <a:t> </a:t>
            </a:r>
            <a:r>
              <a:rPr sz="2000" dirty="0">
                <a:latin typeface="Georgia" panose="02040502050405020303"/>
                <a:cs typeface="Georgia" panose="02040502050405020303"/>
              </a:rPr>
              <a:t>skills:</a:t>
            </a:r>
            <a:r>
              <a:rPr sz="2000" spc="-5" dirty="0">
                <a:latin typeface="Georgia" panose="02040502050405020303"/>
                <a:cs typeface="Georgia" panose="02040502050405020303"/>
              </a:rPr>
              <a:t> </a:t>
            </a:r>
            <a:r>
              <a:rPr sz="2000" spc="-10" dirty="0">
                <a:latin typeface="Georgia" panose="02040502050405020303"/>
                <a:cs typeface="Georgia" panose="02040502050405020303"/>
              </a:rPr>
              <a:t>learning,</a:t>
            </a:r>
            <a:endParaRPr sz="2000">
              <a:latin typeface="Georgia" panose="02040502050405020303"/>
              <a:cs typeface="Georgia" panose="02040502050405020303"/>
            </a:endParaRPr>
          </a:p>
          <a:p>
            <a:pPr marL="12700">
              <a:lnSpc>
                <a:spcPts val="2280"/>
              </a:lnSpc>
            </a:pPr>
            <a:r>
              <a:rPr sz="2000" dirty="0">
                <a:latin typeface="Georgia" panose="02040502050405020303"/>
                <a:cs typeface="Georgia" panose="02040502050405020303"/>
              </a:rPr>
              <a:t>reasoning</a:t>
            </a:r>
            <a:r>
              <a:rPr sz="2000" spc="-30" dirty="0">
                <a:latin typeface="Georgia" panose="02040502050405020303"/>
                <a:cs typeface="Georgia" panose="02040502050405020303"/>
              </a:rPr>
              <a:t> </a:t>
            </a:r>
            <a:r>
              <a:rPr sz="2000" dirty="0">
                <a:latin typeface="Georgia" panose="02040502050405020303"/>
                <a:cs typeface="Georgia" panose="02040502050405020303"/>
              </a:rPr>
              <a:t>and</a:t>
            </a:r>
            <a:r>
              <a:rPr sz="2000" spc="-25" dirty="0">
                <a:latin typeface="Georgia" panose="02040502050405020303"/>
                <a:cs typeface="Georgia" panose="02040502050405020303"/>
              </a:rPr>
              <a:t> </a:t>
            </a:r>
            <a:r>
              <a:rPr sz="2000" spc="-10" dirty="0">
                <a:latin typeface="Georgia" panose="02040502050405020303"/>
                <a:cs typeface="Georgia" panose="02040502050405020303"/>
              </a:rPr>
              <a:t>self-correction.</a:t>
            </a:r>
            <a:endParaRPr sz="2000">
              <a:latin typeface="Georgia" panose="02040502050405020303"/>
              <a:cs typeface="Georgia" panose="02040502050405020303"/>
            </a:endParaRPr>
          </a:p>
          <a:p>
            <a:pPr marL="12700" marR="5080" indent="-1905">
              <a:lnSpc>
                <a:spcPts val="2160"/>
              </a:lnSpc>
              <a:spcBef>
                <a:spcPts val="515"/>
              </a:spcBef>
              <a:buClr>
                <a:srgbClr val="0AD0D9"/>
              </a:buClr>
              <a:buSzPct val="90000"/>
              <a:buFont typeface="Wingdings" panose="05000000000000000000"/>
              <a:buChar char=""/>
              <a:tabLst>
                <a:tab pos="204470" algn="l"/>
              </a:tabLst>
            </a:pPr>
            <a:r>
              <a:rPr sz="2000" dirty="0">
                <a:latin typeface="Georgia" panose="02040502050405020303"/>
                <a:cs typeface="Georgia" panose="02040502050405020303"/>
              </a:rPr>
              <a:t>	</a:t>
            </a:r>
            <a:r>
              <a:rPr sz="2000" dirty="0">
                <a:latin typeface="Georgia" panose="02040502050405020303"/>
                <a:cs typeface="Georgia" panose="02040502050405020303"/>
              </a:rPr>
              <a:t>Learning:</a:t>
            </a:r>
            <a:r>
              <a:rPr sz="2000" spc="455" dirty="0">
                <a:latin typeface="Georgia" panose="02040502050405020303"/>
                <a:cs typeface="Georgia" panose="02040502050405020303"/>
              </a:rPr>
              <a:t> </a:t>
            </a:r>
            <a:r>
              <a:rPr sz="2000" dirty="0">
                <a:latin typeface="Georgia" panose="02040502050405020303"/>
                <a:cs typeface="Georgia" panose="02040502050405020303"/>
              </a:rPr>
              <a:t>This</a:t>
            </a:r>
            <a:r>
              <a:rPr sz="2000" spc="-15" dirty="0">
                <a:latin typeface="Georgia" panose="02040502050405020303"/>
                <a:cs typeface="Georgia" panose="02040502050405020303"/>
              </a:rPr>
              <a:t> </a:t>
            </a:r>
            <a:r>
              <a:rPr sz="2000" dirty="0">
                <a:latin typeface="Georgia" panose="02040502050405020303"/>
                <a:cs typeface="Georgia" panose="02040502050405020303"/>
              </a:rPr>
              <a:t>aspect</a:t>
            </a:r>
            <a:r>
              <a:rPr sz="2000" spc="-15" dirty="0">
                <a:latin typeface="Georgia" panose="02040502050405020303"/>
                <a:cs typeface="Georgia" panose="02040502050405020303"/>
              </a:rPr>
              <a:t> </a:t>
            </a:r>
            <a:r>
              <a:rPr sz="2000" dirty="0">
                <a:latin typeface="Georgia" panose="02040502050405020303"/>
                <a:cs typeface="Georgia" panose="02040502050405020303"/>
              </a:rPr>
              <a:t>of</a:t>
            </a:r>
            <a:r>
              <a:rPr sz="2000" spc="-15" dirty="0">
                <a:latin typeface="Georgia" panose="02040502050405020303"/>
                <a:cs typeface="Georgia" panose="02040502050405020303"/>
              </a:rPr>
              <a:t> </a:t>
            </a:r>
            <a:r>
              <a:rPr sz="2000" dirty="0">
                <a:latin typeface="Georgia" panose="02040502050405020303"/>
                <a:cs typeface="Georgia" panose="02040502050405020303"/>
              </a:rPr>
              <a:t>AI</a:t>
            </a:r>
            <a:r>
              <a:rPr sz="2000" spc="-15" dirty="0">
                <a:latin typeface="Georgia" panose="02040502050405020303"/>
                <a:cs typeface="Georgia" panose="02040502050405020303"/>
              </a:rPr>
              <a:t> </a:t>
            </a:r>
            <a:r>
              <a:rPr sz="2000" dirty="0">
                <a:latin typeface="Georgia" panose="02040502050405020303"/>
                <a:cs typeface="Georgia" panose="02040502050405020303"/>
              </a:rPr>
              <a:t>programming</a:t>
            </a:r>
            <a:r>
              <a:rPr sz="2000" spc="-20" dirty="0">
                <a:latin typeface="Georgia" panose="02040502050405020303"/>
                <a:cs typeface="Georgia" panose="02040502050405020303"/>
              </a:rPr>
              <a:t> </a:t>
            </a:r>
            <a:r>
              <a:rPr sz="2000" dirty="0">
                <a:latin typeface="Georgia" panose="02040502050405020303"/>
                <a:cs typeface="Georgia" panose="02040502050405020303"/>
              </a:rPr>
              <a:t>focuses</a:t>
            </a:r>
            <a:r>
              <a:rPr sz="2000" spc="-30" dirty="0">
                <a:latin typeface="Georgia" panose="02040502050405020303"/>
                <a:cs typeface="Georgia" panose="02040502050405020303"/>
              </a:rPr>
              <a:t> </a:t>
            </a:r>
            <a:r>
              <a:rPr sz="2000" dirty="0">
                <a:latin typeface="Georgia" panose="02040502050405020303"/>
                <a:cs typeface="Georgia" panose="02040502050405020303"/>
              </a:rPr>
              <a:t>on</a:t>
            </a:r>
            <a:r>
              <a:rPr sz="2000" spc="-10" dirty="0">
                <a:latin typeface="Georgia" panose="02040502050405020303"/>
                <a:cs typeface="Georgia" panose="02040502050405020303"/>
              </a:rPr>
              <a:t> </a:t>
            </a:r>
            <a:r>
              <a:rPr sz="2000" dirty="0">
                <a:latin typeface="Georgia" panose="02040502050405020303"/>
                <a:cs typeface="Georgia" panose="02040502050405020303"/>
              </a:rPr>
              <a:t>acquiring </a:t>
            </a:r>
            <a:r>
              <a:rPr sz="2000" spc="-20" dirty="0">
                <a:latin typeface="Georgia" panose="02040502050405020303"/>
                <a:cs typeface="Georgia" panose="02040502050405020303"/>
              </a:rPr>
              <a:t>data </a:t>
            </a:r>
            <a:r>
              <a:rPr sz="2000" dirty="0">
                <a:latin typeface="Georgia" panose="02040502050405020303"/>
                <a:cs typeface="Georgia" panose="02040502050405020303"/>
              </a:rPr>
              <a:t>and</a:t>
            </a:r>
            <a:r>
              <a:rPr sz="2000" spc="-10" dirty="0">
                <a:latin typeface="Georgia" panose="02040502050405020303"/>
                <a:cs typeface="Georgia" panose="02040502050405020303"/>
              </a:rPr>
              <a:t> </a:t>
            </a:r>
            <a:r>
              <a:rPr sz="2000" dirty="0">
                <a:latin typeface="Georgia" panose="02040502050405020303"/>
                <a:cs typeface="Georgia" panose="02040502050405020303"/>
              </a:rPr>
              <a:t>creating</a:t>
            </a:r>
            <a:r>
              <a:rPr sz="2000" spc="-35" dirty="0">
                <a:latin typeface="Georgia" panose="02040502050405020303"/>
                <a:cs typeface="Georgia" panose="02040502050405020303"/>
              </a:rPr>
              <a:t> </a:t>
            </a:r>
            <a:r>
              <a:rPr sz="2000" dirty="0">
                <a:latin typeface="Georgia" panose="02040502050405020303"/>
                <a:cs typeface="Georgia" panose="02040502050405020303"/>
              </a:rPr>
              <a:t>rules</a:t>
            </a:r>
            <a:r>
              <a:rPr sz="2000" spc="-15" dirty="0">
                <a:latin typeface="Georgia" panose="02040502050405020303"/>
                <a:cs typeface="Georgia" panose="02040502050405020303"/>
              </a:rPr>
              <a:t> </a:t>
            </a:r>
            <a:r>
              <a:rPr sz="2000" dirty="0">
                <a:latin typeface="Georgia" panose="02040502050405020303"/>
                <a:cs typeface="Georgia" panose="02040502050405020303"/>
              </a:rPr>
              <a:t>for</a:t>
            </a:r>
            <a:r>
              <a:rPr sz="2000" spc="-25" dirty="0">
                <a:latin typeface="Georgia" panose="02040502050405020303"/>
                <a:cs typeface="Georgia" panose="02040502050405020303"/>
              </a:rPr>
              <a:t> </a:t>
            </a:r>
            <a:r>
              <a:rPr sz="2000" dirty="0">
                <a:latin typeface="Georgia" panose="02040502050405020303"/>
                <a:cs typeface="Georgia" panose="02040502050405020303"/>
              </a:rPr>
              <a:t>how</a:t>
            </a:r>
            <a:r>
              <a:rPr sz="2000" spc="-25" dirty="0">
                <a:latin typeface="Georgia" panose="02040502050405020303"/>
                <a:cs typeface="Georgia" panose="02040502050405020303"/>
              </a:rPr>
              <a:t> </a:t>
            </a:r>
            <a:r>
              <a:rPr sz="2000" dirty="0">
                <a:latin typeface="Georgia" panose="02040502050405020303"/>
                <a:cs typeface="Georgia" panose="02040502050405020303"/>
              </a:rPr>
              <a:t>to</a:t>
            </a:r>
            <a:r>
              <a:rPr sz="2000" spc="-30" dirty="0">
                <a:latin typeface="Georgia" panose="02040502050405020303"/>
                <a:cs typeface="Georgia" panose="02040502050405020303"/>
              </a:rPr>
              <a:t> </a:t>
            </a:r>
            <a:r>
              <a:rPr sz="2000" dirty="0">
                <a:latin typeface="Georgia" panose="02040502050405020303"/>
                <a:cs typeface="Georgia" panose="02040502050405020303"/>
              </a:rPr>
              <a:t>turn</a:t>
            </a:r>
            <a:r>
              <a:rPr sz="2000" spc="-10" dirty="0">
                <a:latin typeface="Georgia" panose="02040502050405020303"/>
                <a:cs typeface="Georgia" panose="02040502050405020303"/>
              </a:rPr>
              <a:t> </a:t>
            </a:r>
            <a:r>
              <a:rPr sz="2000" dirty="0">
                <a:latin typeface="Georgia" panose="02040502050405020303"/>
                <a:cs typeface="Georgia" panose="02040502050405020303"/>
              </a:rPr>
              <a:t>the</a:t>
            </a:r>
            <a:r>
              <a:rPr sz="2000" spc="-35" dirty="0">
                <a:latin typeface="Georgia" panose="02040502050405020303"/>
                <a:cs typeface="Georgia" panose="02040502050405020303"/>
              </a:rPr>
              <a:t> </a:t>
            </a:r>
            <a:r>
              <a:rPr sz="2000" dirty="0">
                <a:latin typeface="Georgia" panose="02040502050405020303"/>
                <a:cs typeface="Georgia" panose="02040502050405020303"/>
              </a:rPr>
              <a:t>data</a:t>
            </a:r>
            <a:r>
              <a:rPr sz="2000" spc="-15" dirty="0">
                <a:latin typeface="Georgia" panose="02040502050405020303"/>
                <a:cs typeface="Georgia" panose="02040502050405020303"/>
              </a:rPr>
              <a:t> </a:t>
            </a:r>
            <a:r>
              <a:rPr sz="2000" dirty="0">
                <a:latin typeface="Georgia" panose="02040502050405020303"/>
                <a:cs typeface="Georgia" panose="02040502050405020303"/>
              </a:rPr>
              <a:t>into</a:t>
            </a:r>
            <a:r>
              <a:rPr sz="2000" spc="-20" dirty="0">
                <a:latin typeface="Georgia" panose="02040502050405020303"/>
                <a:cs typeface="Georgia" panose="02040502050405020303"/>
              </a:rPr>
              <a:t> </a:t>
            </a:r>
            <a:r>
              <a:rPr sz="2000" spc="-10" dirty="0">
                <a:latin typeface="Georgia" panose="02040502050405020303"/>
                <a:cs typeface="Georgia" panose="02040502050405020303"/>
              </a:rPr>
              <a:t>actionable information.</a:t>
            </a:r>
            <a:endParaRPr sz="2000">
              <a:latin typeface="Georgia" panose="02040502050405020303"/>
              <a:cs typeface="Georgia" panose="02040502050405020303"/>
            </a:endParaRPr>
          </a:p>
          <a:p>
            <a:pPr marL="390525" indent="-377825">
              <a:lnSpc>
                <a:spcPts val="2280"/>
              </a:lnSpc>
              <a:spcBef>
                <a:spcPts val="205"/>
              </a:spcBef>
              <a:buClr>
                <a:srgbClr val="0AD0D9"/>
              </a:buClr>
              <a:buSzPct val="90000"/>
              <a:buFont typeface="Wingdings" panose="05000000000000000000"/>
              <a:buChar char=""/>
              <a:tabLst>
                <a:tab pos="390525" algn="l"/>
              </a:tabLst>
            </a:pPr>
            <a:r>
              <a:rPr sz="2000" dirty="0">
                <a:latin typeface="Georgia" panose="02040502050405020303"/>
                <a:cs typeface="Georgia" panose="02040502050405020303"/>
              </a:rPr>
              <a:t>Reasoning:</a:t>
            </a:r>
            <a:r>
              <a:rPr sz="2000" spc="440" dirty="0">
                <a:latin typeface="Georgia" panose="02040502050405020303"/>
                <a:cs typeface="Georgia" panose="02040502050405020303"/>
              </a:rPr>
              <a:t> </a:t>
            </a:r>
            <a:r>
              <a:rPr sz="2000" dirty="0">
                <a:latin typeface="Georgia" panose="02040502050405020303"/>
                <a:cs typeface="Georgia" panose="02040502050405020303"/>
              </a:rPr>
              <a:t>This</a:t>
            </a:r>
            <a:r>
              <a:rPr sz="2000" spc="-15" dirty="0">
                <a:latin typeface="Georgia" panose="02040502050405020303"/>
                <a:cs typeface="Georgia" panose="02040502050405020303"/>
              </a:rPr>
              <a:t> </a:t>
            </a:r>
            <a:r>
              <a:rPr sz="2000" dirty="0">
                <a:latin typeface="Georgia" panose="02040502050405020303"/>
                <a:cs typeface="Georgia" panose="02040502050405020303"/>
              </a:rPr>
              <a:t>aspect</a:t>
            </a:r>
            <a:r>
              <a:rPr sz="2000" spc="-25" dirty="0">
                <a:latin typeface="Georgia" panose="02040502050405020303"/>
                <a:cs typeface="Georgia" panose="02040502050405020303"/>
              </a:rPr>
              <a:t> </a:t>
            </a:r>
            <a:r>
              <a:rPr sz="2000" dirty="0">
                <a:latin typeface="Georgia" panose="02040502050405020303"/>
                <a:cs typeface="Georgia" panose="02040502050405020303"/>
              </a:rPr>
              <a:t>of</a:t>
            </a:r>
            <a:r>
              <a:rPr sz="2000" spc="-25" dirty="0">
                <a:latin typeface="Georgia" panose="02040502050405020303"/>
                <a:cs typeface="Georgia" panose="02040502050405020303"/>
              </a:rPr>
              <a:t> </a:t>
            </a:r>
            <a:r>
              <a:rPr sz="2000" dirty="0">
                <a:latin typeface="Georgia" panose="02040502050405020303"/>
                <a:cs typeface="Georgia" panose="02040502050405020303"/>
              </a:rPr>
              <a:t>AI</a:t>
            </a:r>
            <a:r>
              <a:rPr sz="2000" spc="-15" dirty="0">
                <a:latin typeface="Georgia" panose="02040502050405020303"/>
                <a:cs typeface="Georgia" panose="02040502050405020303"/>
              </a:rPr>
              <a:t> </a:t>
            </a:r>
            <a:r>
              <a:rPr sz="2000" dirty="0">
                <a:latin typeface="Georgia" panose="02040502050405020303"/>
                <a:cs typeface="Georgia" panose="02040502050405020303"/>
              </a:rPr>
              <a:t>programming</a:t>
            </a:r>
            <a:r>
              <a:rPr sz="2000" spc="-15" dirty="0">
                <a:latin typeface="Georgia" panose="02040502050405020303"/>
                <a:cs typeface="Georgia" panose="02040502050405020303"/>
              </a:rPr>
              <a:t> </a:t>
            </a:r>
            <a:r>
              <a:rPr sz="2000" dirty="0">
                <a:latin typeface="Georgia" panose="02040502050405020303"/>
                <a:cs typeface="Georgia" panose="02040502050405020303"/>
              </a:rPr>
              <a:t>focuses</a:t>
            </a:r>
            <a:r>
              <a:rPr sz="2000" spc="-30" dirty="0">
                <a:latin typeface="Georgia" panose="02040502050405020303"/>
                <a:cs typeface="Georgia" panose="02040502050405020303"/>
              </a:rPr>
              <a:t> </a:t>
            </a:r>
            <a:r>
              <a:rPr sz="2000" dirty="0">
                <a:latin typeface="Georgia" panose="02040502050405020303"/>
                <a:cs typeface="Georgia" panose="02040502050405020303"/>
              </a:rPr>
              <a:t>on</a:t>
            </a:r>
            <a:r>
              <a:rPr sz="2000" spc="-5" dirty="0">
                <a:latin typeface="Georgia" panose="02040502050405020303"/>
                <a:cs typeface="Georgia" panose="02040502050405020303"/>
              </a:rPr>
              <a:t> </a:t>
            </a:r>
            <a:r>
              <a:rPr sz="2000" spc="-10" dirty="0">
                <a:latin typeface="Georgia" panose="02040502050405020303"/>
                <a:cs typeface="Georgia" panose="02040502050405020303"/>
              </a:rPr>
              <a:t>choosing</a:t>
            </a:r>
            <a:endParaRPr sz="2000">
              <a:latin typeface="Georgia" panose="02040502050405020303"/>
              <a:cs typeface="Georgia" panose="02040502050405020303"/>
            </a:endParaRPr>
          </a:p>
          <a:p>
            <a:pPr marL="12700">
              <a:lnSpc>
                <a:spcPts val="2280"/>
              </a:lnSpc>
            </a:pPr>
            <a:r>
              <a:rPr sz="2000" dirty="0">
                <a:latin typeface="Georgia" panose="02040502050405020303"/>
                <a:cs typeface="Georgia" panose="02040502050405020303"/>
              </a:rPr>
              <a:t>the</a:t>
            </a:r>
            <a:r>
              <a:rPr sz="2000" spc="-35" dirty="0">
                <a:latin typeface="Georgia" panose="02040502050405020303"/>
                <a:cs typeface="Georgia" panose="02040502050405020303"/>
              </a:rPr>
              <a:t> </a:t>
            </a:r>
            <a:r>
              <a:rPr sz="2000" dirty="0">
                <a:latin typeface="Georgia" panose="02040502050405020303"/>
                <a:cs typeface="Georgia" panose="02040502050405020303"/>
              </a:rPr>
              <a:t>right</a:t>
            </a:r>
            <a:r>
              <a:rPr sz="2000" spc="-20" dirty="0">
                <a:latin typeface="Georgia" panose="02040502050405020303"/>
                <a:cs typeface="Georgia" panose="02040502050405020303"/>
              </a:rPr>
              <a:t> </a:t>
            </a:r>
            <a:r>
              <a:rPr sz="2000" dirty="0">
                <a:latin typeface="Georgia" panose="02040502050405020303"/>
                <a:cs typeface="Georgia" panose="02040502050405020303"/>
              </a:rPr>
              <a:t>algorithm</a:t>
            </a:r>
            <a:r>
              <a:rPr sz="2000" spc="-25" dirty="0">
                <a:latin typeface="Georgia" panose="02040502050405020303"/>
                <a:cs typeface="Georgia" panose="02040502050405020303"/>
              </a:rPr>
              <a:t> </a:t>
            </a:r>
            <a:r>
              <a:rPr sz="2000" dirty="0">
                <a:latin typeface="Georgia" panose="02040502050405020303"/>
                <a:cs typeface="Georgia" panose="02040502050405020303"/>
              </a:rPr>
              <a:t>to</a:t>
            </a:r>
            <a:r>
              <a:rPr sz="2000" spc="-35" dirty="0">
                <a:latin typeface="Georgia" panose="02040502050405020303"/>
                <a:cs typeface="Georgia" panose="02040502050405020303"/>
              </a:rPr>
              <a:t> </a:t>
            </a:r>
            <a:r>
              <a:rPr sz="2000" dirty="0">
                <a:latin typeface="Georgia" panose="02040502050405020303"/>
                <a:cs typeface="Georgia" panose="02040502050405020303"/>
              </a:rPr>
              <a:t>reach</a:t>
            </a:r>
            <a:r>
              <a:rPr sz="2000" spc="-20" dirty="0">
                <a:latin typeface="Georgia" panose="02040502050405020303"/>
                <a:cs typeface="Georgia" panose="02040502050405020303"/>
              </a:rPr>
              <a:t> </a:t>
            </a:r>
            <a:r>
              <a:rPr sz="2000" dirty="0">
                <a:latin typeface="Georgia" panose="02040502050405020303"/>
                <a:cs typeface="Georgia" panose="02040502050405020303"/>
              </a:rPr>
              <a:t>a</a:t>
            </a:r>
            <a:r>
              <a:rPr sz="2000" spc="-15" dirty="0">
                <a:latin typeface="Georgia" panose="02040502050405020303"/>
                <a:cs typeface="Georgia" panose="02040502050405020303"/>
              </a:rPr>
              <a:t> </a:t>
            </a:r>
            <a:r>
              <a:rPr sz="2000" dirty="0">
                <a:latin typeface="Georgia" panose="02040502050405020303"/>
                <a:cs typeface="Georgia" panose="02040502050405020303"/>
              </a:rPr>
              <a:t>desired</a:t>
            </a:r>
            <a:r>
              <a:rPr sz="2000" spc="-35" dirty="0">
                <a:latin typeface="Georgia" panose="02040502050405020303"/>
                <a:cs typeface="Georgia" panose="02040502050405020303"/>
              </a:rPr>
              <a:t> </a:t>
            </a:r>
            <a:r>
              <a:rPr sz="2000" spc="-10" dirty="0">
                <a:latin typeface="Georgia" panose="02040502050405020303"/>
                <a:cs typeface="Georgia" panose="02040502050405020303"/>
              </a:rPr>
              <a:t>outcome.</a:t>
            </a:r>
            <a:endParaRPr sz="2000">
              <a:latin typeface="Georgia" panose="02040502050405020303"/>
              <a:cs typeface="Georgia" panose="02040502050405020303"/>
            </a:endParaRPr>
          </a:p>
          <a:p>
            <a:pPr marL="12700" marR="388620" indent="438785" algn="just">
              <a:lnSpc>
                <a:spcPts val="2160"/>
              </a:lnSpc>
              <a:spcBef>
                <a:spcPts val="515"/>
              </a:spcBef>
              <a:buClr>
                <a:srgbClr val="0AD0D9"/>
              </a:buClr>
              <a:buSzPct val="90000"/>
              <a:buFont typeface="Wingdings" panose="05000000000000000000"/>
              <a:buChar char=""/>
              <a:tabLst>
                <a:tab pos="450850" algn="l"/>
              </a:tabLst>
            </a:pPr>
            <a:r>
              <a:rPr sz="2000" spc="-10" dirty="0">
                <a:latin typeface="Georgia" panose="02040502050405020303"/>
                <a:cs typeface="Georgia" panose="02040502050405020303"/>
              </a:rPr>
              <a:t>Self-</a:t>
            </a:r>
            <a:r>
              <a:rPr sz="2000" dirty="0">
                <a:latin typeface="Georgia" panose="02040502050405020303"/>
                <a:cs typeface="Georgia" panose="02040502050405020303"/>
              </a:rPr>
              <a:t>Correction:</a:t>
            </a:r>
            <a:r>
              <a:rPr sz="2000" spc="465" dirty="0">
                <a:latin typeface="Georgia" panose="02040502050405020303"/>
                <a:cs typeface="Georgia" panose="02040502050405020303"/>
              </a:rPr>
              <a:t> </a:t>
            </a:r>
            <a:r>
              <a:rPr sz="2000" dirty="0">
                <a:latin typeface="Georgia" panose="02040502050405020303"/>
                <a:cs typeface="Georgia" panose="02040502050405020303"/>
              </a:rPr>
              <a:t>This</a:t>
            </a:r>
            <a:r>
              <a:rPr sz="2000" spc="-15" dirty="0">
                <a:latin typeface="Georgia" panose="02040502050405020303"/>
                <a:cs typeface="Georgia" panose="02040502050405020303"/>
              </a:rPr>
              <a:t> </a:t>
            </a:r>
            <a:r>
              <a:rPr sz="2000" dirty="0">
                <a:latin typeface="Georgia" panose="02040502050405020303"/>
                <a:cs typeface="Georgia" panose="02040502050405020303"/>
              </a:rPr>
              <a:t>aspect</a:t>
            </a:r>
            <a:r>
              <a:rPr sz="2000" spc="-20" dirty="0">
                <a:latin typeface="Georgia" panose="02040502050405020303"/>
                <a:cs typeface="Georgia" panose="02040502050405020303"/>
              </a:rPr>
              <a:t> </a:t>
            </a:r>
            <a:r>
              <a:rPr sz="2000" dirty="0">
                <a:latin typeface="Georgia" panose="02040502050405020303"/>
                <a:cs typeface="Georgia" panose="02040502050405020303"/>
              </a:rPr>
              <a:t>of</a:t>
            </a:r>
            <a:r>
              <a:rPr sz="2000" spc="-15" dirty="0">
                <a:latin typeface="Georgia" panose="02040502050405020303"/>
                <a:cs typeface="Georgia" panose="02040502050405020303"/>
              </a:rPr>
              <a:t> </a:t>
            </a:r>
            <a:r>
              <a:rPr sz="2000" dirty="0">
                <a:latin typeface="Georgia" panose="02040502050405020303"/>
                <a:cs typeface="Georgia" panose="02040502050405020303"/>
              </a:rPr>
              <a:t>AI</a:t>
            </a:r>
            <a:r>
              <a:rPr sz="2000" spc="-10" dirty="0">
                <a:latin typeface="Georgia" panose="02040502050405020303"/>
                <a:cs typeface="Georgia" panose="02040502050405020303"/>
              </a:rPr>
              <a:t> </a:t>
            </a:r>
            <a:r>
              <a:rPr sz="2000" dirty="0">
                <a:latin typeface="Georgia" panose="02040502050405020303"/>
                <a:cs typeface="Georgia" panose="02040502050405020303"/>
              </a:rPr>
              <a:t>programming</a:t>
            </a:r>
            <a:r>
              <a:rPr sz="2000" spc="-10" dirty="0">
                <a:latin typeface="Georgia" panose="02040502050405020303"/>
                <a:cs typeface="Georgia" panose="02040502050405020303"/>
              </a:rPr>
              <a:t> </a:t>
            </a:r>
            <a:r>
              <a:rPr sz="2000" dirty="0">
                <a:latin typeface="Georgia" panose="02040502050405020303"/>
                <a:cs typeface="Georgia" panose="02040502050405020303"/>
              </a:rPr>
              <a:t>is</a:t>
            </a:r>
            <a:r>
              <a:rPr sz="2000" spc="-15" dirty="0">
                <a:latin typeface="Georgia" panose="02040502050405020303"/>
                <a:cs typeface="Georgia" panose="02040502050405020303"/>
              </a:rPr>
              <a:t> </a:t>
            </a:r>
            <a:r>
              <a:rPr sz="2000" dirty="0">
                <a:latin typeface="Georgia" panose="02040502050405020303"/>
                <a:cs typeface="Georgia" panose="02040502050405020303"/>
              </a:rPr>
              <a:t>designed</a:t>
            </a:r>
            <a:r>
              <a:rPr sz="2000" spc="-40" dirty="0">
                <a:latin typeface="Georgia" panose="02040502050405020303"/>
                <a:cs typeface="Georgia" panose="02040502050405020303"/>
              </a:rPr>
              <a:t> </a:t>
            </a:r>
            <a:r>
              <a:rPr sz="2000" spc="-25" dirty="0">
                <a:latin typeface="Georgia" panose="02040502050405020303"/>
                <a:cs typeface="Georgia" panose="02040502050405020303"/>
              </a:rPr>
              <a:t>to </a:t>
            </a:r>
            <a:r>
              <a:rPr sz="2000" dirty="0">
                <a:latin typeface="Georgia" panose="02040502050405020303"/>
                <a:cs typeface="Georgia" panose="02040502050405020303"/>
              </a:rPr>
              <a:t>continually</a:t>
            </a:r>
            <a:r>
              <a:rPr sz="2000" spc="-30" dirty="0">
                <a:latin typeface="Georgia" panose="02040502050405020303"/>
                <a:cs typeface="Georgia" panose="02040502050405020303"/>
              </a:rPr>
              <a:t> </a:t>
            </a:r>
            <a:r>
              <a:rPr sz="2000" spc="-10" dirty="0">
                <a:latin typeface="Georgia" panose="02040502050405020303"/>
                <a:cs typeface="Georgia" panose="02040502050405020303"/>
              </a:rPr>
              <a:t>fine-</a:t>
            </a:r>
            <a:r>
              <a:rPr sz="2000" dirty="0">
                <a:latin typeface="Georgia" panose="02040502050405020303"/>
                <a:cs typeface="Georgia" panose="02040502050405020303"/>
              </a:rPr>
              <a:t>tune</a:t>
            </a:r>
            <a:r>
              <a:rPr sz="2000" spc="-50" dirty="0">
                <a:latin typeface="Georgia" panose="02040502050405020303"/>
                <a:cs typeface="Georgia" panose="02040502050405020303"/>
              </a:rPr>
              <a:t> </a:t>
            </a:r>
            <a:r>
              <a:rPr sz="2000" dirty="0">
                <a:latin typeface="Georgia" panose="02040502050405020303"/>
                <a:cs typeface="Georgia" panose="02040502050405020303"/>
              </a:rPr>
              <a:t>algorithms</a:t>
            </a:r>
            <a:r>
              <a:rPr sz="2000" spc="-40" dirty="0">
                <a:latin typeface="Georgia" panose="02040502050405020303"/>
                <a:cs typeface="Georgia" panose="02040502050405020303"/>
              </a:rPr>
              <a:t> </a:t>
            </a:r>
            <a:r>
              <a:rPr sz="2000" dirty="0">
                <a:latin typeface="Georgia" panose="02040502050405020303"/>
                <a:cs typeface="Georgia" panose="02040502050405020303"/>
              </a:rPr>
              <a:t>and</a:t>
            </a:r>
            <a:r>
              <a:rPr sz="2000" spc="-20" dirty="0">
                <a:latin typeface="Georgia" panose="02040502050405020303"/>
                <a:cs typeface="Georgia" panose="02040502050405020303"/>
              </a:rPr>
              <a:t> </a:t>
            </a:r>
            <a:r>
              <a:rPr sz="2000" dirty="0">
                <a:latin typeface="Georgia" panose="02040502050405020303"/>
                <a:cs typeface="Georgia" panose="02040502050405020303"/>
              </a:rPr>
              <a:t>ensure</a:t>
            </a:r>
            <a:r>
              <a:rPr sz="2000" spc="-40" dirty="0">
                <a:latin typeface="Georgia" panose="02040502050405020303"/>
                <a:cs typeface="Georgia" panose="02040502050405020303"/>
              </a:rPr>
              <a:t> </a:t>
            </a:r>
            <a:r>
              <a:rPr sz="2000" dirty="0">
                <a:latin typeface="Georgia" panose="02040502050405020303"/>
                <a:cs typeface="Georgia" panose="02040502050405020303"/>
              </a:rPr>
              <a:t>they</a:t>
            </a:r>
            <a:r>
              <a:rPr sz="2000" spc="-30" dirty="0">
                <a:latin typeface="Georgia" panose="02040502050405020303"/>
                <a:cs typeface="Georgia" panose="02040502050405020303"/>
              </a:rPr>
              <a:t> </a:t>
            </a:r>
            <a:r>
              <a:rPr sz="2000" dirty="0">
                <a:latin typeface="Georgia" panose="02040502050405020303"/>
                <a:cs typeface="Georgia" panose="02040502050405020303"/>
              </a:rPr>
              <a:t>provide</a:t>
            </a:r>
            <a:r>
              <a:rPr sz="2000" spc="-40" dirty="0">
                <a:latin typeface="Georgia" panose="02040502050405020303"/>
                <a:cs typeface="Georgia" panose="02040502050405020303"/>
              </a:rPr>
              <a:t> </a:t>
            </a:r>
            <a:r>
              <a:rPr sz="2000" dirty="0">
                <a:latin typeface="Georgia" panose="02040502050405020303"/>
                <a:cs typeface="Georgia" panose="02040502050405020303"/>
              </a:rPr>
              <a:t>the</a:t>
            </a:r>
            <a:r>
              <a:rPr sz="2000" spc="-45" dirty="0">
                <a:latin typeface="Georgia" panose="02040502050405020303"/>
                <a:cs typeface="Georgia" panose="02040502050405020303"/>
              </a:rPr>
              <a:t> </a:t>
            </a:r>
            <a:r>
              <a:rPr sz="2000" spc="-20" dirty="0">
                <a:latin typeface="Georgia" panose="02040502050405020303"/>
                <a:cs typeface="Georgia" panose="02040502050405020303"/>
              </a:rPr>
              <a:t>most </a:t>
            </a:r>
            <a:r>
              <a:rPr sz="2000" dirty="0">
                <a:latin typeface="Georgia" panose="02040502050405020303"/>
                <a:cs typeface="Georgia" panose="02040502050405020303"/>
              </a:rPr>
              <a:t>accurate</a:t>
            </a:r>
            <a:r>
              <a:rPr sz="2000" spc="-70" dirty="0">
                <a:latin typeface="Georgia" panose="02040502050405020303"/>
                <a:cs typeface="Georgia" panose="02040502050405020303"/>
              </a:rPr>
              <a:t> </a:t>
            </a:r>
            <a:r>
              <a:rPr sz="2000" dirty="0">
                <a:latin typeface="Georgia" panose="02040502050405020303"/>
                <a:cs typeface="Georgia" panose="02040502050405020303"/>
              </a:rPr>
              <a:t>results</a:t>
            </a:r>
            <a:r>
              <a:rPr sz="2000" spc="-80" dirty="0">
                <a:latin typeface="Georgia" panose="02040502050405020303"/>
                <a:cs typeface="Georgia" panose="02040502050405020303"/>
              </a:rPr>
              <a:t> </a:t>
            </a:r>
            <a:r>
              <a:rPr sz="2000" spc="-10" dirty="0">
                <a:latin typeface="Georgia" panose="02040502050405020303"/>
                <a:cs typeface="Georgia" panose="02040502050405020303"/>
              </a:rPr>
              <a:t>possible.</a:t>
            </a:r>
            <a:endParaRPr sz="2000">
              <a:latin typeface="Georgia" panose="02040502050405020303"/>
              <a:cs typeface="Georgia" panose="020405020504050203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4216"/>
            <a:ext cx="10515600" cy="627380"/>
          </a:xfrm>
          <a:prstGeom prst="rect">
            <a:avLst/>
          </a:prstGeom>
        </p:spPr>
        <p:txBody>
          <a:bodyPr vert="horz" wrap="square" lIns="0" tIns="12065" rIns="0" bIns="0" rtlCol="0">
            <a:spAutoFit/>
          </a:bodyPr>
          <a:lstStyle/>
          <a:p>
            <a:pPr marL="106680">
              <a:lnSpc>
                <a:spcPct val="100000"/>
              </a:lnSpc>
              <a:spcBef>
                <a:spcPts val="95"/>
              </a:spcBef>
            </a:pPr>
            <a:r>
              <a:rPr sz="4000" dirty="0">
                <a:latin typeface="Times New Roman" panose="02020603050405020304"/>
                <a:cs typeface="Times New Roman" panose="02020603050405020304"/>
              </a:rPr>
              <a:t>Processes</a:t>
            </a:r>
            <a:r>
              <a:rPr sz="4000" spc="-160" dirty="0">
                <a:latin typeface="Times New Roman" panose="02020603050405020304"/>
                <a:cs typeface="Times New Roman" panose="02020603050405020304"/>
              </a:rPr>
              <a:t> </a:t>
            </a:r>
            <a:r>
              <a:rPr sz="4000" dirty="0">
                <a:latin typeface="Times New Roman" panose="02020603050405020304"/>
                <a:cs typeface="Times New Roman" panose="02020603050405020304"/>
              </a:rPr>
              <a:t>in</a:t>
            </a:r>
            <a:r>
              <a:rPr sz="4000" spc="-250" dirty="0">
                <a:latin typeface="Times New Roman" panose="02020603050405020304"/>
                <a:cs typeface="Times New Roman" panose="02020603050405020304"/>
              </a:rPr>
              <a:t> </a:t>
            </a:r>
            <a:r>
              <a:rPr sz="4000" dirty="0">
                <a:latin typeface="Times New Roman" panose="02020603050405020304"/>
                <a:cs typeface="Times New Roman" panose="02020603050405020304"/>
              </a:rPr>
              <a:t>Artificial</a:t>
            </a:r>
            <a:r>
              <a:rPr sz="4000" spc="-10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Intelligence</a:t>
            </a:r>
            <a:endParaRPr sz="4000">
              <a:latin typeface="Times New Roman" panose="02020603050405020304"/>
              <a:cs typeface="Times New Roman" panose="02020603050405020304"/>
            </a:endParaRPr>
          </a:p>
        </p:txBody>
      </p:sp>
      <p:pic>
        <p:nvPicPr>
          <p:cNvPr id="3" name="object 3"/>
          <p:cNvPicPr/>
          <p:nvPr/>
        </p:nvPicPr>
        <p:blipFill>
          <a:blip r:embed="rId1" cstate="print"/>
          <a:stretch>
            <a:fillRect/>
          </a:stretch>
        </p:blipFill>
        <p:spPr>
          <a:xfrm>
            <a:off x="1866828" y="1524000"/>
            <a:ext cx="8348543" cy="4522304"/>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4216"/>
            <a:ext cx="10515600" cy="627380"/>
          </a:xfrm>
          <a:prstGeom prst="rect">
            <a:avLst/>
          </a:prstGeom>
        </p:spPr>
        <p:txBody>
          <a:bodyPr vert="horz" wrap="square" lIns="0" tIns="12065" rIns="0" bIns="0" rtlCol="0">
            <a:spAutoFit/>
          </a:bodyPr>
          <a:lstStyle/>
          <a:p>
            <a:pPr marL="106680">
              <a:lnSpc>
                <a:spcPct val="100000"/>
              </a:lnSpc>
              <a:spcBef>
                <a:spcPts val="95"/>
              </a:spcBef>
            </a:pPr>
            <a:r>
              <a:rPr sz="4000" dirty="0">
                <a:latin typeface="Times New Roman" panose="02020603050405020304"/>
                <a:cs typeface="Times New Roman" panose="02020603050405020304"/>
              </a:rPr>
              <a:t>Processes</a:t>
            </a:r>
            <a:r>
              <a:rPr sz="4000" spc="-160" dirty="0">
                <a:latin typeface="Times New Roman" panose="02020603050405020304"/>
                <a:cs typeface="Times New Roman" panose="02020603050405020304"/>
              </a:rPr>
              <a:t> </a:t>
            </a:r>
            <a:r>
              <a:rPr sz="4000" dirty="0">
                <a:latin typeface="Times New Roman" panose="02020603050405020304"/>
                <a:cs typeface="Times New Roman" panose="02020603050405020304"/>
              </a:rPr>
              <a:t>in</a:t>
            </a:r>
            <a:r>
              <a:rPr sz="4000" spc="-250" dirty="0">
                <a:latin typeface="Times New Roman" panose="02020603050405020304"/>
                <a:cs typeface="Times New Roman" panose="02020603050405020304"/>
              </a:rPr>
              <a:t> </a:t>
            </a:r>
            <a:r>
              <a:rPr sz="4000" dirty="0">
                <a:latin typeface="Times New Roman" panose="02020603050405020304"/>
                <a:cs typeface="Times New Roman" panose="02020603050405020304"/>
              </a:rPr>
              <a:t>Artificial</a:t>
            </a:r>
            <a:r>
              <a:rPr sz="4000" spc="-10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Intelligence</a:t>
            </a:r>
            <a:endParaRPr sz="4000">
              <a:latin typeface="Times New Roman" panose="02020603050405020304"/>
              <a:cs typeface="Times New Roman" panose="02020603050405020304"/>
            </a:endParaRPr>
          </a:p>
        </p:txBody>
      </p:sp>
      <p:pic>
        <p:nvPicPr>
          <p:cNvPr id="3" name="object 3"/>
          <p:cNvPicPr/>
          <p:nvPr/>
        </p:nvPicPr>
        <p:blipFill>
          <a:blip r:embed="rId1" cstate="print"/>
          <a:stretch>
            <a:fillRect/>
          </a:stretch>
        </p:blipFill>
        <p:spPr>
          <a:xfrm>
            <a:off x="2057400" y="778763"/>
            <a:ext cx="8382000" cy="5774436"/>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
        <p:nvSpPr>
          <p:cNvPr id="6" name="object 2"/>
          <p:cNvSpPr txBox="1">
            <a:spLocks noGrp="1"/>
          </p:cNvSpPr>
          <p:nvPr/>
        </p:nvSpPr>
        <p:spPr>
          <a:xfrm>
            <a:off x="838200" y="219551"/>
            <a:ext cx="10515600" cy="627380"/>
          </a:xfrm>
          <a:prstGeom prst="rect">
            <a:avLst/>
          </a:prstGeom>
          <a:noFill/>
          <a:ln w="9525">
            <a:noFill/>
          </a:ln>
        </p:spPr>
        <p:txBody>
          <a:bodyPr vert="horz" wrap="square" lIns="0" tIns="12065" rIns="0" bIns="0" rtlCol="0" anchor="ctr" anchorCtr="0">
            <a:spAutoFit/>
          </a:bodyPr>
          <a:lstStyle>
            <a:lvl1pPr marL="0" lvl="0" indent="0" algn="ctr" defTabSz="914400" eaLnBrk="1" fontAlgn="base" latinLnBrk="0" hangingPunct="1">
              <a:lnSpc>
                <a:spcPct val="100000"/>
              </a:lnSpc>
              <a:spcBef>
                <a:spcPct val="0"/>
              </a:spcBef>
              <a:spcAft>
                <a:spcPct val="0"/>
              </a:spcAft>
              <a:buNone/>
              <a:defRPr sz="4000" b="0" i="0" u="none" kern="1200" baseline="0">
                <a:solidFill>
                  <a:schemeClr val="tx2"/>
                </a:solidFill>
                <a:latin typeface="Calibri" panose="020F0502020204030204" charset="0"/>
                <a:ea typeface="+mj-ea"/>
                <a:cs typeface="Calibri" panose="020F0502020204030204" charset="0"/>
              </a:defRPr>
            </a:lvl1pPr>
          </a:lstStyle>
          <a:p>
            <a:pPr marL="106680">
              <a:lnSpc>
                <a:spcPct val="100000"/>
              </a:lnSpc>
              <a:spcBef>
                <a:spcPts val="95"/>
              </a:spcBef>
            </a:pPr>
            <a:r>
              <a:rPr sz="4000" dirty="0">
                <a:latin typeface="Times New Roman" panose="02020603050405020304"/>
                <a:cs typeface="Times New Roman" panose="02020603050405020304"/>
              </a:rPr>
              <a:t>Processes</a:t>
            </a:r>
            <a:r>
              <a:rPr sz="4000" spc="-160" dirty="0">
                <a:latin typeface="Times New Roman" panose="02020603050405020304"/>
                <a:cs typeface="Times New Roman" panose="02020603050405020304"/>
              </a:rPr>
              <a:t> </a:t>
            </a:r>
            <a:r>
              <a:rPr sz="4000" dirty="0">
                <a:latin typeface="Times New Roman" panose="02020603050405020304"/>
                <a:cs typeface="Times New Roman" panose="02020603050405020304"/>
              </a:rPr>
              <a:t>in</a:t>
            </a:r>
            <a:r>
              <a:rPr sz="4000" spc="-250" dirty="0">
                <a:latin typeface="Times New Roman" panose="02020603050405020304"/>
                <a:cs typeface="Times New Roman" panose="02020603050405020304"/>
              </a:rPr>
              <a:t> </a:t>
            </a:r>
            <a:r>
              <a:rPr sz="4000" dirty="0">
                <a:latin typeface="Times New Roman" panose="02020603050405020304"/>
                <a:cs typeface="Times New Roman" panose="02020603050405020304"/>
              </a:rPr>
              <a:t>Artificial</a:t>
            </a:r>
            <a:r>
              <a:rPr sz="4000" spc="-10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Intelligence</a:t>
            </a:r>
            <a:endParaRPr sz="4000">
              <a:latin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524351"/>
            <a:ext cx="10515600" cy="627380"/>
          </a:xfrm>
          <a:prstGeom prst="rect">
            <a:avLst/>
          </a:prstGeom>
        </p:spPr>
        <p:txBody>
          <a:bodyPr vert="horz" wrap="square" lIns="0" tIns="12065" rIns="0" bIns="0" rtlCol="0">
            <a:spAutoFit/>
          </a:bodyPr>
          <a:lstStyle/>
          <a:p>
            <a:pPr marL="106680">
              <a:lnSpc>
                <a:spcPct val="100000"/>
              </a:lnSpc>
              <a:spcBef>
                <a:spcPts val="95"/>
              </a:spcBef>
            </a:pPr>
            <a:r>
              <a:rPr sz="4000" dirty="0">
                <a:latin typeface="Times New Roman" panose="02020603050405020304"/>
                <a:cs typeface="Times New Roman" panose="02020603050405020304"/>
              </a:rPr>
              <a:t>Processes</a:t>
            </a:r>
            <a:r>
              <a:rPr sz="4000" spc="-160" dirty="0">
                <a:latin typeface="Times New Roman" panose="02020603050405020304"/>
                <a:cs typeface="Times New Roman" panose="02020603050405020304"/>
              </a:rPr>
              <a:t> </a:t>
            </a:r>
            <a:r>
              <a:rPr sz="4000" dirty="0">
                <a:latin typeface="Times New Roman" panose="02020603050405020304"/>
                <a:cs typeface="Times New Roman" panose="02020603050405020304"/>
              </a:rPr>
              <a:t>in</a:t>
            </a:r>
            <a:r>
              <a:rPr sz="4000" spc="-250" dirty="0">
                <a:latin typeface="Times New Roman" panose="02020603050405020304"/>
                <a:cs typeface="Times New Roman" panose="02020603050405020304"/>
              </a:rPr>
              <a:t> </a:t>
            </a:r>
            <a:r>
              <a:rPr sz="4000" dirty="0">
                <a:latin typeface="Times New Roman" panose="02020603050405020304"/>
                <a:cs typeface="Times New Roman" panose="02020603050405020304"/>
              </a:rPr>
              <a:t>Artificial</a:t>
            </a:r>
            <a:r>
              <a:rPr sz="4000" spc="-10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Intelligence</a:t>
            </a:r>
            <a:endParaRPr sz="4000">
              <a:latin typeface="Times New Roman" panose="02020603050405020304"/>
              <a:cs typeface="Times New Roman" panose="02020603050405020304"/>
            </a:endParaRPr>
          </a:p>
        </p:txBody>
      </p:sp>
      <p:sp>
        <p:nvSpPr>
          <p:cNvPr id="7" name="Content Placeholder 6"/>
          <p:cNvSpPr>
            <a:spLocks noGrp="1"/>
          </p:cNvSpPr>
          <p:nvPr>
            <p:ph idx="1"/>
          </p:nvPr>
        </p:nvSpPr>
        <p:spPr>
          <a:xfrm>
            <a:off x="349885" y="1191895"/>
            <a:ext cx="11692255" cy="5053330"/>
          </a:xfrm>
        </p:spPr>
        <p:txBody>
          <a:bodyPr/>
          <a:p>
            <a:r>
              <a:rPr lang="en-US" altLang="en-US"/>
              <a:t>Data:</a:t>
            </a:r>
            <a:endParaRPr lang="en-US" altLang="en-US"/>
          </a:p>
          <a:p>
            <a:pPr marL="0" indent="0">
              <a:buNone/>
            </a:pPr>
            <a:r>
              <a:rPr lang="en-US" altLang="en-US"/>
              <a:t>Data refers to raw facts or figures that exist without context or meaning. It can appear in any form, usable or not, and has no inherent significance on its own. In computing, for example, a spreadsheet typically begins by simply holding data.</a:t>
            </a:r>
            <a:endParaRPr lang="en-US" altLang="en-US"/>
          </a:p>
          <a:p>
            <a:endParaRPr lang="en-US" altLang="en-US"/>
          </a:p>
          <a:p>
            <a:r>
              <a:rPr lang="en-US" altLang="en-US"/>
              <a:t>Information:</a:t>
            </a:r>
            <a:endParaRPr lang="en-US" altLang="en-US"/>
          </a:p>
          <a:p>
            <a:pPr marL="0" indent="0">
              <a:buNone/>
            </a:pPr>
            <a:r>
              <a:rPr lang="en-US" altLang="en-US"/>
              <a:t>Information is data that has been processed or organized in a way that provides meaning through relationships or context. This meaning may or may not be useful, depending on how it’s applied. In computing terms, a relational database transforms stored data into information by creating these connections.</a:t>
            </a:r>
            <a:endParaRPr lang="en-US" altLang="en-US"/>
          </a:p>
          <a:p>
            <a:pPr marL="0" indent="0">
              <a:buNone/>
            </a:pPr>
            <a:endParaRPr lang="en-US" altLang="en-US"/>
          </a:p>
          <a:p>
            <a:pPr marL="0" algn="l" defTabSz="914400">
              <a:lnSpc>
                <a:spcPct val="100000"/>
              </a:lnSpc>
              <a:spcBef>
                <a:spcPct val="20000"/>
              </a:spcBef>
              <a:buClrTx/>
              <a:buSzTx/>
            </a:pPr>
            <a:r>
              <a:rPr lang="en-US" altLang="en-US">
                <a:sym typeface="+mn-ea"/>
              </a:rPr>
              <a:t>Knowledge:</a:t>
            </a:r>
            <a:endParaRPr lang="en-US" altLang="en-US">
              <a:sym typeface="+mn-ea"/>
            </a:endParaRPr>
          </a:p>
          <a:p>
            <a:pPr marL="0" algn="l" defTabSz="914400">
              <a:lnSpc>
                <a:spcPct val="100000"/>
              </a:lnSpc>
              <a:spcBef>
                <a:spcPct val="20000"/>
              </a:spcBef>
              <a:buClrTx/>
              <a:buSzTx/>
              <a:buFontTx/>
              <a:buNone/>
            </a:pPr>
            <a:r>
              <a:rPr lang="en-US" altLang="en-US">
                <a:sym typeface="+mn-ea"/>
              </a:rPr>
              <a:t>knowledge is the appropriate collection of information, such that it's intent is to be useful.</a:t>
            </a:r>
            <a:endParaRPr lang="en-US" altLang="en-US"/>
          </a:p>
          <a:p>
            <a:pPr marL="514350" lvl="2" indent="-285750" algn="l" defTabSz="914400">
              <a:lnSpc>
                <a:spcPct val="100000"/>
              </a:lnSpc>
              <a:buClrTx/>
              <a:buSzTx/>
              <a:buFont typeface="Wingdings" panose="05000000000000000000" charset="0"/>
              <a:buChar char="§"/>
            </a:pPr>
            <a:r>
              <a:rPr lang="en-US" altLang="en-US">
                <a:sym typeface="+mn-ea"/>
              </a:rPr>
              <a:t>Knowledge is a deterministic process.</a:t>
            </a:r>
            <a:endParaRPr lang="en-US" altLang="en-US"/>
          </a:p>
          <a:p>
            <a:pPr marL="514350" lvl="2" indent="-285750" algn="l" defTabSz="914400">
              <a:lnSpc>
                <a:spcPct val="100000"/>
              </a:lnSpc>
              <a:spcBef>
                <a:spcPct val="20000"/>
              </a:spcBef>
              <a:buClrTx/>
              <a:buSzTx/>
              <a:buFont typeface="Wingdings" panose="05000000000000000000" charset="0"/>
              <a:buChar char="§"/>
            </a:pPr>
            <a:r>
              <a:rPr lang="en-US" altLang="en-US">
                <a:sym typeface="+mn-ea"/>
              </a:rPr>
              <a:t>Knowledge has useful meaning to them, but it does not provide for, in  and  of  itself,  an  integration  such  as  would  infer  further knowledge.</a:t>
            </a:r>
            <a:endParaRPr lang="en-US" altLang="en-US"/>
          </a:p>
          <a:p>
            <a:pPr marL="514350" lvl="2" indent="-285750" algn="l" defTabSz="914400">
              <a:lnSpc>
                <a:spcPct val="100000"/>
              </a:lnSpc>
              <a:buClrTx/>
              <a:buSzTx/>
              <a:buFont typeface="Wingdings" panose="05000000000000000000" charset="0"/>
              <a:buChar char="§"/>
            </a:pPr>
            <a:r>
              <a:rPr lang="en-US" altLang="en-US">
                <a:sym typeface="+mn-ea"/>
              </a:rPr>
              <a:t>In computer parlance, most of the applications we use (modeling, simulation, etc.) exercise some type of stored knowledge.</a:t>
            </a:r>
            <a:endParaRPr lang="en-US" altLang="en-US"/>
          </a:p>
          <a:p>
            <a:pPr marL="457200" lvl="1" algn="l">
              <a:buClrTx/>
              <a:buSzTx/>
            </a:pPr>
            <a:endParaRPr lang="en-US" altLang="en-US"/>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84956"/>
            <a:ext cx="10515600" cy="627380"/>
          </a:xfrm>
          <a:prstGeom prst="rect">
            <a:avLst/>
          </a:prstGeom>
        </p:spPr>
        <p:txBody>
          <a:bodyPr vert="horz" wrap="square" lIns="0" tIns="12065" rIns="0" bIns="0" rtlCol="0">
            <a:spAutoFit/>
          </a:bodyPr>
          <a:lstStyle/>
          <a:p>
            <a:pPr marL="106680">
              <a:lnSpc>
                <a:spcPct val="100000"/>
              </a:lnSpc>
              <a:spcBef>
                <a:spcPts val="95"/>
              </a:spcBef>
            </a:pPr>
            <a:r>
              <a:rPr sz="4000" dirty="0">
                <a:latin typeface="Times New Roman" panose="02020603050405020304"/>
                <a:cs typeface="Times New Roman" panose="02020603050405020304"/>
              </a:rPr>
              <a:t>Processes</a:t>
            </a:r>
            <a:r>
              <a:rPr sz="4000" spc="-160" dirty="0">
                <a:latin typeface="Times New Roman" panose="02020603050405020304"/>
                <a:cs typeface="Times New Roman" panose="02020603050405020304"/>
              </a:rPr>
              <a:t> </a:t>
            </a:r>
            <a:r>
              <a:rPr sz="4000" dirty="0">
                <a:latin typeface="Times New Roman" panose="02020603050405020304"/>
                <a:cs typeface="Times New Roman" panose="02020603050405020304"/>
              </a:rPr>
              <a:t>in</a:t>
            </a:r>
            <a:r>
              <a:rPr sz="4000" spc="-250" dirty="0">
                <a:latin typeface="Times New Roman" panose="02020603050405020304"/>
                <a:cs typeface="Times New Roman" panose="02020603050405020304"/>
              </a:rPr>
              <a:t> </a:t>
            </a:r>
            <a:r>
              <a:rPr sz="4000" dirty="0">
                <a:latin typeface="Times New Roman" panose="02020603050405020304"/>
                <a:cs typeface="Times New Roman" panose="02020603050405020304"/>
              </a:rPr>
              <a:t>Artificial</a:t>
            </a:r>
            <a:r>
              <a:rPr sz="4000" spc="-10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Intelligence</a:t>
            </a:r>
            <a:endParaRPr sz="4000">
              <a:latin typeface="Times New Roman" panose="02020603050405020304"/>
              <a:cs typeface="Times New Roman" panose="02020603050405020304"/>
            </a:endParaRPr>
          </a:p>
        </p:txBody>
      </p:sp>
      <p:sp>
        <p:nvSpPr>
          <p:cNvPr id="6" name="Content Placeholder 5"/>
          <p:cNvSpPr>
            <a:spLocks noGrp="1"/>
          </p:cNvSpPr>
          <p:nvPr>
            <p:ph idx="1"/>
          </p:nvPr>
        </p:nvSpPr>
        <p:spPr/>
        <p:txBody>
          <a:bodyPr/>
          <a:p>
            <a:pPr marL="12065" marR="7620" indent="0" algn="just">
              <a:lnSpc>
                <a:spcPct val="100000"/>
              </a:lnSpc>
              <a:spcBef>
                <a:spcPts val="100"/>
              </a:spcBef>
              <a:buNone/>
              <a:tabLst>
                <a:tab pos="355600" algn="l"/>
              </a:tabLst>
            </a:pPr>
            <a:r>
              <a:rPr lang="en-US" altLang="en-US">
                <a:sym typeface="+mn-ea"/>
              </a:rPr>
              <a:t>Wisdom:</a:t>
            </a:r>
            <a:endParaRPr lang="en-US" altLang="en-US">
              <a:sym typeface="+mn-ea"/>
            </a:endParaRPr>
          </a:p>
          <a:p>
            <a:pPr marL="12065" marR="7620" indent="0" algn="just">
              <a:lnSpc>
                <a:spcPct val="100000"/>
              </a:lnSpc>
              <a:spcBef>
                <a:spcPts val="100"/>
              </a:spcBef>
              <a:buFont typeface="Microsoft Sans Serif" panose="020B0604020202020204"/>
              <a:buNone/>
              <a:tabLst>
                <a:tab pos="355600" algn="l"/>
              </a:tabLst>
            </a:pPr>
            <a:r>
              <a:rPr lang="en-US" altLang="en-US">
                <a:sym typeface="+mn-ea"/>
              </a:rPr>
              <a:t>Wisdom is an predictive and non-deterministic, non- probabilistic process.</a:t>
            </a:r>
            <a:endParaRPr lang="en-US" altLang="en-US"/>
          </a:p>
          <a:p>
            <a:pPr marL="812800" marR="6985" lvl="1" indent="-342900" algn="just">
              <a:lnSpc>
                <a:spcPct val="100000"/>
              </a:lnSpc>
              <a:buFont typeface="Wingdings" panose="05000000000000000000" charset="0"/>
              <a:buChar char="§"/>
              <a:tabLst>
                <a:tab pos="812800" algn="l"/>
              </a:tabLst>
            </a:pPr>
            <a:r>
              <a:rPr lang="en-US" altLang="en-US">
                <a:sym typeface="+mn-ea"/>
              </a:rPr>
              <a:t>It calls upon all the previous levels of consciousness, and specifically  upon  special  types  of  human  programming (moral, ethical codes, etc.).</a:t>
            </a:r>
            <a:endParaRPr lang="en-US" altLang="en-US"/>
          </a:p>
          <a:p>
            <a:pPr marL="812800" marR="5715" lvl="1" indent="-342900" algn="just">
              <a:lnSpc>
                <a:spcPct val="100000"/>
              </a:lnSpc>
              <a:buFont typeface="Wingdings" panose="05000000000000000000" charset="0"/>
              <a:buChar char="§"/>
              <a:tabLst>
                <a:tab pos="812800" algn="l"/>
              </a:tabLst>
            </a:pPr>
            <a:r>
              <a:rPr lang="en-US" altLang="en-US">
                <a:sym typeface="+mn-ea"/>
              </a:rPr>
              <a:t>It beckons to give us understanding about which there has previously been no understanding, and in doing so, goes far beyond understanding itself.</a:t>
            </a:r>
            <a:endParaRPr lang="en-US" altLang="en-US"/>
          </a:p>
          <a:p>
            <a:pPr marL="812800" marR="5080" lvl="1" indent="-342900" algn="just">
              <a:lnSpc>
                <a:spcPct val="100000"/>
              </a:lnSpc>
              <a:spcBef>
                <a:spcPts val="5"/>
              </a:spcBef>
              <a:buFont typeface="Wingdings" panose="05000000000000000000" charset="0"/>
              <a:buChar char="§"/>
              <a:tabLst>
                <a:tab pos="812800" algn="l"/>
              </a:tabLst>
            </a:pPr>
            <a:r>
              <a:rPr lang="en-US" altLang="en-US">
                <a:sym typeface="+mn-ea"/>
              </a:rPr>
              <a:t>Wisdom  is  therefore,  the  process  by  which  we  also distinguish, or judge, between right and wrong, good and bad.</a:t>
            </a:r>
            <a:endParaRPr lang="en-US" altLang="en-US"/>
          </a:p>
          <a:p>
            <a:pPr marL="812800" marR="5715" lvl="1" indent="-342900" algn="just">
              <a:lnSpc>
                <a:spcPct val="100000"/>
              </a:lnSpc>
              <a:buFont typeface="Wingdings" panose="05000000000000000000" charset="0"/>
              <a:buChar char="§"/>
              <a:tabLst>
                <a:tab pos="812800" algn="l"/>
              </a:tabLst>
            </a:pPr>
            <a:r>
              <a:rPr lang="en-US" altLang="en-US">
                <a:sym typeface="+mn-ea"/>
              </a:rPr>
              <a:t>Wisdom is a uniquely human state, or as I see it, wisdom requires one to have a soul, for it resides as much in the heart as in the mind. And a soul is something machines will never possess.</a:t>
            </a:r>
            <a:endParaRPr lang="en-US" altLang="en-US"/>
          </a:p>
          <a:p>
            <a:endParaRPr lang="en-US" altLang="en-US"/>
          </a:p>
        </p:txBody>
      </p:sp>
      <p:sp>
        <p:nvSpPr>
          <p:cNvPr id="3" name="object 3"/>
          <p:cNvSpPr txBox="1"/>
          <p:nvPr/>
        </p:nvSpPr>
        <p:spPr>
          <a:xfrm>
            <a:off x="1802688" y="922782"/>
            <a:ext cx="8378825" cy="381635"/>
          </a:xfrm>
          <a:prstGeom prst="rect">
            <a:avLst/>
          </a:prstGeom>
        </p:spPr>
        <p:txBody>
          <a:bodyPr vert="horz" wrap="square" lIns="0" tIns="12700" rIns="0" bIns="0" rtlCol="0">
            <a:spAutoFit/>
          </a:bodyPr>
          <a:lstStyle/>
          <a:p>
            <a:pPr marL="354330" marR="7620" indent="-342265" algn="just">
              <a:lnSpc>
                <a:spcPct val="100000"/>
              </a:lnSpc>
              <a:spcBef>
                <a:spcPts val="100"/>
              </a:spcBef>
              <a:buFont typeface="Microsoft Sans Serif" panose="020B0604020202020204"/>
              <a:buChar char="•"/>
              <a:tabLst>
                <a:tab pos="355600" algn="l"/>
              </a:tabLst>
            </a:pPr>
            <a:endParaRPr sz="2400">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4216"/>
            <a:ext cx="10515600" cy="627380"/>
          </a:xfrm>
          <a:prstGeom prst="rect">
            <a:avLst/>
          </a:prstGeom>
        </p:spPr>
        <p:txBody>
          <a:bodyPr vert="horz" wrap="square" lIns="0" tIns="12065" rIns="0" bIns="0" rtlCol="0">
            <a:spAutoFit/>
          </a:bodyPr>
          <a:lstStyle/>
          <a:p>
            <a:pPr marL="2350135">
              <a:lnSpc>
                <a:spcPct val="100000"/>
              </a:lnSpc>
              <a:spcBef>
                <a:spcPts val="95"/>
              </a:spcBef>
            </a:pPr>
            <a:r>
              <a:rPr sz="4000" dirty="0"/>
              <a:t>Goals</a:t>
            </a:r>
            <a:r>
              <a:rPr sz="4000" spc="-65" dirty="0"/>
              <a:t> </a:t>
            </a:r>
            <a:r>
              <a:rPr sz="4000" dirty="0"/>
              <a:t>of</a:t>
            </a:r>
            <a:r>
              <a:rPr sz="4000" spc="-280" dirty="0"/>
              <a:t> </a:t>
            </a:r>
            <a:r>
              <a:rPr sz="4000" spc="-25" dirty="0"/>
              <a:t>AI</a:t>
            </a:r>
            <a:endParaRPr sz="4000"/>
          </a:p>
        </p:txBody>
      </p:sp>
      <p:sp>
        <p:nvSpPr>
          <p:cNvPr id="11" name="Content Placeholder 10"/>
          <p:cNvSpPr>
            <a:spLocks noGrp="1"/>
          </p:cNvSpPr>
          <p:nvPr>
            <p:ph idx="1"/>
          </p:nvPr>
        </p:nvSpPr>
        <p:spPr/>
        <p:txBody>
          <a:bodyPr/>
          <a:p>
            <a:pPr>
              <a:lnSpc>
                <a:spcPct val="100000"/>
              </a:lnSpc>
              <a:spcBef>
                <a:spcPts val="530"/>
              </a:spcBef>
              <a:tabLst>
                <a:tab pos="207010" algn="l"/>
              </a:tabLst>
            </a:pPr>
            <a:r>
              <a:rPr dirty="0">
                <a:sym typeface="+mn-ea"/>
              </a:rPr>
              <a:t>It</a:t>
            </a:r>
            <a:r>
              <a:rPr spc="-35" dirty="0">
                <a:sym typeface="+mn-ea"/>
              </a:rPr>
              <a:t> </a:t>
            </a:r>
            <a:r>
              <a:rPr dirty="0">
                <a:sym typeface="+mn-ea"/>
              </a:rPr>
              <a:t>helps</a:t>
            </a:r>
            <a:r>
              <a:rPr spc="-45" dirty="0">
                <a:sym typeface="+mn-ea"/>
              </a:rPr>
              <a:t> </a:t>
            </a:r>
            <a:r>
              <a:rPr dirty="0">
                <a:sym typeface="+mn-ea"/>
              </a:rPr>
              <a:t>you</a:t>
            </a:r>
            <a:r>
              <a:rPr spc="-40" dirty="0">
                <a:sym typeface="+mn-ea"/>
              </a:rPr>
              <a:t> </a:t>
            </a:r>
            <a:r>
              <a:rPr dirty="0">
                <a:sym typeface="+mn-ea"/>
              </a:rPr>
              <a:t>reduce</a:t>
            </a:r>
            <a:r>
              <a:rPr spc="-25" dirty="0">
                <a:sym typeface="+mn-ea"/>
              </a:rPr>
              <a:t> </a:t>
            </a:r>
            <a:r>
              <a:rPr dirty="0">
                <a:sym typeface="+mn-ea"/>
              </a:rPr>
              <a:t>the</a:t>
            </a:r>
            <a:r>
              <a:rPr spc="-30" dirty="0">
                <a:sym typeface="+mn-ea"/>
              </a:rPr>
              <a:t> </a:t>
            </a:r>
            <a:r>
              <a:rPr dirty="0">
                <a:sym typeface="+mn-ea"/>
              </a:rPr>
              <a:t>amount</a:t>
            </a:r>
            <a:r>
              <a:rPr spc="-35" dirty="0">
                <a:sym typeface="+mn-ea"/>
              </a:rPr>
              <a:t> </a:t>
            </a:r>
            <a:r>
              <a:rPr dirty="0">
                <a:sym typeface="+mn-ea"/>
              </a:rPr>
              <a:t>of</a:t>
            </a:r>
            <a:r>
              <a:rPr spc="-35" dirty="0">
                <a:sym typeface="+mn-ea"/>
              </a:rPr>
              <a:t> </a:t>
            </a:r>
            <a:r>
              <a:rPr dirty="0">
                <a:sym typeface="+mn-ea"/>
              </a:rPr>
              <a:t>time</a:t>
            </a:r>
            <a:r>
              <a:rPr spc="-35" dirty="0">
                <a:sym typeface="+mn-ea"/>
              </a:rPr>
              <a:t> </a:t>
            </a:r>
            <a:r>
              <a:rPr dirty="0">
                <a:sym typeface="+mn-ea"/>
              </a:rPr>
              <a:t>needed</a:t>
            </a:r>
            <a:r>
              <a:rPr spc="-30" dirty="0">
                <a:sym typeface="+mn-ea"/>
              </a:rPr>
              <a:t> </a:t>
            </a:r>
            <a:r>
              <a:rPr dirty="0">
                <a:sym typeface="+mn-ea"/>
              </a:rPr>
              <a:t>to</a:t>
            </a:r>
            <a:r>
              <a:rPr spc="-35" dirty="0">
                <a:sym typeface="+mn-ea"/>
              </a:rPr>
              <a:t> </a:t>
            </a:r>
            <a:r>
              <a:rPr dirty="0">
                <a:sym typeface="+mn-ea"/>
              </a:rPr>
              <a:t>perform</a:t>
            </a:r>
            <a:r>
              <a:rPr spc="-40" dirty="0">
                <a:sym typeface="+mn-ea"/>
              </a:rPr>
              <a:t> </a:t>
            </a:r>
            <a:r>
              <a:rPr dirty="0">
                <a:sym typeface="+mn-ea"/>
              </a:rPr>
              <a:t>specific</a:t>
            </a:r>
            <a:r>
              <a:rPr spc="-60" dirty="0">
                <a:sym typeface="+mn-ea"/>
              </a:rPr>
              <a:t> </a:t>
            </a:r>
            <a:r>
              <a:rPr spc="-10" dirty="0">
                <a:sym typeface="+mn-ea"/>
              </a:rPr>
              <a:t>tasks.</a:t>
            </a:r>
            <a:endParaRPr spc="-10" dirty="0">
              <a:sym typeface="+mn-ea"/>
            </a:endParaRPr>
          </a:p>
          <a:p>
            <a:pPr>
              <a:lnSpc>
                <a:spcPct val="100000"/>
              </a:lnSpc>
              <a:spcBef>
                <a:spcPts val="430"/>
              </a:spcBef>
              <a:tabLst>
                <a:tab pos="260350" algn="l"/>
              </a:tabLst>
            </a:pPr>
            <a:r>
              <a:rPr dirty="0">
                <a:sym typeface="+mn-ea"/>
              </a:rPr>
              <a:t>Making</a:t>
            </a:r>
            <a:r>
              <a:rPr spc="-40" dirty="0">
                <a:sym typeface="+mn-ea"/>
              </a:rPr>
              <a:t> </a:t>
            </a:r>
            <a:r>
              <a:rPr dirty="0">
                <a:sym typeface="+mn-ea"/>
              </a:rPr>
              <a:t>it</a:t>
            </a:r>
            <a:r>
              <a:rPr spc="-35" dirty="0">
                <a:sym typeface="+mn-ea"/>
              </a:rPr>
              <a:t> </a:t>
            </a:r>
            <a:r>
              <a:rPr dirty="0">
                <a:sym typeface="+mn-ea"/>
              </a:rPr>
              <a:t>easier</a:t>
            </a:r>
            <a:r>
              <a:rPr spc="-30" dirty="0">
                <a:sym typeface="+mn-ea"/>
              </a:rPr>
              <a:t> </a:t>
            </a:r>
            <a:r>
              <a:rPr dirty="0">
                <a:sym typeface="+mn-ea"/>
              </a:rPr>
              <a:t>for</a:t>
            </a:r>
            <a:r>
              <a:rPr spc="-40" dirty="0">
                <a:sym typeface="+mn-ea"/>
              </a:rPr>
              <a:t> </a:t>
            </a:r>
            <a:r>
              <a:rPr dirty="0">
                <a:sym typeface="+mn-ea"/>
              </a:rPr>
              <a:t>humans</a:t>
            </a:r>
            <a:r>
              <a:rPr spc="-30" dirty="0">
                <a:sym typeface="+mn-ea"/>
              </a:rPr>
              <a:t> </a:t>
            </a:r>
            <a:r>
              <a:rPr dirty="0">
                <a:sym typeface="+mn-ea"/>
              </a:rPr>
              <a:t>to</a:t>
            </a:r>
            <a:r>
              <a:rPr spc="-40" dirty="0">
                <a:sym typeface="+mn-ea"/>
              </a:rPr>
              <a:t> </a:t>
            </a:r>
            <a:r>
              <a:rPr dirty="0">
                <a:sym typeface="+mn-ea"/>
              </a:rPr>
              <a:t>interact</a:t>
            </a:r>
            <a:r>
              <a:rPr spc="-30" dirty="0">
                <a:sym typeface="+mn-ea"/>
              </a:rPr>
              <a:t> </a:t>
            </a:r>
            <a:r>
              <a:rPr dirty="0">
                <a:sym typeface="+mn-ea"/>
              </a:rPr>
              <a:t>with</a:t>
            </a:r>
            <a:r>
              <a:rPr spc="-40" dirty="0">
                <a:sym typeface="+mn-ea"/>
              </a:rPr>
              <a:t> </a:t>
            </a:r>
            <a:r>
              <a:rPr spc="-10" dirty="0">
                <a:sym typeface="+mn-ea"/>
              </a:rPr>
              <a:t>machines.</a:t>
            </a:r>
            <a:endParaRPr spc="-10" dirty="0">
              <a:sym typeface="+mn-ea"/>
            </a:endParaRPr>
          </a:p>
          <a:p>
            <a:pPr>
              <a:lnSpc>
                <a:spcPct val="100000"/>
              </a:lnSpc>
              <a:spcBef>
                <a:spcPts val="430"/>
              </a:spcBef>
              <a:tabLst>
                <a:tab pos="260350" algn="l"/>
              </a:tabLst>
            </a:pPr>
            <a:r>
              <a:rPr lang="en-US" spc="-10" dirty="0">
                <a:sym typeface="+mn-ea"/>
              </a:rPr>
              <a:t>Knowledge representation and knowledge engineering are central to AI research.</a:t>
            </a:r>
            <a:endParaRPr lang="en-US" spc="-10" dirty="0">
              <a:sym typeface="+mn-ea"/>
            </a:endParaRPr>
          </a:p>
          <a:p>
            <a:pPr marR="6985">
              <a:lnSpc>
                <a:spcPct val="100000"/>
              </a:lnSpc>
              <a:spcBef>
                <a:spcPts val="435"/>
              </a:spcBef>
              <a:tabLst>
                <a:tab pos="260350" algn="l"/>
              </a:tabLst>
            </a:pPr>
            <a:r>
              <a:rPr dirty="0">
                <a:sym typeface="+mn-ea"/>
              </a:rPr>
              <a:t>Facilitating</a:t>
            </a:r>
            <a:r>
              <a:rPr spc="90" dirty="0">
                <a:sym typeface="+mn-ea"/>
              </a:rPr>
              <a:t> </a:t>
            </a:r>
            <a:r>
              <a:rPr spc="-10" dirty="0">
                <a:sym typeface="+mn-ea"/>
              </a:rPr>
              <a:t>human-</a:t>
            </a:r>
            <a:r>
              <a:rPr dirty="0">
                <a:sym typeface="+mn-ea"/>
              </a:rPr>
              <a:t>computer</a:t>
            </a:r>
            <a:r>
              <a:rPr spc="105" dirty="0">
                <a:sym typeface="+mn-ea"/>
              </a:rPr>
              <a:t> </a:t>
            </a:r>
            <a:r>
              <a:rPr dirty="0">
                <a:sym typeface="+mn-ea"/>
              </a:rPr>
              <a:t>interaction</a:t>
            </a:r>
            <a:r>
              <a:rPr spc="114" dirty="0">
                <a:sym typeface="+mn-ea"/>
              </a:rPr>
              <a:t> </a:t>
            </a:r>
            <a:r>
              <a:rPr dirty="0">
                <a:sym typeface="+mn-ea"/>
              </a:rPr>
              <a:t>in</a:t>
            </a:r>
            <a:r>
              <a:rPr spc="120" dirty="0">
                <a:sym typeface="+mn-ea"/>
              </a:rPr>
              <a:t> </a:t>
            </a:r>
            <a:r>
              <a:rPr dirty="0">
                <a:sym typeface="+mn-ea"/>
              </a:rPr>
              <a:t>a</a:t>
            </a:r>
            <a:r>
              <a:rPr spc="110" dirty="0">
                <a:sym typeface="+mn-ea"/>
              </a:rPr>
              <a:t> </a:t>
            </a:r>
            <a:r>
              <a:rPr dirty="0">
                <a:sym typeface="+mn-ea"/>
              </a:rPr>
              <a:t>way</a:t>
            </a:r>
            <a:r>
              <a:rPr spc="105" dirty="0">
                <a:sym typeface="+mn-ea"/>
              </a:rPr>
              <a:t> </a:t>
            </a:r>
            <a:r>
              <a:rPr dirty="0">
                <a:sym typeface="+mn-ea"/>
              </a:rPr>
              <a:t>that</a:t>
            </a:r>
            <a:r>
              <a:rPr spc="110" dirty="0">
                <a:sym typeface="+mn-ea"/>
              </a:rPr>
              <a:t> </a:t>
            </a:r>
            <a:r>
              <a:rPr dirty="0">
                <a:sym typeface="+mn-ea"/>
              </a:rPr>
              <a:t>is</a:t>
            </a:r>
            <a:r>
              <a:rPr spc="120" dirty="0">
                <a:sym typeface="+mn-ea"/>
              </a:rPr>
              <a:t> </a:t>
            </a:r>
            <a:r>
              <a:rPr dirty="0">
                <a:sym typeface="+mn-ea"/>
              </a:rPr>
              <a:t>more</a:t>
            </a:r>
            <a:r>
              <a:rPr spc="125" dirty="0">
                <a:sym typeface="+mn-ea"/>
              </a:rPr>
              <a:t> </a:t>
            </a:r>
            <a:r>
              <a:rPr dirty="0">
                <a:sym typeface="+mn-ea"/>
              </a:rPr>
              <a:t>natural</a:t>
            </a:r>
            <a:r>
              <a:rPr spc="114" dirty="0">
                <a:sym typeface="+mn-ea"/>
              </a:rPr>
              <a:t> </a:t>
            </a:r>
            <a:r>
              <a:rPr spc="-25" dirty="0">
                <a:sym typeface="+mn-ea"/>
              </a:rPr>
              <a:t>and </a:t>
            </a:r>
            <a:r>
              <a:rPr spc="-10" dirty="0">
                <a:sym typeface="+mn-ea"/>
              </a:rPr>
              <a:t>efficient.</a:t>
            </a:r>
            <a:endParaRPr spc="-10" dirty="0">
              <a:sym typeface="+mn-ea"/>
            </a:endParaRPr>
          </a:p>
          <a:p>
            <a:pPr>
              <a:lnSpc>
                <a:spcPct val="100000"/>
              </a:lnSpc>
              <a:spcBef>
                <a:spcPts val="430"/>
              </a:spcBef>
              <a:tabLst>
                <a:tab pos="260350" algn="l"/>
              </a:tabLst>
            </a:pPr>
            <a:r>
              <a:rPr dirty="0">
                <a:sym typeface="+mn-ea"/>
              </a:rPr>
              <a:t>Improving</a:t>
            </a:r>
            <a:r>
              <a:rPr spc="-40" dirty="0">
                <a:sym typeface="+mn-ea"/>
              </a:rPr>
              <a:t> </a:t>
            </a:r>
            <a:r>
              <a:rPr dirty="0">
                <a:sym typeface="+mn-ea"/>
              </a:rPr>
              <a:t>the</a:t>
            </a:r>
            <a:r>
              <a:rPr spc="-30" dirty="0">
                <a:sym typeface="+mn-ea"/>
              </a:rPr>
              <a:t> </a:t>
            </a:r>
            <a:r>
              <a:rPr dirty="0">
                <a:sym typeface="+mn-ea"/>
              </a:rPr>
              <a:t>accuracy</a:t>
            </a:r>
            <a:r>
              <a:rPr spc="-25" dirty="0">
                <a:sym typeface="+mn-ea"/>
              </a:rPr>
              <a:t> </a:t>
            </a:r>
            <a:r>
              <a:rPr dirty="0">
                <a:sym typeface="+mn-ea"/>
              </a:rPr>
              <a:t>and</a:t>
            </a:r>
            <a:r>
              <a:rPr spc="-45" dirty="0">
                <a:sym typeface="+mn-ea"/>
              </a:rPr>
              <a:t> </a:t>
            </a:r>
            <a:r>
              <a:rPr dirty="0">
                <a:sym typeface="+mn-ea"/>
              </a:rPr>
              <a:t>speed</a:t>
            </a:r>
            <a:r>
              <a:rPr spc="-40" dirty="0">
                <a:sym typeface="+mn-ea"/>
              </a:rPr>
              <a:t> </a:t>
            </a:r>
            <a:r>
              <a:rPr dirty="0">
                <a:sym typeface="+mn-ea"/>
              </a:rPr>
              <a:t>of</a:t>
            </a:r>
            <a:r>
              <a:rPr spc="-40" dirty="0">
                <a:sym typeface="+mn-ea"/>
              </a:rPr>
              <a:t> </a:t>
            </a:r>
            <a:r>
              <a:rPr dirty="0">
                <a:sym typeface="+mn-ea"/>
              </a:rPr>
              <a:t>medical</a:t>
            </a:r>
            <a:r>
              <a:rPr spc="-30" dirty="0">
                <a:sym typeface="+mn-ea"/>
              </a:rPr>
              <a:t> </a:t>
            </a:r>
            <a:r>
              <a:rPr spc="-10" dirty="0">
                <a:sym typeface="+mn-ea"/>
              </a:rPr>
              <a:t>diagnoses.</a:t>
            </a:r>
            <a:endParaRPr spc="-10" dirty="0">
              <a:sym typeface="+mn-ea"/>
            </a:endParaRPr>
          </a:p>
          <a:p>
            <a:pPr>
              <a:lnSpc>
                <a:spcPct val="100000"/>
              </a:lnSpc>
              <a:spcBef>
                <a:spcPts val="435"/>
              </a:spcBef>
              <a:tabLst>
                <a:tab pos="260350" algn="l"/>
              </a:tabLst>
            </a:pPr>
            <a:r>
              <a:rPr dirty="0">
                <a:sym typeface="+mn-ea"/>
              </a:rPr>
              <a:t>Helping</a:t>
            </a:r>
            <a:r>
              <a:rPr spc="-80" dirty="0">
                <a:sym typeface="+mn-ea"/>
              </a:rPr>
              <a:t> </a:t>
            </a:r>
            <a:r>
              <a:rPr dirty="0">
                <a:sym typeface="+mn-ea"/>
              </a:rPr>
              <a:t>people</a:t>
            </a:r>
            <a:r>
              <a:rPr spc="-50" dirty="0">
                <a:sym typeface="+mn-ea"/>
              </a:rPr>
              <a:t> </a:t>
            </a:r>
            <a:r>
              <a:rPr dirty="0">
                <a:sym typeface="+mn-ea"/>
              </a:rPr>
              <a:t>learn</a:t>
            </a:r>
            <a:r>
              <a:rPr spc="-45" dirty="0">
                <a:sym typeface="+mn-ea"/>
              </a:rPr>
              <a:t> </a:t>
            </a:r>
            <a:r>
              <a:rPr dirty="0">
                <a:sym typeface="+mn-ea"/>
              </a:rPr>
              <a:t>new</a:t>
            </a:r>
            <a:r>
              <a:rPr spc="-45" dirty="0">
                <a:sym typeface="+mn-ea"/>
              </a:rPr>
              <a:t> </a:t>
            </a:r>
            <a:r>
              <a:rPr dirty="0">
                <a:sym typeface="+mn-ea"/>
              </a:rPr>
              <a:t>information</a:t>
            </a:r>
            <a:r>
              <a:rPr spc="-45" dirty="0">
                <a:sym typeface="+mn-ea"/>
              </a:rPr>
              <a:t> </a:t>
            </a:r>
            <a:r>
              <a:rPr dirty="0">
                <a:sym typeface="+mn-ea"/>
              </a:rPr>
              <a:t>more</a:t>
            </a:r>
            <a:r>
              <a:rPr spc="-40" dirty="0">
                <a:sym typeface="+mn-ea"/>
              </a:rPr>
              <a:t> </a:t>
            </a:r>
            <a:r>
              <a:rPr spc="-10" dirty="0">
                <a:sym typeface="+mn-ea"/>
              </a:rPr>
              <a:t>quickly.</a:t>
            </a:r>
            <a:endParaRPr spc="-10" dirty="0">
              <a:sym typeface="+mn-ea"/>
            </a:endParaRPr>
          </a:p>
          <a:p>
            <a:pPr>
              <a:lnSpc>
                <a:spcPct val="100000"/>
              </a:lnSpc>
              <a:spcBef>
                <a:spcPts val="435"/>
              </a:spcBef>
              <a:tabLst>
                <a:tab pos="260350" algn="l"/>
              </a:tabLst>
            </a:pPr>
            <a:r>
              <a:rPr dirty="0">
                <a:sym typeface="+mn-ea"/>
              </a:rPr>
              <a:t>Enhancing</a:t>
            </a:r>
            <a:r>
              <a:rPr spc="-90" dirty="0">
                <a:sym typeface="+mn-ea"/>
              </a:rPr>
              <a:t> </a:t>
            </a:r>
            <a:r>
              <a:rPr dirty="0">
                <a:sym typeface="+mn-ea"/>
              </a:rPr>
              <a:t>communication</a:t>
            </a:r>
            <a:r>
              <a:rPr spc="-35" dirty="0">
                <a:sym typeface="+mn-ea"/>
              </a:rPr>
              <a:t> </a:t>
            </a:r>
            <a:r>
              <a:rPr dirty="0">
                <a:sym typeface="+mn-ea"/>
              </a:rPr>
              <a:t>between</a:t>
            </a:r>
            <a:r>
              <a:rPr spc="-60" dirty="0">
                <a:sym typeface="+mn-ea"/>
              </a:rPr>
              <a:t> </a:t>
            </a:r>
            <a:r>
              <a:rPr dirty="0">
                <a:sym typeface="+mn-ea"/>
              </a:rPr>
              <a:t>humans</a:t>
            </a:r>
            <a:r>
              <a:rPr spc="-45" dirty="0">
                <a:sym typeface="+mn-ea"/>
              </a:rPr>
              <a:t> </a:t>
            </a:r>
            <a:r>
              <a:rPr dirty="0">
                <a:sym typeface="+mn-ea"/>
              </a:rPr>
              <a:t>and</a:t>
            </a:r>
            <a:r>
              <a:rPr spc="-50" dirty="0">
                <a:sym typeface="+mn-ea"/>
              </a:rPr>
              <a:t> </a:t>
            </a:r>
            <a:r>
              <a:rPr spc="-10" dirty="0">
                <a:sym typeface="+mn-ea"/>
              </a:rPr>
              <a:t>machines.</a:t>
            </a:r>
            <a:endParaRPr spc="-10" dirty="0">
              <a:sym typeface="+mn-ea"/>
            </a:endParaRPr>
          </a:p>
          <a:p>
            <a:pPr marR="7620">
              <a:lnSpc>
                <a:spcPct val="100000"/>
              </a:lnSpc>
              <a:spcBef>
                <a:spcPts val="430"/>
              </a:spcBef>
              <a:tabLst>
                <a:tab pos="260350" algn="l"/>
              </a:tabLst>
            </a:pPr>
            <a:r>
              <a:rPr dirty="0">
                <a:sym typeface="+mn-ea"/>
              </a:rPr>
              <a:t>Effective</a:t>
            </a:r>
            <a:r>
              <a:rPr spc="490" dirty="0">
                <a:sym typeface="+mn-ea"/>
              </a:rPr>
              <a:t> </a:t>
            </a:r>
            <a:r>
              <a:rPr dirty="0">
                <a:sym typeface="+mn-ea"/>
              </a:rPr>
              <a:t>computing</a:t>
            </a:r>
            <a:r>
              <a:rPr spc="30" dirty="0">
                <a:sym typeface="+mn-ea"/>
              </a:rPr>
              <a:t>  </a:t>
            </a:r>
            <a:r>
              <a:rPr dirty="0">
                <a:sym typeface="+mn-ea"/>
              </a:rPr>
              <a:t>is</a:t>
            </a:r>
            <a:r>
              <a:rPr spc="30" dirty="0">
                <a:sym typeface="+mn-ea"/>
              </a:rPr>
              <a:t>  </a:t>
            </a:r>
            <a:r>
              <a:rPr dirty="0">
                <a:sym typeface="+mn-ea"/>
              </a:rPr>
              <a:t>the</a:t>
            </a:r>
            <a:r>
              <a:rPr spc="35" dirty="0">
                <a:sym typeface="+mn-ea"/>
              </a:rPr>
              <a:t>  </a:t>
            </a:r>
            <a:r>
              <a:rPr dirty="0">
                <a:sym typeface="+mn-ea"/>
              </a:rPr>
              <a:t>study</a:t>
            </a:r>
            <a:r>
              <a:rPr spc="35" dirty="0">
                <a:sym typeface="+mn-ea"/>
              </a:rPr>
              <a:t>  </a:t>
            </a:r>
            <a:r>
              <a:rPr dirty="0">
                <a:sym typeface="+mn-ea"/>
              </a:rPr>
              <a:t>and</a:t>
            </a:r>
            <a:r>
              <a:rPr spc="35" dirty="0">
                <a:sym typeface="+mn-ea"/>
              </a:rPr>
              <a:t>  </a:t>
            </a:r>
            <a:r>
              <a:rPr dirty="0">
                <a:sym typeface="+mn-ea"/>
              </a:rPr>
              <a:t>development</a:t>
            </a:r>
            <a:r>
              <a:rPr spc="35" dirty="0">
                <a:sym typeface="+mn-ea"/>
              </a:rPr>
              <a:t>  </a:t>
            </a:r>
            <a:r>
              <a:rPr dirty="0">
                <a:sym typeface="+mn-ea"/>
              </a:rPr>
              <a:t>of</a:t>
            </a:r>
            <a:r>
              <a:rPr spc="35" dirty="0">
                <a:sym typeface="+mn-ea"/>
              </a:rPr>
              <a:t>  </a:t>
            </a:r>
            <a:r>
              <a:rPr dirty="0">
                <a:sym typeface="+mn-ea"/>
              </a:rPr>
              <a:t>systems</a:t>
            </a:r>
            <a:r>
              <a:rPr spc="35" dirty="0">
                <a:sym typeface="+mn-ea"/>
              </a:rPr>
              <a:t>  </a:t>
            </a:r>
            <a:r>
              <a:rPr dirty="0">
                <a:sym typeface="+mn-ea"/>
              </a:rPr>
              <a:t>that</a:t>
            </a:r>
            <a:r>
              <a:rPr spc="35" dirty="0">
                <a:sym typeface="+mn-ea"/>
              </a:rPr>
              <a:t>  </a:t>
            </a:r>
            <a:r>
              <a:rPr spc="-25" dirty="0">
                <a:sym typeface="+mn-ea"/>
              </a:rPr>
              <a:t>can </a:t>
            </a:r>
            <a:r>
              <a:rPr dirty="0">
                <a:sym typeface="+mn-ea"/>
              </a:rPr>
              <a:t>detect,</a:t>
            </a:r>
            <a:r>
              <a:rPr spc="-65" dirty="0">
                <a:sym typeface="+mn-ea"/>
              </a:rPr>
              <a:t> </a:t>
            </a:r>
            <a:r>
              <a:rPr dirty="0">
                <a:sym typeface="+mn-ea"/>
              </a:rPr>
              <a:t>interpret,</a:t>
            </a:r>
            <a:r>
              <a:rPr spc="-60" dirty="0">
                <a:sym typeface="+mn-ea"/>
              </a:rPr>
              <a:t> </a:t>
            </a:r>
            <a:r>
              <a:rPr dirty="0">
                <a:sym typeface="+mn-ea"/>
              </a:rPr>
              <a:t>process,</a:t>
            </a:r>
            <a:r>
              <a:rPr spc="-70" dirty="0">
                <a:sym typeface="+mn-ea"/>
              </a:rPr>
              <a:t> </a:t>
            </a:r>
            <a:r>
              <a:rPr dirty="0">
                <a:sym typeface="+mn-ea"/>
              </a:rPr>
              <a:t>and</a:t>
            </a:r>
            <a:r>
              <a:rPr spc="-70" dirty="0">
                <a:sym typeface="+mn-ea"/>
              </a:rPr>
              <a:t> </a:t>
            </a:r>
            <a:r>
              <a:rPr dirty="0">
                <a:sym typeface="+mn-ea"/>
              </a:rPr>
              <a:t>simulate</a:t>
            </a:r>
            <a:r>
              <a:rPr spc="-55" dirty="0">
                <a:sym typeface="+mn-ea"/>
              </a:rPr>
              <a:t> </a:t>
            </a:r>
            <a:r>
              <a:rPr spc="-10" dirty="0">
                <a:sym typeface="+mn-ea"/>
              </a:rPr>
              <a:t>human.</a:t>
            </a:r>
            <a:endParaRPr spc="-10" dirty="0">
              <a:sym typeface="+mn-ea"/>
            </a:endParaRPr>
          </a:p>
          <a:p>
            <a:pPr marR="7620">
              <a:lnSpc>
                <a:spcPct val="100000"/>
              </a:lnSpc>
              <a:spcBef>
                <a:spcPts val="430"/>
              </a:spcBef>
              <a:tabLst>
                <a:tab pos="260350" algn="l"/>
              </a:tabLst>
            </a:pPr>
            <a:r>
              <a:rPr dirty="0">
                <a:sym typeface="+mn-ea"/>
              </a:rPr>
              <a:t>To</a:t>
            </a:r>
            <a:r>
              <a:rPr spc="295" dirty="0">
                <a:sym typeface="+mn-ea"/>
              </a:rPr>
              <a:t> </a:t>
            </a:r>
            <a:r>
              <a:rPr dirty="0">
                <a:sym typeface="+mn-ea"/>
              </a:rPr>
              <a:t>Create</a:t>
            </a:r>
            <a:r>
              <a:rPr spc="315" dirty="0">
                <a:sym typeface="+mn-ea"/>
              </a:rPr>
              <a:t> </a:t>
            </a:r>
            <a:r>
              <a:rPr dirty="0">
                <a:sym typeface="+mn-ea"/>
              </a:rPr>
              <a:t>Expert</a:t>
            </a:r>
            <a:r>
              <a:rPr spc="300" dirty="0">
                <a:sym typeface="+mn-ea"/>
              </a:rPr>
              <a:t> </a:t>
            </a:r>
            <a:r>
              <a:rPr dirty="0">
                <a:sym typeface="+mn-ea"/>
              </a:rPr>
              <a:t>Systems</a:t>
            </a:r>
            <a:r>
              <a:rPr spc="300" dirty="0">
                <a:sym typeface="+mn-ea"/>
              </a:rPr>
              <a:t> </a:t>
            </a:r>
            <a:r>
              <a:rPr dirty="0">
                <a:sym typeface="+mn-ea"/>
              </a:rPr>
              <a:t>−</a:t>
            </a:r>
            <a:r>
              <a:rPr spc="330" dirty="0">
                <a:sym typeface="+mn-ea"/>
              </a:rPr>
              <a:t> </a:t>
            </a:r>
            <a:r>
              <a:rPr dirty="0">
                <a:sym typeface="+mn-ea"/>
              </a:rPr>
              <a:t>The</a:t>
            </a:r>
            <a:r>
              <a:rPr spc="300" dirty="0">
                <a:sym typeface="+mn-ea"/>
              </a:rPr>
              <a:t> </a:t>
            </a:r>
            <a:r>
              <a:rPr dirty="0">
                <a:sym typeface="+mn-ea"/>
              </a:rPr>
              <a:t>systems</a:t>
            </a:r>
            <a:r>
              <a:rPr spc="300" dirty="0">
                <a:sym typeface="+mn-ea"/>
              </a:rPr>
              <a:t> </a:t>
            </a:r>
            <a:r>
              <a:rPr dirty="0">
                <a:sym typeface="+mn-ea"/>
              </a:rPr>
              <a:t>which</a:t>
            </a:r>
            <a:r>
              <a:rPr spc="305" dirty="0">
                <a:sym typeface="+mn-ea"/>
              </a:rPr>
              <a:t> </a:t>
            </a:r>
            <a:r>
              <a:rPr spc="-10" dirty="0">
                <a:sym typeface="+mn-ea"/>
              </a:rPr>
              <a:t>exhibit </a:t>
            </a:r>
            <a:r>
              <a:rPr dirty="0">
                <a:sym typeface="+mn-ea"/>
              </a:rPr>
              <a:t>intelligent</a:t>
            </a:r>
            <a:r>
              <a:rPr spc="-35" dirty="0">
                <a:sym typeface="+mn-ea"/>
              </a:rPr>
              <a:t> </a:t>
            </a:r>
            <a:r>
              <a:rPr spc="-10" dirty="0">
                <a:sym typeface="+mn-ea"/>
              </a:rPr>
              <a:t>behavior,</a:t>
            </a:r>
            <a:r>
              <a:rPr spc="-45" dirty="0">
                <a:sym typeface="+mn-ea"/>
              </a:rPr>
              <a:t> </a:t>
            </a:r>
            <a:r>
              <a:rPr dirty="0">
                <a:sym typeface="+mn-ea"/>
              </a:rPr>
              <a:t>learn,</a:t>
            </a:r>
            <a:r>
              <a:rPr spc="-45" dirty="0">
                <a:sym typeface="+mn-ea"/>
              </a:rPr>
              <a:t> </a:t>
            </a:r>
            <a:r>
              <a:rPr dirty="0">
                <a:sym typeface="+mn-ea"/>
              </a:rPr>
              <a:t>demonstrate,</a:t>
            </a:r>
            <a:r>
              <a:rPr spc="-55" dirty="0">
                <a:sym typeface="+mn-ea"/>
              </a:rPr>
              <a:t> </a:t>
            </a:r>
            <a:r>
              <a:rPr dirty="0">
                <a:sym typeface="+mn-ea"/>
              </a:rPr>
              <a:t>explain,</a:t>
            </a:r>
            <a:r>
              <a:rPr spc="-35" dirty="0">
                <a:sym typeface="+mn-ea"/>
              </a:rPr>
              <a:t> </a:t>
            </a:r>
            <a:r>
              <a:rPr dirty="0">
                <a:sym typeface="+mn-ea"/>
              </a:rPr>
              <a:t>and</a:t>
            </a:r>
            <a:r>
              <a:rPr spc="-45" dirty="0">
                <a:sym typeface="+mn-ea"/>
              </a:rPr>
              <a:t> </a:t>
            </a:r>
            <a:r>
              <a:rPr spc="-10" dirty="0">
                <a:sym typeface="+mn-ea"/>
              </a:rPr>
              <a:t>advice </a:t>
            </a:r>
            <a:r>
              <a:rPr dirty="0">
                <a:sym typeface="+mn-ea"/>
              </a:rPr>
              <a:t>its</a:t>
            </a:r>
            <a:r>
              <a:rPr spc="-10" dirty="0">
                <a:sym typeface="+mn-ea"/>
              </a:rPr>
              <a:t> users.</a:t>
            </a:r>
            <a:endParaRPr spc="-10" dirty="0">
              <a:sym typeface="+mn-ea"/>
            </a:endParaRPr>
          </a:p>
          <a:p>
            <a:pPr marR="7620">
              <a:lnSpc>
                <a:spcPct val="100000"/>
              </a:lnSpc>
              <a:spcBef>
                <a:spcPts val="430"/>
              </a:spcBef>
              <a:tabLst>
                <a:tab pos="260350" algn="l"/>
              </a:tabLst>
            </a:pPr>
          </a:p>
          <a:p>
            <a:endParaRPr lang="en-US"/>
          </a:p>
        </p:txBody>
      </p:sp>
      <p:sp>
        <p:nvSpPr>
          <p:cNvPr id="7" name="Date Placeholder 6"/>
          <p:cNvSpPr>
            <a:spLocks noGrp="1"/>
          </p:cNvSpPr>
          <p:nvPr>
            <p:ph type="dt" sz="half" idx="10"/>
          </p:nvPr>
        </p:nvSpPr>
        <p:spPr/>
        <p:txBody>
          <a:bodyPr/>
          <a:p>
            <a:fld id="{63A1C593-65D0-4073-BCC9-577B9352EA97}" type="datetime1">
              <a:rPr lang="en-US" smtClean="0"/>
            </a:fld>
            <a:endParaRPr lang="en-US"/>
          </a:p>
        </p:txBody>
      </p:sp>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1764665"/>
            <a:ext cx="9361170" cy="4481195"/>
          </a:xfrm>
          <a:prstGeom prst="rect">
            <a:avLst/>
          </a:prstGeom>
        </p:spPr>
        <p:txBody>
          <a:bodyPr vert="horz" wrap="square" lIns="0" tIns="62865" rIns="0" bIns="0" rtlCol="0">
            <a:noAutofit/>
          </a:bodyPr>
          <a:lstStyle/>
          <a:p>
            <a:pPr marL="241300" indent="-231775">
              <a:lnSpc>
                <a:spcPct val="100000"/>
              </a:lnSpc>
              <a:spcBef>
                <a:spcPts val="4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rPr>
              <a:t>more</a:t>
            </a:r>
            <a:r>
              <a:rPr spc="-85" dirty="0">
                <a:latin typeface="Calibri" panose="020F0502020204030204" charset="0"/>
                <a:cs typeface="Calibri" panose="020F0502020204030204" charset="0"/>
              </a:rPr>
              <a:t> </a:t>
            </a:r>
            <a:r>
              <a:rPr dirty="0">
                <a:latin typeface="Calibri" panose="020F0502020204030204" charset="0"/>
                <a:cs typeface="Calibri" panose="020F0502020204030204" charset="0"/>
              </a:rPr>
              <a:t>powerful</a:t>
            </a:r>
            <a:r>
              <a:rPr spc="-55"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70" dirty="0">
                <a:latin typeface="Calibri" panose="020F0502020204030204" charset="0"/>
                <a:cs typeface="Calibri" panose="020F0502020204030204" charset="0"/>
              </a:rPr>
              <a:t> </a:t>
            </a:r>
            <a:r>
              <a:rPr dirty="0">
                <a:latin typeface="Calibri" panose="020F0502020204030204" charset="0"/>
                <a:cs typeface="Calibri" panose="020F0502020204030204" charset="0"/>
              </a:rPr>
              <a:t>more</a:t>
            </a:r>
            <a:r>
              <a:rPr spc="-85" dirty="0">
                <a:latin typeface="Calibri" panose="020F0502020204030204" charset="0"/>
                <a:cs typeface="Calibri" panose="020F0502020204030204" charset="0"/>
              </a:rPr>
              <a:t> </a:t>
            </a:r>
            <a:r>
              <a:rPr dirty="0">
                <a:latin typeface="Calibri" panose="020F0502020204030204" charset="0"/>
                <a:cs typeface="Calibri" panose="020F0502020204030204" charset="0"/>
              </a:rPr>
              <a:t>useful</a:t>
            </a:r>
            <a:r>
              <a:rPr spc="-7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computers</a:t>
            </a:r>
            <a:endParaRPr>
              <a:latin typeface="Calibri" panose="020F0502020204030204" charset="0"/>
              <a:cs typeface="Calibri" panose="020F0502020204030204" charset="0"/>
            </a:endParaRPr>
          </a:p>
          <a:p>
            <a:pPr marL="241300" indent="-231775">
              <a:lnSpc>
                <a:spcPct val="100000"/>
              </a:lnSpc>
              <a:spcBef>
                <a:spcPts val="3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rPr>
              <a:t>new</a:t>
            </a:r>
            <a:r>
              <a:rPr spc="-75" dirty="0">
                <a:latin typeface="Calibri" panose="020F0502020204030204" charset="0"/>
                <a:cs typeface="Calibri" panose="020F0502020204030204" charset="0"/>
              </a:rPr>
              <a:t> </a:t>
            </a:r>
            <a:r>
              <a:rPr dirty="0">
                <a:latin typeface="Calibri" panose="020F0502020204030204" charset="0"/>
                <a:cs typeface="Calibri" panose="020F0502020204030204" charset="0"/>
              </a:rPr>
              <a:t>and</a:t>
            </a:r>
            <a:r>
              <a:rPr spc="-80" dirty="0">
                <a:latin typeface="Calibri" panose="020F0502020204030204" charset="0"/>
                <a:cs typeface="Calibri" panose="020F0502020204030204" charset="0"/>
              </a:rPr>
              <a:t> </a:t>
            </a:r>
            <a:r>
              <a:rPr dirty="0">
                <a:latin typeface="Calibri" panose="020F0502020204030204" charset="0"/>
                <a:cs typeface="Calibri" panose="020F0502020204030204" charset="0"/>
              </a:rPr>
              <a:t>improved</a:t>
            </a:r>
            <a:r>
              <a:rPr spc="-6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interfaces</a:t>
            </a:r>
            <a:endParaRPr>
              <a:latin typeface="Calibri" panose="020F0502020204030204" charset="0"/>
              <a:cs typeface="Calibri" panose="020F0502020204030204" charset="0"/>
            </a:endParaRPr>
          </a:p>
          <a:p>
            <a:pPr marL="241300" indent="-231775">
              <a:lnSpc>
                <a:spcPct val="100000"/>
              </a:lnSpc>
              <a:spcBef>
                <a:spcPts val="3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rPr>
              <a:t>solving</a:t>
            </a:r>
            <a:r>
              <a:rPr spc="-70" dirty="0">
                <a:latin typeface="Calibri" panose="020F0502020204030204" charset="0"/>
                <a:cs typeface="Calibri" panose="020F0502020204030204" charset="0"/>
              </a:rPr>
              <a:t> </a:t>
            </a:r>
            <a:r>
              <a:rPr dirty="0">
                <a:latin typeface="Calibri" panose="020F0502020204030204" charset="0"/>
                <a:cs typeface="Calibri" panose="020F0502020204030204" charset="0"/>
              </a:rPr>
              <a:t>new</a:t>
            </a:r>
            <a:r>
              <a:rPr spc="-8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problems</a:t>
            </a:r>
            <a:endParaRPr>
              <a:latin typeface="Calibri" panose="020F0502020204030204" charset="0"/>
              <a:cs typeface="Calibri" panose="020F0502020204030204" charset="0"/>
            </a:endParaRPr>
          </a:p>
          <a:p>
            <a:pPr marL="241300" indent="-231775">
              <a:lnSpc>
                <a:spcPct val="100000"/>
              </a:lnSpc>
              <a:spcBef>
                <a:spcPts val="400"/>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rPr>
              <a:t>relieves</a:t>
            </a:r>
            <a:r>
              <a:rPr spc="-75" dirty="0">
                <a:latin typeface="Calibri" panose="020F0502020204030204" charset="0"/>
                <a:cs typeface="Calibri" panose="020F0502020204030204" charset="0"/>
              </a:rPr>
              <a:t> </a:t>
            </a:r>
            <a:r>
              <a:rPr dirty="0">
                <a:latin typeface="Calibri" panose="020F0502020204030204" charset="0"/>
                <a:cs typeface="Calibri" panose="020F0502020204030204" charset="0"/>
              </a:rPr>
              <a:t>information</a:t>
            </a:r>
            <a:r>
              <a:rPr spc="-80"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overload</a:t>
            </a:r>
            <a:endParaRPr>
              <a:latin typeface="Calibri" panose="020F0502020204030204" charset="0"/>
              <a:cs typeface="Calibri" panose="020F0502020204030204" charset="0"/>
            </a:endParaRPr>
          </a:p>
          <a:p>
            <a:pPr marL="241300" indent="-231775">
              <a:lnSpc>
                <a:spcPct val="100000"/>
              </a:lnSpc>
              <a:spcBef>
                <a:spcPts val="3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rPr>
              <a:t>conversion</a:t>
            </a:r>
            <a:r>
              <a:rPr spc="-70" dirty="0">
                <a:latin typeface="Calibri" panose="020F0502020204030204" charset="0"/>
                <a:cs typeface="Calibri" panose="020F0502020204030204" charset="0"/>
              </a:rPr>
              <a:t> </a:t>
            </a:r>
            <a:r>
              <a:rPr dirty="0">
                <a:latin typeface="Calibri" panose="020F0502020204030204" charset="0"/>
                <a:cs typeface="Calibri" panose="020F0502020204030204" charset="0"/>
              </a:rPr>
              <a:t>of</a:t>
            </a:r>
            <a:r>
              <a:rPr spc="-90" dirty="0">
                <a:latin typeface="Calibri" panose="020F0502020204030204" charset="0"/>
                <a:cs typeface="Calibri" panose="020F0502020204030204" charset="0"/>
              </a:rPr>
              <a:t> </a:t>
            </a:r>
            <a:r>
              <a:rPr dirty="0">
                <a:latin typeface="Calibri" panose="020F0502020204030204" charset="0"/>
                <a:cs typeface="Calibri" panose="020F0502020204030204" charset="0"/>
              </a:rPr>
              <a:t>information</a:t>
            </a:r>
            <a:r>
              <a:rPr spc="-80" dirty="0">
                <a:latin typeface="Calibri" panose="020F0502020204030204" charset="0"/>
                <a:cs typeface="Calibri" panose="020F0502020204030204" charset="0"/>
              </a:rPr>
              <a:t> </a:t>
            </a:r>
            <a:r>
              <a:rPr dirty="0">
                <a:latin typeface="Calibri" panose="020F0502020204030204" charset="0"/>
                <a:cs typeface="Calibri" panose="020F0502020204030204" charset="0"/>
              </a:rPr>
              <a:t>into</a:t>
            </a:r>
            <a:r>
              <a:rPr spc="-85" dirty="0">
                <a:latin typeface="Calibri" panose="020F0502020204030204" charset="0"/>
                <a:cs typeface="Calibri" panose="020F0502020204030204" charset="0"/>
              </a:rPr>
              <a:t> </a:t>
            </a:r>
            <a:r>
              <a:rPr spc="-10" dirty="0">
                <a:latin typeface="Calibri" panose="020F0502020204030204" charset="0"/>
                <a:cs typeface="Calibri" panose="020F0502020204030204" charset="0"/>
              </a:rPr>
              <a:t>knowledge</a:t>
            </a:r>
            <a:endParaRPr spc="-10" dirty="0">
              <a:latin typeface="Calibri" panose="020F0502020204030204" charset="0"/>
              <a:cs typeface="Calibri" panose="020F0502020204030204" charset="0"/>
            </a:endParaRPr>
          </a:p>
          <a:p>
            <a:pPr marL="241300" indent="-231775">
              <a:lnSpc>
                <a:spcPct val="100000"/>
              </a:lnSpc>
              <a:spcBef>
                <a:spcPts val="3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sym typeface="+mn-ea"/>
              </a:rPr>
              <a:t>Reduction</a:t>
            </a:r>
            <a:r>
              <a:rPr spc="-50" dirty="0">
                <a:latin typeface="Calibri" panose="020F0502020204030204" charset="0"/>
                <a:cs typeface="Calibri" panose="020F0502020204030204" charset="0"/>
                <a:sym typeface="+mn-ea"/>
              </a:rPr>
              <a:t> </a:t>
            </a:r>
            <a:r>
              <a:rPr dirty="0">
                <a:latin typeface="Calibri" panose="020F0502020204030204" charset="0"/>
                <a:cs typeface="Calibri" panose="020F0502020204030204" charset="0"/>
                <a:sym typeface="+mn-ea"/>
              </a:rPr>
              <a:t>in</a:t>
            </a:r>
            <a:r>
              <a:rPr spc="-70" dirty="0">
                <a:latin typeface="Calibri" panose="020F0502020204030204" charset="0"/>
                <a:cs typeface="Calibri" panose="020F0502020204030204" charset="0"/>
                <a:sym typeface="+mn-ea"/>
              </a:rPr>
              <a:t> </a:t>
            </a:r>
            <a:r>
              <a:rPr dirty="0">
                <a:latin typeface="Calibri" panose="020F0502020204030204" charset="0"/>
                <a:cs typeface="Calibri" panose="020F0502020204030204" charset="0"/>
                <a:sym typeface="+mn-ea"/>
              </a:rPr>
              <a:t>Human</a:t>
            </a:r>
            <a:r>
              <a:rPr spc="-55" dirty="0">
                <a:latin typeface="Calibri" panose="020F0502020204030204" charset="0"/>
                <a:cs typeface="Calibri" panose="020F0502020204030204" charset="0"/>
                <a:sym typeface="+mn-ea"/>
              </a:rPr>
              <a:t> </a:t>
            </a:r>
            <a:r>
              <a:rPr spc="-10" dirty="0">
                <a:latin typeface="Calibri" panose="020F0502020204030204" charset="0"/>
                <a:cs typeface="Calibri" panose="020F0502020204030204" charset="0"/>
                <a:sym typeface="+mn-ea"/>
              </a:rPr>
              <a:t>Error</a:t>
            </a:r>
            <a:endParaRPr spc="-10" dirty="0">
              <a:latin typeface="Calibri" panose="020F0502020204030204" charset="0"/>
              <a:cs typeface="Calibri" panose="020F0502020204030204" charset="0"/>
              <a:sym typeface="+mn-ea"/>
            </a:endParaRPr>
          </a:p>
          <a:p>
            <a:pPr marL="241300" indent="-231775">
              <a:lnSpc>
                <a:spcPct val="100000"/>
              </a:lnSpc>
              <a:spcBef>
                <a:spcPts val="3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sym typeface="+mn-ea"/>
              </a:rPr>
              <a:t>Zero</a:t>
            </a:r>
            <a:r>
              <a:rPr spc="-50" dirty="0">
                <a:latin typeface="Calibri" panose="020F0502020204030204" charset="0"/>
                <a:cs typeface="Calibri" panose="020F0502020204030204" charset="0"/>
                <a:sym typeface="+mn-ea"/>
              </a:rPr>
              <a:t> </a:t>
            </a:r>
            <a:r>
              <a:rPr spc="-20" dirty="0">
                <a:latin typeface="Calibri" panose="020F0502020204030204" charset="0"/>
                <a:cs typeface="Calibri" panose="020F0502020204030204" charset="0"/>
                <a:sym typeface="+mn-ea"/>
              </a:rPr>
              <a:t>Risks</a:t>
            </a:r>
            <a:r>
              <a:rPr lang="en-US" spc="-20" dirty="0">
                <a:latin typeface="Calibri" panose="020F0502020204030204" charset="0"/>
                <a:cs typeface="Calibri" panose="020F0502020204030204" charset="0"/>
                <a:sym typeface="+mn-ea"/>
              </a:rPr>
              <a:t> </a:t>
            </a:r>
            <a:endParaRPr lang="en-US" spc="-20" dirty="0">
              <a:latin typeface="Calibri" panose="020F0502020204030204" charset="0"/>
              <a:cs typeface="Calibri" panose="020F0502020204030204" charset="0"/>
              <a:sym typeface="+mn-ea"/>
            </a:endParaRPr>
          </a:p>
          <a:p>
            <a:pPr marL="241300" indent="-231775">
              <a:lnSpc>
                <a:spcPct val="100000"/>
              </a:lnSpc>
              <a:spcBef>
                <a:spcPts val="3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sym typeface="+mn-ea"/>
              </a:rPr>
              <a:t>24x7</a:t>
            </a:r>
            <a:r>
              <a:rPr spc="-20" dirty="0">
                <a:latin typeface="Calibri" panose="020F0502020204030204" charset="0"/>
                <a:cs typeface="Calibri" panose="020F0502020204030204" charset="0"/>
                <a:sym typeface="+mn-ea"/>
              </a:rPr>
              <a:t> </a:t>
            </a:r>
            <a:r>
              <a:rPr spc="-10" dirty="0">
                <a:latin typeface="Calibri" panose="020F0502020204030204" charset="0"/>
                <a:cs typeface="Calibri" panose="020F0502020204030204" charset="0"/>
                <a:sym typeface="+mn-ea"/>
              </a:rPr>
              <a:t>Availability</a:t>
            </a:r>
            <a:r>
              <a:rPr lang="en-US" spc="-10" dirty="0">
                <a:latin typeface="Calibri" panose="020F0502020204030204" charset="0"/>
                <a:cs typeface="Calibri" panose="020F0502020204030204" charset="0"/>
                <a:sym typeface="+mn-ea"/>
              </a:rPr>
              <a:t> </a:t>
            </a:r>
            <a:r>
              <a:rPr dirty="0">
                <a:latin typeface="Calibri" panose="020F0502020204030204" charset="0"/>
                <a:cs typeface="Calibri" panose="020F0502020204030204" charset="0"/>
                <a:sym typeface="+mn-ea"/>
              </a:rPr>
              <a:t>Digital</a:t>
            </a:r>
            <a:r>
              <a:rPr spc="-45" dirty="0">
                <a:latin typeface="Calibri" panose="020F0502020204030204" charset="0"/>
                <a:cs typeface="Calibri" panose="020F0502020204030204" charset="0"/>
                <a:sym typeface="+mn-ea"/>
              </a:rPr>
              <a:t> </a:t>
            </a:r>
            <a:r>
              <a:rPr spc="-10" dirty="0">
                <a:latin typeface="Calibri" panose="020F0502020204030204" charset="0"/>
                <a:cs typeface="Calibri" panose="020F0502020204030204" charset="0"/>
                <a:sym typeface="+mn-ea"/>
              </a:rPr>
              <a:t>Assistance</a:t>
            </a:r>
            <a:endParaRPr spc="-10" dirty="0">
              <a:latin typeface="Calibri" panose="020F0502020204030204" charset="0"/>
              <a:cs typeface="Calibri" panose="020F0502020204030204" charset="0"/>
              <a:sym typeface="+mn-ea"/>
            </a:endParaRPr>
          </a:p>
          <a:p>
            <a:pPr marL="241300" indent="-231775">
              <a:lnSpc>
                <a:spcPct val="100000"/>
              </a:lnSpc>
              <a:spcBef>
                <a:spcPts val="3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sym typeface="+mn-ea"/>
              </a:rPr>
              <a:t>Unbiased</a:t>
            </a:r>
            <a:r>
              <a:rPr spc="-90" dirty="0">
                <a:latin typeface="Calibri" panose="020F0502020204030204" charset="0"/>
                <a:cs typeface="Calibri" panose="020F0502020204030204" charset="0"/>
                <a:sym typeface="+mn-ea"/>
              </a:rPr>
              <a:t> </a:t>
            </a:r>
            <a:r>
              <a:rPr spc="-10" dirty="0">
                <a:latin typeface="Calibri" panose="020F0502020204030204" charset="0"/>
                <a:cs typeface="Calibri" panose="020F0502020204030204" charset="0"/>
                <a:sym typeface="+mn-ea"/>
              </a:rPr>
              <a:t>Decisions</a:t>
            </a:r>
            <a:endParaRPr spc="-10" dirty="0">
              <a:latin typeface="Calibri" panose="020F0502020204030204" charset="0"/>
              <a:cs typeface="Calibri" panose="020F0502020204030204" charset="0"/>
              <a:sym typeface="+mn-ea"/>
            </a:endParaRPr>
          </a:p>
          <a:p>
            <a:pPr marL="241300" indent="-231775">
              <a:lnSpc>
                <a:spcPct val="100000"/>
              </a:lnSpc>
              <a:spcBef>
                <a:spcPts val="3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sym typeface="+mn-ea"/>
              </a:rPr>
              <a:t>Perform</a:t>
            </a:r>
            <a:r>
              <a:rPr spc="-65" dirty="0">
                <a:latin typeface="Calibri" panose="020F0502020204030204" charset="0"/>
                <a:cs typeface="Calibri" panose="020F0502020204030204" charset="0"/>
                <a:sym typeface="+mn-ea"/>
              </a:rPr>
              <a:t> </a:t>
            </a:r>
            <a:r>
              <a:rPr dirty="0">
                <a:latin typeface="Calibri" panose="020F0502020204030204" charset="0"/>
                <a:cs typeface="Calibri" panose="020F0502020204030204" charset="0"/>
                <a:sym typeface="+mn-ea"/>
              </a:rPr>
              <a:t>Repetitive</a:t>
            </a:r>
            <a:r>
              <a:rPr spc="-40" dirty="0">
                <a:latin typeface="Calibri" panose="020F0502020204030204" charset="0"/>
                <a:cs typeface="Calibri" panose="020F0502020204030204" charset="0"/>
                <a:sym typeface="+mn-ea"/>
              </a:rPr>
              <a:t> </a:t>
            </a:r>
            <a:r>
              <a:rPr spc="-20" dirty="0">
                <a:latin typeface="Calibri" panose="020F0502020204030204" charset="0"/>
                <a:cs typeface="Calibri" panose="020F0502020204030204" charset="0"/>
                <a:sym typeface="+mn-ea"/>
              </a:rPr>
              <a:t>Jobs</a:t>
            </a:r>
            <a:endParaRPr spc="-20" dirty="0">
              <a:latin typeface="Calibri" panose="020F0502020204030204" charset="0"/>
              <a:cs typeface="Calibri" panose="020F0502020204030204" charset="0"/>
              <a:sym typeface="+mn-ea"/>
            </a:endParaRPr>
          </a:p>
          <a:p>
            <a:pPr marL="241300" indent="-231775">
              <a:lnSpc>
                <a:spcPct val="100000"/>
              </a:lnSpc>
              <a:spcBef>
                <a:spcPts val="3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sym typeface="+mn-ea"/>
              </a:rPr>
              <a:t>Daily</a:t>
            </a:r>
            <a:r>
              <a:rPr spc="-35" dirty="0">
                <a:latin typeface="Calibri" panose="020F0502020204030204" charset="0"/>
                <a:cs typeface="Calibri" panose="020F0502020204030204" charset="0"/>
                <a:sym typeface="+mn-ea"/>
              </a:rPr>
              <a:t> </a:t>
            </a:r>
            <a:r>
              <a:rPr spc="-10" dirty="0">
                <a:latin typeface="Calibri" panose="020F0502020204030204" charset="0"/>
                <a:cs typeface="Calibri" panose="020F0502020204030204" charset="0"/>
                <a:sym typeface="+mn-ea"/>
              </a:rPr>
              <a:t>Applications</a:t>
            </a:r>
            <a:endParaRPr spc="-10" dirty="0">
              <a:latin typeface="Calibri" panose="020F0502020204030204" charset="0"/>
              <a:cs typeface="Calibri" panose="020F0502020204030204" charset="0"/>
              <a:sym typeface="+mn-ea"/>
            </a:endParaRPr>
          </a:p>
          <a:p>
            <a:pPr marL="241300" indent="-231775">
              <a:lnSpc>
                <a:spcPct val="100000"/>
              </a:lnSpc>
              <a:spcBef>
                <a:spcPts val="395"/>
              </a:spcBef>
              <a:buClr>
                <a:srgbClr val="9B2C1F"/>
              </a:buClr>
              <a:buSzPct val="85000"/>
              <a:buFont typeface="Segoe UI Symbol" panose="020B0502040204020203"/>
              <a:buChar char="⚫"/>
              <a:tabLst>
                <a:tab pos="241300" algn="l"/>
              </a:tabLst>
            </a:pPr>
            <a:r>
              <a:rPr dirty="0">
                <a:latin typeface="Calibri" panose="020F0502020204030204" charset="0"/>
                <a:cs typeface="Calibri" panose="020F0502020204030204" charset="0"/>
                <a:sym typeface="+mn-ea"/>
              </a:rPr>
              <a:t>AI</a:t>
            </a:r>
            <a:r>
              <a:rPr spc="-30" dirty="0">
                <a:latin typeface="Calibri" panose="020F0502020204030204" charset="0"/>
                <a:cs typeface="Calibri" panose="020F0502020204030204" charset="0"/>
                <a:sym typeface="+mn-ea"/>
              </a:rPr>
              <a:t> </a:t>
            </a:r>
            <a:r>
              <a:rPr dirty="0">
                <a:latin typeface="Calibri" panose="020F0502020204030204" charset="0"/>
                <a:cs typeface="Calibri" panose="020F0502020204030204" charset="0"/>
                <a:sym typeface="+mn-ea"/>
              </a:rPr>
              <a:t>in</a:t>
            </a:r>
            <a:r>
              <a:rPr spc="-45" dirty="0">
                <a:latin typeface="Calibri" panose="020F0502020204030204" charset="0"/>
                <a:cs typeface="Calibri" panose="020F0502020204030204" charset="0"/>
                <a:sym typeface="+mn-ea"/>
              </a:rPr>
              <a:t> </a:t>
            </a:r>
            <a:r>
              <a:rPr dirty="0">
                <a:latin typeface="Calibri" panose="020F0502020204030204" charset="0"/>
                <a:cs typeface="Calibri" panose="020F0502020204030204" charset="0"/>
                <a:sym typeface="+mn-ea"/>
              </a:rPr>
              <a:t>Risky</a:t>
            </a:r>
            <a:r>
              <a:rPr spc="-30" dirty="0">
                <a:latin typeface="Calibri" panose="020F0502020204030204" charset="0"/>
                <a:cs typeface="Calibri" panose="020F0502020204030204" charset="0"/>
                <a:sym typeface="+mn-ea"/>
              </a:rPr>
              <a:t> </a:t>
            </a:r>
            <a:r>
              <a:rPr spc="-10" dirty="0">
                <a:latin typeface="Calibri" panose="020F0502020204030204" charset="0"/>
                <a:cs typeface="Calibri" panose="020F0502020204030204" charset="0"/>
                <a:sym typeface="+mn-ea"/>
              </a:rPr>
              <a:t>Situations</a:t>
            </a:r>
            <a:endParaRPr>
              <a:latin typeface="Calibri" panose="020F0502020204030204" charset="0"/>
              <a:cs typeface="Calibri" panose="020F0502020204030204" charset="0"/>
            </a:endParaRPr>
          </a:p>
          <a:p>
            <a:pPr marL="241300" indent="-231775">
              <a:lnSpc>
                <a:spcPct val="100000"/>
              </a:lnSpc>
              <a:spcBef>
                <a:spcPts val="395"/>
              </a:spcBef>
              <a:buClr>
                <a:srgbClr val="9B2C1F"/>
              </a:buClr>
              <a:buSzPct val="85000"/>
              <a:buFont typeface="Segoe UI Symbol" panose="020B0502040204020203"/>
              <a:buChar char="⚫"/>
              <a:tabLst>
                <a:tab pos="241300" algn="l"/>
              </a:tabLst>
            </a:pPr>
            <a:endParaRPr>
              <a:latin typeface="Calibri" panose="020F0502020204030204" charset="0"/>
              <a:cs typeface="Calibri" panose="020F0502020204030204" charset="0"/>
            </a:endParaRPr>
          </a:p>
        </p:txBody>
      </p:sp>
      <p:sp>
        <p:nvSpPr>
          <p:cNvPr id="6" name="object 6"/>
          <p:cNvSpPr txBox="1">
            <a:spLocks noGrp="1"/>
          </p:cNvSpPr>
          <p:nvPr>
            <p:ph type="title"/>
          </p:nvPr>
        </p:nvSpPr>
        <p:spPr>
          <a:xfrm>
            <a:off x="2361565" y="576263"/>
            <a:ext cx="8235950" cy="628015"/>
          </a:xfrm>
          <a:prstGeom prst="rect">
            <a:avLst/>
          </a:prstGeom>
        </p:spPr>
        <p:txBody>
          <a:bodyPr vert="horz" wrap="square" lIns="0" tIns="12700" rIns="0" bIns="0" rtlCol="0">
            <a:spAutoFit/>
          </a:bodyPr>
          <a:lstStyle/>
          <a:p>
            <a:pPr marL="12700" algn="ctr">
              <a:lnSpc>
                <a:spcPct val="100000"/>
              </a:lnSpc>
              <a:spcBef>
                <a:spcPts val="95"/>
              </a:spcBef>
              <a:buClrTx/>
              <a:buSzTx/>
              <a:buFontTx/>
            </a:pPr>
            <a:r>
              <a:rPr sz="4000" spc="-90" dirty="0"/>
              <a:t>Some Advantages of Artificial Intelligence</a:t>
            </a:r>
            <a:endParaRPr sz="4000" spc="-90" dirty="0"/>
          </a:p>
        </p:txBody>
      </p:sp>
      <p:sp>
        <p:nvSpPr>
          <p:cNvPr id="7" name="Date Placeholder 6"/>
          <p:cNvSpPr>
            <a:spLocks noGrp="1"/>
          </p:cNvSpPr>
          <p:nvPr>
            <p:ph type="dt" sz="half" idx="10"/>
          </p:nvPr>
        </p:nvSpPr>
        <p:spPr/>
        <p:txBody>
          <a:bodyPr/>
          <a:p>
            <a:fld id="{63A1C593-65D0-4073-BCC9-577B9352EA97}" type="datetime1">
              <a:rPr lang="en-US" smtClean="0"/>
            </a:fld>
            <a:endParaRPr lang="en-US"/>
          </a:p>
        </p:txBody>
      </p:sp>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47975" y="442151"/>
            <a:ext cx="5422265" cy="628650"/>
          </a:xfrm>
          <a:prstGeom prst="rect">
            <a:avLst/>
          </a:prstGeom>
        </p:spPr>
        <p:txBody>
          <a:bodyPr vert="horz" wrap="square" lIns="0" tIns="13335" rIns="0" bIns="0" rtlCol="0">
            <a:spAutoFit/>
          </a:bodyPr>
          <a:lstStyle/>
          <a:p>
            <a:pPr marL="12700">
              <a:lnSpc>
                <a:spcPct val="100000"/>
              </a:lnSpc>
              <a:spcBef>
                <a:spcPts val="105"/>
              </a:spcBef>
            </a:pPr>
            <a:r>
              <a:rPr dirty="0"/>
              <a:t>H</a:t>
            </a:r>
            <a:r>
              <a:rPr lang="en-US" dirty="0"/>
              <a:t>ow safe is AI?</a:t>
            </a:r>
            <a:endParaRPr spc="-10" dirty="0"/>
          </a:p>
        </p:txBody>
      </p:sp>
      <p:sp>
        <p:nvSpPr>
          <p:cNvPr id="3" name="object 3"/>
          <p:cNvSpPr txBox="1"/>
          <p:nvPr/>
        </p:nvSpPr>
        <p:spPr>
          <a:xfrm>
            <a:off x="2215387" y="1702053"/>
            <a:ext cx="7071995" cy="2948940"/>
          </a:xfrm>
          <a:prstGeom prst="rect">
            <a:avLst/>
          </a:prstGeom>
        </p:spPr>
        <p:txBody>
          <a:bodyPr vert="horz" wrap="square" lIns="0" tIns="12700" rIns="0" bIns="0" rtlCol="0">
            <a:spAutoFit/>
          </a:bodyPr>
          <a:lstStyle/>
          <a:p>
            <a:pPr marL="12700" marR="250190" indent="-1905">
              <a:lnSpc>
                <a:spcPct val="100000"/>
              </a:lnSpc>
              <a:spcBef>
                <a:spcPts val="100"/>
              </a:spcBef>
              <a:buClr>
                <a:srgbClr val="0AD0D9"/>
              </a:buClr>
              <a:buSzPct val="89000"/>
              <a:buFont typeface="Wingdings" panose="05000000000000000000"/>
              <a:buChar char=""/>
              <a:tabLst>
                <a:tab pos="185420" algn="l"/>
              </a:tabLst>
            </a:pPr>
            <a:r>
              <a:rPr sz="1800" dirty="0">
                <a:latin typeface="Georgia" panose="02040502050405020303"/>
                <a:cs typeface="Georgia" panose="02040502050405020303"/>
              </a:rPr>
              <a:t>	</a:t>
            </a:r>
            <a:r>
              <a:rPr sz="1800" dirty="0">
                <a:latin typeface="Georgia" panose="02040502050405020303"/>
                <a:cs typeface="Georgia" panose="02040502050405020303"/>
              </a:rPr>
              <a:t>AI</a:t>
            </a:r>
            <a:r>
              <a:rPr sz="1800" spc="-25" dirty="0">
                <a:latin typeface="Georgia" panose="02040502050405020303"/>
                <a:cs typeface="Georgia" panose="02040502050405020303"/>
              </a:rPr>
              <a:t> </a:t>
            </a:r>
            <a:r>
              <a:rPr sz="1800" dirty="0">
                <a:latin typeface="Georgia" panose="02040502050405020303"/>
                <a:cs typeface="Georgia" panose="02040502050405020303"/>
              </a:rPr>
              <a:t>could</a:t>
            </a:r>
            <a:r>
              <a:rPr sz="1800" spc="-20" dirty="0">
                <a:latin typeface="Georgia" panose="02040502050405020303"/>
                <a:cs typeface="Georgia" panose="02040502050405020303"/>
              </a:rPr>
              <a:t> </a:t>
            </a:r>
            <a:r>
              <a:rPr sz="1800" dirty="0">
                <a:latin typeface="Georgia" panose="02040502050405020303"/>
                <a:cs typeface="Georgia" panose="02040502050405020303"/>
              </a:rPr>
              <a:t>soon</a:t>
            </a:r>
            <a:r>
              <a:rPr sz="1800" spc="-25" dirty="0">
                <a:latin typeface="Georgia" panose="02040502050405020303"/>
                <a:cs typeface="Georgia" panose="02040502050405020303"/>
              </a:rPr>
              <a:t> </a:t>
            </a:r>
            <a:r>
              <a:rPr sz="1800" dirty="0">
                <a:latin typeface="Georgia" panose="02040502050405020303"/>
                <a:cs typeface="Georgia" panose="02040502050405020303"/>
              </a:rPr>
              <a:t>impact</a:t>
            </a:r>
            <a:r>
              <a:rPr sz="1800" spc="-25" dirty="0">
                <a:latin typeface="Georgia" panose="02040502050405020303"/>
                <a:cs typeface="Georgia" panose="02040502050405020303"/>
              </a:rPr>
              <a:t> </a:t>
            </a:r>
            <a:r>
              <a:rPr sz="1800" dirty="0">
                <a:latin typeface="Georgia" panose="02040502050405020303"/>
                <a:cs typeface="Georgia" panose="02040502050405020303"/>
              </a:rPr>
              <a:t>every</a:t>
            </a:r>
            <a:r>
              <a:rPr sz="1800" spc="-20" dirty="0">
                <a:latin typeface="Georgia" panose="02040502050405020303"/>
                <a:cs typeface="Georgia" panose="02040502050405020303"/>
              </a:rPr>
              <a:t> </a:t>
            </a:r>
            <a:r>
              <a:rPr sz="1800" dirty="0">
                <a:latin typeface="Georgia" panose="02040502050405020303"/>
                <a:cs typeface="Georgia" panose="02040502050405020303"/>
              </a:rPr>
              <a:t>sector</a:t>
            </a:r>
            <a:r>
              <a:rPr sz="1800" spc="-25" dirty="0">
                <a:latin typeface="Georgia" panose="02040502050405020303"/>
                <a:cs typeface="Georgia" panose="02040502050405020303"/>
              </a:rPr>
              <a:t> </a:t>
            </a:r>
            <a:r>
              <a:rPr sz="1800" dirty="0">
                <a:latin typeface="Georgia" panose="02040502050405020303"/>
                <a:cs typeface="Georgia" panose="02040502050405020303"/>
              </a:rPr>
              <a:t>of</a:t>
            </a:r>
            <a:r>
              <a:rPr sz="1800" spc="-15" dirty="0">
                <a:latin typeface="Georgia" panose="02040502050405020303"/>
                <a:cs typeface="Georgia" panose="02040502050405020303"/>
              </a:rPr>
              <a:t> </a:t>
            </a:r>
            <a:r>
              <a:rPr sz="1800" dirty="0">
                <a:latin typeface="Georgia" panose="02040502050405020303"/>
                <a:cs typeface="Georgia" panose="02040502050405020303"/>
              </a:rPr>
              <a:t>our</a:t>
            </a:r>
            <a:r>
              <a:rPr sz="1800" spc="-25" dirty="0">
                <a:latin typeface="Georgia" panose="02040502050405020303"/>
                <a:cs typeface="Georgia" panose="02040502050405020303"/>
              </a:rPr>
              <a:t> </a:t>
            </a:r>
            <a:r>
              <a:rPr sz="1800" dirty="0">
                <a:latin typeface="Georgia" panose="02040502050405020303"/>
                <a:cs typeface="Georgia" panose="02040502050405020303"/>
              </a:rPr>
              <a:t>life.</a:t>
            </a:r>
            <a:r>
              <a:rPr sz="1800" spc="-70" dirty="0">
                <a:latin typeface="Georgia" panose="02040502050405020303"/>
                <a:cs typeface="Georgia" panose="02040502050405020303"/>
              </a:rPr>
              <a:t> </a:t>
            </a:r>
            <a:r>
              <a:rPr sz="1800" dirty="0">
                <a:latin typeface="Georgia" panose="02040502050405020303"/>
                <a:cs typeface="Georgia" panose="02040502050405020303"/>
              </a:rPr>
              <a:t>It</a:t>
            </a:r>
            <a:r>
              <a:rPr sz="1800" spc="-30" dirty="0">
                <a:latin typeface="Georgia" panose="02040502050405020303"/>
                <a:cs typeface="Georgia" panose="02040502050405020303"/>
              </a:rPr>
              <a:t> </a:t>
            </a:r>
            <a:r>
              <a:rPr sz="1800" dirty="0">
                <a:latin typeface="Georgia" panose="02040502050405020303"/>
                <a:cs typeface="Georgia" panose="02040502050405020303"/>
              </a:rPr>
              <a:t>will</a:t>
            </a:r>
            <a:r>
              <a:rPr sz="1800" spc="-35" dirty="0">
                <a:latin typeface="Georgia" panose="02040502050405020303"/>
                <a:cs typeface="Georgia" panose="02040502050405020303"/>
              </a:rPr>
              <a:t> </a:t>
            </a:r>
            <a:r>
              <a:rPr sz="1800" dirty="0">
                <a:latin typeface="Georgia" panose="02040502050405020303"/>
                <a:cs typeface="Georgia" panose="02040502050405020303"/>
              </a:rPr>
              <a:t>improve</a:t>
            </a:r>
            <a:r>
              <a:rPr sz="1800" spc="-20" dirty="0">
                <a:latin typeface="Georgia" panose="02040502050405020303"/>
                <a:cs typeface="Georgia" panose="02040502050405020303"/>
              </a:rPr>
              <a:t> </a:t>
            </a:r>
            <a:r>
              <a:rPr sz="1800" spc="-25" dirty="0">
                <a:latin typeface="Georgia" panose="02040502050405020303"/>
                <a:cs typeface="Georgia" panose="02040502050405020303"/>
              </a:rPr>
              <a:t>our </a:t>
            </a:r>
            <a:r>
              <a:rPr sz="1800" dirty="0">
                <a:latin typeface="Georgia" panose="02040502050405020303"/>
                <a:cs typeface="Georgia" panose="02040502050405020303"/>
              </a:rPr>
              <a:t>safety,</a:t>
            </a:r>
            <a:r>
              <a:rPr sz="1800" spc="-30" dirty="0">
                <a:latin typeface="Georgia" panose="02040502050405020303"/>
                <a:cs typeface="Georgia" panose="02040502050405020303"/>
              </a:rPr>
              <a:t> </a:t>
            </a:r>
            <a:r>
              <a:rPr sz="1800" dirty="0">
                <a:latin typeface="Georgia" panose="02040502050405020303"/>
                <a:cs typeface="Georgia" panose="02040502050405020303"/>
              </a:rPr>
              <a:t>but</a:t>
            </a:r>
            <a:r>
              <a:rPr sz="1800" spc="-30" dirty="0">
                <a:latin typeface="Georgia" panose="02040502050405020303"/>
                <a:cs typeface="Georgia" panose="02040502050405020303"/>
              </a:rPr>
              <a:t> </a:t>
            </a:r>
            <a:r>
              <a:rPr sz="1800" dirty="0">
                <a:latin typeface="Georgia" panose="02040502050405020303"/>
                <a:cs typeface="Georgia" panose="02040502050405020303"/>
              </a:rPr>
              <a:t>we</a:t>
            </a:r>
            <a:r>
              <a:rPr sz="1800" spc="-30" dirty="0">
                <a:latin typeface="Georgia" panose="02040502050405020303"/>
                <a:cs typeface="Georgia" panose="02040502050405020303"/>
              </a:rPr>
              <a:t> </a:t>
            </a:r>
            <a:r>
              <a:rPr sz="1800" dirty="0">
                <a:latin typeface="Georgia" panose="02040502050405020303"/>
                <a:cs typeface="Georgia" panose="02040502050405020303"/>
              </a:rPr>
              <a:t>have</a:t>
            </a:r>
            <a:r>
              <a:rPr sz="1800" spc="-15" dirty="0">
                <a:latin typeface="Georgia" panose="02040502050405020303"/>
                <a:cs typeface="Georgia" panose="02040502050405020303"/>
              </a:rPr>
              <a:t> </a:t>
            </a:r>
            <a:r>
              <a:rPr sz="1800" dirty="0">
                <a:latin typeface="Georgia" panose="02040502050405020303"/>
                <a:cs typeface="Georgia" panose="02040502050405020303"/>
              </a:rPr>
              <a:t>to</a:t>
            </a:r>
            <a:r>
              <a:rPr sz="1800" spc="-25" dirty="0">
                <a:latin typeface="Georgia" panose="02040502050405020303"/>
                <a:cs typeface="Georgia" panose="02040502050405020303"/>
              </a:rPr>
              <a:t> </a:t>
            </a:r>
            <a:r>
              <a:rPr sz="1800" dirty="0">
                <a:latin typeface="Georgia" panose="02040502050405020303"/>
                <a:cs typeface="Georgia" panose="02040502050405020303"/>
              </a:rPr>
              <a:t>remember:</a:t>
            </a:r>
            <a:r>
              <a:rPr sz="1800" spc="-35" dirty="0">
                <a:latin typeface="Georgia" panose="02040502050405020303"/>
                <a:cs typeface="Georgia" panose="02040502050405020303"/>
              </a:rPr>
              <a:t> </a:t>
            </a:r>
            <a:r>
              <a:rPr sz="1800" dirty="0">
                <a:latin typeface="Georgia" panose="02040502050405020303"/>
                <a:cs typeface="Georgia" panose="02040502050405020303"/>
              </a:rPr>
              <a:t>we</a:t>
            </a:r>
            <a:r>
              <a:rPr sz="1800" spc="-30" dirty="0">
                <a:latin typeface="Georgia" panose="02040502050405020303"/>
                <a:cs typeface="Georgia" panose="02040502050405020303"/>
              </a:rPr>
              <a:t> </a:t>
            </a:r>
            <a:r>
              <a:rPr sz="1800" dirty="0">
                <a:latin typeface="Georgia" panose="02040502050405020303"/>
                <a:cs typeface="Georgia" panose="02040502050405020303"/>
              </a:rPr>
              <a:t>cannot</a:t>
            </a:r>
            <a:r>
              <a:rPr sz="1800" spc="-30" dirty="0">
                <a:latin typeface="Georgia" panose="02040502050405020303"/>
                <a:cs typeface="Georgia" panose="02040502050405020303"/>
              </a:rPr>
              <a:t> </a:t>
            </a:r>
            <a:r>
              <a:rPr sz="1800" dirty="0">
                <a:latin typeface="Georgia" panose="02040502050405020303"/>
                <a:cs typeface="Georgia" panose="02040502050405020303"/>
              </a:rPr>
              <a:t>rely</a:t>
            </a:r>
            <a:r>
              <a:rPr sz="1800" spc="-35" dirty="0">
                <a:latin typeface="Georgia" panose="02040502050405020303"/>
                <a:cs typeface="Georgia" panose="02040502050405020303"/>
              </a:rPr>
              <a:t> </a:t>
            </a:r>
            <a:r>
              <a:rPr sz="1800" dirty="0">
                <a:latin typeface="Georgia" panose="02040502050405020303"/>
                <a:cs typeface="Georgia" panose="02040502050405020303"/>
              </a:rPr>
              <a:t>on</a:t>
            </a:r>
            <a:r>
              <a:rPr sz="1800" spc="-30" dirty="0">
                <a:latin typeface="Georgia" panose="02040502050405020303"/>
                <a:cs typeface="Georgia" panose="02040502050405020303"/>
              </a:rPr>
              <a:t> </a:t>
            </a:r>
            <a:r>
              <a:rPr sz="1800" dirty="0">
                <a:latin typeface="Georgia" panose="02040502050405020303"/>
                <a:cs typeface="Georgia" panose="02040502050405020303"/>
              </a:rPr>
              <a:t>an</a:t>
            </a:r>
            <a:r>
              <a:rPr sz="1800" spc="-25" dirty="0">
                <a:latin typeface="Georgia" panose="02040502050405020303"/>
                <a:cs typeface="Georgia" panose="02040502050405020303"/>
              </a:rPr>
              <a:t> </a:t>
            </a:r>
            <a:r>
              <a:rPr sz="1800" dirty="0">
                <a:latin typeface="Georgia" panose="02040502050405020303"/>
                <a:cs typeface="Georgia" panose="02040502050405020303"/>
              </a:rPr>
              <a:t>algorithm</a:t>
            </a:r>
            <a:r>
              <a:rPr sz="1800" spc="-35" dirty="0">
                <a:latin typeface="Georgia" panose="02040502050405020303"/>
                <a:cs typeface="Georgia" panose="02040502050405020303"/>
              </a:rPr>
              <a:t> </a:t>
            </a:r>
            <a:r>
              <a:rPr sz="1800" spc="-25" dirty="0">
                <a:latin typeface="Georgia" panose="02040502050405020303"/>
                <a:cs typeface="Georgia" panose="02040502050405020303"/>
              </a:rPr>
              <a:t>to </a:t>
            </a:r>
            <a:r>
              <a:rPr sz="1800" dirty="0">
                <a:latin typeface="Georgia" panose="02040502050405020303"/>
                <a:cs typeface="Georgia" panose="02040502050405020303"/>
              </a:rPr>
              <a:t>protect</a:t>
            </a:r>
            <a:r>
              <a:rPr sz="1800" spc="-35" dirty="0">
                <a:latin typeface="Georgia" panose="02040502050405020303"/>
                <a:cs typeface="Georgia" panose="02040502050405020303"/>
              </a:rPr>
              <a:t> </a:t>
            </a:r>
            <a:r>
              <a:rPr sz="1800" dirty="0">
                <a:latin typeface="Georgia" panose="02040502050405020303"/>
                <a:cs typeface="Georgia" panose="02040502050405020303"/>
              </a:rPr>
              <a:t>us</a:t>
            </a:r>
            <a:r>
              <a:rPr sz="1800" spc="-25" dirty="0">
                <a:latin typeface="Georgia" panose="02040502050405020303"/>
                <a:cs typeface="Georgia" panose="02040502050405020303"/>
              </a:rPr>
              <a:t> </a:t>
            </a:r>
            <a:r>
              <a:rPr sz="1800" dirty="0">
                <a:latin typeface="Georgia" panose="02040502050405020303"/>
                <a:cs typeface="Georgia" panose="02040502050405020303"/>
              </a:rPr>
              <a:t>in</a:t>
            </a:r>
            <a:r>
              <a:rPr sz="1800" spc="-35" dirty="0">
                <a:latin typeface="Georgia" panose="02040502050405020303"/>
                <a:cs typeface="Georgia" panose="02040502050405020303"/>
              </a:rPr>
              <a:t> </a:t>
            </a:r>
            <a:r>
              <a:rPr sz="1800" dirty="0">
                <a:latin typeface="Georgia" panose="02040502050405020303"/>
                <a:cs typeface="Georgia" panose="02040502050405020303"/>
              </a:rPr>
              <a:t>every</a:t>
            </a:r>
            <a:r>
              <a:rPr sz="1800" spc="-25" dirty="0">
                <a:latin typeface="Georgia" panose="02040502050405020303"/>
                <a:cs typeface="Georgia" panose="02040502050405020303"/>
              </a:rPr>
              <a:t> </a:t>
            </a:r>
            <a:r>
              <a:rPr sz="1800" spc="-10" dirty="0">
                <a:latin typeface="Georgia" panose="02040502050405020303"/>
                <a:cs typeface="Georgia" panose="02040502050405020303"/>
              </a:rPr>
              <a:t>instance.</a:t>
            </a:r>
            <a:endParaRPr sz="1800">
              <a:latin typeface="Georgia" panose="02040502050405020303"/>
              <a:cs typeface="Georgia" panose="02040502050405020303"/>
            </a:endParaRPr>
          </a:p>
          <a:p>
            <a:pPr marL="240665" indent="-227965">
              <a:lnSpc>
                <a:spcPct val="100000"/>
              </a:lnSpc>
              <a:spcBef>
                <a:spcPts val="435"/>
              </a:spcBef>
              <a:buClr>
                <a:srgbClr val="0AD0D9"/>
              </a:buClr>
              <a:buSzPct val="89000"/>
              <a:buFont typeface="Wingdings" panose="05000000000000000000"/>
              <a:buChar char=""/>
              <a:tabLst>
                <a:tab pos="240665" algn="l"/>
              </a:tabLst>
            </a:pPr>
            <a:r>
              <a:rPr sz="1800" dirty="0">
                <a:latin typeface="Georgia" panose="02040502050405020303"/>
                <a:cs typeface="Georgia" panose="02040502050405020303"/>
              </a:rPr>
              <a:t>In</a:t>
            </a:r>
            <a:r>
              <a:rPr sz="1800" spc="-15" dirty="0">
                <a:latin typeface="Georgia" panose="02040502050405020303"/>
                <a:cs typeface="Georgia" panose="02040502050405020303"/>
              </a:rPr>
              <a:t> </a:t>
            </a:r>
            <a:r>
              <a:rPr sz="1800" dirty="0">
                <a:latin typeface="Georgia" panose="02040502050405020303"/>
                <a:cs typeface="Georgia" panose="02040502050405020303"/>
              </a:rPr>
              <a:t>some</a:t>
            </a:r>
            <a:r>
              <a:rPr sz="1800" spc="-15" dirty="0">
                <a:latin typeface="Georgia" panose="02040502050405020303"/>
                <a:cs typeface="Georgia" panose="02040502050405020303"/>
              </a:rPr>
              <a:t> </a:t>
            </a:r>
            <a:r>
              <a:rPr sz="1800" dirty="0">
                <a:latin typeface="Georgia" panose="02040502050405020303"/>
                <a:cs typeface="Georgia" panose="02040502050405020303"/>
              </a:rPr>
              <a:t>cases,</a:t>
            </a:r>
            <a:r>
              <a:rPr sz="1800" spc="-20" dirty="0">
                <a:latin typeface="Georgia" panose="02040502050405020303"/>
                <a:cs typeface="Georgia" panose="02040502050405020303"/>
              </a:rPr>
              <a:t> </a:t>
            </a:r>
            <a:r>
              <a:rPr sz="1800" dirty="0">
                <a:latin typeface="Georgia" panose="02040502050405020303"/>
                <a:cs typeface="Georgia" panose="02040502050405020303"/>
              </a:rPr>
              <a:t>we</a:t>
            </a:r>
            <a:r>
              <a:rPr sz="1800" spc="-10" dirty="0">
                <a:latin typeface="Georgia" panose="02040502050405020303"/>
                <a:cs typeface="Georgia" panose="02040502050405020303"/>
              </a:rPr>
              <a:t> </a:t>
            </a:r>
            <a:r>
              <a:rPr sz="1800" dirty="0">
                <a:latin typeface="Georgia" panose="02040502050405020303"/>
                <a:cs typeface="Georgia" panose="02040502050405020303"/>
              </a:rPr>
              <a:t>will</a:t>
            </a:r>
            <a:r>
              <a:rPr sz="1800" spc="-35" dirty="0">
                <a:latin typeface="Georgia" panose="02040502050405020303"/>
                <a:cs typeface="Georgia" panose="02040502050405020303"/>
              </a:rPr>
              <a:t> </a:t>
            </a:r>
            <a:r>
              <a:rPr sz="1800" dirty="0">
                <a:latin typeface="Georgia" panose="02040502050405020303"/>
                <a:cs typeface="Georgia" panose="02040502050405020303"/>
              </a:rPr>
              <a:t>need</a:t>
            </a:r>
            <a:r>
              <a:rPr sz="1800" spc="-25" dirty="0">
                <a:latin typeface="Georgia" panose="02040502050405020303"/>
                <a:cs typeface="Georgia" panose="02040502050405020303"/>
              </a:rPr>
              <a:t> </a:t>
            </a:r>
            <a:r>
              <a:rPr sz="1800" dirty="0">
                <a:latin typeface="Georgia" panose="02040502050405020303"/>
                <a:cs typeface="Georgia" panose="02040502050405020303"/>
              </a:rPr>
              <a:t>to</a:t>
            </a:r>
            <a:r>
              <a:rPr sz="1800" spc="-10" dirty="0">
                <a:latin typeface="Georgia" panose="02040502050405020303"/>
                <a:cs typeface="Georgia" panose="02040502050405020303"/>
              </a:rPr>
              <a:t> </a:t>
            </a:r>
            <a:r>
              <a:rPr sz="1800" dirty="0">
                <a:latin typeface="Georgia" panose="02040502050405020303"/>
                <a:cs typeface="Georgia" panose="02040502050405020303"/>
              </a:rPr>
              <a:t>leave</a:t>
            </a:r>
            <a:r>
              <a:rPr sz="1800" spc="-10" dirty="0">
                <a:latin typeface="Georgia" panose="02040502050405020303"/>
                <a:cs typeface="Georgia" panose="02040502050405020303"/>
              </a:rPr>
              <a:t> </a:t>
            </a:r>
            <a:r>
              <a:rPr sz="1800" dirty="0">
                <a:latin typeface="Georgia" panose="02040502050405020303"/>
                <a:cs typeface="Georgia" panose="02040502050405020303"/>
              </a:rPr>
              <a:t>the</a:t>
            </a:r>
            <a:r>
              <a:rPr sz="1800" spc="-5" dirty="0">
                <a:latin typeface="Georgia" panose="02040502050405020303"/>
                <a:cs typeface="Georgia" panose="02040502050405020303"/>
              </a:rPr>
              <a:t> </a:t>
            </a:r>
            <a:r>
              <a:rPr sz="1800" dirty="0">
                <a:latin typeface="Georgia" panose="02040502050405020303"/>
                <a:cs typeface="Georgia" panose="02040502050405020303"/>
              </a:rPr>
              <a:t>final</a:t>
            </a:r>
            <a:r>
              <a:rPr sz="1800" spc="-25" dirty="0">
                <a:latin typeface="Georgia" panose="02040502050405020303"/>
                <a:cs typeface="Georgia" panose="02040502050405020303"/>
              </a:rPr>
              <a:t> </a:t>
            </a:r>
            <a:r>
              <a:rPr sz="1800" dirty="0">
                <a:latin typeface="Georgia" panose="02040502050405020303"/>
                <a:cs typeface="Georgia" panose="02040502050405020303"/>
              </a:rPr>
              <a:t>decision</a:t>
            </a:r>
            <a:r>
              <a:rPr sz="1800" spc="-30" dirty="0">
                <a:latin typeface="Georgia" panose="02040502050405020303"/>
                <a:cs typeface="Georgia" panose="02040502050405020303"/>
              </a:rPr>
              <a:t> </a:t>
            </a:r>
            <a:r>
              <a:rPr sz="1800" dirty="0">
                <a:latin typeface="Georgia" panose="02040502050405020303"/>
                <a:cs typeface="Georgia" panose="02040502050405020303"/>
              </a:rPr>
              <a:t>to</a:t>
            </a:r>
            <a:r>
              <a:rPr sz="1800" spc="-10" dirty="0">
                <a:latin typeface="Georgia" panose="02040502050405020303"/>
                <a:cs typeface="Georgia" panose="02040502050405020303"/>
              </a:rPr>
              <a:t> </a:t>
            </a:r>
            <a:r>
              <a:rPr sz="1800" dirty="0">
                <a:latin typeface="Georgia" panose="02040502050405020303"/>
                <a:cs typeface="Georgia" panose="02040502050405020303"/>
              </a:rPr>
              <a:t>a</a:t>
            </a:r>
            <a:r>
              <a:rPr sz="1800" spc="-15" dirty="0">
                <a:latin typeface="Georgia" panose="02040502050405020303"/>
                <a:cs typeface="Georgia" panose="02040502050405020303"/>
              </a:rPr>
              <a:t> </a:t>
            </a:r>
            <a:r>
              <a:rPr sz="1800" spc="-10" dirty="0">
                <a:latin typeface="Georgia" panose="02040502050405020303"/>
                <a:cs typeface="Georgia" panose="02040502050405020303"/>
              </a:rPr>
              <a:t>human.</a:t>
            </a:r>
            <a:endParaRPr sz="1800">
              <a:latin typeface="Georgia" panose="02040502050405020303"/>
              <a:cs typeface="Georgia" panose="02040502050405020303"/>
            </a:endParaRPr>
          </a:p>
          <a:p>
            <a:pPr marL="12700" marR="5080" indent="-1905" algn="just">
              <a:lnSpc>
                <a:spcPct val="100000"/>
              </a:lnSpc>
              <a:spcBef>
                <a:spcPts val="430"/>
              </a:spcBef>
              <a:buClr>
                <a:srgbClr val="0AD0D9"/>
              </a:buClr>
              <a:buSzPct val="89000"/>
              <a:buFont typeface="Wingdings" panose="05000000000000000000"/>
              <a:buChar char=""/>
              <a:tabLst>
                <a:tab pos="185420" algn="l"/>
              </a:tabLst>
            </a:pPr>
            <a:r>
              <a:rPr sz="1800" dirty="0">
                <a:latin typeface="Georgia" panose="02040502050405020303"/>
                <a:cs typeface="Georgia" panose="02040502050405020303"/>
              </a:rPr>
              <a:t>	</a:t>
            </a:r>
            <a:r>
              <a:rPr sz="1800" dirty="0">
                <a:latin typeface="Georgia" panose="02040502050405020303"/>
                <a:cs typeface="Georgia" panose="02040502050405020303"/>
              </a:rPr>
              <a:t>Fully</a:t>
            </a:r>
            <a:r>
              <a:rPr sz="1800" spc="-30" dirty="0">
                <a:latin typeface="Georgia" panose="02040502050405020303"/>
                <a:cs typeface="Georgia" panose="02040502050405020303"/>
              </a:rPr>
              <a:t> </a:t>
            </a:r>
            <a:r>
              <a:rPr sz="1800" spc="-10" dirty="0">
                <a:latin typeface="Georgia" panose="02040502050405020303"/>
                <a:cs typeface="Georgia" panose="02040502050405020303"/>
              </a:rPr>
              <a:t>self-</a:t>
            </a:r>
            <a:r>
              <a:rPr sz="1800" dirty="0">
                <a:latin typeface="Georgia" panose="02040502050405020303"/>
                <a:cs typeface="Georgia" panose="02040502050405020303"/>
              </a:rPr>
              <a:t>driving</a:t>
            </a:r>
            <a:r>
              <a:rPr sz="1800" spc="-30" dirty="0">
                <a:latin typeface="Georgia" panose="02040502050405020303"/>
                <a:cs typeface="Georgia" panose="02040502050405020303"/>
              </a:rPr>
              <a:t> </a:t>
            </a:r>
            <a:r>
              <a:rPr sz="1800" dirty="0">
                <a:latin typeface="Georgia" panose="02040502050405020303"/>
                <a:cs typeface="Georgia" panose="02040502050405020303"/>
              </a:rPr>
              <a:t>cars</a:t>
            </a:r>
            <a:r>
              <a:rPr sz="1800" spc="-40" dirty="0">
                <a:latin typeface="Georgia" panose="02040502050405020303"/>
                <a:cs typeface="Georgia" panose="02040502050405020303"/>
              </a:rPr>
              <a:t> </a:t>
            </a:r>
            <a:r>
              <a:rPr sz="1800" dirty="0">
                <a:latin typeface="Georgia" panose="02040502050405020303"/>
                <a:cs typeface="Georgia" panose="02040502050405020303"/>
              </a:rPr>
              <a:t>are</a:t>
            </a:r>
            <a:r>
              <a:rPr sz="1800" spc="-25" dirty="0">
                <a:latin typeface="Georgia" panose="02040502050405020303"/>
                <a:cs typeface="Georgia" panose="02040502050405020303"/>
              </a:rPr>
              <a:t> </a:t>
            </a:r>
            <a:r>
              <a:rPr sz="1800" dirty="0">
                <a:latin typeface="Georgia" panose="02040502050405020303"/>
                <a:cs typeface="Georgia" panose="02040502050405020303"/>
              </a:rPr>
              <a:t>now</a:t>
            </a:r>
            <a:r>
              <a:rPr sz="1800" spc="-35" dirty="0">
                <a:latin typeface="Georgia" panose="02040502050405020303"/>
                <a:cs typeface="Georgia" panose="02040502050405020303"/>
              </a:rPr>
              <a:t> </a:t>
            </a:r>
            <a:r>
              <a:rPr sz="1800" dirty="0">
                <a:latin typeface="Georgia" panose="02040502050405020303"/>
                <a:cs typeface="Georgia" panose="02040502050405020303"/>
              </a:rPr>
              <a:t>a</a:t>
            </a:r>
            <a:r>
              <a:rPr sz="1800" spc="-35" dirty="0">
                <a:latin typeface="Georgia" panose="02040502050405020303"/>
                <a:cs typeface="Georgia" panose="02040502050405020303"/>
              </a:rPr>
              <a:t> </a:t>
            </a:r>
            <a:r>
              <a:rPr sz="1800" dirty="0">
                <a:latin typeface="Georgia" panose="02040502050405020303"/>
                <a:cs typeface="Georgia" panose="02040502050405020303"/>
              </a:rPr>
              <a:t>reality.</a:t>
            </a:r>
            <a:r>
              <a:rPr sz="1800" spc="-35" dirty="0">
                <a:latin typeface="Georgia" panose="02040502050405020303"/>
                <a:cs typeface="Georgia" panose="02040502050405020303"/>
              </a:rPr>
              <a:t> </a:t>
            </a:r>
            <a:r>
              <a:rPr sz="1800" dirty="0">
                <a:latin typeface="Georgia" panose="02040502050405020303"/>
                <a:cs typeface="Georgia" panose="02040502050405020303"/>
              </a:rPr>
              <a:t>Tesla</a:t>
            </a:r>
            <a:r>
              <a:rPr sz="1800" spc="-50" dirty="0">
                <a:latin typeface="Georgia" panose="02040502050405020303"/>
                <a:cs typeface="Georgia" panose="02040502050405020303"/>
              </a:rPr>
              <a:t> </a:t>
            </a:r>
            <a:r>
              <a:rPr sz="1800" dirty="0">
                <a:latin typeface="Georgia" panose="02040502050405020303"/>
                <a:cs typeface="Georgia" panose="02040502050405020303"/>
              </a:rPr>
              <a:t>is</a:t>
            </a:r>
            <a:r>
              <a:rPr sz="1800" spc="-35" dirty="0">
                <a:latin typeface="Georgia" panose="02040502050405020303"/>
                <a:cs typeface="Georgia" panose="02040502050405020303"/>
              </a:rPr>
              <a:t> </a:t>
            </a:r>
            <a:r>
              <a:rPr sz="1800" dirty="0">
                <a:latin typeface="Georgia" panose="02040502050405020303"/>
                <a:cs typeface="Georgia" panose="02040502050405020303"/>
              </a:rPr>
              <a:t>the</a:t>
            </a:r>
            <a:r>
              <a:rPr sz="1800" spc="-25" dirty="0">
                <a:latin typeface="Georgia" panose="02040502050405020303"/>
                <a:cs typeface="Georgia" panose="02040502050405020303"/>
              </a:rPr>
              <a:t> </a:t>
            </a:r>
            <a:r>
              <a:rPr sz="1800" dirty="0">
                <a:latin typeface="Georgia" panose="02040502050405020303"/>
                <a:cs typeface="Georgia" panose="02040502050405020303"/>
              </a:rPr>
              <a:t>first</a:t>
            </a:r>
            <a:r>
              <a:rPr sz="1800" spc="-25" dirty="0">
                <a:latin typeface="Georgia" panose="02040502050405020303"/>
                <a:cs typeface="Georgia" panose="02040502050405020303"/>
              </a:rPr>
              <a:t> </a:t>
            </a:r>
            <a:r>
              <a:rPr sz="1800" dirty="0">
                <a:latin typeface="Georgia" panose="02040502050405020303"/>
                <a:cs typeface="Georgia" panose="02040502050405020303"/>
              </a:rPr>
              <a:t>company</a:t>
            </a:r>
            <a:r>
              <a:rPr sz="1800" spc="-45" dirty="0">
                <a:latin typeface="Georgia" panose="02040502050405020303"/>
                <a:cs typeface="Georgia" panose="02040502050405020303"/>
              </a:rPr>
              <a:t> </a:t>
            </a:r>
            <a:r>
              <a:rPr sz="1800" spc="-25" dirty="0">
                <a:latin typeface="Georgia" panose="02040502050405020303"/>
                <a:cs typeface="Georgia" panose="02040502050405020303"/>
              </a:rPr>
              <a:t>to </a:t>
            </a:r>
            <a:r>
              <a:rPr sz="1800" dirty="0">
                <a:latin typeface="Georgia" panose="02040502050405020303"/>
                <a:cs typeface="Georgia" panose="02040502050405020303"/>
              </a:rPr>
              <a:t>make</a:t>
            </a:r>
            <a:r>
              <a:rPr sz="1800" spc="-35" dirty="0">
                <a:latin typeface="Georgia" panose="02040502050405020303"/>
                <a:cs typeface="Georgia" panose="02040502050405020303"/>
              </a:rPr>
              <a:t> </a:t>
            </a:r>
            <a:r>
              <a:rPr sz="1800" dirty="0">
                <a:latin typeface="Georgia" panose="02040502050405020303"/>
                <a:cs typeface="Georgia" panose="02040502050405020303"/>
              </a:rPr>
              <a:t>a</a:t>
            </a:r>
            <a:r>
              <a:rPr sz="1800" spc="-45" dirty="0">
                <a:latin typeface="Georgia" panose="02040502050405020303"/>
                <a:cs typeface="Georgia" panose="02040502050405020303"/>
              </a:rPr>
              <a:t> </a:t>
            </a:r>
            <a:r>
              <a:rPr sz="1800" dirty="0">
                <a:latin typeface="Georgia" panose="02040502050405020303"/>
                <a:cs typeface="Georgia" panose="02040502050405020303"/>
              </a:rPr>
              <a:t>car</a:t>
            </a:r>
            <a:r>
              <a:rPr sz="1800" spc="-40" dirty="0">
                <a:latin typeface="Georgia" panose="02040502050405020303"/>
                <a:cs typeface="Georgia" panose="02040502050405020303"/>
              </a:rPr>
              <a:t> </a:t>
            </a:r>
            <a:r>
              <a:rPr sz="1800" dirty="0">
                <a:latin typeface="Georgia" panose="02040502050405020303"/>
                <a:cs typeface="Georgia" panose="02040502050405020303"/>
              </a:rPr>
              <a:t>with</a:t>
            </a:r>
            <a:r>
              <a:rPr sz="1800" spc="-45" dirty="0">
                <a:latin typeface="Georgia" panose="02040502050405020303"/>
                <a:cs typeface="Georgia" panose="02040502050405020303"/>
              </a:rPr>
              <a:t> </a:t>
            </a:r>
            <a:r>
              <a:rPr sz="1800" dirty="0">
                <a:latin typeface="Georgia" panose="02040502050405020303"/>
                <a:cs typeface="Georgia" panose="02040502050405020303"/>
              </a:rPr>
              <a:t>all</a:t>
            </a:r>
            <a:r>
              <a:rPr sz="1800" spc="-40" dirty="0">
                <a:latin typeface="Georgia" panose="02040502050405020303"/>
                <a:cs typeface="Georgia" panose="02040502050405020303"/>
              </a:rPr>
              <a:t> </a:t>
            </a:r>
            <a:r>
              <a:rPr sz="1800" dirty="0">
                <a:latin typeface="Georgia" panose="02040502050405020303"/>
                <a:cs typeface="Georgia" panose="02040502050405020303"/>
              </a:rPr>
              <a:t>of</a:t>
            </a:r>
            <a:r>
              <a:rPr sz="1800" spc="-35" dirty="0">
                <a:latin typeface="Georgia" panose="02040502050405020303"/>
                <a:cs typeface="Georgia" panose="02040502050405020303"/>
              </a:rPr>
              <a:t> </a:t>
            </a:r>
            <a:r>
              <a:rPr sz="1800" dirty="0">
                <a:latin typeface="Georgia" panose="02040502050405020303"/>
                <a:cs typeface="Georgia" panose="02040502050405020303"/>
              </a:rPr>
              <a:t>the</a:t>
            </a:r>
            <a:r>
              <a:rPr sz="1800" spc="-30" dirty="0">
                <a:latin typeface="Georgia" panose="02040502050405020303"/>
                <a:cs typeface="Georgia" panose="02040502050405020303"/>
              </a:rPr>
              <a:t> </a:t>
            </a:r>
            <a:r>
              <a:rPr sz="1800" dirty="0">
                <a:latin typeface="Georgia" panose="02040502050405020303"/>
                <a:cs typeface="Georgia" panose="02040502050405020303"/>
              </a:rPr>
              <a:t>sensors,</a:t>
            </a:r>
            <a:r>
              <a:rPr sz="1800" spc="-50" dirty="0">
                <a:latin typeface="Georgia" panose="02040502050405020303"/>
                <a:cs typeface="Georgia" panose="02040502050405020303"/>
              </a:rPr>
              <a:t> </a:t>
            </a:r>
            <a:r>
              <a:rPr sz="1800" dirty="0">
                <a:latin typeface="Georgia" panose="02040502050405020303"/>
                <a:cs typeface="Georgia" panose="02040502050405020303"/>
              </a:rPr>
              <a:t>cameras,</a:t>
            </a:r>
            <a:r>
              <a:rPr sz="1800" spc="-40" dirty="0">
                <a:latin typeface="Georgia" panose="02040502050405020303"/>
                <a:cs typeface="Georgia" panose="02040502050405020303"/>
              </a:rPr>
              <a:t> </a:t>
            </a:r>
            <a:r>
              <a:rPr sz="1800" dirty="0">
                <a:latin typeface="Georgia" panose="02040502050405020303"/>
                <a:cs typeface="Georgia" panose="02040502050405020303"/>
              </a:rPr>
              <a:t>and</a:t>
            </a:r>
            <a:r>
              <a:rPr sz="1800" spc="-45" dirty="0">
                <a:latin typeface="Georgia" panose="02040502050405020303"/>
                <a:cs typeface="Georgia" panose="02040502050405020303"/>
              </a:rPr>
              <a:t> </a:t>
            </a:r>
            <a:r>
              <a:rPr sz="1800" dirty="0">
                <a:latin typeface="Georgia" panose="02040502050405020303"/>
                <a:cs typeface="Georgia" panose="02040502050405020303"/>
              </a:rPr>
              <a:t>software</a:t>
            </a:r>
            <a:r>
              <a:rPr sz="1800" spc="-35" dirty="0">
                <a:latin typeface="Georgia" panose="02040502050405020303"/>
                <a:cs typeface="Georgia" panose="02040502050405020303"/>
              </a:rPr>
              <a:t> </a:t>
            </a:r>
            <a:r>
              <a:rPr sz="1800" dirty="0">
                <a:latin typeface="Georgia" panose="02040502050405020303"/>
                <a:cs typeface="Georgia" panose="02040502050405020303"/>
              </a:rPr>
              <a:t>needed</a:t>
            </a:r>
            <a:r>
              <a:rPr sz="1800" spc="-45" dirty="0">
                <a:latin typeface="Georgia" panose="02040502050405020303"/>
                <a:cs typeface="Georgia" panose="02040502050405020303"/>
              </a:rPr>
              <a:t> </a:t>
            </a:r>
            <a:r>
              <a:rPr sz="1800" dirty="0">
                <a:latin typeface="Georgia" panose="02040502050405020303"/>
                <a:cs typeface="Georgia" panose="02040502050405020303"/>
              </a:rPr>
              <a:t>for</a:t>
            </a:r>
            <a:r>
              <a:rPr sz="1800" spc="-40" dirty="0">
                <a:latin typeface="Georgia" panose="02040502050405020303"/>
                <a:cs typeface="Georgia" panose="02040502050405020303"/>
              </a:rPr>
              <a:t> </a:t>
            </a:r>
            <a:r>
              <a:rPr sz="1800" spc="-50" dirty="0">
                <a:latin typeface="Georgia" panose="02040502050405020303"/>
                <a:cs typeface="Georgia" panose="02040502050405020303"/>
              </a:rPr>
              <a:t>a </a:t>
            </a:r>
            <a:r>
              <a:rPr sz="1800" dirty="0">
                <a:latin typeface="Georgia" panose="02040502050405020303"/>
                <a:cs typeface="Georgia" panose="02040502050405020303"/>
              </a:rPr>
              <a:t>computer</a:t>
            </a:r>
            <a:r>
              <a:rPr sz="1800" spc="-40" dirty="0">
                <a:latin typeface="Georgia" panose="02040502050405020303"/>
                <a:cs typeface="Georgia" panose="02040502050405020303"/>
              </a:rPr>
              <a:t> </a:t>
            </a:r>
            <a:r>
              <a:rPr sz="1800" dirty="0">
                <a:latin typeface="Georgia" panose="02040502050405020303"/>
                <a:cs typeface="Georgia" panose="02040502050405020303"/>
              </a:rPr>
              <a:t>to</a:t>
            </a:r>
            <a:r>
              <a:rPr sz="1800" spc="-25" dirty="0">
                <a:latin typeface="Georgia" panose="02040502050405020303"/>
                <a:cs typeface="Georgia" panose="02040502050405020303"/>
              </a:rPr>
              <a:t> </a:t>
            </a:r>
            <a:r>
              <a:rPr sz="1800" dirty="0">
                <a:latin typeface="Georgia" panose="02040502050405020303"/>
                <a:cs typeface="Georgia" panose="02040502050405020303"/>
              </a:rPr>
              <a:t>drive</a:t>
            </a:r>
            <a:r>
              <a:rPr sz="1800" spc="-15" dirty="0">
                <a:latin typeface="Georgia" panose="02040502050405020303"/>
                <a:cs typeface="Georgia" panose="02040502050405020303"/>
              </a:rPr>
              <a:t> </a:t>
            </a:r>
            <a:r>
              <a:rPr sz="1800" dirty="0">
                <a:latin typeface="Georgia" panose="02040502050405020303"/>
                <a:cs typeface="Georgia" panose="02040502050405020303"/>
              </a:rPr>
              <a:t>itself</a:t>
            </a:r>
            <a:r>
              <a:rPr sz="1800" spc="-50" dirty="0">
                <a:latin typeface="Georgia" panose="02040502050405020303"/>
                <a:cs typeface="Georgia" panose="02040502050405020303"/>
              </a:rPr>
              <a:t> </a:t>
            </a:r>
            <a:r>
              <a:rPr sz="1800" dirty="0">
                <a:latin typeface="Georgia" panose="02040502050405020303"/>
                <a:cs typeface="Georgia" panose="02040502050405020303"/>
              </a:rPr>
              <a:t>from</a:t>
            </a:r>
            <a:r>
              <a:rPr sz="1800" spc="-25" dirty="0">
                <a:latin typeface="Georgia" panose="02040502050405020303"/>
                <a:cs typeface="Georgia" panose="02040502050405020303"/>
              </a:rPr>
              <a:t> </a:t>
            </a:r>
            <a:r>
              <a:rPr sz="1800" dirty="0">
                <a:latin typeface="Georgia" panose="02040502050405020303"/>
                <a:cs typeface="Georgia" panose="02040502050405020303"/>
              </a:rPr>
              <a:t>start</a:t>
            </a:r>
            <a:r>
              <a:rPr sz="1800" spc="-45" dirty="0">
                <a:latin typeface="Georgia" panose="02040502050405020303"/>
                <a:cs typeface="Georgia" panose="02040502050405020303"/>
              </a:rPr>
              <a:t> </a:t>
            </a:r>
            <a:r>
              <a:rPr sz="1800" dirty="0">
                <a:latin typeface="Georgia" panose="02040502050405020303"/>
                <a:cs typeface="Georgia" panose="02040502050405020303"/>
              </a:rPr>
              <a:t>to</a:t>
            </a:r>
            <a:r>
              <a:rPr sz="1800" spc="-25" dirty="0">
                <a:latin typeface="Georgia" panose="02040502050405020303"/>
                <a:cs typeface="Georgia" panose="02040502050405020303"/>
              </a:rPr>
              <a:t> </a:t>
            </a:r>
            <a:r>
              <a:rPr sz="1800" spc="-10" dirty="0">
                <a:latin typeface="Georgia" panose="02040502050405020303"/>
                <a:cs typeface="Georgia" panose="02040502050405020303"/>
              </a:rPr>
              <a:t>finish.</a:t>
            </a:r>
            <a:endParaRPr sz="1800">
              <a:latin typeface="Georgia" panose="02040502050405020303"/>
              <a:cs typeface="Georgia" panose="02040502050405020303"/>
            </a:endParaRPr>
          </a:p>
          <a:p>
            <a:pPr marL="12700" marR="13335" indent="227965">
              <a:lnSpc>
                <a:spcPct val="100000"/>
              </a:lnSpc>
              <a:spcBef>
                <a:spcPts val="435"/>
              </a:spcBef>
              <a:buClr>
                <a:srgbClr val="0AD0D9"/>
              </a:buClr>
              <a:buSzPct val="89000"/>
              <a:buFont typeface="Wingdings" panose="05000000000000000000"/>
              <a:buChar char=""/>
              <a:tabLst>
                <a:tab pos="240665" algn="l"/>
              </a:tabLst>
            </a:pPr>
            <a:r>
              <a:rPr sz="1800" dirty="0">
                <a:latin typeface="Georgia" panose="02040502050405020303"/>
                <a:cs typeface="Georgia" panose="02040502050405020303"/>
              </a:rPr>
              <a:t>Predictive</a:t>
            </a:r>
            <a:r>
              <a:rPr sz="1800" spc="-10" dirty="0">
                <a:latin typeface="Georgia" panose="02040502050405020303"/>
                <a:cs typeface="Georgia" panose="02040502050405020303"/>
              </a:rPr>
              <a:t> </a:t>
            </a:r>
            <a:r>
              <a:rPr sz="1800" dirty="0">
                <a:latin typeface="Georgia" panose="02040502050405020303"/>
                <a:cs typeface="Georgia" panose="02040502050405020303"/>
              </a:rPr>
              <a:t>analytics</a:t>
            </a:r>
            <a:r>
              <a:rPr sz="1800" spc="-50" dirty="0">
                <a:latin typeface="Georgia" panose="02040502050405020303"/>
                <a:cs typeface="Georgia" panose="02040502050405020303"/>
              </a:rPr>
              <a:t> </a:t>
            </a:r>
            <a:r>
              <a:rPr sz="1800" dirty="0">
                <a:latin typeface="Georgia" panose="02040502050405020303"/>
                <a:cs typeface="Georgia" panose="02040502050405020303"/>
              </a:rPr>
              <a:t>(or</a:t>
            </a:r>
            <a:r>
              <a:rPr sz="1800" spc="-30" dirty="0">
                <a:latin typeface="Georgia" panose="02040502050405020303"/>
                <a:cs typeface="Georgia" panose="02040502050405020303"/>
              </a:rPr>
              <a:t> </a:t>
            </a:r>
            <a:r>
              <a:rPr sz="1800" dirty="0">
                <a:latin typeface="Georgia" panose="02040502050405020303"/>
                <a:cs typeface="Georgia" panose="02040502050405020303"/>
              </a:rPr>
              <a:t>forecasting)</a:t>
            </a:r>
            <a:r>
              <a:rPr sz="1800" spc="-45" dirty="0">
                <a:latin typeface="Georgia" panose="02040502050405020303"/>
                <a:cs typeface="Georgia" panose="02040502050405020303"/>
              </a:rPr>
              <a:t> </a:t>
            </a:r>
            <a:r>
              <a:rPr sz="1800" dirty="0">
                <a:latin typeface="Georgia" panose="02040502050405020303"/>
                <a:cs typeface="Georgia" panose="02040502050405020303"/>
              </a:rPr>
              <a:t>applies</a:t>
            </a:r>
            <a:r>
              <a:rPr sz="1800" spc="-60" dirty="0">
                <a:latin typeface="Georgia" panose="02040502050405020303"/>
                <a:cs typeface="Georgia" panose="02040502050405020303"/>
              </a:rPr>
              <a:t> </a:t>
            </a:r>
            <a:r>
              <a:rPr sz="1800" dirty="0">
                <a:latin typeface="Georgia" panose="02040502050405020303"/>
                <a:cs typeface="Georgia" panose="02040502050405020303"/>
              </a:rPr>
              <a:t>artificial</a:t>
            </a:r>
            <a:r>
              <a:rPr sz="1800" spc="-40" dirty="0">
                <a:latin typeface="Georgia" panose="02040502050405020303"/>
                <a:cs typeface="Georgia" panose="02040502050405020303"/>
              </a:rPr>
              <a:t> </a:t>
            </a:r>
            <a:r>
              <a:rPr sz="1800" spc="-10" dirty="0">
                <a:latin typeface="Georgia" panose="02040502050405020303"/>
                <a:cs typeface="Georgia" panose="02040502050405020303"/>
              </a:rPr>
              <a:t>intelligence </a:t>
            </a:r>
            <a:r>
              <a:rPr sz="1800" dirty="0">
                <a:latin typeface="Georgia" panose="02040502050405020303"/>
                <a:cs typeface="Georgia" panose="02040502050405020303"/>
              </a:rPr>
              <a:t>using</a:t>
            </a:r>
            <a:r>
              <a:rPr sz="1800" spc="-50" dirty="0">
                <a:latin typeface="Georgia" panose="02040502050405020303"/>
                <a:cs typeface="Georgia" panose="02040502050405020303"/>
              </a:rPr>
              <a:t> </a:t>
            </a:r>
            <a:r>
              <a:rPr sz="1800" dirty="0">
                <a:latin typeface="Georgia" panose="02040502050405020303"/>
                <a:cs typeface="Georgia" panose="02040502050405020303"/>
              </a:rPr>
              <a:t>machine</a:t>
            </a:r>
            <a:r>
              <a:rPr sz="1800" spc="-45" dirty="0">
                <a:latin typeface="Georgia" panose="02040502050405020303"/>
                <a:cs typeface="Georgia" panose="02040502050405020303"/>
              </a:rPr>
              <a:t> </a:t>
            </a:r>
            <a:r>
              <a:rPr sz="1800" dirty="0">
                <a:latin typeface="Georgia" panose="02040502050405020303"/>
                <a:cs typeface="Georgia" panose="02040502050405020303"/>
              </a:rPr>
              <a:t>learning</a:t>
            </a:r>
            <a:r>
              <a:rPr sz="1800" spc="-55" dirty="0">
                <a:latin typeface="Georgia" panose="02040502050405020303"/>
                <a:cs typeface="Georgia" panose="02040502050405020303"/>
              </a:rPr>
              <a:t> </a:t>
            </a:r>
            <a:r>
              <a:rPr sz="1800" dirty="0">
                <a:latin typeface="Georgia" panose="02040502050405020303"/>
                <a:cs typeface="Georgia" panose="02040502050405020303"/>
              </a:rPr>
              <a:t>and</a:t>
            </a:r>
            <a:r>
              <a:rPr sz="1800" spc="-50" dirty="0">
                <a:latin typeface="Georgia" panose="02040502050405020303"/>
                <a:cs typeface="Georgia" panose="02040502050405020303"/>
              </a:rPr>
              <a:t> </a:t>
            </a:r>
            <a:r>
              <a:rPr sz="1800" dirty="0">
                <a:latin typeface="Georgia" panose="02040502050405020303"/>
                <a:cs typeface="Georgia" panose="02040502050405020303"/>
              </a:rPr>
              <a:t>statistical</a:t>
            </a:r>
            <a:r>
              <a:rPr sz="1800" spc="-55" dirty="0">
                <a:latin typeface="Georgia" panose="02040502050405020303"/>
                <a:cs typeface="Georgia" panose="02040502050405020303"/>
              </a:rPr>
              <a:t> </a:t>
            </a:r>
            <a:r>
              <a:rPr sz="1800" spc="-10" dirty="0">
                <a:latin typeface="Georgia" panose="02040502050405020303"/>
                <a:cs typeface="Georgia" panose="02040502050405020303"/>
              </a:rPr>
              <a:t>techniques</a:t>
            </a:r>
            <a:r>
              <a:rPr sz="1800" spc="-45" dirty="0">
                <a:latin typeface="Georgia" panose="02040502050405020303"/>
                <a:cs typeface="Georgia" panose="02040502050405020303"/>
              </a:rPr>
              <a:t> </a:t>
            </a:r>
            <a:r>
              <a:rPr sz="1800" dirty="0">
                <a:latin typeface="Georgia" panose="02040502050405020303"/>
                <a:cs typeface="Georgia" panose="02040502050405020303"/>
              </a:rPr>
              <a:t>to</a:t>
            </a:r>
            <a:r>
              <a:rPr sz="1800" spc="-35" dirty="0">
                <a:latin typeface="Georgia" panose="02040502050405020303"/>
                <a:cs typeface="Georgia" panose="02040502050405020303"/>
              </a:rPr>
              <a:t> </a:t>
            </a:r>
            <a:r>
              <a:rPr sz="1800" dirty="0">
                <a:latin typeface="Georgia" panose="02040502050405020303"/>
                <a:cs typeface="Georgia" panose="02040502050405020303"/>
              </a:rPr>
              <a:t>make</a:t>
            </a:r>
            <a:r>
              <a:rPr sz="1800" spc="-35" dirty="0">
                <a:latin typeface="Georgia" panose="02040502050405020303"/>
                <a:cs typeface="Georgia" panose="02040502050405020303"/>
              </a:rPr>
              <a:t> </a:t>
            </a:r>
            <a:r>
              <a:rPr sz="1800" spc="-10" dirty="0">
                <a:latin typeface="Georgia" panose="02040502050405020303"/>
                <a:cs typeface="Georgia" panose="02040502050405020303"/>
              </a:rPr>
              <a:t>predictions </a:t>
            </a:r>
            <a:r>
              <a:rPr sz="1800" dirty="0">
                <a:latin typeface="Georgia" panose="02040502050405020303"/>
                <a:cs typeface="Georgia" panose="02040502050405020303"/>
              </a:rPr>
              <a:t>about</a:t>
            </a:r>
            <a:r>
              <a:rPr sz="1800" spc="-45" dirty="0">
                <a:latin typeface="Georgia" panose="02040502050405020303"/>
                <a:cs typeface="Georgia" panose="02040502050405020303"/>
              </a:rPr>
              <a:t> </a:t>
            </a:r>
            <a:r>
              <a:rPr sz="1800" dirty="0">
                <a:latin typeface="Georgia" panose="02040502050405020303"/>
                <a:cs typeface="Georgia" panose="02040502050405020303"/>
              </a:rPr>
              <a:t>future</a:t>
            </a:r>
            <a:r>
              <a:rPr sz="1800" spc="-45" dirty="0">
                <a:latin typeface="Georgia" panose="02040502050405020303"/>
                <a:cs typeface="Georgia" panose="02040502050405020303"/>
              </a:rPr>
              <a:t> </a:t>
            </a:r>
            <a:r>
              <a:rPr sz="1800" dirty="0">
                <a:latin typeface="Georgia" panose="02040502050405020303"/>
                <a:cs typeface="Georgia" panose="02040502050405020303"/>
              </a:rPr>
              <a:t>events</a:t>
            </a:r>
            <a:r>
              <a:rPr sz="1800" spc="-50" dirty="0">
                <a:latin typeface="Georgia" panose="02040502050405020303"/>
                <a:cs typeface="Georgia" panose="02040502050405020303"/>
              </a:rPr>
              <a:t> </a:t>
            </a:r>
            <a:r>
              <a:rPr sz="1800" dirty="0">
                <a:latin typeface="Georgia" panose="02040502050405020303"/>
                <a:cs typeface="Georgia" panose="02040502050405020303"/>
              </a:rPr>
              <a:t>based</a:t>
            </a:r>
            <a:r>
              <a:rPr sz="1800" spc="-50" dirty="0">
                <a:latin typeface="Georgia" panose="02040502050405020303"/>
                <a:cs typeface="Georgia" panose="02040502050405020303"/>
              </a:rPr>
              <a:t> </a:t>
            </a:r>
            <a:r>
              <a:rPr sz="1800" dirty="0">
                <a:latin typeface="Georgia" panose="02040502050405020303"/>
                <a:cs typeface="Georgia" panose="02040502050405020303"/>
              </a:rPr>
              <a:t>on</a:t>
            </a:r>
            <a:r>
              <a:rPr sz="1800" spc="-55" dirty="0">
                <a:latin typeface="Georgia" panose="02040502050405020303"/>
                <a:cs typeface="Georgia" panose="02040502050405020303"/>
              </a:rPr>
              <a:t> </a:t>
            </a:r>
            <a:r>
              <a:rPr sz="1800" dirty="0">
                <a:latin typeface="Georgia" panose="02040502050405020303"/>
                <a:cs typeface="Georgia" panose="02040502050405020303"/>
              </a:rPr>
              <a:t>previous</a:t>
            </a:r>
            <a:r>
              <a:rPr sz="1800" spc="-50" dirty="0">
                <a:latin typeface="Georgia" panose="02040502050405020303"/>
                <a:cs typeface="Georgia" panose="02040502050405020303"/>
              </a:rPr>
              <a:t> </a:t>
            </a:r>
            <a:r>
              <a:rPr sz="1800" spc="-10" dirty="0">
                <a:latin typeface="Georgia" panose="02040502050405020303"/>
                <a:cs typeface="Georgia" panose="02040502050405020303"/>
              </a:rPr>
              <a:t>data.</a:t>
            </a:r>
            <a:endParaRPr sz="1800">
              <a:latin typeface="Georgia" panose="02040502050405020303"/>
              <a:cs typeface="Georgia" panose="020405020504050203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433388"/>
            <a:ext cx="10972800" cy="825500"/>
          </a:xfrm>
          <a:prstGeom prst="rect">
            <a:avLst/>
          </a:prstGeom>
        </p:spPr>
        <p:txBody>
          <a:bodyPr vert="horz" wrap="square" lIns="0" tIns="210185" rIns="0" bIns="0" rtlCol="0">
            <a:spAutoFit/>
          </a:bodyPr>
          <a:lstStyle/>
          <a:p>
            <a:pPr marL="1643380">
              <a:lnSpc>
                <a:spcPct val="100000"/>
              </a:lnSpc>
              <a:spcBef>
                <a:spcPts val="105"/>
              </a:spcBef>
            </a:pPr>
            <a:r>
              <a:rPr lang="en-US" dirty="0"/>
              <a:t>Risks of AI</a:t>
            </a:r>
            <a:endParaRPr spc="-10" dirty="0"/>
          </a:p>
        </p:txBody>
      </p:sp>
      <p:sp>
        <p:nvSpPr>
          <p:cNvPr id="4" name="Content Placeholder 3"/>
          <p:cNvSpPr>
            <a:spLocks noGrp="1"/>
          </p:cNvSpPr>
          <p:nvPr>
            <p:ph idx="1"/>
          </p:nvPr>
        </p:nvSpPr>
        <p:spPr>
          <a:xfrm>
            <a:off x="609600" y="1534160"/>
            <a:ext cx="10972800" cy="4525963"/>
          </a:xfrm>
        </p:spPr>
        <p:txBody>
          <a:bodyPr/>
          <a:p>
            <a:pPr>
              <a:lnSpc>
                <a:spcPct val="100000"/>
              </a:lnSpc>
            </a:pPr>
            <a:r>
              <a:rPr lang="en-US" altLang="en-US"/>
              <a:t>job losses due to ai automation</a:t>
            </a:r>
            <a:endParaRPr lang="en-US" altLang="en-US"/>
          </a:p>
          <a:p>
            <a:pPr>
              <a:lnSpc>
                <a:spcPct val="100000"/>
              </a:lnSpc>
            </a:pPr>
            <a:endParaRPr lang="en-US" altLang="en-US"/>
          </a:p>
          <a:p>
            <a:pPr>
              <a:lnSpc>
                <a:spcPct val="100000"/>
              </a:lnSpc>
            </a:pPr>
            <a:r>
              <a:rPr lang="en-US" altLang="en-US"/>
              <a:t>social manipulation through ai algorithms</a:t>
            </a:r>
            <a:endParaRPr lang="en-US" altLang="en-US"/>
          </a:p>
          <a:p>
            <a:pPr>
              <a:lnSpc>
                <a:spcPct val="100000"/>
              </a:lnSpc>
            </a:pPr>
            <a:endParaRPr lang="en-US" altLang="en-US"/>
          </a:p>
          <a:p>
            <a:pPr>
              <a:lnSpc>
                <a:spcPct val="100000"/>
              </a:lnSpc>
            </a:pPr>
            <a:r>
              <a:rPr lang="en-US" altLang="en-US"/>
              <a:t>social surveillance with ai technology</a:t>
            </a:r>
            <a:endParaRPr lang="en-US" altLang="en-US"/>
          </a:p>
          <a:p>
            <a:pPr>
              <a:lnSpc>
                <a:spcPct val="100000"/>
              </a:lnSpc>
            </a:pPr>
            <a:endParaRPr lang="en-US" altLang="en-US"/>
          </a:p>
          <a:p>
            <a:pPr>
              <a:lnSpc>
                <a:spcPct val="100000"/>
              </a:lnSpc>
            </a:pPr>
            <a:r>
              <a:rPr lang="en-US" altLang="en-US"/>
              <a:t>biases due to artificial intelligence</a:t>
            </a:r>
            <a:endParaRPr lang="en-US" altLang="en-US"/>
          </a:p>
          <a:p>
            <a:pPr>
              <a:lnSpc>
                <a:spcPct val="100000"/>
              </a:lnSpc>
            </a:pPr>
            <a:endParaRPr lang="en-US" altLang="en-US"/>
          </a:p>
          <a:p>
            <a:pPr>
              <a:lnSpc>
                <a:spcPct val="100000"/>
              </a:lnSpc>
            </a:pPr>
            <a:r>
              <a:rPr lang="en-US" altLang="en-US"/>
              <a:t>widening socioeconomic inequality as a result of ai</a:t>
            </a:r>
            <a:endParaRPr lang="en-US" altLang="en-US"/>
          </a:p>
          <a:p>
            <a:pPr>
              <a:lnSpc>
                <a:spcPct val="100000"/>
              </a:lnSpc>
            </a:pPr>
            <a:endParaRPr lang="en-US" altLang="en-US"/>
          </a:p>
          <a:p>
            <a:pPr>
              <a:lnSpc>
                <a:spcPct val="100000"/>
              </a:lnSpc>
            </a:pPr>
            <a:r>
              <a:rPr lang="en-US" altLang="en-US"/>
              <a:t>weakening ethics and goodwill because of ai</a:t>
            </a:r>
            <a:endParaRPr lang="en-US" altLang="en-US"/>
          </a:p>
          <a:p>
            <a:pPr>
              <a:lnSpc>
                <a:spcPct val="100000"/>
              </a:lnSpc>
            </a:pPr>
            <a:endParaRPr lang="en-US" altLang="en-US"/>
          </a:p>
          <a:p>
            <a:pPr>
              <a:lnSpc>
                <a:spcPct val="100000"/>
              </a:lnSpc>
            </a:pPr>
            <a:r>
              <a:rPr lang="en-US" altLang="en-US"/>
              <a:t>autonomous weapons powered by artificial intelligence</a:t>
            </a:r>
            <a:endParaRPr lang="en-US" altLang="en-US"/>
          </a:p>
          <a:p>
            <a:pPr>
              <a:lnSpc>
                <a:spcPct val="100000"/>
              </a:lnSpc>
            </a:pPr>
            <a:endParaRPr lang="en-US" altLang="en-US"/>
          </a:p>
          <a:p>
            <a:pPr>
              <a:lnSpc>
                <a:spcPct val="100000"/>
              </a:lnSpc>
            </a:pPr>
            <a:r>
              <a:rPr lang="en-US" altLang="en-US"/>
              <a:t>financial crises brought about by ai algorithms</a:t>
            </a: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4216"/>
            <a:ext cx="10515600" cy="627380"/>
          </a:xfrm>
          <a:prstGeom prst="rect">
            <a:avLst/>
          </a:prstGeom>
        </p:spPr>
        <p:txBody>
          <a:bodyPr vert="horz" wrap="square" lIns="0" tIns="12065" rIns="0" bIns="0" rtlCol="0">
            <a:spAutoFit/>
          </a:bodyPr>
          <a:lstStyle/>
          <a:p>
            <a:pPr marL="165100">
              <a:lnSpc>
                <a:spcPct val="100000"/>
              </a:lnSpc>
              <a:spcBef>
                <a:spcPts val="95"/>
              </a:spcBef>
            </a:pPr>
            <a:r>
              <a:rPr sz="4000" dirty="0"/>
              <a:t>Programming</a:t>
            </a:r>
            <a:r>
              <a:rPr sz="4000" spc="-155" dirty="0"/>
              <a:t> </a:t>
            </a:r>
            <a:r>
              <a:rPr sz="4000" dirty="0"/>
              <a:t>Without</a:t>
            </a:r>
            <a:r>
              <a:rPr sz="4000" spc="-135" dirty="0"/>
              <a:t> </a:t>
            </a:r>
            <a:r>
              <a:rPr sz="4000" dirty="0"/>
              <a:t>and</a:t>
            </a:r>
            <a:r>
              <a:rPr sz="4000" spc="-140" dirty="0"/>
              <a:t> </a:t>
            </a:r>
            <a:r>
              <a:rPr sz="4000" spc="-10" dirty="0"/>
              <a:t>With</a:t>
            </a:r>
            <a:r>
              <a:rPr sz="4000" spc="-270" dirty="0"/>
              <a:t> </a:t>
            </a:r>
            <a:r>
              <a:rPr sz="4000" spc="-25" dirty="0"/>
              <a:t>AI</a:t>
            </a:r>
            <a:endParaRPr sz="4000"/>
          </a:p>
        </p:txBody>
      </p:sp>
      <p:graphicFrame>
        <p:nvGraphicFramePr>
          <p:cNvPr id="3" name="object 3"/>
          <p:cNvGraphicFramePr>
            <a:graphicFrameLocks noGrp="1"/>
          </p:cNvGraphicFramePr>
          <p:nvPr>
            <p:custDataLst>
              <p:tags r:id="rId1"/>
            </p:custDataLst>
          </p:nvPr>
        </p:nvGraphicFramePr>
        <p:xfrm>
          <a:off x="703580" y="1412240"/>
          <a:ext cx="11073765" cy="4977130"/>
        </p:xfrm>
        <a:graphic>
          <a:graphicData uri="http://schemas.openxmlformats.org/drawingml/2006/table">
            <a:tbl>
              <a:tblPr firstRow="1" bandRow="1">
                <a:tableStyleId>{2D5ABB26-0587-4C30-8999-92F81FD0307C}</a:tableStyleId>
              </a:tblPr>
              <a:tblGrid>
                <a:gridCol w="5236210"/>
                <a:gridCol w="5837555"/>
              </a:tblGrid>
              <a:tr h="395605">
                <a:tc>
                  <a:txBody>
                    <a:bodyPr/>
                    <a:lstStyle/>
                    <a:p>
                      <a:pPr marL="436245">
                        <a:lnSpc>
                          <a:spcPct val="100000"/>
                        </a:lnSpc>
                        <a:spcBef>
                          <a:spcPts val="355"/>
                        </a:spcBef>
                      </a:pPr>
                      <a:r>
                        <a:rPr sz="1800" dirty="0">
                          <a:latin typeface="Calibri" panose="020F0502020204030204" charset="0"/>
                          <a:cs typeface="Calibri" panose="020F0502020204030204" charset="0"/>
                        </a:rPr>
                        <a:t>Programming</a:t>
                      </a:r>
                      <a:r>
                        <a:rPr sz="1800" spc="-4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Without</a:t>
                      </a:r>
                      <a:r>
                        <a:rPr sz="1800" spc="-150"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AI</a:t>
                      </a:r>
                      <a:endParaRPr sz="1800" dirty="0">
                        <a:latin typeface="Calibri" panose="020F0502020204030204" charset="0"/>
                        <a:cs typeface="Calibri" panose="020F0502020204030204" charset="0"/>
                      </a:endParaRPr>
                    </a:p>
                  </a:txBody>
                  <a:tcPr marL="0" marR="0" marT="4508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EDEDED"/>
                    </a:solidFill>
                  </a:tcPr>
                </a:tc>
                <a:tc>
                  <a:txBody>
                    <a:bodyPr/>
                    <a:lstStyle/>
                    <a:p>
                      <a:pPr marL="1270" algn="ctr">
                        <a:lnSpc>
                          <a:spcPct val="100000"/>
                        </a:lnSpc>
                        <a:spcBef>
                          <a:spcPts val="355"/>
                        </a:spcBef>
                      </a:pPr>
                      <a:r>
                        <a:rPr sz="1800" dirty="0">
                          <a:latin typeface="Calibri" panose="020F0502020204030204" charset="0"/>
                          <a:cs typeface="Calibri" panose="020F0502020204030204" charset="0"/>
                        </a:rPr>
                        <a:t>Programming</a:t>
                      </a:r>
                      <a:r>
                        <a:rPr sz="1800" spc="-10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With</a:t>
                      </a:r>
                      <a:r>
                        <a:rPr sz="1800" spc="-155"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AI</a:t>
                      </a:r>
                      <a:endParaRPr sz="1800" dirty="0">
                        <a:latin typeface="Calibri" panose="020F0502020204030204" charset="0"/>
                        <a:cs typeface="Calibri" panose="020F0502020204030204" charset="0"/>
                      </a:endParaRPr>
                    </a:p>
                  </a:txBody>
                  <a:tcPr marL="0" marR="0" marT="4508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solidFill>
                      <a:srgbClr val="EDEDED"/>
                    </a:solidFill>
                  </a:tcPr>
                </a:tc>
              </a:tr>
              <a:tr h="1447165">
                <a:tc>
                  <a:txBody>
                    <a:bodyPr/>
                    <a:lstStyle/>
                    <a:p>
                      <a:pPr marL="76200">
                        <a:lnSpc>
                          <a:spcPct val="100000"/>
                        </a:lnSpc>
                        <a:spcBef>
                          <a:spcPts val="350"/>
                        </a:spcBef>
                      </a:pPr>
                      <a:r>
                        <a:rPr sz="1800" dirty="0">
                          <a:latin typeface="Calibri" panose="020F0502020204030204" charset="0"/>
                          <a:cs typeface="Calibri" panose="020F0502020204030204" charset="0"/>
                        </a:rPr>
                        <a:t>A</a:t>
                      </a:r>
                      <a:r>
                        <a:rPr sz="1800" spc="-15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computer</a:t>
                      </a:r>
                      <a:r>
                        <a:rPr sz="1800" spc="-6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program</a:t>
                      </a:r>
                      <a:r>
                        <a:rPr sz="1800" spc="-8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without</a:t>
                      </a:r>
                      <a:r>
                        <a:rPr lang="en-US" sz="1800" spc="-1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AI</a:t>
                      </a:r>
                      <a:r>
                        <a:rPr sz="1800" spc="-1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can</a:t>
                      </a:r>
                      <a:r>
                        <a:rPr sz="1800" spc="-2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answer</a:t>
                      </a:r>
                      <a:r>
                        <a:rPr lang="en-US" sz="1800" spc="-1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the</a:t>
                      </a:r>
                      <a:r>
                        <a:rPr sz="1800" spc="-30" dirty="0">
                          <a:latin typeface="Calibri" panose="020F0502020204030204" charset="0"/>
                          <a:cs typeface="Calibri" panose="020F0502020204030204" charset="0"/>
                        </a:rPr>
                        <a:t> </a:t>
                      </a:r>
                      <a:r>
                        <a:rPr sz="1800" b="1" dirty="0">
                          <a:latin typeface="Calibri" panose="020F0502020204030204" charset="0"/>
                          <a:cs typeface="Calibri" panose="020F0502020204030204" charset="0"/>
                        </a:rPr>
                        <a:t>specific</a:t>
                      </a:r>
                      <a:r>
                        <a:rPr sz="1800" b="1" spc="-6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questions</a:t>
                      </a:r>
                      <a:r>
                        <a:rPr sz="1800" spc="-6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it</a:t>
                      </a:r>
                      <a:r>
                        <a:rPr sz="1800" spc="-10"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is </a:t>
                      </a:r>
                      <a:r>
                        <a:rPr sz="1800" dirty="0">
                          <a:latin typeface="Calibri" panose="020F0502020204030204" charset="0"/>
                          <a:cs typeface="Calibri" panose="020F0502020204030204" charset="0"/>
                        </a:rPr>
                        <a:t>meant</a:t>
                      </a:r>
                      <a:r>
                        <a:rPr sz="1800" spc="-5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to</a:t>
                      </a:r>
                      <a:r>
                        <a:rPr sz="1800" spc="-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solve.</a:t>
                      </a:r>
                      <a:endParaRPr sz="1800">
                        <a:latin typeface="Calibri" panose="020F0502020204030204" charset="0"/>
                        <a:cs typeface="Calibri" panose="020F0502020204030204" charset="0"/>
                      </a:endParaRPr>
                    </a:p>
                  </a:txBody>
                  <a:tcPr marL="0" marR="0" marT="44450"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835" marR="283210" algn="just">
                        <a:lnSpc>
                          <a:spcPct val="100000"/>
                        </a:lnSpc>
                        <a:spcBef>
                          <a:spcPts val="350"/>
                        </a:spcBef>
                      </a:pPr>
                      <a:r>
                        <a:rPr sz="1800" dirty="0">
                          <a:latin typeface="Calibri" panose="020F0502020204030204" charset="0"/>
                          <a:cs typeface="Calibri" panose="020F0502020204030204" charset="0"/>
                        </a:rPr>
                        <a:t>A</a:t>
                      </a:r>
                      <a:r>
                        <a:rPr sz="1800" spc="-15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computer</a:t>
                      </a:r>
                      <a:r>
                        <a:rPr sz="1800" spc="-6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program</a:t>
                      </a:r>
                      <a:r>
                        <a:rPr sz="1800" spc="-7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with</a:t>
                      </a:r>
                      <a:r>
                        <a:rPr sz="1800" spc="-16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AI</a:t>
                      </a:r>
                      <a:r>
                        <a:rPr sz="1800" spc="-20"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can </a:t>
                      </a:r>
                      <a:r>
                        <a:rPr sz="1800" dirty="0">
                          <a:latin typeface="Calibri" panose="020F0502020204030204" charset="0"/>
                          <a:cs typeface="Calibri" panose="020F0502020204030204" charset="0"/>
                        </a:rPr>
                        <a:t>answer</a:t>
                      </a:r>
                      <a:r>
                        <a:rPr sz="1800" spc="-4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the</a:t>
                      </a:r>
                      <a:r>
                        <a:rPr sz="1800" spc="-30" dirty="0">
                          <a:latin typeface="Calibri" panose="020F0502020204030204" charset="0"/>
                          <a:cs typeface="Calibri" panose="020F0502020204030204" charset="0"/>
                        </a:rPr>
                        <a:t> </a:t>
                      </a:r>
                      <a:r>
                        <a:rPr sz="1800" b="1" dirty="0">
                          <a:latin typeface="Calibri" panose="020F0502020204030204" charset="0"/>
                          <a:cs typeface="Calibri" panose="020F0502020204030204" charset="0"/>
                        </a:rPr>
                        <a:t>generic</a:t>
                      </a:r>
                      <a:r>
                        <a:rPr sz="1800" b="1" spc="-6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questions</a:t>
                      </a:r>
                      <a:r>
                        <a:rPr sz="1800" spc="-55"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it </a:t>
                      </a:r>
                      <a:r>
                        <a:rPr sz="1800" dirty="0">
                          <a:latin typeface="Calibri" panose="020F0502020204030204" charset="0"/>
                          <a:cs typeface="Calibri" panose="020F0502020204030204" charset="0"/>
                        </a:rPr>
                        <a:t>is</a:t>
                      </a:r>
                      <a:r>
                        <a:rPr sz="1800" spc="-1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meant</a:t>
                      </a:r>
                      <a:r>
                        <a:rPr sz="1800" spc="-4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to</a:t>
                      </a:r>
                      <a:r>
                        <a:rPr sz="1800" spc="-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solve.</a:t>
                      </a:r>
                      <a:endParaRPr sz="1800" dirty="0">
                        <a:latin typeface="Calibri" panose="020F0502020204030204" charset="0"/>
                        <a:cs typeface="Calibri" panose="020F0502020204030204" charset="0"/>
                      </a:endParaRPr>
                    </a:p>
                  </a:txBody>
                  <a:tcPr marL="0" marR="0" marT="44450"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2037080">
                <a:tc>
                  <a:txBody>
                    <a:bodyPr/>
                    <a:lstStyle/>
                    <a:p>
                      <a:pPr>
                        <a:lnSpc>
                          <a:spcPct val="100000"/>
                        </a:lnSpc>
                      </a:pPr>
                      <a:endParaRPr sz="1800">
                        <a:latin typeface="Calibri" panose="020F0502020204030204" charset="0"/>
                        <a:cs typeface="Calibri" panose="020F0502020204030204" charset="0"/>
                      </a:endParaRPr>
                    </a:p>
                    <a:p>
                      <a:pPr>
                        <a:lnSpc>
                          <a:spcPct val="100000"/>
                        </a:lnSpc>
                        <a:spcBef>
                          <a:spcPts val="670"/>
                        </a:spcBef>
                      </a:pPr>
                      <a:endParaRPr sz="1800">
                        <a:latin typeface="Calibri" panose="020F0502020204030204" charset="0"/>
                        <a:cs typeface="Calibri" panose="020F0502020204030204" charset="0"/>
                      </a:endParaRPr>
                    </a:p>
                    <a:p>
                      <a:pPr marL="76200" marR="432435">
                        <a:lnSpc>
                          <a:spcPct val="100000"/>
                        </a:lnSpc>
                      </a:pPr>
                      <a:r>
                        <a:rPr sz="1800" dirty="0">
                          <a:latin typeface="Calibri" panose="020F0502020204030204" charset="0"/>
                          <a:cs typeface="Calibri" panose="020F0502020204030204" charset="0"/>
                        </a:rPr>
                        <a:t>Modification</a:t>
                      </a:r>
                      <a:r>
                        <a:rPr sz="1800" spc="-7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in</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the</a:t>
                      </a:r>
                      <a:r>
                        <a:rPr sz="1800" spc="-3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program </a:t>
                      </a:r>
                      <a:r>
                        <a:rPr sz="1800" dirty="0">
                          <a:latin typeface="Calibri" panose="020F0502020204030204" charset="0"/>
                          <a:cs typeface="Calibri" panose="020F0502020204030204" charset="0"/>
                        </a:rPr>
                        <a:t>leads</a:t>
                      </a:r>
                      <a:r>
                        <a:rPr sz="1800" spc="-4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to</a:t>
                      </a:r>
                      <a:r>
                        <a:rPr sz="1800" spc="-1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change</a:t>
                      </a:r>
                      <a:r>
                        <a:rPr sz="1800" spc="-5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in</a:t>
                      </a:r>
                      <a:r>
                        <a:rPr sz="1800" spc="-25" dirty="0">
                          <a:latin typeface="Calibri" panose="020F0502020204030204" charset="0"/>
                          <a:cs typeface="Calibri" panose="020F0502020204030204" charset="0"/>
                        </a:rPr>
                        <a:t> its </a:t>
                      </a:r>
                      <a:r>
                        <a:rPr sz="1800" spc="-10" dirty="0">
                          <a:latin typeface="Calibri" panose="020F0502020204030204" charset="0"/>
                          <a:cs typeface="Calibri" panose="020F0502020204030204" charset="0"/>
                        </a:rPr>
                        <a:t>structure.</a:t>
                      </a:r>
                      <a:endParaRPr sz="1800">
                        <a:latin typeface="Calibri" panose="020F0502020204030204" charset="0"/>
                        <a:cs typeface="Calibri" panose="020F0502020204030204" charset="0"/>
                      </a:endParaRPr>
                    </a:p>
                  </a:txBody>
                  <a:tcPr marL="0" marR="0" marT="0"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835" marR="150495">
                        <a:lnSpc>
                          <a:spcPct val="100000"/>
                        </a:lnSpc>
                        <a:spcBef>
                          <a:spcPts val="355"/>
                        </a:spcBef>
                      </a:pPr>
                      <a:r>
                        <a:rPr sz="1800" dirty="0">
                          <a:latin typeface="Calibri" panose="020F0502020204030204" charset="0"/>
                          <a:cs typeface="Calibri" panose="020F0502020204030204" charset="0"/>
                        </a:rPr>
                        <a:t>AI</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programs</a:t>
                      </a:r>
                      <a:r>
                        <a:rPr sz="1800" spc="-5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can</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absorb</a:t>
                      </a:r>
                      <a:r>
                        <a:rPr sz="1800" spc="-50"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new </a:t>
                      </a:r>
                      <a:r>
                        <a:rPr sz="1800" dirty="0">
                          <a:latin typeface="Calibri" panose="020F0502020204030204" charset="0"/>
                          <a:cs typeface="Calibri" panose="020F0502020204030204" charset="0"/>
                        </a:rPr>
                        <a:t>modifications</a:t>
                      </a:r>
                      <a:r>
                        <a:rPr sz="1800" spc="-7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by</a:t>
                      </a:r>
                      <a:r>
                        <a:rPr sz="1800" spc="-2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putting</a:t>
                      </a:r>
                      <a:r>
                        <a:rPr sz="1800" spc="-5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highly </a:t>
                      </a:r>
                      <a:r>
                        <a:rPr sz="1800" dirty="0">
                          <a:latin typeface="Calibri" panose="020F0502020204030204" charset="0"/>
                          <a:cs typeface="Calibri" panose="020F0502020204030204" charset="0"/>
                        </a:rPr>
                        <a:t>independent</a:t>
                      </a:r>
                      <a:r>
                        <a:rPr sz="1800" spc="-8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pieces</a:t>
                      </a:r>
                      <a:r>
                        <a:rPr sz="1800" spc="-55"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of </a:t>
                      </a:r>
                      <a:r>
                        <a:rPr sz="1800" dirty="0">
                          <a:latin typeface="Calibri" panose="020F0502020204030204" charset="0"/>
                          <a:cs typeface="Calibri" panose="020F0502020204030204" charset="0"/>
                        </a:rPr>
                        <a:t>information</a:t>
                      </a:r>
                      <a:r>
                        <a:rPr sz="1800" spc="-9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together.</a:t>
                      </a:r>
                      <a:r>
                        <a:rPr sz="1800" spc="-7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Hence</a:t>
                      </a:r>
                      <a:r>
                        <a:rPr sz="1800" spc="-70"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you </a:t>
                      </a:r>
                      <a:r>
                        <a:rPr sz="1800" dirty="0">
                          <a:latin typeface="Calibri" panose="020F0502020204030204" charset="0"/>
                          <a:cs typeface="Calibri" panose="020F0502020204030204" charset="0"/>
                        </a:rPr>
                        <a:t>can</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modify</a:t>
                      </a:r>
                      <a:r>
                        <a:rPr sz="1800" spc="-4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even</a:t>
                      </a:r>
                      <a:r>
                        <a:rPr sz="1800" spc="-2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a</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minute</a:t>
                      </a:r>
                      <a:r>
                        <a:rPr sz="1800" spc="-4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piece </a:t>
                      </a:r>
                      <a:r>
                        <a:rPr sz="1800" dirty="0">
                          <a:latin typeface="Calibri" panose="020F0502020204030204" charset="0"/>
                          <a:cs typeface="Calibri" panose="020F0502020204030204" charset="0"/>
                        </a:rPr>
                        <a:t>of</a:t>
                      </a:r>
                      <a:r>
                        <a:rPr sz="1800" spc="-4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information</a:t>
                      </a:r>
                      <a:r>
                        <a:rPr sz="1800" spc="-7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of</a:t>
                      </a:r>
                      <a:r>
                        <a:rPr sz="1800" spc="-1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program</a:t>
                      </a:r>
                      <a:r>
                        <a:rPr sz="1800" spc="-2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without </a:t>
                      </a:r>
                      <a:r>
                        <a:rPr sz="1800" dirty="0">
                          <a:latin typeface="Calibri" panose="020F0502020204030204" charset="0"/>
                          <a:cs typeface="Calibri" panose="020F0502020204030204" charset="0"/>
                        </a:rPr>
                        <a:t>affecting</a:t>
                      </a:r>
                      <a:r>
                        <a:rPr sz="1800" spc="-5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its</a:t>
                      </a:r>
                      <a:r>
                        <a:rPr sz="1800" spc="-7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structure.</a:t>
                      </a:r>
                      <a:endParaRPr sz="1800" dirty="0">
                        <a:latin typeface="Calibri" panose="020F0502020204030204" charset="0"/>
                        <a:cs typeface="Calibri" panose="020F0502020204030204" charset="0"/>
                      </a:endParaRPr>
                    </a:p>
                  </a:txBody>
                  <a:tcPr marL="0" marR="0" marT="4508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r h="1097280">
                <a:tc>
                  <a:txBody>
                    <a:bodyPr/>
                    <a:lstStyle/>
                    <a:p>
                      <a:pPr marL="76200" marR="264160" algn="just">
                        <a:lnSpc>
                          <a:spcPct val="100000"/>
                        </a:lnSpc>
                        <a:spcBef>
                          <a:spcPts val="360"/>
                        </a:spcBef>
                      </a:pPr>
                      <a:r>
                        <a:rPr sz="1800" dirty="0">
                          <a:latin typeface="Calibri" panose="020F0502020204030204" charset="0"/>
                          <a:cs typeface="Calibri" panose="020F0502020204030204" charset="0"/>
                        </a:rPr>
                        <a:t>Modification</a:t>
                      </a:r>
                      <a:r>
                        <a:rPr sz="1800" spc="-6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is</a:t>
                      </a:r>
                      <a:r>
                        <a:rPr sz="1800" spc="-1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not</a:t>
                      </a:r>
                      <a:r>
                        <a:rPr sz="1800" spc="-4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quick</a:t>
                      </a:r>
                      <a:r>
                        <a:rPr sz="1800" spc="-40"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and </a:t>
                      </a:r>
                      <a:r>
                        <a:rPr sz="1800" spc="-20" dirty="0">
                          <a:latin typeface="Calibri" panose="020F0502020204030204" charset="0"/>
                          <a:cs typeface="Calibri" panose="020F0502020204030204" charset="0"/>
                        </a:rPr>
                        <a:t>easy.</a:t>
                      </a:r>
                      <a:r>
                        <a:rPr sz="1800" spc="-5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It</a:t>
                      </a:r>
                      <a:r>
                        <a:rPr sz="1800" spc="-2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may</a:t>
                      </a:r>
                      <a:r>
                        <a:rPr sz="1800" spc="-4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lead</a:t>
                      </a:r>
                      <a:r>
                        <a:rPr sz="1800" spc="-4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to</a:t>
                      </a:r>
                      <a:r>
                        <a:rPr sz="1800" spc="-3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affecting </a:t>
                      </a:r>
                      <a:r>
                        <a:rPr sz="1800" dirty="0">
                          <a:latin typeface="Calibri" panose="020F0502020204030204" charset="0"/>
                          <a:cs typeface="Calibri" panose="020F0502020204030204" charset="0"/>
                        </a:rPr>
                        <a:t>the</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program</a:t>
                      </a:r>
                      <a:r>
                        <a:rPr sz="1800" spc="-6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adversely.</a:t>
                      </a:r>
                      <a:endParaRPr sz="1800" dirty="0">
                        <a:latin typeface="Calibri" panose="020F0502020204030204" charset="0"/>
                        <a:cs typeface="Calibri" panose="020F0502020204030204" charset="0"/>
                      </a:endParaRPr>
                    </a:p>
                  </a:txBody>
                  <a:tcPr marL="0" marR="0"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c>
                  <a:txBody>
                    <a:bodyPr/>
                    <a:lstStyle/>
                    <a:p>
                      <a:pPr marL="76835" marR="1200785">
                        <a:lnSpc>
                          <a:spcPct val="100000"/>
                        </a:lnSpc>
                        <a:spcBef>
                          <a:spcPts val="1825"/>
                        </a:spcBef>
                      </a:pPr>
                      <a:r>
                        <a:rPr sz="1800" dirty="0">
                          <a:latin typeface="Calibri" panose="020F0502020204030204" charset="0"/>
                          <a:cs typeface="Calibri" panose="020F0502020204030204" charset="0"/>
                        </a:rPr>
                        <a:t>Quick</a:t>
                      </a:r>
                      <a:r>
                        <a:rPr sz="1800" spc="-2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and</a:t>
                      </a:r>
                      <a:r>
                        <a:rPr sz="1800" spc="-2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Easy</a:t>
                      </a:r>
                      <a:r>
                        <a:rPr sz="1800" spc="-1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program modification.</a:t>
                      </a:r>
                      <a:endParaRPr sz="1800" dirty="0">
                        <a:latin typeface="Calibri" panose="020F0502020204030204" charset="0"/>
                        <a:cs typeface="Calibri" panose="020F0502020204030204" charset="0"/>
                      </a:endParaRPr>
                    </a:p>
                  </a:txBody>
                  <a:tcPr marL="0" marR="0" marT="231775" marB="0">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tr>
            </a:tbl>
          </a:graphicData>
        </a:graphic>
      </p:graphicFrame>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4216"/>
            <a:ext cx="10515600" cy="627380"/>
          </a:xfrm>
          <a:prstGeom prst="rect">
            <a:avLst/>
          </a:prstGeom>
        </p:spPr>
        <p:txBody>
          <a:bodyPr vert="horz" wrap="square" lIns="0" tIns="12065" rIns="0" bIns="0" rtlCol="0">
            <a:spAutoFit/>
          </a:bodyPr>
          <a:lstStyle/>
          <a:p>
            <a:pPr marL="909320">
              <a:lnSpc>
                <a:spcPct val="100000"/>
              </a:lnSpc>
              <a:spcBef>
                <a:spcPts val="95"/>
              </a:spcBef>
            </a:pPr>
            <a:r>
              <a:rPr sz="4000" dirty="0"/>
              <a:t>What</a:t>
            </a:r>
            <a:r>
              <a:rPr sz="4000" spc="-155" dirty="0"/>
              <a:t> </a:t>
            </a:r>
            <a:r>
              <a:rPr sz="4000" dirty="0"/>
              <a:t>Contributes</a:t>
            </a:r>
            <a:r>
              <a:rPr sz="4000" spc="-95" dirty="0"/>
              <a:t> </a:t>
            </a:r>
            <a:r>
              <a:rPr sz="4000" dirty="0"/>
              <a:t>to</a:t>
            </a:r>
            <a:r>
              <a:rPr sz="4000" spc="-280" dirty="0"/>
              <a:t> </a:t>
            </a:r>
            <a:r>
              <a:rPr sz="4000" spc="-25" dirty="0"/>
              <a:t>AI?</a:t>
            </a:r>
            <a:endParaRPr sz="4000"/>
          </a:p>
        </p:txBody>
      </p:sp>
      <p:pic>
        <p:nvPicPr>
          <p:cNvPr id="3" name="object 3"/>
          <p:cNvPicPr/>
          <p:nvPr/>
        </p:nvPicPr>
        <p:blipFill>
          <a:blip r:embed="rId1" cstate="print"/>
          <a:stretch>
            <a:fillRect/>
          </a:stretch>
        </p:blipFill>
        <p:spPr>
          <a:xfrm>
            <a:off x="2477770" y="1603375"/>
            <a:ext cx="4751705" cy="4297045"/>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0270" y="533718"/>
            <a:ext cx="10058400" cy="628650"/>
          </a:xfrm>
          <a:prstGeom prst="rect">
            <a:avLst/>
          </a:prstGeom>
        </p:spPr>
        <p:txBody>
          <a:bodyPr vert="horz" wrap="square" lIns="0" tIns="13335" rIns="0" bIns="0" rtlCol="0">
            <a:spAutoFit/>
          </a:bodyPr>
          <a:lstStyle/>
          <a:p>
            <a:pPr marL="12700">
              <a:lnSpc>
                <a:spcPct val="100000"/>
              </a:lnSpc>
              <a:spcBef>
                <a:spcPts val="105"/>
              </a:spcBef>
            </a:pPr>
            <a:r>
              <a:rPr lang="en-US" spc="-10" dirty="0"/>
              <a:t>Major Sub-fields of AI</a:t>
            </a:r>
            <a:endParaRPr spc="-10" dirty="0"/>
          </a:p>
        </p:txBody>
      </p:sp>
      <p:sp>
        <p:nvSpPr>
          <p:cNvPr id="3" name="object 3"/>
          <p:cNvSpPr txBox="1"/>
          <p:nvPr/>
        </p:nvSpPr>
        <p:spPr>
          <a:xfrm>
            <a:off x="770890" y="1367155"/>
            <a:ext cx="5673725" cy="4579620"/>
          </a:xfrm>
          <a:prstGeom prst="rect">
            <a:avLst/>
          </a:prstGeom>
        </p:spPr>
        <p:txBody>
          <a:bodyPr vert="horz" wrap="square" lIns="0" tIns="12065" rIns="0" bIns="0" rtlCol="0">
            <a:noAutofit/>
          </a:bodyPr>
          <a:lstStyle/>
          <a:p>
            <a:pPr marL="12700" marR="5080" indent="-635">
              <a:lnSpc>
                <a:spcPct val="100000"/>
              </a:lnSpc>
              <a:spcBef>
                <a:spcPts val="95"/>
              </a:spcBef>
              <a:buClr>
                <a:srgbClr val="0AD0D9"/>
              </a:buClr>
              <a:buSzPct val="88000"/>
              <a:buFont typeface="Wingdings" panose="05000000000000000000"/>
              <a:buChar char=""/>
              <a:tabLst>
                <a:tab pos="166370" algn="l"/>
              </a:tabLst>
            </a:pPr>
            <a:r>
              <a:rPr sz="1600" dirty="0">
                <a:solidFill>
                  <a:srgbClr val="FF0000"/>
                </a:solidFill>
                <a:latin typeface="Georgia" panose="02040502050405020303"/>
                <a:cs typeface="Georgia" panose="02040502050405020303"/>
              </a:rPr>
              <a:t>	</a:t>
            </a:r>
            <a:r>
              <a:rPr sz="1600" dirty="0">
                <a:solidFill>
                  <a:srgbClr val="FF0000"/>
                </a:solidFill>
                <a:latin typeface="Georgia" panose="02040502050405020303"/>
                <a:cs typeface="Georgia" panose="02040502050405020303"/>
              </a:rPr>
              <a:t>Artificial</a:t>
            </a:r>
            <a:r>
              <a:rPr sz="1600" spc="-5" dirty="0">
                <a:solidFill>
                  <a:srgbClr val="FF0000"/>
                </a:solidFill>
                <a:latin typeface="Georgia" panose="02040502050405020303"/>
                <a:cs typeface="Georgia" panose="02040502050405020303"/>
              </a:rPr>
              <a:t> </a:t>
            </a:r>
            <a:r>
              <a:rPr sz="1600" dirty="0">
                <a:solidFill>
                  <a:srgbClr val="FF0000"/>
                </a:solidFill>
                <a:latin typeface="Georgia" panose="02040502050405020303"/>
                <a:cs typeface="Georgia" panose="02040502050405020303"/>
              </a:rPr>
              <a:t>Intelligence</a:t>
            </a:r>
            <a:r>
              <a:rPr sz="1600" spc="-5" dirty="0">
                <a:solidFill>
                  <a:srgbClr val="FF0000"/>
                </a:solidFill>
                <a:latin typeface="Georgia" panose="02040502050405020303"/>
                <a:cs typeface="Georgia" panose="02040502050405020303"/>
              </a:rPr>
              <a:t> </a:t>
            </a:r>
            <a:r>
              <a:rPr sz="1600" dirty="0">
                <a:latin typeface="Georgia" panose="02040502050405020303"/>
                <a:cs typeface="Georgia" panose="02040502050405020303"/>
              </a:rPr>
              <a:t>(AI)</a:t>
            </a:r>
            <a:r>
              <a:rPr sz="1600" spc="-45" dirty="0">
                <a:latin typeface="Georgia" panose="02040502050405020303"/>
                <a:cs typeface="Georgia" panose="02040502050405020303"/>
              </a:rPr>
              <a:t> </a:t>
            </a:r>
            <a:r>
              <a:rPr sz="1600" dirty="0">
                <a:latin typeface="Georgia" panose="02040502050405020303"/>
                <a:cs typeface="Georgia" panose="02040502050405020303"/>
              </a:rPr>
              <a:t>is</a:t>
            </a:r>
            <a:r>
              <a:rPr sz="1600" spc="-50" dirty="0">
                <a:latin typeface="Georgia" panose="02040502050405020303"/>
                <a:cs typeface="Georgia" panose="02040502050405020303"/>
              </a:rPr>
              <a:t> </a:t>
            </a:r>
            <a:r>
              <a:rPr sz="1600" dirty="0">
                <a:latin typeface="Georgia" panose="02040502050405020303"/>
                <a:cs typeface="Georgia" panose="02040502050405020303"/>
              </a:rPr>
              <a:t>the</a:t>
            </a:r>
            <a:r>
              <a:rPr sz="1600" spc="-40" dirty="0">
                <a:latin typeface="Georgia" panose="02040502050405020303"/>
                <a:cs typeface="Georgia" panose="02040502050405020303"/>
              </a:rPr>
              <a:t> </a:t>
            </a:r>
            <a:r>
              <a:rPr sz="1600" dirty="0">
                <a:latin typeface="Georgia" panose="02040502050405020303"/>
                <a:cs typeface="Georgia" panose="02040502050405020303"/>
              </a:rPr>
              <a:t>general</a:t>
            </a:r>
            <a:r>
              <a:rPr sz="1600" spc="-25" dirty="0">
                <a:latin typeface="Georgia" panose="02040502050405020303"/>
                <a:cs typeface="Georgia" panose="02040502050405020303"/>
              </a:rPr>
              <a:t> </a:t>
            </a:r>
            <a:r>
              <a:rPr sz="1600" dirty="0">
                <a:latin typeface="Georgia" panose="02040502050405020303"/>
                <a:cs typeface="Georgia" panose="02040502050405020303"/>
              </a:rPr>
              <a:t>term</a:t>
            </a:r>
            <a:r>
              <a:rPr sz="1600" spc="-45" dirty="0">
                <a:latin typeface="Georgia" panose="02040502050405020303"/>
                <a:cs typeface="Georgia" panose="02040502050405020303"/>
              </a:rPr>
              <a:t> </a:t>
            </a:r>
            <a:r>
              <a:rPr sz="1600" dirty="0">
                <a:latin typeface="Georgia" panose="02040502050405020303"/>
                <a:cs typeface="Georgia" panose="02040502050405020303"/>
              </a:rPr>
              <a:t>for</a:t>
            </a:r>
            <a:r>
              <a:rPr sz="1600" spc="-35" dirty="0">
                <a:latin typeface="Georgia" panose="02040502050405020303"/>
                <a:cs typeface="Georgia" panose="02040502050405020303"/>
              </a:rPr>
              <a:t> </a:t>
            </a:r>
            <a:r>
              <a:rPr sz="1600" dirty="0">
                <a:latin typeface="Georgia" panose="02040502050405020303"/>
                <a:cs typeface="Georgia" panose="02040502050405020303"/>
              </a:rPr>
              <a:t>being</a:t>
            </a:r>
            <a:r>
              <a:rPr sz="1600" spc="-30" dirty="0">
                <a:latin typeface="Georgia" panose="02040502050405020303"/>
                <a:cs typeface="Georgia" panose="02040502050405020303"/>
              </a:rPr>
              <a:t> </a:t>
            </a:r>
            <a:r>
              <a:rPr sz="1600" dirty="0">
                <a:latin typeface="Georgia" panose="02040502050405020303"/>
                <a:cs typeface="Georgia" panose="02040502050405020303"/>
              </a:rPr>
              <a:t>able</a:t>
            </a:r>
            <a:r>
              <a:rPr sz="1600" spc="-25" dirty="0">
                <a:latin typeface="Georgia" panose="02040502050405020303"/>
                <a:cs typeface="Georgia" panose="02040502050405020303"/>
              </a:rPr>
              <a:t> </a:t>
            </a:r>
            <a:r>
              <a:rPr sz="1600" dirty="0">
                <a:latin typeface="Georgia" panose="02040502050405020303"/>
                <a:cs typeface="Georgia" panose="02040502050405020303"/>
              </a:rPr>
              <a:t>to</a:t>
            </a:r>
            <a:r>
              <a:rPr sz="1600" spc="-50" dirty="0">
                <a:latin typeface="Georgia" panose="02040502050405020303"/>
                <a:cs typeface="Georgia" panose="02040502050405020303"/>
              </a:rPr>
              <a:t> </a:t>
            </a:r>
            <a:r>
              <a:rPr sz="1600" dirty="0">
                <a:latin typeface="Georgia" panose="02040502050405020303"/>
                <a:cs typeface="Georgia" panose="02040502050405020303"/>
              </a:rPr>
              <a:t>make</a:t>
            </a:r>
            <a:r>
              <a:rPr sz="1600" spc="-30" dirty="0">
                <a:latin typeface="Georgia" panose="02040502050405020303"/>
                <a:cs typeface="Georgia" panose="02040502050405020303"/>
              </a:rPr>
              <a:t> </a:t>
            </a:r>
            <a:r>
              <a:rPr sz="1600" dirty="0">
                <a:latin typeface="Georgia" panose="02040502050405020303"/>
                <a:cs typeface="Georgia" panose="02040502050405020303"/>
              </a:rPr>
              <a:t>computers</a:t>
            </a:r>
            <a:r>
              <a:rPr sz="1600" spc="-35" dirty="0">
                <a:latin typeface="Georgia" panose="02040502050405020303"/>
                <a:cs typeface="Georgia" panose="02040502050405020303"/>
              </a:rPr>
              <a:t> </a:t>
            </a:r>
            <a:r>
              <a:rPr sz="1600" dirty="0">
                <a:latin typeface="Georgia" panose="02040502050405020303"/>
                <a:cs typeface="Georgia" panose="02040502050405020303"/>
              </a:rPr>
              <a:t>do</a:t>
            </a:r>
            <a:r>
              <a:rPr sz="1600" spc="-35" dirty="0">
                <a:latin typeface="Georgia" panose="02040502050405020303"/>
                <a:cs typeface="Georgia" panose="02040502050405020303"/>
              </a:rPr>
              <a:t> </a:t>
            </a:r>
            <a:r>
              <a:rPr sz="1600" spc="-10" dirty="0">
                <a:latin typeface="Georgia" panose="02040502050405020303"/>
                <a:cs typeface="Georgia" panose="02040502050405020303"/>
              </a:rPr>
              <a:t>things </a:t>
            </a:r>
            <a:r>
              <a:rPr sz="1600" dirty="0">
                <a:latin typeface="Georgia" panose="02040502050405020303"/>
                <a:cs typeface="Georgia" panose="02040502050405020303"/>
              </a:rPr>
              <a:t>that</a:t>
            </a:r>
            <a:r>
              <a:rPr sz="1600" spc="-45" dirty="0">
                <a:latin typeface="Georgia" panose="02040502050405020303"/>
                <a:cs typeface="Georgia" panose="02040502050405020303"/>
              </a:rPr>
              <a:t> </a:t>
            </a:r>
            <a:r>
              <a:rPr sz="1600" dirty="0">
                <a:latin typeface="Georgia" panose="02040502050405020303"/>
                <a:cs typeface="Georgia" panose="02040502050405020303"/>
              </a:rPr>
              <a:t>require</a:t>
            </a:r>
            <a:r>
              <a:rPr sz="1600" spc="-40" dirty="0">
                <a:latin typeface="Georgia" panose="02040502050405020303"/>
                <a:cs typeface="Georgia" panose="02040502050405020303"/>
              </a:rPr>
              <a:t> </a:t>
            </a:r>
            <a:r>
              <a:rPr sz="1600" dirty="0">
                <a:latin typeface="Georgia" panose="02040502050405020303"/>
                <a:cs typeface="Georgia" panose="02040502050405020303"/>
              </a:rPr>
              <a:t>intelligence</a:t>
            </a:r>
            <a:r>
              <a:rPr sz="1600" spc="-10" dirty="0">
                <a:latin typeface="Georgia" panose="02040502050405020303"/>
                <a:cs typeface="Georgia" panose="02040502050405020303"/>
              </a:rPr>
              <a:t> </a:t>
            </a:r>
            <a:r>
              <a:rPr sz="1600" dirty="0">
                <a:latin typeface="Georgia" panose="02040502050405020303"/>
                <a:cs typeface="Georgia" panose="02040502050405020303"/>
              </a:rPr>
              <a:t>if</a:t>
            </a:r>
            <a:r>
              <a:rPr sz="1600" spc="-55" dirty="0">
                <a:latin typeface="Georgia" panose="02040502050405020303"/>
                <a:cs typeface="Georgia" panose="02040502050405020303"/>
              </a:rPr>
              <a:t> </a:t>
            </a:r>
            <a:r>
              <a:rPr sz="1600" dirty="0">
                <a:latin typeface="Georgia" panose="02040502050405020303"/>
                <a:cs typeface="Georgia" panose="02040502050405020303"/>
              </a:rPr>
              <a:t>done</a:t>
            </a:r>
            <a:r>
              <a:rPr sz="1600" spc="-40" dirty="0">
                <a:latin typeface="Georgia" panose="02040502050405020303"/>
                <a:cs typeface="Georgia" panose="02040502050405020303"/>
              </a:rPr>
              <a:t> </a:t>
            </a:r>
            <a:r>
              <a:rPr sz="1600" dirty="0">
                <a:latin typeface="Georgia" panose="02040502050405020303"/>
                <a:cs typeface="Georgia" panose="02040502050405020303"/>
              </a:rPr>
              <a:t>by</a:t>
            </a:r>
            <a:r>
              <a:rPr sz="1600" spc="-45" dirty="0">
                <a:latin typeface="Georgia" panose="02040502050405020303"/>
                <a:cs typeface="Georgia" panose="02040502050405020303"/>
              </a:rPr>
              <a:t> </a:t>
            </a:r>
            <a:r>
              <a:rPr sz="1600" spc="-10" dirty="0">
                <a:latin typeface="Georgia" panose="02040502050405020303"/>
                <a:cs typeface="Georgia" panose="02040502050405020303"/>
              </a:rPr>
              <a:t>humans.</a:t>
            </a:r>
            <a:endParaRPr sz="1600" spc="-10" dirty="0">
              <a:latin typeface="Georgia" panose="02040502050405020303"/>
              <a:cs typeface="Georgia" panose="02040502050405020303"/>
            </a:endParaRPr>
          </a:p>
          <a:p>
            <a:pPr marL="12700" marR="5080" indent="-635">
              <a:lnSpc>
                <a:spcPct val="100000"/>
              </a:lnSpc>
              <a:spcBef>
                <a:spcPts val="95"/>
              </a:spcBef>
              <a:buClr>
                <a:srgbClr val="0AD0D9"/>
              </a:buClr>
              <a:buSzPct val="88000"/>
              <a:buFont typeface="Wingdings" panose="05000000000000000000"/>
              <a:buChar char=""/>
              <a:tabLst>
                <a:tab pos="166370" algn="l"/>
              </a:tabLst>
            </a:pPr>
            <a:endParaRPr sz="1600">
              <a:latin typeface="Georgia" panose="02040502050405020303"/>
              <a:cs typeface="Georgia" panose="02040502050405020303"/>
            </a:endParaRPr>
          </a:p>
          <a:p>
            <a:pPr marL="166370" indent="-154305">
              <a:lnSpc>
                <a:spcPct val="100000"/>
              </a:lnSpc>
              <a:spcBef>
                <a:spcPts val="385"/>
              </a:spcBef>
              <a:buClr>
                <a:srgbClr val="0AD0D9"/>
              </a:buClr>
              <a:buSzPct val="88000"/>
              <a:buFont typeface="Wingdings" panose="05000000000000000000"/>
              <a:buChar char=""/>
              <a:tabLst>
                <a:tab pos="166370" algn="l"/>
              </a:tabLst>
            </a:pPr>
            <a:r>
              <a:rPr sz="1600" dirty="0">
                <a:solidFill>
                  <a:srgbClr val="FF0000"/>
                </a:solidFill>
                <a:latin typeface="Georgia" panose="02040502050405020303"/>
                <a:cs typeface="Georgia" panose="02040502050405020303"/>
              </a:rPr>
              <a:t>Machine</a:t>
            </a:r>
            <a:r>
              <a:rPr sz="1600" spc="-20" dirty="0">
                <a:solidFill>
                  <a:srgbClr val="FF0000"/>
                </a:solidFill>
                <a:latin typeface="Georgia" panose="02040502050405020303"/>
                <a:cs typeface="Georgia" panose="02040502050405020303"/>
              </a:rPr>
              <a:t> </a:t>
            </a:r>
            <a:r>
              <a:rPr sz="1600" dirty="0">
                <a:solidFill>
                  <a:srgbClr val="FF0000"/>
                </a:solidFill>
                <a:latin typeface="Georgia" panose="02040502050405020303"/>
                <a:cs typeface="Georgia" panose="02040502050405020303"/>
              </a:rPr>
              <a:t>Learning</a:t>
            </a:r>
            <a:r>
              <a:rPr sz="1600" spc="-30" dirty="0">
                <a:solidFill>
                  <a:srgbClr val="FF0000"/>
                </a:solidFill>
                <a:latin typeface="Georgia" panose="02040502050405020303"/>
                <a:cs typeface="Georgia" panose="02040502050405020303"/>
              </a:rPr>
              <a:t> </a:t>
            </a:r>
            <a:r>
              <a:rPr sz="1600" dirty="0">
                <a:latin typeface="Georgia" panose="02040502050405020303"/>
                <a:cs typeface="Georgia" panose="02040502050405020303"/>
              </a:rPr>
              <a:t>(ML)</a:t>
            </a:r>
            <a:r>
              <a:rPr sz="1600" spc="-40" dirty="0">
                <a:latin typeface="Georgia" panose="02040502050405020303"/>
                <a:cs typeface="Georgia" panose="02040502050405020303"/>
              </a:rPr>
              <a:t> </a:t>
            </a:r>
            <a:r>
              <a:rPr sz="1600" dirty="0">
                <a:latin typeface="Georgia" panose="02040502050405020303"/>
                <a:cs typeface="Georgia" panose="02040502050405020303"/>
              </a:rPr>
              <a:t>makes</a:t>
            </a:r>
            <a:r>
              <a:rPr sz="1600" spc="-45" dirty="0">
                <a:latin typeface="Georgia" panose="02040502050405020303"/>
                <a:cs typeface="Georgia" panose="02040502050405020303"/>
              </a:rPr>
              <a:t> </a:t>
            </a:r>
            <a:r>
              <a:rPr sz="1600" dirty="0">
                <a:latin typeface="Georgia" panose="02040502050405020303"/>
                <a:cs typeface="Georgia" panose="02040502050405020303"/>
              </a:rPr>
              <a:t>computers</a:t>
            </a:r>
            <a:r>
              <a:rPr sz="1600" spc="-35" dirty="0">
                <a:latin typeface="Georgia" panose="02040502050405020303"/>
                <a:cs typeface="Georgia" panose="02040502050405020303"/>
              </a:rPr>
              <a:t> </a:t>
            </a:r>
            <a:r>
              <a:rPr sz="1600" dirty="0">
                <a:latin typeface="Georgia" panose="02040502050405020303"/>
                <a:cs typeface="Georgia" panose="02040502050405020303"/>
              </a:rPr>
              <a:t>learn</a:t>
            </a:r>
            <a:r>
              <a:rPr sz="1600" spc="-40" dirty="0">
                <a:latin typeface="Georgia" panose="02040502050405020303"/>
                <a:cs typeface="Georgia" panose="02040502050405020303"/>
              </a:rPr>
              <a:t> </a:t>
            </a:r>
            <a:r>
              <a:rPr sz="1600" dirty="0">
                <a:latin typeface="Georgia" panose="02040502050405020303"/>
                <a:cs typeface="Georgia" panose="02040502050405020303"/>
              </a:rPr>
              <a:t>from</a:t>
            </a:r>
            <a:r>
              <a:rPr sz="1600" spc="-40" dirty="0">
                <a:latin typeface="Georgia" panose="02040502050405020303"/>
                <a:cs typeface="Georgia" panose="02040502050405020303"/>
              </a:rPr>
              <a:t> </a:t>
            </a:r>
            <a:r>
              <a:rPr sz="1600" dirty="0">
                <a:latin typeface="Georgia" panose="02040502050405020303"/>
                <a:cs typeface="Georgia" panose="02040502050405020303"/>
              </a:rPr>
              <a:t>data</a:t>
            </a:r>
            <a:r>
              <a:rPr sz="1600" spc="-40" dirty="0">
                <a:latin typeface="Georgia" panose="02040502050405020303"/>
                <a:cs typeface="Georgia" panose="02040502050405020303"/>
              </a:rPr>
              <a:t> </a:t>
            </a:r>
            <a:r>
              <a:rPr sz="1600" dirty="0">
                <a:latin typeface="Georgia" panose="02040502050405020303"/>
                <a:cs typeface="Georgia" panose="02040502050405020303"/>
              </a:rPr>
              <a:t>and</a:t>
            </a:r>
            <a:r>
              <a:rPr sz="1600" spc="-45" dirty="0">
                <a:latin typeface="Georgia" panose="02040502050405020303"/>
                <a:cs typeface="Georgia" panose="02040502050405020303"/>
              </a:rPr>
              <a:t> </a:t>
            </a:r>
            <a:r>
              <a:rPr sz="1600" dirty="0">
                <a:latin typeface="Georgia" panose="02040502050405020303"/>
                <a:cs typeface="Georgia" panose="02040502050405020303"/>
              </a:rPr>
              <a:t>experience</a:t>
            </a:r>
            <a:r>
              <a:rPr sz="1600" spc="-25" dirty="0">
                <a:latin typeface="Georgia" panose="02040502050405020303"/>
                <a:cs typeface="Georgia" panose="02040502050405020303"/>
              </a:rPr>
              <a:t> </a:t>
            </a:r>
            <a:r>
              <a:rPr sz="1600" dirty="0">
                <a:latin typeface="Georgia" panose="02040502050405020303"/>
                <a:cs typeface="Georgia" panose="02040502050405020303"/>
              </a:rPr>
              <a:t>to</a:t>
            </a:r>
            <a:r>
              <a:rPr sz="1600" spc="-60" dirty="0">
                <a:latin typeface="Georgia" panose="02040502050405020303"/>
                <a:cs typeface="Georgia" panose="02040502050405020303"/>
              </a:rPr>
              <a:t> </a:t>
            </a:r>
            <a:r>
              <a:rPr sz="1600" spc="-10" dirty="0">
                <a:latin typeface="Georgia" panose="02040502050405020303"/>
                <a:cs typeface="Georgia" panose="02040502050405020303"/>
              </a:rPr>
              <a:t>improve</a:t>
            </a:r>
            <a:r>
              <a:rPr lang="en-US" sz="1600" spc="-10" dirty="0">
                <a:latin typeface="Georgia" panose="02040502050405020303"/>
                <a:cs typeface="Georgia" panose="02040502050405020303"/>
              </a:rPr>
              <a:t> </a:t>
            </a:r>
            <a:r>
              <a:rPr sz="1600" dirty="0">
                <a:latin typeface="Georgia" panose="02040502050405020303"/>
                <a:cs typeface="Georgia" panose="02040502050405020303"/>
              </a:rPr>
              <a:t>their</a:t>
            </a:r>
            <a:r>
              <a:rPr sz="1600" spc="-30" dirty="0">
                <a:latin typeface="Georgia" panose="02040502050405020303"/>
                <a:cs typeface="Georgia" panose="02040502050405020303"/>
              </a:rPr>
              <a:t> </a:t>
            </a:r>
            <a:r>
              <a:rPr sz="1600" dirty="0">
                <a:latin typeface="Georgia" panose="02040502050405020303"/>
                <a:cs typeface="Georgia" panose="02040502050405020303"/>
              </a:rPr>
              <a:t>performance</a:t>
            </a:r>
            <a:r>
              <a:rPr sz="1600" spc="-20" dirty="0">
                <a:latin typeface="Georgia" panose="02040502050405020303"/>
                <a:cs typeface="Georgia" panose="02040502050405020303"/>
              </a:rPr>
              <a:t> </a:t>
            </a:r>
            <a:r>
              <a:rPr sz="1600" dirty="0">
                <a:latin typeface="Georgia" panose="02040502050405020303"/>
                <a:cs typeface="Georgia" panose="02040502050405020303"/>
              </a:rPr>
              <a:t>on</a:t>
            </a:r>
            <a:r>
              <a:rPr sz="1600" spc="-45" dirty="0">
                <a:latin typeface="Georgia" panose="02040502050405020303"/>
                <a:cs typeface="Georgia" panose="02040502050405020303"/>
              </a:rPr>
              <a:t> </a:t>
            </a:r>
            <a:r>
              <a:rPr sz="1600" dirty="0">
                <a:latin typeface="Georgia" panose="02040502050405020303"/>
                <a:cs typeface="Georgia" panose="02040502050405020303"/>
              </a:rPr>
              <a:t>some</a:t>
            </a:r>
            <a:r>
              <a:rPr sz="1600" spc="-40" dirty="0">
                <a:latin typeface="Georgia" panose="02040502050405020303"/>
                <a:cs typeface="Georgia" panose="02040502050405020303"/>
              </a:rPr>
              <a:t> </a:t>
            </a:r>
            <a:r>
              <a:rPr sz="1600" dirty="0">
                <a:latin typeface="Georgia" panose="02040502050405020303"/>
                <a:cs typeface="Georgia" panose="02040502050405020303"/>
              </a:rPr>
              <a:t>tasks</a:t>
            </a:r>
            <a:r>
              <a:rPr sz="1600" spc="-45" dirty="0">
                <a:latin typeface="Georgia" panose="02040502050405020303"/>
                <a:cs typeface="Georgia" panose="02040502050405020303"/>
              </a:rPr>
              <a:t> </a:t>
            </a:r>
            <a:r>
              <a:rPr sz="1600" dirty="0">
                <a:latin typeface="Georgia" panose="02040502050405020303"/>
                <a:cs typeface="Georgia" panose="02040502050405020303"/>
              </a:rPr>
              <a:t>or</a:t>
            </a:r>
            <a:r>
              <a:rPr sz="1600" spc="-45" dirty="0">
                <a:latin typeface="Georgia" panose="02040502050405020303"/>
                <a:cs typeface="Georgia" panose="02040502050405020303"/>
              </a:rPr>
              <a:t> </a:t>
            </a:r>
            <a:r>
              <a:rPr sz="1600" spc="-10" dirty="0">
                <a:latin typeface="Georgia" panose="02040502050405020303"/>
                <a:cs typeface="Georgia" panose="02040502050405020303"/>
              </a:rPr>
              <a:t>decision-</a:t>
            </a:r>
            <a:r>
              <a:rPr sz="1600" dirty="0">
                <a:latin typeface="Georgia" panose="02040502050405020303"/>
                <a:cs typeface="Georgia" panose="02040502050405020303"/>
              </a:rPr>
              <a:t>making</a:t>
            </a:r>
            <a:r>
              <a:rPr sz="1600" spc="5" dirty="0">
                <a:latin typeface="Georgia" panose="02040502050405020303"/>
                <a:cs typeface="Georgia" panose="02040502050405020303"/>
              </a:rPr>
              <a:t> </a:t>
            </a:r>
            <a:r>
              <a:rPr sz="1600" spc="-10" dirty="0">
                <a:latin typeface="Georgia" panose="02040502050405020303"/>
                <a:cs typeface="Georgia" panose="02040502050405020303"/>
              </a:rPr>
              <a:t>processes.</a:t>
            </a:r>
            <a:endParaRPr sz="1600" spc="-10" dirty="0">
              <a:latin typeface="Georgia" panose="02040502050405020303"/>
              <a:cs typeface="Georgia" panose="02040502050405020303"/>
            </a:endParaRPr>
          </a:p>
          <a:p>
            <a:pPr marL="166370" indent="-154305">
              <a:lnSpc>
                <a:spcPct val="100000"/>
              </a:lnSpc>
              <a:spcBef>
                <a:spcPts val="385"/>
              </a:spcBef>
              <a:buClr>
                <a:srgbClr val="0AD0D9"/>
              </a:buClr>
              <a:buSzPct val="88000"/>
              <a:buFont typeface="Wingdings" panose="05000000000000000000"/>
              <a:buChar char=""/>
              <a:tabLst>
                <a:tab pos="166370" algn="l"/>
              </a:tabLst>
            </a:pPr>
            <a:endParaRPr sz="1600" spc="-10" dirty="0">
              <a:latin typeface="Georgia" panose="02040502050405020303"/>
              <a:cs typeface="Georgia" panose="02040502050405020303"/>
            </a:endParaRPr>
          </a:p>
          <a:p>
            <a:pPr marL="166370" indent="-154305">
              <a:lnSpc>
                <a:spcPct val="100000"/>
              </a:lnSpc>
              <a:spcBef>
                <a:spcPts val="385"/>
              </a:spcBef>
              <a:buClr>
                <a:srgbClr val="0AD0D9"/>
              </a:buClr>
              <a:buSzPct val="88000"/>
              <a:buFont typeface="Wingdings" panose="05000000000000000000"/>
              <a:buChar char=""/>
              <a:tabLst>
                <a:tab pos="166370" algn="l"/>
              </a:tabLst>
            </a:pPr>
            <a:r>
              <a:rPr sz="1600" dirty="0">
                <a:solidFill>
                  <a:srgbClr val="595959"/>
                </a:solidFill>
                <a:latin typeface="Roboto Lt"/>
                <a:cs typeface="Roboto Lt"/>
                <a:sym typeface="+mn-ea"/>
              </a:rPr>
              <a:t>ML</a:t>
            </a:r>
            <a:r>
              <a:rPr sz="1600" spc="-15" dirty="0">
                <a:solidFill>
                  <a:srgbClr val="595959"/>
                </a:solidFill>
                <a:latin typeface="Roboto Lt"/>
                <a:cs typeface="Roboto Lt"/>
                <a:sym typeface="+mn-ea"/>
              </a:rPr>
              <a:t> </a:t>
            </a:r>
            <a:r>
              <a:rPr sz="1600" dirty="0">
                <a:solidFill>
                  <a:srgbClr val="595959"/>
                </a:solidFill>
                <a:latin typeface="Roboto Lt"/>
                <a:cs typeface="Roboto Lt"/>
                <a:sym typeface="+mn-ea"/>
              </a:rPr>
              <a:t>can</a:t>
            </a:r>
            <a:r>
              <a:rPr sz="1600" spc="-15" dirty="0">
                <a:solidFill>
                  <a:srgbClr val="595959"/>
                </a:solidFill>
                <a:latin typeface="Roboto Lt"/>
                <a:cs typeface="Roboto Lt"/>
                <a:sym typeface="+mn-ea"/>
              </a:rPr>
              <a:t> </a:t>
            </a:r>
            <a:r>
              <a:rPr sz="1600" dirty="0">
                <a:solidFill>
                  <a:srgbClr val="595959"/>
                </a:solidFill>
                <a:latin typeface="Roboto Lt"/>
                <a:cs typeface="Roboto Lt"/>
                <a:sym typeface="+mn-ea"/>
              </a:rPr>
              <a:t>be</a:t>
            </a:r>
            <a:r>
              <a:rPr sz="1600" spc="-10" dirty="0">
                <a:solidFill>
                  <a:srgbClr val="595959"/>
                </a:solidFill>
                <a:latin typeface="Roboto Lt"/>
                <a:cs typeface="Roboto Lt"/>
                <a:sym typeface="+mn-ea"/>
              </a:rPr>
              <a:t> </a:t>
            </a:r>
            <a:r>
              <a:rPr sz="1600" dirty="0">
                <a:solidFill>
                  <a:srgbClr val="595959"/>
                </a:solidFill>
                <a:latin typeface="Roboto Lt"/>
                <a:cs typeface="Roboto Lt"/>
                <a:sym typeface="+mn-ea"/>
              </a:rPr>
              <a:t>defined</a:t>
            </a:r>
            <a:r>
              <a:rPr sz="1600" spc="-15" dirty="0">
                <a:solidFill>
                  <a:srgbClr val="595959"/>
                </a:solidFill>
                <a:latin typeface="Roboto Lt"/>
                <a:cs typeface="Roboto Lt"/>
                <a:sym typeface="+mn-ea"/>
              </a:rPr>
              <a:t> </a:t>
            </a:r>
            <a:r>
              <a:rPr sz="1600" dirty="0">
                <a:solidFill>
                  <a:srgbClr val="595959"/>
                </a:solidFill>
                <a:latin typeface="Roboto Lt"/>
                <a:cs typeface="Roboto Lt"/>
                <a:sym typeface="+mn-ea"/>
              </a:rPr>
              <a:t>as</a:t>
            </a:r>
            <a:r>
              <a:rPr sz="1600" spc="-15" dirty="0">
                <a:solidFill>
                  <a:srgbClr val="595959"/>
                </a:solidFill>
                <a:latin typeface="Roboto Lt"/>
                <a:cs typeface="Roboto Lt"/>
                <a:sym typeface="+mn-ea"/>
              </a:rPr>
              <a:t> </a:t>
            </a:r>
            <a:r>
              <a:rPr sz="1600" dirty="0">
                <a:solidFill>
                  <a:srgbClr val="595959"/>
                </a:solidFill>
                <a:latin typeface="Roboto Lt"/>
                <a:cs typeface="Roboto Lt"/>
                <a:sym typeface="+mn-ea"/>
              </a:rPr>
              <a:t>a</a:t>
            </a:r>
            <a:r>
              <a:rPr sz="1600" spc="-10" dirty="0">
                <a:solidFill>
                  <a:srgbClr val="595959"/>
                </a:solidFill>
                <a:latin typeface="Roboto Lt"/>
                <a:cs typeface="Roboto Lt"/>
                <a:sym typeface="+mn-ea"/>
              </a:rPr>
              <a:t> </a:t>
            </a:r>
            <a:r>
              <a:rPr sz="1600" dirty="0">
                <a:solidFill>
                  <a:srgbClr val="595959"/>
                </a:solidFill>
                <a:latin typeface="Roboto Lt"/>
                <a:cs typeface="Roboto Lt"/>
                <a:sym typeface="+mn-ea"/>
              </a:rPr>
              <a:t>set</a:t>
            </a:r>
            <a:r>
              <a:rPr sz="1600" spc="-15" dirty="0">
                <a:solidFill>
                  <a:srgbClr val="595959"/>
                </a:solidFill>
                <a:latin typeface="Roboto Lt"/>
                <a:cs typeface="Roboto Lt"/>
                <a:sym typeface="+mn-ea"/>
              </a:rPr>
              <a:t> </a:t>
            </a:r>
            <a:r>
              <a:rPr sz="1600" dirty="0">
                <a:solidFill>
                  <a:srgbClr val="595959"/>
                </a:solidFill>
                <a:latin typeface="Roboto Lt"/>
                <a:cs typeface="Roboto Lt"/>
                <a:sym typeface="+mn-ea"/>
              </a:rPr>
              <a:t>of</a:t>
            </a:r>
            <a:r>
              <a:rPr sz="1600" spc="-15" dirty="0">
                <a:solidFill>
                  <a:srgbClr val="595959"/>
                </a:solidFill>
                <a:latin typeface="Roboto Lt"/>
                <a:cs typeface="Roboto Lt"/>
                <a:sym typeface="+mn-ea"/>
              </a:rPr>
              <a:t> </a:t>
            </a:r>
            <a:r>
              <a:rPr sz="1600" dirty="0">
                <a:solidFill>
                  <a:srgbClr val="595959"/>
                </a:solidFill>
                <a:latin typeface="Roboto Lt"/>
                <a:cs typeface="Roboto Lt"/>
                <a:sym typeface="+mn-ea"/>
              </a:rPr>
              <a:t>technologies</a:t>
            </a:r>
            <a:r>
              <a:rPr sz="1600" spc="-10" dirty="0">
                <a:solidFill>
                  <a:srgbClr val="595959"/>
                </a:solidFill>
                <a:latin typeface="Roboto Lt"/>
                <a:cs typeface="Roboto Lt"/>
                <a:sym typeface="+mn-ea"/>
              </a:rPr>
              <a:t> </a:t>
            </a:r>
            <a:r>
              <a:rPr sz="1600" spc="-25" dirty="0">
                <a:solidFill>
                  <a:srgbClr val="595959"/>
                </a:solidFill>
                <a:latin typeface="Roboto Lt"/>
                <a:cs typeface="Roboto Lt"/>
                <a:sym typeface="+mn-ea"/>
              </a:rPr>
              <a:t>and </a:t>
            </a:r>
            <a:r>
              <a:rPr sz="1600" dirty="0">
                <a:solidFill>
                  <a:srgbClr val="595959"/>
                </a:solidFill>
                <a:latin typeface="Roboto Lt"/>
                <a:cs typeface="Roboto Lt"/>
                <a:sym typeface="+mn-ea"/>
              </a:rPr>
              <a:t>methods</a:t>
            </a:r>
            <a:r>
              <a:rPr sz="1600" spc="-30" dirty="0">
                <a:solidFill>
                  <a:srgbClr val="595959"/>
                </a:solidFill>
                <a:latin typeface="Roboto Lt"/>
                <a:cs typeface="Roboto Lt"/>
                <a:sym typeface="+mn-ea"/>
              </a:rPr>
              <a:t> </a:t>
            </a:r>
            <a:r>
              <a:rPr sz="1600" dirty="0">
                <a:solidFill>
                  <a:srgbClr val="595959"/>
                </a:solidFill>
                <a:latin typeface="Roboto Lt"/>
                <a:cs typeface="Roboto Lt"/>
                <a:sym typeface="+mn-ea"/>
              </a:rPr>
              <a:t>for</a:t>
            </a:r>
            <a:r>
              <a:rPr sz="1600" spc="-25" dirty="0">
                <a:solidFill>
                  <a:srgbClr val="595959"/>
                </a:solidFill>
                <a:latin typeface="Roboto Lt"/>
                <a:cs typeface="Roboto Lt"/>
                <a:sym typeface="+mn-ea"/>
              </a:rPr>
              <a:t> </a:t>
            </a:r>
            <a:r>
              <a:rPr sz="1600" dirty="0">
                <a:solidFill>
                  <a:srgbClr val="595959"/>
                </a:solidFill>
                <a:latin typeface="Roboto Lt"/>
                <a:cs typeface="Roboto Lt"/>
                <a:sym typeface="+mn-ea"/>
              </a:rPr>
              <a:t>finding</a:t>
            </a:r>
            <a:r>
              <a:rPr sz="1600" spc="-25" dirty="0">
                <a:solidFill>
                  <a:srgbClr val="595959"/>
                </a:solidFill>
                <a:latin typeface="Roboto Lt"/>
                <a:cs typeface="Roboto Lt"/>
                <a:sym typeface="+mn-ea"/>
              </a:rPr>
              <a:t> </a:t>
            </a:r>
            <a:r>
              <a:rPr sz="1600" dirty="0">
                <a:solidFill>
                  <a:srgbClr val="595959"/>
                </a:solidFill>
                <a:latin typeface="Roboto Lt"/>
                <a:cs typeface="Roboto Lt"/>
                <a:sym typeface="+mn-ea"/>
              </a:rPr>
              <a:t>rules</a:t>
            </a:r>
            <a:r>
              <a:rPr sz="1600" spc="-25" dirty="0">
                <a:solidFill>
                  <a:srgbClr val="595959"/>
                </a:solidFill>
                <a:latin typeface="Roboto Lt"/>
                <a:cs typeface="Roboto Lt"/>
                <a:sym typeface="+mn-ea"/>
              </a:rPr>
              <a:t> </a:t>
            </a:r>
            <a:r>
              <a:rPr sz="1600" dirty="0">
                <a:solidFill>
                  <a:srgbClr val="595959"/>
                </a:solidFill>
                <a:latin typeface="Roboto Lt"/>
                <a:cs typeface="Roboto Lt"/>
                <a:sym typeface="+mn-ea"/>
              </a:rPr>
              <a:t>when</a:t>
            </a:r>
            <a:r>
              <a:rPr sz="1600" spc="-30" dirty="0">
                <a:solidFill>
                  <a:srgbClr val="595959"/>
                </a:solidFill>
                <a:latin typeface="Roboto Lt"/>
                <a:cs typeface="Roboto Lt"/>
                <a:sym typeface="+mn-ea"/>
              </a:rPr>
              <a:t> </a:t>
            </a:r>
            <a:r>
              <a:rPr sz="1600" dirty="0">
                <a:solidFill>
                  <a:srgbClr val="595959"/>
                </a:solidFill>
                <a:latin typeface="Roboto Lt"/>
                <a:cs typeface="Roboto Lt"/>
                <a:sym typeface="+mn-ea"/>
              </a:rPr>
              <a:t>they</a:t>
            </a:r>
            <a:r>
              <a:rPr sz="1600" spc="-25" dirty="0">
                <a:solidFill>
                  <a:srgbClr val="595959"/>
                </a:solidFill>
                <a:latin typeface="Roboto Lt"/>
                <a:cs typeface="Roboto Lt"/>
                <a:sym typeface="+mn-ea"/>
              </a:rPr>
              <a:t> </a:t>
            </a:r>
            <a:r>
              <a:rPr sz="1600" dirty="0">
                <a:solidFill>
                  <a:srgbClr val="595959"/>
                </a:solidFill>
                <a:latin typeface="Roboto Lt"/>
                <a:cs typeface="Roboto Lt"/>
                <a:sym typeface="+mn-ea"/>
              </a:rPr>
              <a:t>are</a:t>
            </a:r>
            <a:r>
              <a:rPr sz="1600" spc="-25" dirty="0">
                <a:solidFill>
                  <a:srgbClr val="595959"/>
                </a:solidFill>
                <a:latin typeface="Roboto Lt"/>
                <a:cs typeface="Roboto Lt"/>
                <a:sym typeface="+mn-ea"/>
              </a:rPr>
              <a:t> too </a:t>
            </a:r>
            <a:r>
              <a:rPr sz="1600" dirty="0">
                <a:solidFill>
                  <a:srgbClr val="595959"/>
                </a:solidFill>
                <a:latin typeface="Roboto Lt"/>
                <a:cs typeface="Roboto Lt"/>
                <a:sym typeface="+mn-ea"/>
              </a:rPr>
              <a:t>complex</a:t>
            </a:r>
            <a:r>
              <a:rPr sz="1600" spc="-40" dirty="0">
                <a:solidFill>
                  <a:srgbClr val="595959"/>
                </a:solidFill>
                <a:latin typeface="Roboto Lt"/>
                <a:cs typeface="Roboto Lt"/>
                <a:sym typeface="+mn-ea"/>
              </a:rPr>
              <a:t> </a:t>
            </a:r>
            <a:r>
              <a:rPr sz="1600" dirty="0">
                <a:solidFill>
                  <a:srgbClr val="595959"/>
                </a:solidFill>
                <a:latin typeface="Roboto Lt"/>
                <a:cs typeface="Roboto Lt"/>
                <a:sym typeface="+mn-ea"/>
              </a:rPr>
              <a:t>to</a:t>
            </a:r>
            <a:r>
              <a:rPr sz="1600" spc="-35" dirty="0">
                <a:solidFill>
                  <a:srgbClr val="595959"/>
                </a:solidFill>
                <a:latin typeface="Roboto Lt"/>
                <a:cs typeface="Roboto Lt"/>
                <a:sym typeface="+mn-ea"/>
              </a:rPr>
              <a:t> </a:t>
            </a:r>
            <a:r>
              <a:rPr sz="1600" dirty="0">
                <a:solidFill>
                  <a:srgbClr val="595959"/>
                </a:solidFill>
                <a:latin typeface="Roboto Lt"/>
                <a:cs typeface="Roboto Lt"/>
                <a:sym typeface="+mn-ea"/>
              </a:rPr>
              <a:t>define</a:t>
            </a:r>
            <a:r>
              <a:rPr sz="1600" spc="-40" dirty="0">
                <a:solidFill>
                  <a:srgbClr val="595959"/>
                </a:solidFill>
                <a:latin typeface="Roboto Lt"/>
                <a:cs typeface="Roboto Lt"/>
                <a:sym typeface="+mn-ea"/>
              </a:rPr>
              <a:t> </a:t>
            </a:r>
            <a:r>
              <a:rPr sz="1600" dirty="0">
                <a:solidFill>
                  <a:srgbClr val="595959"/>
                </a:solidFill>
                <a:latin typeface="Roboto Lt"/>
                <a:cs typeface="Roboto Lt"/>
                <a:sym typeface="+mn-ea"/>
              </a:rPr>
              <a:t>–</a:t>
            </a:r>
            <a:r>
              <a:rPr sz="1600" spc="-35" dirty="0">
                <a:solidFill>
                  <a:srgbClr val="595959"/>
                </a:solidFill>
                <a:latin typeface="Roboto Lt"/>
                <a:cs typeface="Roboto Lt"/>
                <a:sym typeface="+mn-ea"/>
              </a:rPr>
              <a:t> </a:t>
            </a:r>
            <a:r>
              <a:rPr sz="1600" dirty="0">
                <a:solidFill>
                  <a:srgbClr val="595959"/>
                </a:solidFill>
                <a:latin typeface="Roboto Lt"/>
                <a:cs typeface="Roboto Lt"/>
                <a:sym typeface="+mn-ea"/>
              </a:rPr>
              <a:t>they</a:t>
            </a:r>
            <a:r>
              <a:rPr sz="1600" spc="-35" dirty="0">
                <a:solidFill>
                  <a:srgbClr val="595959"/>
                </a:solidFill>
                <a:latin typeface="Roboto Lt"/>
                <a:cs typeface="Roboto Lt"/>
                <a:sym typeface="+mn-ea"/>
              </a:rPr>
              <a:t> </a:t>
            </a:r>
            <a:r>
              <a:rPr sz="1600" dirty="0">
                <a:solidFill>
                  <a:srgbClr val="595959"/>
                </a:solidFill>
                <a:latin typeface="Roboto Lt"/>
                <a:cs typeface="Roboto Lt"/>
                <a:sym typeface="+mn-ea"/>
              </a:rPr>
              <a:t>find</a:t>
            </a:r>
            <a:r>
              <a:rPr sz="1600" spc="-40" dirty="0">
                <a:solidFill>
                  <a:srgbClr val="595959"/>
                </a:solidFill>
                <a:latin typeface="Roboto Lt"/>
                <a:cs typeface="Roboto Lt"/>
                <a:sym typeface="+mn-ea"/>
              </a:rPr>
              <a:t> </a:t>
            </a:r>
            <a:r>
              <a:rPr sz="1600" dirty="0">
                <a:solidFill>
                  <a:srgbClr val="595959"/>
                </a:solidFill>
                <a:latin typeface="Roboto Lt"/>
                <a:cs typeface="Roboto Lt"/>
                <a:sym typeface="+mn-ea"/>
              </a:rPr>
              <a:t>rules,</a:t>
            </a:r>
            <a:r>
              <a:rPr sz="1600" spc="-35" dirty="0">
                <a:solidFill>
                  <a:srgbClr val="595959"/>
                </a:solidFill>
                <a:latin typeface="Roboto Lt"/>
                <a:cs typeface="Roboto Lt"/>
                <a:sym typeface="+mn-ea"/>
              </a:rPr>
              <a:t> </a:t>
            </a:r>
            <a:r>
              <a:rPr sz="1600" dirty="0">
                <a:solidFill>
                  <a:srgbClr val="595959"/>
                </a:solidFill>
                <a:latin typeface="Roboto Lt"/>
                <a:cs typeface="Roboto Lt"/>
                <a:sym typeface="+mn-ea"/>
              </a:rPr>
              <a:t>learn,</a:t>
            </a:r>
            <a:r>
              <a:rPr sz="1600" spc="-40" dirty="0">
                <a:solidFill>
                  <a:srgbClr val="595959"/>
                </a:solidFill>
                <a:latin typeface="Roboto Lt"/>
                <a:cs typeface="Roboto Lt"/>
                <a:sym typeface="+mn-ea"/>
              </a:rPr>
              <a:t> </a:t>
            </a:r>
            <a:r>
              <a:rPr sz="1600" spc="-25" dirty="0">
                <a:solidFill>
                  <a:srgbClr val="595959"/>
                </a:solidFill>
                <a:latin typeface="Roboto Lt"/>
                <a:cs typeface="Roboto Lt"/>
                <a:sym typeface="+mn-ea"/>
              </a:rPr>
              <a:t>and </a:t>
            </a:r>
            <a:r>
              <a:rPr sz="1600" dirty="0">
                <a:solidFill>
                  <a:srgbClr val="595959"/>
                </a:solidFill>
                <a:latin typeface="Roboto Lt"/>
                <a:cs typeface="Roboto Lt"/>
                <a:sym typeface="+mn-ea"/>
              </a:rPr>
              <a:t>make</a:t>
            </a:r>
            <a:r>
              <a:rPr sz="1600" spc="-40" dirty="0">
                <a:solidFill>
                  <a:srgbClr val="595959"/>
                </a:solidFill>
                <a:latin typeface="Roboto Lt"/>
                <a:cs typeface="Roboto Lt"/>
                <a:sym typeface="+mn-ea"/>
              </a:rPr>
              <a:t> </a:t>
            </a:r>
            <a:r>
              <a:rPr sz="1600" dirty="0">
                <a:solidFill>
                  <a:srgbClr val="595959"/>
                </a:solidFill>
                <a:latin typeface="Roboto Lt"/>
                <a:cs typeface="Roboto Lt"/>
                <a:sym typeface="+mn-ea"/>
              </a:rPr>
              <a:t>predictions</a:t>
            </a:r>
            <a:r>
              <a:rPr sz="1600" spc="-40" dirty="0">
                <a:solidFill>
                  <a:srgbClr val="595959"/>
                </a:solidFill>
                <a:latin typeface="Roboto Lt"/>
                <a:cs typeface="Roboto Lt"/>
                <a:sym typeface="+mn-ea"/>
              </a:rPr>
              <a:t> </a:t>
            </a:r>
            <a:r>
              <a:rPr sz="1600" dirty="0">
                <a:solidFill>
                  <a:srgbClr val="595959"/>
                </a:solidFill>
                <a:latin typeface="Roboto Lt"/>
                <a:cs typeface="Roboto Lt"/>
                <a:sym typeface="+mn-ea"/>
              </a:rPr>
              <a:t>from</a:t>
            </a:r>
            <a:r>
              <a:rPr sz="1600" spc="-40" dirty="0">
                <a:solidFill>
                  <a:srgbClr val="595959"/>
                </a:solidFill>
                <a:latin typeface="Roboto Lt"/>
                <a:cs typeface="Roboto Lt"/>
                <a:sym typeface="+mn-ea"/>
              </a:rPr>
              <a:t> </a:t>
            </a:r>
            <a:r>
              <a:rPr sz="1600" dirty="0">
                <a:solidFill>
                  <a:srgbClr val="595959"/>
                </a:solidFill>
                <a:latin typeface="Roboto Lt"/>
                <a:cs typeface="Roboto Lt"/>
                <a:sym typeface="+mn-ea"/>
              </a:rPr>
              <a:t>data</a:t>
            </a:r>
            <a:r>
              <a:rPr sz="1600" spc="-40" dirty="0">
                <a:solidFill>
                  <a:srgbClr val="595959"/>
                </a:solidFill>
                <a:latin typeface="Roboto Lt"/>
                <a:cs typeface="Roboto Lt"/>
                <a:sym typeface="+mn-ea"/>
              </a:rPr>
              <a:t> </a:t>
            </a:r>
            <a:r>
              <a:rPr sz="1600" dirty="0">
                <a:solidFill>
                  <a:srgbClr val="595959"/>
                </a:solidFill>
                <a:latin typeface="Roboto Lt"/>
                <a:cs typeface="Roboto Lt"/>
                <a:sym typeface="+mn-ea"/>
              </a:rPr>
              <a:t>without</a:t>
            </a:r>
            <a:r>
              <a:rPr sz="1600" spc="-35" dirty="0">
                <a:solidFill>
                  <a:srgbClr val="595959"/>
                </a:solidFill>
                <a:latin typeface="Roboto Lt"/>
                <a:cs typeface="Roboto Lt"/>
                <a:sym typeface="+mn-ea"/>
              </a:rPr>
              <a:t> </a:t>
            </a:r>
            <a:r>
              <a:rPr sz="1600" spc="-10" dirty="0">
                <a:solidFill>
                  <a:srgbClr val="595959"/>
                </a:solidFill>
                <a:latin typeface="Roboto Lt"/>
                <a:cs typeface="Roboto Lt"/>
                <a:sym typeface="+mn-ea"/>
              </a:rPr>
              <a:t>being </a:t>
            </a:r>
            <a:r>
              <a:rPr sz="1600" dirty="0">
                <a:solidFill>
                  <a:srgbClr val="595959"/>
                </a:solidFill>
                <a:latin typeface="Roboto Lt"/>
                <a:cs typeface="Roboto Lt"/>
                <a:sym typeface="+mn-ea"/>
              </a:rPr>
              <a:t>explicitly</a:t>
            </a:r>
            <a:r>
              <a:rPr sz="1600" spc="-25" dirty="0">
                <a:solidFill>
                  <a:srgbClr val="595959"/>
                </a:solidFill>
                <a:latin typeface="Roboto Lt"/>
                <a:cs typeface="Roboto Lt"/>
                <a:sym typeface="+mn-ea"/>
              </a:rPr>
              <a:t> </a:t>
            </a:r>
            <a:r>
              <a:rPr sz="1600" dirty="0">
                <a:solidFill>
                  <a:srgbClr val="595959"/>
                </a:solidFill>
                <a:latin typeface="Roboto Lt"/>
                <a:cs typeface="Roboto Lt"/>
                <a:sym typeface="+mn-ea"/>
              </a:rPr>
              <a:t>programmed</a:t>
            </a:r>
            <a:r>
              <a:rPr sz="1600" spc="-20" dirty="0">
                <a:solidFill>
                  <a:srgbClr val="595959"/>
                </a:solidFill>
                <a:latin typeface="Roboto Lt"/>
                <a:cs typeface="Roboto Lt"/>
                <a:sym typeface="+mn-ea"/>
              </a:rPr>
              <a:t> </a:t>
            </a:r>
            <a:r>
              <a:rPr sz="1600" dirty="0">
                <a:solidFill>
                  <a:srgbClr val="595959"/>
                </a:solidFill>
                <a:latin typeface="Roboto Lt"/>
                <a:cs typeface="Roboto Lt"/>
                <a:sym typeface="+mn-ea"/>
              </a:rPr>
              <a:t>to</a:t>
            </a:r>
            <a:r>
              <a:rPr sz="1600" spc="-20" dirty="0">
                <a:solidFill>
                  <a:srgbClr val="595959"/>
                </a:solidFill>
                <a:latin typeface="Roboto Lt"/>
                <a:cs typeface="Roboto Lt"/>
                <a:sym typeface="+mn-ea"/>
              </a:rPr>
              <a:t> </a:t>
            </a:r>
            <a:r>
              <a:rPr sz="1600" dirty="0">
                <a:solidFill>
                  <a:srgbClr val="595959"/>
                </a:solidFill>
                <a:latin typeface="Roboto Lt"/>
                <a:cs typeface="Roboto Lt"/>
                <a:sym typeface="+mn-ea"/>
              </a:rPr>
              <a:t>do</a:t>
            </a:r>
            <a:r>
              <a:rPr sz="1600" spc="-25" dirty="0">
                <a:solidFill>
                  <a:srgbClr val="595959"/>
                </a:solidFill>
                <a:latin typeface="Roboto Lt"/>
                <a:cs typeface="Roboto Lt"/>
                <a:sym typeface="+mn-ea"/>
              </a:rPr>
              <a:t> so.</a:t>
            </a:r>
            <a:endParaRPr sz="1600" spc="-10" dirty="0">
              <a:latin typeface="Georgia" panose="02040502050405020303"/>
              <a:cs typeface="Georgia" panose="02040502050405020303"/>
            </a:endParaRPr>
          </a:p>
          <a:p>
            <a:pPr marL="12700">
              <a:lnSpc>
                <a:spcPct val="100000"/>
              </a:lnSpc>
            </a:pPr>
            <a:endParaRPr sz="1600">
              <a:latin typeface="Georgia" panose="02040502050405020303"/>
              <a:cs typeface="Georgia" panose="02040502050405020303"/>
            </a:endParaRPr>
          </a:p>
          <a:p>
            <a:pPr marL="12700" marR="265430" indent="-635">
              <a:lnSpc>
                <a:spcPct val="100000"/>
              </a:lnSpc>
              <a:spcBef>
                <a:spcPts val="385"/>
              </a:spcBef>
              <a:buClr>
                <a:srgbClr val="0AD0D9"/>
              </a:buClr>
              <a:buSzPct val="88000"/>
              <a:buFont typeface="Wingdings" panose="05000000000000000000"/>
              <a:buChar char=""/>
              <a:tabLst>
                <a:tab pos="166370" algn="l"/>
              </a:tabLst>
            </a:pPr>
            <a:r>
              <a:rPr sz="1600" dirty="0">
                <a:solidFill>
                  <a:srgbClr val="FF0000"/>
                </a:solidFill>
                <a:latin typeface="Georgia" panose="02040502050405020303"/>
                <a:cs typeface="Georgia" panose="02040502050405020303"/>
              </a:rPr>
              <a:t>	</a:t>
            </a:r>
            <a:r>
              <a:rPr sz="1600" dirty="0">
                <a:solidFill>
                  <a:srgbClr val="FF0000"/>
                </a:solidFill>
                <a:latin typeface="Georgia" panose="02040502050405020303"/>
                <a:cs typeface="Georgia" panose="02040502050405020303"/>
              </a:rPr>
              <a:t>Deep</a:t>
            </a:r>
            <a:r>
              <a:rPr sz="1600" spc="-50" dirty="0">
                <a:solidFill>
                  <a:srgbClr val="FF0000"/>
                </a:solidFill>
                <a:latin typeface="Georgia" panose="02040502050405020303"/>
                <a:cs typeface="Georgia" panose="02040502050405020303"/>
              </a:rPr>
              <a:t> </a:t>
            </a:r>
            <a:r>
              <a:rPr sz="1600" dirty="0">
                <a:solidFill>
                  <a:srgbClr val="FF0000"/>
                </a:solidFill>
                <a:latin typeface="Georgia" panose="02040502050405020303"/>
                <a:cs typeface="Georgia" panose="02040502050405020303"/>
              </a:rPr>
              <a:t>learning</a:t>
            </a:r>
            <a:r>
              <a:rPr sz="1600" spc="-15" dirty="0">
                <a:solidFill>
                  <a:srgbClr val="FF0000"/>
                </a:solidFill>
                <a:latin typeface="Georgia" panose="02040502050405020303"/>
                <a:cs typeface="Georgia" panose="02040502050405020303"/>
              </a:rPr>
              <a:t> </a:t>
            </a:r>
            <a:r>
              <a:rPr sz="1600" dirty="0">
                <a:latin typeface="Georgia" panose="02040502050405020303"/>
                <a:cs typeface="Georgia" panose="02040502050405020303"/>
              </a:rPr>
              <a:t>is</a:t>
            </a:r>
            <a:r>
              <a:rPr sz="1600" spc="-40" dirty="0">
                <a:latin typeface="Georgia" panose="02040502050405020303"/>
                <a:cs typeface="Georgia" panose="02040502050405020303"/>
              </a:rPr>
              <a:t> </a:t>
            </a:r>
            <a:r>
              <a:rPr sz="1600" dirty="0">
                <a:latin typeface="Georgia" panose="02040502050405020303"/>
                <a:cs typeface="Georgia" panose="02040502050405020303"/>
              </a:rPr>
              <a:t>a</a:t>
            </a:r>
            <a:r>
              <a:rPr sz="1600" spc="-50" dirty="0">
                <a:latin typeface="Georgia" panose="02040502050405020303"/>
                <a:cs typeface="Georgia" panose="02040502050405020303"/>
              </a:rPr>
              <a:t> </a:t>
            </a:r>
            <a:r>
              <a:rPr sz="1600" dirty="0">
                <a:latin typeface="Georgia" panose="02040502050405020303"/>
                <a:cs typeface="Georgia" panose="02040502050405020303"/>
              </a:rPr>
              <a:t>subset</a:t>
            </a:r>
            <a:r>
              <a:rPr sz="1600" spc="-40" dirty="0">
                <a:latin typeface="Georgia" panose="02040502050405020303"/>
                <a:cs typeface="Georgia" panose="02040502050405020303"/>
              </a:rPr>
              <a:t> </a:t>
            </a:r>
            <a:r>
              <a:rPr sz="1600" dirty="0">
                <a:latin typeface="Georgia" panose="02040502050405020303"/>
                <a:cs typeface="Georgia" panose="02040502050405020303"/>
              </a:rPr>
              <a:t>of</a:t>
            </a:r>
            <a:r>
              <a:rPr sz="1600" spc="-50" dirty="0">
                <a:latin typeface="Georgia" panose="02040502050405020303"/>
                <a:cs typeface="Georgia" panose="02040502050405020303"/>
              </a:rPr>
              <a:t> </a:t>
            </a:r>
            <a:r>
              <a:rPr sz="1600" dirty="0">
                <a:latin typeface="Georgia" panose="02040502050405020303"/>
                <a:cs typeface="Georgia" panose="02040502050405020303"/>
              </a:rPr>
              <a:t>machine</a:t>
            </a:r>
            <a:r>
              <a:rPr sz="1600" spc="-20" dirty="0">
                <a:latin typeface="Georgia" panose="02040502050405020303"/>
                <a:cs typeface="Georgia" panose="02040502050405020303"/>
              </a:rPr>
              <a:t> </a:t>
            </a:r>
            <a:r>
              <a:rPr sz="1600" dirty="0">
                <a:latin typeface="Georgia" panose="02040502050405020303"/>
                <a:cs typeface="Georgia" panose="02040502050405020303"/>
              </a:rPr>
              <a:t>learning</a:t>
            </a:r>
            <a:r>
              <a:rPr sz="1600" spc="-25" dirty="0">
                <a:latin typeface="Georgia" panose="02040502050405020303"/>
                <a:cs typeface="Georgia" panose="02040502050405020303"/>
              </a:rPr>
              <a:t> </a:t>
            </a:r>
            <a:r>
              <a:rPr sz="1600" dirty="0">
                <a:latin typeface="Georgia" panose="02040502050405020303"/>
                <a:cs typeface="Georgia" panose="02040502050405020303"/>
              </a:rPr>
              <a:t>that</a:t>
            </a:r>
            <a:r>
              <a:rPr sz="1600" spc="-40" dirty="0">
                <a:latin typeface="Georgia" panose="02040502050405020303"/>
                <a:cs typeface="Georgia" panose="02040502050405020303"/>
              </a:rPr>
              <a:t> </a:t>
            </a:r>
            <a:r>
              <a:rPr sz="1600" dirty="0">
                <a:latin typeface="Georgia" panose="02040502050405020303"/>
                <a:cs typeface="Georgia" panose="02040502050405020303"/>
              </a:rPr>
              <a:t>uses</a:t>
            </a:r>
            <a:r>
              <a:rPr sz="1600" spc="-45" dirty="0">
                <a:latin typeface="Georgia" panose="02040502050405020303"/>
                <a:cs typeface="Georgia" panose="02040502050405020303"/>
              </a:rPr>
              <a:t> </a:t>
            </a:r>
            <a:r>
              <a:rPr sz="1600" spc="-10" dirty="0">
                <a:latin typeface="Georgia" panose="02040502050405020303"/>
                <a:cs typeface="Georgia" panose="02040502050405020303"/>
              </a:rPr>
              <a:t>multi-</a:t>
            </a:r>
            <a:r>
              <a:rPr sz="1600" dirty="0">
                <a:latin typeface="Georgia" panose="02040502050405020303"/>
                <a:cs typeface="Georgia" panose="02040502050405020303"/>
              </a:rPr>
              <a:t>layered</a:t>
            </a:r>
            <a:r>
              <a:rPr sz="1600" spc="-10" dirty="0">
                <a:latin typeface="Georgia" panose="02040502050405020303"/>
                <a:cs typeface="Georgia" panose="02040502050405020303"/>
              </a:rPr>
              <a:t> </a:t>
            </a:r>
            <a:r>
              <a:rPr sz="1600" dirty="0">
                <a:latin typeface="Georgia" panose="02040502050405020303"/>
                <a:cs typeface="Georgia" panose="02040502050405020303"/>
              </a:rPr>
              <a:t>artificial</a:t>
            </a:r>
            <a:r>
              <a:rPr sz="1600" spc="-5" dirty="0">
                <a:latin typeface="Georgia" panose="02040502050405020303"/>
                <a:cs typeface="Georgia" panose="02040502050405020303"/>
              </a:rPr>
              <a:t> </a:t>
            </a:r>
            <a:r>
              <a:rPr sz="1600" spc="-10" dirty="0">
                <a:latin typeface="Georgia" panose="02040502050405020303"/>
                <a:cs typeface="Georgia" panose="02040502050405020303"/>
              </a:rPr>
              <a:t>neural </a:t>
            </a:r>
            <a:r>
              <a:rPr sz="1600" dirty="0">
                <a:latin typeface="Georgia" panose="02040502050405020303"/>
                <a:cs typeface="Georgia" panose="02040502050405020303"/>
              </a:rPr>
              <a:t>networks</a:t>
            </a:r>
            <a:r>
              <a:rPr sz="1600" spc="-55" dirty="0">
                <a:latin typeface="Georgia" panose="02040502050405020303"/>
                <a:cs typeface="Georgia" panose="02040502050405020303"/>
              </a:rPr>
              <a:t> </a:t>
            </a:r>
            <a:r>
              <a:rPr sz="1600" dirty="0">
                <a:latin typeface="Georgia" panose="02040502050405020303"/>
                <a:cs typeface="Georgia" panose="02040502050405020303"/>
              </a:rPr>
              <a:t>to</a:t>
            </a:r>
            <a:r>
              <a:rPr sz="1600" spc="-60" dirty="0">
                <a:latin typeface="Georgia" panose="02040502050405020303"/>
                <a:cs typeface="Georgia" panose="02040502050405020303"/>
              </a:rPr>
              <a:t> </a:t>
            </a:r>
            <a:r>
              <a:rPr sz="1600" dirty="0">
                <a:latin typeface="Georgia" panose="02040502050405020303"/>
                <a:cs typeface="Georgia" panose="02040502050405020303"/>
              </a:rPr>
              <a:t>deliver</a:t>
            </a:r>
            <a:r>
              <a:rPr sz="1600" spc="-20" dirty="0">
                <a:latin typeface="Georgia" panose="02040502050405020303"/>
                <a:cs typeface="Georgia" panose="02040502050405020303"/>
              </a:rPr>
              <a:t> </a:t>
            </a:r>
            <a:r>
              <a:rPr sz="1600" spc="-10" dirty="0">
                <a:latin typeface="Georgia" panose="02040502050405020303"/>
                <a:cs typeface="Georgia" panose="02040502050405020303"/>
              </a:rPr>
              <a:t>state-of-</a:t>
            </a:r>
            <a:r>
              <a:rPr sz="1600" spc="-20" dirty="0">
                <a:latin typeface="Georgia" panose="02040502050405020303"/>
                <a:cs typeface="Georgia" panose="02040502050405020303"/>
              </a:rPr>
              <a:t>the-</a:t>
            </a:r>
            <a:r>
              <a:rPr sz="1600" dirty="0">
                <a:latin typeface="Georgia" panose="02040502050405020303"/>
                <a:cs typeface="Georgia" panose="02040502050405020303"/>
              </a:rPr>
              <a:t>art</a:t>
            </a:r>
            <a:r>
              <a:rPr sz="1600" spc="-25" dirty="0">
                <a:latin typeface="Georgia" panose="02040502050405020303"/>
                <a:cs typeface="Georgia" panose="02040502050405020303"/>
              </a:rPr>
              <a:t> </a:t>
            </a:r>
            <a:r>
              <a:rPr sz="1600" dirty="0">
                <a:latin typeface="Georgia" panose="02040502050405020303"/>
                <a:cs typeface="Georgia" panose="02040502050405020303"/>
              </a:rPr>
              <a:t>accuracy</a:t>
            </a:r>
            <a:r>
              <a:rPr sz="1600" spc="-30" dirty="0">
                <a:latin typeface="Georgia" panose="02040502050405020303"/>
                <a:cs typeface="Georgia" panose="02040502050405020303"/>
              </a:rPr>
              <a:t> </a:t>
            </a:r>
            <a:r>
              <a:rPr sz="1600" dirty="0">
                <a:latin typeface="Georgia" panose="02040502050405020303"/>
                <a:cs typeface="Georgia" panose="02040502050405020303"/>
              </a:rPr>
              <a:t>in</a:t>
            </a:r>
            <a:r>
              <a:rPr sz="1600" spc="-50" dirty="0">
                <a:latin typeface="Georgia" panose="02040502050405020303"/>
                <a:cs typeface="Georgia" panose="02040502050405020303"/>
              </a:rPr>
              <a:t> </a:t>
            </a:r>
            <a:r>
              <a:rPr sz="1600" dirty="0">
                <a:latin typeface="Georgia" panose="02040502050405020303"/>
                <a:cs typeface="Georgia" panose="02040502050405020303"/>
              </a:rPr>
              <a:t>object</a:t>
            </a:r>
            <a:r>
              <a:rPr sz="1600" spc="-60" dirty="0">
                <a:latin typeface="Georgia" panose="02040502050405020303"/>
                <a:cs typeface="Georgia" panose="02040502050405020303"/>
              </a:rPr>
              <a:t> </a:t>
            </a:r>
            <a:r>
              <a:rPr sz="1600" dirty="0">
                <a:latin typeface="Georgia" panose="02040502050405020303"/>
                <a:cs typeface="Georgia" panose="02040502050405020303"/>
              </a:rPr>
              <a:t>detection,</a:t>
            </a:r>
            <a:r>
              <a:rPr sz="1600" spc="-15" dirty="0">
                <a:latin typeface="Georgia" panose="02040502050405020303"/>
                <a:cs typeface="Georgia" panose="02040502050405020303"/>
              </a:rPr>
              <a:t> </a:t>
            </a:r>
            <a:r>
              <a:rPr sz="1600" dirty="0">
                <a:latin typeface="Georgia" panose="02040502050405020303"/>
                <a:cs typeface="Georgia" panose="02040502050405020303"/>
              </a:rPr>
              <a:t>speech</a:t>
            </a:r>
            <a:r>
              <a:rPr sz="1600" spc="-45" dirty="0">
                <a:latin typeface="Georgia" panose="02040502050405020303"/>
                <a:cs typeface="Georgia" panose="02040502050405020303"/>
              </a:rPr>
              <a:t> </a:t>
            </a:r>
            <a:r>
              <a:rPr sz="1600" dirty="0">
                <a:latin typeface="Georgia" panose="02040502050405020303"/>
                <a:cs typeface="Georgia" panose="02040502050405020303"/>
              </a:rPr>
              <a:t>recognition</a:t>
            </a:r>
            <a:r>
              <a:rPr sz="1600" spc="-30" dirty="0">
                <a:latin typeface="Georgia" panose="02040502050405020303"/>
                <a:cs typeface="Georgia" panose="02040502050405020303"/>
              </a:rPr>
              <a:t> </a:t>
            </a:r>
            <a:r>
              <a:rPr sz="1600" spc="-25" dirty="0">
                <a:latin typeface="Georgia" panose="02040502050405020303"/>
                <a:cs typeface="Georgia" panose="02040502050405020303"/>
              </a:rPr>
              <a:t>and </a:t>
            </a:r>
            <a:r>
              <a:rPr sz="1600" dirty="0">
                <a:latin typeface="Georgia" panose="02040502050405020303"/>
                <a:cs typeface="Georgia" panose="02040502050405020303"/>
              </a:rPr>
              <a:t>language</a:t>
            </a:r>
            <a:r>
              <a:rPr sz="1600" spc="-65" dirty="0">
                <a:latin typeface="Georgia" panose="02040502050405020303"/>
                <a:cs typeface="Georgia" panose="02040502050405020303"/>
              </a:rPr>
              <a:t> </a:t>
            </a:r>
            <a:r>
              <a:rPr sz="1600" spc="-10" dirty="0">
                <a:latin typeface="Georgia" panose="02040502050405020303"/>
                <a:cs typeface="Georgia" panose="02040502050405020303"/>
              </a:rPr>
              <a:t>translation.</a:t>
            </a:r>
            <a:endParaRPr sz="1600">
              <a:latin typeface="Georgia" panose="02040502050405020303"/>
              <a:cs typeface="Georgia" panose="02040502050405020303"/>
            </a:endParaRPr>
          </a:p>
        </p:txBody>
      </p:sp>
      <p:pic>
        <p:nvPicPr>
          <p:cNvPr id="5" name="object 3"/>
          <p:cNvPicPr/>
          <p:nvPr/>
        </p:nvPicPr>
        <p:blipFill>
          <a:blip r:embed="rId1" cstate="print"/>
          <a:stretch>
            <a:fillRect/>
          </a:stretch>
        </p:blipFill>
        <p:spPr>
          <a:xfrm>
            <a:off x="7061835" y="1751965"/>
            <a:ext cx="3649345" cy="30321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Content Placeholder 16"/>
          <p:cNvSpPr>
            <a:spLocks noGrp="1"/>
          </p:cNvSpPr>
          <p:nvPr>
            <p:ph idx="1"/>
          </p:nvPr>
        </p:nvSpPr>
        <p:spPr>
          <a:xfrm>
            <a:off x="5497830" y="1600200"/>
            <a:ext cx="6084570" cy="5067300"/>
          </a:xfrm>
        </p:spPr>
        <p:txBody>
          <a:bodyPr/>
          <a:p>
            <a:pPr marL="12700">
              <a:lnSpc>
                <a:spcPct val="100000"/>
              </a:lnSpc>
              <a:spcBef>
                <a:spcPts val="100"/>
              </a:spcBef>
            </a:pPr>
            <a:r>
              <a:rPr dirty="0">
                <a:sym typeface="+mn-ea"/>
              </a:rPr>
              <a:t>Early</a:t>
            </a:r>
            <a:r>
              <a:rPr spc="-80" dirty="0">
                <a:sym typeface="+mn-ea"/>
              </a:rPr>
              <a:t> </a:t>
            </a:r>
            <a:r>
              <a:rPr spc="-20" dirty="0">
                <a:sym typeface="+mn-ea"/>
              </a:rPr>
              <a:t>SPAM</a:t>
            </a:r>
            <a:r>
              <a:rPr spc="-75" dirty="0">
                <a:sym typeface="+mn-ea"/>
              </a:rPr>
              <a:t> </a:t>
            </a:r>
            <a:r>
              <a:rPr spc="-10" dirty="0">
                <a:sym typeface="+mn-ea"/>
              </a:rPr>
              <a:t>filters:</a:t>
            </a:r>
            <a:endParaRPr spc="-10" dirty="0">
              <a:sym typeface="+mn-ea"/>
            </a:endParaRPr>
          </a:p>
          <a:p>
            <a:pPr marL="469900" marR="150495" indent="-382270">
              <a:lnSpc>
                <a:spcPct val="100000"/>
              </a:lnSpc>
              <a:buFont typeface="Arial MT"/>
              <a:buChar char="●"/>
              <a:tabLst>
                <a:tab pos="469900" algn="l"/>
              </a:tabLst>
            </a:pPr>
            <a:r>
              <a:rPr spc="-20" dirty="0">
                <a:sym typeface="+mn-ea"/>
              </a:rPr>
              <a:t>Manually</a:t>
            </a:r>
            <a:r>
              <a:rPr spc="-40" dirty="0">
                <a:sym typeface="+mn-ea"/>
              </a:rPr>
              <a:t> </a:t>
            </a:r>
            <a:r>
              <a:rPr spc="-10" dirty="0">
                <a:sym typeface="+mn-ea"/>
              </a:rPr>
              <a:t>programmed</a:t>
            </a:r>
            <a:r>
              <a:rPr spc="-40" dirty="0">
                <a:sym typeface="+mn-ea"/>
              </a:rPr>
              <a:t> </a:t>
            </a:r>
            <a:r>
              <a:rPr dirty="0">
                <a:sym typeface="+mn-ea"/>
              </a:rPr>
              <a:t>set</a:t>
            </a:r>
            <a:r>
              <a:rPr spc="-40" dirty="0">
                <a:sym typeface="+mn-ea"/>
              </a:rPr>
              <a:t> </a:t>
            </a:r>
            <a:r>
              <a:rPr spc="-35" dirty="0">
                <a:sym typeface="+mn-ea"/>
              </a:rPr>
              <a:t>of </a:t>
            </a:r>
            <a:r>
              <a:rPr spc="-10" dirty="0">
                <a:sym typeface="+mn-ea"/>
              </a:rPr>
              <a:t>rules</a:t>
            </a:r>
            <a:endParaRPr spc="-10" dirty="0">
              <a:sym typeface="+mn-ea"/>
            </a:endParaRPr>
          </a:p>
          <a:p>
            <a:pPr marL="926465" lvl="1" indent="-381635">
              <a:lnSpc>
                <a:spcPct val="100000"/>
              </a:lnSpc>
              <a:buFont typeface="Arial MT"/>
              <a:buChar char="○"/>
              <a:tabLst>
                <a:tab pos="926465" algn="l"/>
              </a:tabLst>
            </a:pPr>
            <a:r>
              <a:rPr spc="-10" dirty="0">
                <a:sym typeface="+mn-ea"/>
              </a:rPr>
              <a:t>Containing</a:t>
            </a:r>
            <a:r>
              <a:rPr spc="-40" dirty="0">
                <a:sym typeface="+mn-ea"/>
              </a:rPr>
              <a:t> </a:t>
            </a:r>
            <a:r>
              <a:rPr dirty="0">
                <a:sym typeface="+mn-ea"/>
              </a:rPr>
              <a:t>certain</a:t>
            </a:r>
            <a:r>
              <a:rPr spc="-35" dirty="0">
                <a:sym typeface="+mn-ea"/>
              </a:rPr>
              <a:t> </a:t>
            </a:r>
            <a:r>
              <a:rPr spc="-20" dirty="0">
                <a:sym typeface="+mn-ea"/>
              </a:rPr>
              <a:t>words</a:t>
            </a:r>
            <a:endParaRPr spc="-20" dirty="0">
              <a:sym typeface="+mn-ea"/>
            </a:endParaRPr>
          </a:p>
          <a:p>
            <a:pPr marL="927100" marR="568960" lvl="1" indent="-382270">
              <a:lnSpc>
                <a:spcPct val="100000"/>
              </a:lnSpc>
              <a:buFont typeface="Arial MT"/>
              <a:buChar char="○"/>
              <a:tabLst>
                <a:tab pos="927100" algn="l"/>
              </a:tabLst>
            </a:pPr>
            <a:r>
              <a:rPr dirty="0">
                <a:sym typeface="+mn-ea"/>
              </a:rPr>
              <a:t>Coming</a:t>
            </a:r>
            <a:r>
              <a:rPr spc="-45" dirty="0">
                <a:sym typeface="+mn-ea"/>
              </a:rPr>
              <a:t> </a:t>
            </a:r>
            <a:r>
              <a:rPr dirty="0">
                <a:sym typeface="+mn-ea"/>
              </a:rPr>
              <a:t>from</a:t>
            </a:r>
            <a:r>
              <a:rPr spc="-45" dirty="0">
                <a:sym typeface="+mn-ea"/>
              </a:rPr>
              <a:t> </a:t>
            </a:r>
            <a:r>
              <a:rPr dirty="0">
                <a:sym typeface="+mn-ea"/>
              </a:rPr>
              <a:t>list</a:t>
            </a:r>
            <a:r>
              <a:rPr spc="-45" dirty="0">
                <a:sym typeface="+mn-ea"/>
              </a:rPr>
              <a:t> </a:t>
            </a:r>
            <a:r>
              <a:rPr spc="-25" dirty="0">
                <a:sym typeface="+mn-ea"/>
              </a:rPr>
              <a:t>of </a:t>
            </a:r>
            <a:r>
              <a:rPr dirty="0">
                <a:sym typeface="+mn-ea"/>
              </a:rPr>
              <a:t>flagged</a:t>
            </a:r>
            <a:r>
              <a:rPr spc="-40" dirty="0">
                <a:sym typeface="+mn-ea"/>
              </a:rPr>
              <a:t> </a:t>
            </a:r>
            <a:r>
              <a:rPr dirty="0">
                <a:sym typeface="+mn-ea"/>
              </a:rPr>
              <a:t>IP</a:t>
            </a:r>
            <a:r>
              <a:rPr spc="-40" dirty="0">
                <a:sym typeface="+mn-ea"/>
              </a:rPr>
              <a:t> </a:t>
            </a:r>
            <a:r>
              <a:rPr spc="-10" dirty="0">
                <a:sym typeface="+mn-ea"/>
              </a:rPr>
              <a:t>addresses</a:t>
            </a:r>
            <a:endParaRPr spc="-10" dirty="0">
              <a:sym typeface="+mn-ea"/>
            </a:endParaRPr>
          </a:p>
          <a:p>
            <a:pPr marL="926465" lvl="1" indent="-381635">
              <a:lnSpc>
                <a:spcPct val="100000"/>
              </a:lnSpc>
              <a:buFont typeface="Arial MT"/>
              <a:buChar char="○"/>
              <a:tabLst>
                <a:tab pos="926465" algn="l"/>
              </a:tabLst>
            </a:pPr>
            <a:r>
              <a:rPr spc="-20" dirty="0">
                <a:sym typeface="+mn-ea"/>
              </a:rPr>
              <a:t>Etc.</a:t>
            </a:r>
            <a:endParaRPr spc="-20" dirty="0">
              <a:sym typeface="+mn-ea"/>
            </a:endParaRPr>
          </a:p>
          <a:p>
            <a:pPr marL="469900" marR="450850" indent="-382270">
              <a:lnSpc>
                <a:spcPct val="100000"/>
              </a:lnSpc>
              <a:buFont typeface="Arial MT"/>
              <a:buChar char="●"/>
              <a:tabLst>
                <a:tab pos="469900" algn="l"/>
              </a:tabLst>
            </a:pPr>
            <a:r>
              <a:rPr dirty="0">
                <a:sym typeface="+mn-ea"/>
              </a:rPr>
              <a:t>Any</a:t>
            </a:r>
            <a:r>
              <a:rPr spc="-100" dirty="0">
                <a:sym typeface="+mn-ea"/>
              </a:rPr>
              <a:t> </a:t>
            </a:r>
            <a:r>
              <a:rPr dirty="0">
                <a:sym typeface="+mn-ea"/>
              </a:rPr>
              <a:t>updates</a:t>
            </a:r>
            <a:r>
              <a:rPr spc="-100" dirty="0">
                <a:sym typeface="+mn-ea"/>
              </a:rPr>
              <a:t> </a:t>
            </a:r>
            <a:r>
              <a:rPr dirty="0">
                <a:sym typeface="+mn-ea"/>
              </a:rPr>
              <a:t>required</a:t>
            </a:r>
            <a:r>
              <a:rPr spc="-100" dirty="0">
                <a:sym typeface="+mn-ea"/>
              </a:rPr>
              <a:t> </a:t>
            </a:r>
            <a:r>
              <a:rPr spc="-50" dirty="0">
                <a:sym typeface="+mn-ea"/>
              </a:rPr>
              <a:t>a </a:t>
            </a:r>
            <a:r>
              <a:rPr spc="-10" dirty="0">
                <a:sym typeface="+mn-ea"/>
              </a:rPr>
              <a:t>programmer</a:t>
            </a:r>
            <a:r>
              <a:rPr spc="-65" dirty="0">
                <a:sym typeface="+mn-ea"/>
              </a:rPr>
              <a:t> </a:t>
            </a:r>
            <a:r>
              <a:rPr dirty="0">
                <a:sym typeface="+mn-ea"/>
              </a:rPr>
              <a:t>to</a:t>
            </a:r>
            <a:r>
              <a:rPr spc="-60" dirty="0">
                <a:sym typeface="+mn-ea"/>
              </a:rPr>
              <a:t> </a:t>
            </a:r>
            <a:r>
              <a:rPr dirty="0">
                <a:sym typeface="+mn-ea"/>
              </a:rPr>
              <a:t>update</a:t>
            </a:r>
            <a:r>
              <a:rPr spc="-60" dirty="0">
                <a:sym typeface="+mn-ea"/>
              </a:rPr>
              <a:t> </a:t>
            </a:r>
            <a:r>
              <a:rPr spc="-25" dirty="0">
                <a:sym typeface="+mn-ea"/>
              </a:rPr>
              <a:t>the </a:t>
            </a:r>
            <a:r>
              <a:rPr spc="-20" dirty="0">
                <a:sym typeface="+mn-ea"/>
              </a:rPr>
              <a:t>code</a:t>
            </a:r>
            <a:endParaRPr spc="-20" dirty="0">
              <a:sym typeface="+mn-ea"/>
            </a:endParaRPr>
          </a:p>
          <a:p>
            <a:pPr marL="12700" marR="5080">
              <a:lnSpc>
                <a:spcPct val="100000"/>
              </a:lnSpc>
            </a:pPr>
            <a:r>
              <a:rPr spc="50" dirty="0">
                <a:sym typeface="+mn-ea"/>
              </a:rPr>
              <a:t>A</a:t>
            </a:r>
            <a:r>
              <a:rPr spc="-45" dirty="0">
                <a:sym typeface="+mn-ea"/>
              </a:rPr>
              <a:t> </a:t>
            </a:r>
            <a:r>
              <a:rPr spc="-40" dirty="0">
                <a:sym typeface="+mn-ea"/>
              </a:rPr>
              <a:t>rule-</a:t>
            </a:r>
            <a:r>
              <a:rPr spc="-20" dirty="0">
                <a:sym typeface="+mn-ea"/>
              </a:rPr>
              <a:t>based</a:t>
            </a:r>
            <a:r>
              <a:rPr spc="-45" dirty="0">
                <a:sym typeface="+mn-ea"/>
              </a:rPr>
              <a:t> </a:t>
            </a:r>
            <a:r>
              <a:rPr spc="-20" dirty="0">
                <a:sym typeface="+mn-ea"/>
              </a:rPr>
              <a:t>SPAM</a:t>
            </a:r>
            <a:r>
              <a:rPr spc="-40" dirty="0">
                <a:sym typeface="+mn-ea"/>
              </a:rPr>
              <a:t> </a:t>
            </a:r>
            <a:r>
              <a:rPr dirty="0">
                <a:sym typeface="+mn-ea"/>
              </a:rPr>
              <a:t>filter</a:t>
            </a:r>
            <a:r>
              <a:rPr spc="-45" dirty="0">
                <a:sym typeface="+mn-ea"/>
              </a:rPr>
              <a:t> </a:t>
            </a:r>
            <a:r>
              <a:rPr dirty="0">
                <a:sym typeface="+mn-ea"/>
              </a:rPr>
              <a:t>mimics</a:t>
            </a:r>
            <a:r>
              <a:rPr spc="-40" dirty="0">
                <a:sym typeface="+mn-ea"/>
              </a:rPr>
              <a:t> </a:t>
            </a:r>
            <a:r>
              <a:rPr spc="-50" dirty="0">
                <a:sym typeface="+mn-ea"/>
              </a:rPr>
              <a:t>a </a:t>
            </a:r>
            <a:r>
              <a:rPr spc="-10" dirty="0">
                <a:sym typeface="+mn-ea"/>
              </a:rPr>
              <a:t>human</a:t>
            </a:r>
            <a:r>
              <a:rPr spc="-80" dirty="0">
                <a:sym typeface="+mn-ea"/>
              </a:rPr>
              <a:t> </a:t>
            </a:r>
            <a:r>
              <a:rPr spc="-10" dirty="0">
                <a:sym typeface="+mn-ea"/>
              </a:rPr>
              <a:t>recognizing</a:t>
            </a:r>
            <a:r>
              <a:rPr spc="-80" dirty="0">
                <a:sym typeface="+mn-ea"/>
              </a:rPr>
              <a:t> </a:t>
            </a:r>
            <a:r>
              <a:rPr spc="-10" dirty="0">
                <a:sym typeface="+mn-ea"/>
              </a:rPr>
              <a:t>suspicious </a:t>
            </a:r>
            <a:r>
              <a:rPr dirty="0">
                <a:sym typeface="+mn-ea"/>
              </a:rPr>
              <a:t>email,</a:t>
            </a:r>
            <a:r>
              <a:rPr spc="-40" dirty="0">
                <a:sym typeface="+mn-ea"/>
              </a:rPr>
              <a:t> </a:t>
            </a:r>
            <a:r>
              <a:rPr dirty="0">
                <a:sym typeface="+mn-ea"/>
              </a:rPr>
              <a:t>so</a:t>
            </a:r>
            <a:r>
              <a:rPr spc="-40" dirty="0">
                <a:sym typeface="+mn-ea"/>
              </a:rPr>
              <a:t> </a:t>
            </a:r>
            <a:r>
              <a:rPr dirty="0">
                <a:sym typeface="+mn-ea"/>
              </a:rPr>
              <a:t>it</a:t>
            </a:r>
            <a:r>
              <a:rPr spc="-35" dirty="0">
                <a:sym typeface="+mn-ea"/>
              </a:rPr>
              <a:t> </a:t>
            </a:r>
            <a:r>
              <a:rPr dirty="0">
                <a:sym typeface="+mn-ea"/>
              </a:rPr>
              <a:t>is</a:t>
            </a:r>
            <a:r>
              <a:rPr spc="-40" dirty="0">
                <a:sym typeface="+mn-ea"/>
              </a:rPr>
              <a:t> </a:t>
            </a:r>
            <a:r>
              <a:rPr dirty="0">
                <a:sym typeface="+mn-ea"/>
              </a:rPr>
              <a:t>AI,</a:t>
            </a:r>
            <a:r>
              <a:rPr spc="-35" dirty="0">
                <a:sym typeface="+mn-ea"/>
              </a:rPr>
              <a:t> </a:t>
            </a:r>
            <a:r>
              <a:rPr dirty="0">
                <a:sym typeface="+mn-ea"/>
              </a:rPr>
              <a:t>but</a:t>
            </a:r>
            <a:r>
              <a:rPr spc="-40" dirty="0">
                <a:sym typeface="+mn-ea"/>
              </a:rPr>
              <a:t> </a:t>
            </a:r>
            <a:r>
              <a:rPr dirty="0">
                <a:sym typeface="+mn-ea"/>
              </a:rPr>
              <a:t>it</a:t>
            </a:r>
            <a:r>
              <a:rPr spc="-35" dirty="0">
                <a:sym typeface="+mn-ea"/>
              </a:rPr>
              <a:t> </a:t>
            </a:r>
            <a:r>
              <a:rPr dirty="0">
                <a:sym typeface="+mn-ea"/>
              </a:rPr>
              <a:t>is</a:t>
            </a:r>
            <a:r>
              <a:rPr spc="-40" dirty="0">
                <a:sym typeface="+mn-ea"/>
              </a:rPr>
              <a:t> </a:t>
            </a:r>
            <a:r>
              <a:rPr spc="-25" dirty="0">
                <a:sym typeface="+mn-ea"/>
              </a:rPr>
              <a:t>not </a:t>
            </a:r>
            <a:r>
              <a:rPr dirty="0">
                <a:sym typeface="+mn-ea"/>
              </a:rPr>
              <a:t>Machine</a:t>
            </a:r>
            <a:r>
              <a:rPr spc="-114" dirty="0">
                <a:sym typeface="+mn-ea"/>
              </a:rPr>
              <a:t> </a:t>
            </a:r>
            <a:r>
              <a:rPr spc="-10" dirty="0">
                <a:sym typeface="+mn-ea"/>
              </a:rPr>
              <a:t>Learning.</a:t>
            </a:r>
            <a:endParaRPr spc="-10" dirty="0">
              <a:sym typeface="+mn-ea"/>
            </a:endParaRPr>
          </a:p>
          <a:p>
            <a:endParaRPr lang="en-US"/>
          </a:p>
        </p:txBody>
      </p:sp>
      <p:sp>
        <p:nvSpPr>
          <p:cNvPr id="3" name="object 3"/>
          <p:cNvSpPr txBox="1">
            <a:spLocks noGrp="1"/>
          </p:cNvSpPr>
          <p:nvPr>
            <p:ph type="title"/>
          </p:nvPr>
        </p:nvSpPr>
        <p:spPr>
          <a:xfrm>
            <a:off x="609600" y="528321"/>
            <a:ext cx="10972800" cy="635635"/>
          </a:xfrm>
          <a:prstGeom prst="rect">
            <a:avLst/>
          </a:prstGeom>
        </p:spPr>
        <p:txBody>
          <a:bodyPr vert="horz" wrap="square" lIns="0" tIns="20320" rIns="0" bIns="0" rtlCol="0">
            <a:spAutoFit/>
          </a:bodyPr>
          <a:lstStyle/>
          <a:p>
            <a:pPr marL="12700">
              <a:lnSpc>
                <a:spcPct val="100000"/>
              </a:lnSpc>
              <a:spcBef>
                <a:spcPts val="120"/>
              </a:spcBef>
            </a:pPr>
            <a:r>
              <a:rPr dirty="0"/>
              <a:t>AI</a:t>
            </a:r>
            <a:r>
              <a:rPr spc="-35" dirty="0"/>
              <a:t> </a:t>
            </a:r>
            <a:r>
              <a:rPr dirty="0"/>
              <a:t>example:</a:t>
            </a:r>
            <a:r>
              <a:rPr spc="-35" dirty="0"/>
              <a:t> </a:t>
            </a:r>
            <a:r>
              <a:rPr dirty="0"/>
              <a:t>Email</a:t>
            </a:r>
            <a:r>
              <a:rPr spc="-35" dirty="0"/>
              <a:t> </a:t>
            </a:r>
            <a:r>
              <a:rPr dirty="0"/>
              <a:t>SPAM</a:t>
            </a:r>
            <a:r>
              <a:rPr spc="-30" dirty="0"/>
              <a:t> </a:t>
            </a:r>
            <a:r>
              <a:rPr spc="-10" dirty="0"/>
              <a:t>filter</a:t>
            </a:r>
            <a:endParaRPr spc="-10" dirty="0"/>
          </a:p>
        </p:txBody>
      </p:sp>
      <p:grpSp>
        <p:nvGrpSpPr>
          <p:cNvPr id="4" name="object 4"/>
          <p:cNvGrpSpPr/>
          <p:nvPr/>
        </p:nvGrpSpPr>
        <p:grpSpPr>
          <a:xfrm>
            <a:off x="160020" y="2533650"/>
            <a:ext cx="4922520" cy="2967355"/>
            <a:chOff x="119800" y="1101975"/>
            <a:chExt cx="5140325" cy="3023870"/>
          </a:xfrm>
        </p:grpSpPr>
        <p:pic>
          <p:nvPicPr>
            <p:cNvPr id="5" name="object 5"/>
            <p:cNvPicPr/>
            <p:nvPr/>
          </p:nvPicPr>
          <p:blipFill>
            <a:blip r:embed="rId1" cstate="print"/>
            <a:stretch>
              <a:fillRect/>
            </a:stretch>
          </p:blipFill>
          <p:spPr>
            <a:xfrm>
              <a:off x="119800" y="2000324"/>
              <a:ext cx="1142850" cy="1142850"/>
            </a:xfrm>
            <a:prstGeom prst="rect">
              <a:avLst/>
            </a:prstGeom>
          </p:spPr>
        </p:pic>
        <p:pic>
          <p:nvPicPr>
            <p:cNvPr id="6" name="object 6"/>
            <p:cNvPicPr/>
            <p:nvPr/>
          </p:nvPicPr>
          <p:blipFill>
            <a:blip r:embed="rId2" cstate="print"/>
            <a:stretch>
              <a:fillRect/>
            </a:stretch>
          </p:blipFill>
          <p:spPr>
            <a:xfrm>
              <a:off x="1733050" y="1687237"/>
              <a:ext cx="1389124" cy="1389124"/>
            </a:xfrm>
            <a:prstGeom prst="rect">
              <a:avLst/>
            </a:prstGeom>
          </p:spPr>
        </p:pic>
        <p:pic>
          <p:nvPicPr>
            <p:cNvPr id="7" name="object 7"/>
            <p:cNvPicPr/>
            <p:nvPr/>
          </p:nvPicPr>
          <p:blipFill>
            <a:blip r:embed="rId3" cstate="print"/>
            <a:stretch>
              <a:fillRect/>
            </a:stretch>
          </p:blipFill>
          <p:spPr>
            <a:xfrm>
              <a:off x="3177916" y="1101975"/>
              <a:ext cx="1958559" cy="1469775"/>
            </a:xfrm>
            <a:prstGeom prst="rect">
              <a:avLst/>
            </a:prstGeom>
          </p:spPr>
        </p:pic>
        <p:pic>
          <p:nvPicPr>
            <p:cNvPr id="8" name="object 8"/>
            <p:cNvPicPr/>
            <p:nvPr/>
          </p:nvPicPr>
          <p:blipFill>
            <a:blip r:embed="rId4" cstate="print"/>
            <a:stretch>
              <a:fillRect/>
            </a:stretch>
          </p:blipFill>
          <p:spPr>
            <a:xfrm>
              <a:off x="3054862" y="2655999"/>
              <a:ext cx="2204662" cy="1469774"/>
            </a:xfrm>
            <a:prstGeom prst="rect">
              <a:avLst/>
            </a:prstGeom>
          </p:spPr>
        </p:pic>
      </p:grpSp>
      <p:grpSp>
        <p:nvGrpSpPr>
          <p:cNvPr id="10" name="object 10"/>
          <p:cNvGrpSpPr/>
          <p:nvPr/>
        </p:nvGrpSpPr>
        <p:grpSpPr>
          <a:xfrm>
            <a:off x="1664484" y="2533376"/>
            <a:ext cx="3069167" cy="1599353"/>
            <a:chOff x="1248363" y="1900032"/>
            <a:chExt cx="2301875" cy="1199515"/>
          </a:xfrm>
        </p:grpSpPr>
        <p:sp>
          <p:nvSpPr>
            <p:cNvPr id="11" name="object 11"/>
            <p:cNvSpPr/>
            <p:nvPr/>
          </p:nvSpPr>
          <p:spPr>
            <a:xfrm>
              <a:off x="1262650" y="2571750"/>
              <a:ext cx="509905" cy="23495"/>
            </a:xfrm>
            <a:custGeom>
              <a:avLst/>
              <a:gdLst/>
              <a:ahLst/>
              <a:cxnLst/>
              <a:rect l="l" t="t" r="r" b="b"/>
              <a:pathLst>
                <a:path w="509905" h="23494">
                  <a:moveTo>
                    <a:pt x="0" y="0"/>
                  </a:moveTo>
                  <a:lnTo>
                    <a:pt x="509426" y="23125"/>
                  </a:lnTo>
                </a:path>
              </a:pathLst>
            </a:custGeom>
            <a:ln w="28574">
              <a:solidFill>
                <a:srgbClr val="595959"/>
              </a:solidFill>
            </a:ln>
          </p:spPr>
          <p:txBody>
            <a:bodyPr wrap="square" lIns="0" tIns="0" rIns="0" bIns="0" rtlCol="0"/>
            <a:lstStyle/>
            <a:p>
              <a:endParaRPr sz="2400"/>
            </a:p>
          </p:txBody>
        </p:sp>
        <p:pic>
          <p:nvPicPr>
            <p:cNvPr id="12" name="object 12"/>
            <p:cNvPicPr/>
            <p:nvPr/>
          </p:nvPicPr>
          <p:blipFill>
            <a:blip r:embed="rId5" cstate="print"/>
            <a:stretch>
              <a:fillRect/>
            </a:stretch>
          </p:blipFill>
          <p:spPr>
            <a:xfrm>
              <a:off x="1755649" y="2533438"/>
              <a:ext cx="160257" cy="122874"/>
            </a:xfrm>
            <a:prstGeom prst="rect">
              <a:avLst/>
            </a:prstGeom>
          </p:spPr>
        </p:pic>
        <p:sp>
          <p:nvSpPr>
            <p:cNvPr id="13" name="object 13"/>
            <p:cNvSpPr/>
            <p:nvPr/>
          </p:nvSpPr>
          <p:spPr>
            <a:xfrm>
              <a:off x="2949325" y="2000175"/>
              <a:ext cx="414655" cy="366395"/>
            </a:xfrm>
            <a:custGeom>
              <a:avLst/>
              <a:gdLst/>
              <a:ahLst/>
              <a:cxnLst/>
              <a:rect l="l" t="t" r="r" b="b"/>
              <a:pathLst>
                <a:path w="414654" h="366394">
                  <a:moveTo>
                    <a:pt x="0" y="366187"/>
                  </a:moveTo>
                  <a:lnTo>
                    <a:pt x="414508" y="0"/>
                  </a:lnTo>
                </a:path>
              </a:pathLst>
            </a:custGeom>
            <a:ln w="28574">
              <a:solidFill>
                <a:srgbClr val="595959"/>
              </a:solidFill>
            </a:ln>
          </p:spPr>
          <p:txBody>
            <a:bodyPr wrap="square" lIns="0" tIns="0" rIns="0" bIns="0" rtlCol="0"/>
            <a:lstStyle/>
            <a:p>
              <a:endParaRPr sz="2400"/>
            </a:p>
          </p:txBody>
        </p:sp>
        <p:pic>
          <p:nvPicPr>
            <p:cNvPr id="14" name="object 14"/>
            <p:cNvPicPr/>
            <p:nvPr/>
          </p:nvPicPr>
          <p:blipFill>
            <a:blip r:embed="rId6" cstate="print"/>
            <a:stretch>
              <a:fillRect/>
            </a:stretch>
          </p:blipFill>
          <p:spPr>
            <a:xfrm>
              <a:off x="3318298" y="1900032"/>
              <a:ext cx="157007" cy="149802"/>
            </a:xfrm>
            <a:prstGeom prst="rect">
              <a:avLst/>
            </a:prstGeom>
          </p:spPr>
        </p:pic>
        <p:sp>
          <p:nvSpPr>
            <p:cNvPr id="15" name="object 15"/>
            <p:cNvSpPr/>
            <p:nvPr/>
          </p:nvSpPr>
          <p:spPr>
            <a:xfrm>
              <a:off x="2937149" y="2500274"/>
              <a:ext cx="506095" cy="494030"/>
            </a:xfrm>
            <a:custGeom>
              <a:avLst/>
              <a:gdLst/>
              <a:ahLst/>
              <a:cxnLst/>
              <a:rect l="l" t="t" r="r" b="b"/>
              <a:pathLst>
                <a:path w="506095" h="494030">
                  <a:moveTo>
                    <a:pt x="0" y="0"/>
                  </a:moveTo>
                  <a:lnTo>
                    <a:pt x="505840" y="494009"/>
                  </a:lnTo>
                </a:path>
              </a:pathLst>
            </a:custGeom>
            <a:ln w="28574">
              <a:solidFill>
                <a:srgbClr val="595959"/>
              </a:solidFill>
            </a:ln>
          </p:spPr>
          <p:txBody>
            <a:bodyPr wrap="square" lIns="0" tIns="0" rIns="0" bIns="0" rtlCol="0"/>
            <a:lstStyle/>
            <a:p>
              <a:endParaRPr sz="2400"/>
            </a:p>
          </p:txBody>
        </p:sp>
        <p:pic>
          <p:nvPicPr>
            <p:cNvPr id="16" name="object 16"/>
            <p:cNvPicPr/>
            <p:nvPr/>
          </p:nvPicPr>
          <p:blipFill>
            <a:blip r:embed="rId7" cstate="print"/>
            <a:stretch>
              <a:fillRect/>
            </a:stretch>
          </p:blipFill>
          <p:spPr>
            <a:xfrm>
              <a:off x="3395726" y="2946230"/>
              <a:ext cx="154325" cy="152945"/>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09600" y="287020"/>
            <a:ext cx="10972800" cy="737235"/>
          </a:xfrm>
          <a:prstGeom prst="rect">
            <a:avLst/>
          </a:prstGeom>
        </p:spPr>
        <p:txBody>
          <a:bodyPr vert="horz" wrap="square" lIns="0" tIns="503038" rIns="0" bIns="0" rtlCol="0">
            <a:noAutofit/>
          </a:bodyPr>
          <a:lstStyle/>
          <a:p>
            <a:pPr marL="12700">
              <a:lnSpc>
                <a:spcPct val="100000"/>
              </a:lnSpc>
              <a:spcBef>
                <a:spcPts val="120"/>
              </a:spcBef>
            </a:pPr>
            <a:r>
              <a:rPr dirty="0"/>
              <a:t>ML</a:t>
            </a:r>
            <a:r>
              <a:rPr spc="-60" dirty="0"/>
              <a:t> </a:t>
            </a:r>
            <a:r>
              <a:rPr dirty="0"/>
              <a:t>example:</a:t>
            </a:r>
            <a:r>
              <a:rPr spc="-60" dirty="0"/>
              <a:t> </a:t>
            </a:r>
            <a:r>
              <a:rPr dirty="0"/>
              <a:t>SPAM</a:t>
            </a:r>
            <a:r>
              <a:rPr spc="-60" dirty="0"/>
              <a:t> </a:t>
            </a:r>
            <a:r>
              <a:rPr spc="-10" dirty="0"/>
              <a:t>filter</a:t>
            </a:r>
            <a:endParaRPr spc="-10" dirty="0"/>
          </a:p>
        </p:txBody>
      </p:sp>
      <p:sp>
        <p:nvSpPr>
          <p:cNvPr id="4" name="object 4"/>
          <p:cNvSpPr txBox="1"/>
          <p:nvPr/>
        </p:nvSpPr>
        <p:spPr>
          <a:xfrm>
            <a:off x="97367" y="1440549"/>
            <a:ext cx="6771640" cy="2259965"/>
          </a:xfrm>
          <a:prstGeom prst="rect">
            <a:avLst/>
          </a:prstGeom>
        </p:spPr>
        <p:txBody>
          <a:bodyPr vert="horz" wrap="square" lIns="0" tIns="14393" rIns="0" bIns="0" rtlCol="0">
            <a:spAutoFit/>
          </a:bodyPr>
          <a:lstStyle/>
          <a:p>
            <a:pPr marL="12700" marR="544830">
              <a:lnSpc>
                <a:spcPts val="2560"/>
              </a:lnSpc>
              <a:spcBef>
                <a:spcPts val="85"/>
              </a:spcBef>
            </a:pPr>
            <a:r>
              <a:rPr dirty="0">
                <a:solidFill>
                  <a:srgbClr val="595959"/>
                </a:solidFill>
                <a:latin typeface="Calibri" panose="020F0502020204030204" charset="0"/>
                <a:cs typeface="Calibri" panose="020F0502020204030204" charset="0"/>
              </a:rPr>
              <a:t>In</a:t>
            </a:r>
            <a:r>
              <a:rPr spc="2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modern</a:t>
            </a:r>
            <a:r>
              <a:rPr spc="3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Machine</a:t>
            </a:r>
            <a:r>
              <a:rPr spc="3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Learning</a:t>
            </a:r>
            <a:r>
              <a:rPr spc="2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version</a:t>
            </a:r>
            <a:r>
              <a:rPr spc="30" dirty="0">
                <a:solidFill>
                  <a:srgbClr val="595959"/>
                </a:solidFill>
                <a:latin typeface="Calibri" panose="020F0502020204030204" charset="0"/>
                <a:cs typeface="Calibri" panose="020F0502020204030204" charset="0"/>
              </a:rPr>
              <a:t> </a:t>
            </a:r>
            <a:r>
              <a:rPr spc="-25" dirty="0">
                <a:solidFill>
                  <a:srgbClr val="595959"/>
                </a:solidFill>
                <a:latin typeface="Calibri" panose="020F0502020204030204" charset="0"/>
                <a:cs typeface="Calibri" panose="020F0502020204030204" charset="0"/>
              </a:rPr>
              <a:t>of </a:t>
            </a:r>
            <a:r>
              <a:rPr dirty="0">
                <a:solidFill>
                  <a:srgbClr val="595959"/>
                </a:solidFill>
                <a:latin typeface="Calibri" panose="020F0502020204030204" charset="0"/>
                <a:cs typeface="Calibri" panose="020F0502020204030204" charset="0"/>
              </a:rPr>
              <a:t>SPAM</a:t>
            </a:r>
            <a:r>
              <a:rPr spc="-5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filter:</a:t>
            </a:r>
            <a:endParaRPr>
              <a:latin typeface="Calibri" panose="020F0502020204030204" charset="0"/>
              <a:cs typeface="Calibri" panose="020F0502020204030204" charset="0"/>
            </a:endParaRPr>
          </a:p>
          <a:p>
            <a:pPr marL="469900" marR="5080" indent="-384810">
              <a:lnSpc>
                <a:spcPct val="107000"/>
              </a:lnSpc>
              <a:spcBef>
                <a:spcPts val="1095"/>
              </a:spcBef>
              <a:buFont typeface="Arial MT"/>
              <a:buChar char="●"/>
              <a:tabLst>
                <a:tab pos="469900" algn="l"/>
              </a:tabLst>
            </a:pPr>
            <a:r>
              <a:rPr dirty="0">
                <a:solidFill>
                  <a:srgbClr val="595959"/>
                </a:solidFill>
                <a:latin typeface="Calibri" panose="020F0502020204030204" charset="0"/>
                <a:cs typeface="Calibri" panose="020F0502020204030204" charset="0"/>
              </a:rPr>
              <a:t>Dataset</a:t>
            </a:r>
            <a:r>
              <a:rPr spc="1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of</a:t>
            </a:r>
            <a:r>
              <a:rPr spc="2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emails</a:t>
            </a:r>
            <a:r>
              <a:rPr spc="2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labeled</a:t>
            </a:r>
            <a:r>
              <a:rPr spc="2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by</a:t>
            </a:r>
            <a:r>
              <a:rPr spc="1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humans</a:t>
            </a:r>
            <a:r>
              <a:rPr spc="20" dirty="0">
                <a:solidFill>
                  <a:srgbClr val="595959"/>
                </a:solidFill>
                <a:latin typeface="Calibri" panose="020F0502020204030204" charset="0"/>
                <a:cs typeface="Calibri" panose="020F0502020204030204" charset="0"/>
              </a:rPr>
              <a:t> </a:t>
            </a:r>
            <a:r>
              <a:rPr spc="-25" dirty="0">
                <a:solidFill>
                  <a:srgbClr val="595959"/>
                </a:solidFill>
                <a:latin typeface="Calibri" panose="020F0502020204030204" charset="0"/>
                <a:cs typeface="Calibri" panose="020F0502020204030204" charset="0"/>
              </a:rPr>
              <a:t>as </a:t>
            </a:r>
            <a:r>
              <a:rPr dirty="0">
                <a:solidFill>
                  <a:srgbClr val="595959"/>
                </a:solidFill>
                <a:latin typeface="Calibri" panose="020F0502020204030204" charset="0"/>
                <a:cs typeface="Calibri" panose="020F0502020204030204" charset="0"/>
              </a:rPr>
              <a:t>SPAM</a:t>
            </a:r>
            <a:r>
              <a:rPr spc="-2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or</a:t>
            </a:r>
            <a:r>
              <a:rPr spc="-25" dirty="0">
                <a:solidFill>
                  <a:srgbClr val="595959"/>
                </a:solidFill>
                <a:latin typeface="Calibri" panose="020F0502020204030204" charset="0"/>
                <a:cs typeface="Calibri" panose="020F0502020204030204" charset="0"/>
              </a:rPr>
              <a:t> </a:t>
            </a:r>
            <a:r>
              <a:rPr spc="-60" dirty="0">
                <a:solidFill>
                  <a:srgbClr val="595959"/>
                </a:solidFill>
                <a:latin typeface="Calibri" panose="020F0502020204030204" charset="0"/>
                <a:cs typeface="Calibri" panose="020F0502020204030204" charset="0"/>
              </a:rPr>
              <a:t>not-</a:t>
            </a:r>
            <a:r>
              <a:rPr dirty="0">
                <a:solidFill>
                  <a:srgbClr val="595959"/>
                </a:solidFill>
                <a:latin typeface="Calibri" panose="020F0502020204030204" charset="0"/>
                <a:cs typeface="Calibri" panose="020F0502020204030204" charset="0"/>
              </a:rPr>
              <a:t>SPAM</a:t>
            </a:r>
            <a:r>
              <a:rPr spc="-2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is</a:t>
            </a:r>
            <a:r>
              <a:rPr spc="-2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constructed</a:t>
            </a:r>
            <a:endParaRPr>
              <a:latin typeface="Calibri" panose="020F0502020204030204" charset="0"/>
              <a:cs typeface="Calibri" panose="020F0502020204030204" charset="0"/>
            </a:endParaRPr>
          </a:p>
          <a:p>
            <a:pPr marL="469900" marR="36830" indent="-384810">
              <a:lnSpc>
                <a:spcPct val="107000"/>
              </a:lnSpc>
              <a:buFont typeface="Arial MT"/>
              <a:buChar char="●"/>
              <a:tabLst>
                <a:tab pos="469900" algn="l"/>
              </a:tabLst>
            </a:pPr>
            <a:r>
              <a:rPr dirty="0">
                <a:solidFill>
                  <a:srgbClr val="595959"/>
                </a:solidFill>
                <a:latin typeface="Calibri" panose="020F0502020204030204" charset="0"/>
                <a:cs typeface="Calibri" panose="020F0502020204030204" charset="0"/>
              </a:rPr>
              <a:t>Dataset</a:t>
            </a:r>
            <a:r>
              <a:rPr spc="-1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is</a:t>
            </a:r>
            <a:r>
              <a:rPr spc="-1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input</a:t>
            </a:r>
            <a:r>
              <a:rPr spc="-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into</a:t>
            </a:r>
            <a:r>
              <a:rPr spc="-1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a:t>
            </a:r>
            <a:r>
              <a:rPr spc="-1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machine</a:t>
            </a:r>
            <a:r>
              <a:rPr spc="-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learning </a:t>
            </a:r>
            <a:r>
              <a:rPr dirty="0">
                <a:solidFill>
                  <a:srgbClr val="595959"/>
                </a:solidFill>
                <a:latin typeface="Calibri" panose="020F0502020204030204" charset="0"/>
                <a:cs typeface="Calibri" panose="020F0502020204030204" charset="0"/>
              </a:rPr>
              <a:t>algorithm,</a:t>
            </a:r>
            <a:r>
              <a:rPr spc="1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which</a:t>
            </a:r>
            <a:r>
              <a:rPr spc="35" dirty="0">
                <a:solidFill>
                  <a:srgbClr val="595959"/>
                </a:solidFill>
                <a:latin typeface="Calibri" panose="020F0502020204030204" charset="0"/>
                <a:cs typeface="Calibri" panose="020F0502020204030204" charset="0"/>
              </a:rPr>
              <a:t> </a:t>
            </a:r>
            <a:r>
              <a:rPr b="1" dirty="0">
                <a:solidFill>
                  <a:srgbClr val="595959"/>
                </a:solidFill>
                <a:latin typeface="Calibri" panose="020F0502020204030204" charset="0"/>
                <a:cs typeface="Calibri" panose="020F0502020204030204" charset="0"/>
              </a:rPr>
              <a:t>trains</a:t>
            </a:r>
            <a:r>
              <a:rPr b="1" spc="1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a:t>
            </a:r>
            <a:r>
              <a:rPr spc="20" dirty="0">
                <a:solidFill>
                  <a:srgbClr val="595959"/>
                </a:solidFill>
                <a:latin typeface="Calibri" panose="020F0502020204030204" charset="0"/>
                <a:cs typeface="Calibri" panose="020F0502020204030204" charset="0"/>
              </a:rPr>
              <a:t> </a:t>
            </a:r>
            <a:r>
              <a:rPr b="1" spc="-10" dirty="0">
                <a:solidFill>
                  <a:srgbClr val="595959"/>
                </a:solidFill>
                <a:latin typeface="Calibri" panose="020F0502020204030204" charset="0"/>
                <a:cs typeface="Calibri" panose="020F0502020204030204" charset="0"/>
              </a:rPr>
              <a:t>model</a:t>
            </a:r>
            <a:endParaRPr>
              <a:latin typeface="Calibri" panose="020F0502020204030204" charset="0"/>
              <a:cs typeface="Calibri" panose="020F0502020204030204" charset="0"/>
            </a:endParaRPr>
          </a:p>
          <a:p>
            <a:pPr marL="469900" marR="336550" indent="-384810">
              <a:lnSpc>
                <a:spcPct val="107000"/>
              </a:lnSpc>
              <a:buFont typeface="Arial MT"/>
              <a:buChar char="●"/>
              <a:tabLst>
                <a:tab pos="469900" algn="l"/>
              </a:tabLst>
            </a:pPr>
            <a:r>
              <a:rPr dirty="0">
                <a:solidFill>
                  <a:srgbClr val="595959"/>
                </a:solidFill>
                <a:latin typeface="Calibri" panose="020F0502020204030204" charset="0"/>
                <a:cs typeface="Calibri" panose="020F0502020204030204" charset="0"/>
              </a:rPr>
              <a:t>As</a:t>
            </a:r>
            <a:r>
              <a:rPr spc="2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users</a:t>
            </a:r>
            <a:r>
              <a:rPr spc="2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report</a:t>
            </a:r>
            <a:r>
              <a:rPr spc="2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SPAM</a:t>
            </a:r>
            <a:r>
              <a:rPr spc="2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that</a:t>
            </a:r>
            <a:r>
              <a:rPr spc="2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made</a:t>
            </a:r>
            <a:r>
              <a:rPr spc="25" dirty="0">
                <a:solidFill>
                  <a:srgbClr val="595959"/>
                </a:solidFill>
                <a:latin typeface="Calibri" panose="020F0502020204030204" charset="0"/>
                <a:cs typeface="Calibri" panose="020F0502020204030204" charset="0"/>
              </a:rPr>
              <a:t> </a:t>
            </a:r>
            <a:r>
              <a:rPr spc="-25" dirty="0">
                <a:solidFill>
                  <a:srgbClr val="595959"/>
                </a:solidFill>
                <a:latin typeface="Calibri" panose="020F0502020204030204" charset="0"/>
                <a:cs typeface="Calibri" panose="020F0502020204030204" charset="0"/>
              </a:rPr>
              <a:t>it </a:t>
            </a:r>
            <a:r>
              <a:rPr dirty="0">
                <a:solidFill>
                  <a:srgbClr val="595959"/>
                </a:solidFill>
                <a:latin typeface="Calibri" panose="020F0502020204030204" charset="0"/>
                <a:cs typeface="Calibri" panose="020F0502020204030204" charset="0"/>
              </a:rPr>
              <a:t>through</a:t>
            </a:r>
            <a:r>
              <a:rPr spc="-10" dirty="0">
                <a:solidFill>
                  <a:srgbClr val="595959"/>
                </a:solidFill>
                <a:latin typeface="Calibri" panose="020F0502020204030204" charset="0"/>
                <a:cs typeface="Calibri" panose="020F0502020204030204" charset="0"/>
              </a:rPr>
              <a:t> filter,</a:t>
            </a:r>
            <a:r>
              <a:rPr spc="-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emails</a:t>
            </a:r>
            <a:r>
              <a:rPr spc="-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can</a:t>
            </a:r>
            <a:r>
              <a:rPr spc="-1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be</a:t>
            </a:r>
            <a:r>
              <a:rPr spc="-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added</a:t>
            </a:r>
            <a:r>
              <a:rPr spc="-5" dirty="0">
                <a:solidFill>
                  <a:srgbClr val="595959"/>
                </a:solidFill>
                <a:latin typeface="Calibri" panose="020F0502020204030204" charset="0"/>
                <a:cs typeface="Calibri" panose="020F0502020204030204" charset="0"/>
              </a:rPr>
              <a:t> </a:t>
            </a:r>
            <a:r>
              <a:rPr spc="-25" dirty="0">
                <a:solidFill>
                  <a:srgbClr val="595959"/>
                </a:solidFill>
                <a:latin typeface="Calibri" panose="020F0502020204030204" charset="0"/>
                <a:cs typeface="Calibri" panose="020F0502020204030204" charset="0"/>
              </a:rPr>
              <a:t>to </a:t>
            </a:r>
            <a:r>
              <a:rPr dirty="0">
                <a:solidFill>
                  <a:srgbClr val="595959"/>
                </a:solidFill>
                <a:latin typeface="Calibri" panose="020F0502020204030204" charset="0"/>
                <a:cs typeface="Calibri" panose="020F0502020204030204" charset="0"/>
              </a:rPr>
              <a:t>dataset,</a:t>
            </a:r>
            <a:r>
              <a:rPr spc="2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and</a:t>
            </a:r>
            <a:r>
              <a:rPr spc="2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model</a:t>
            </a:r>
            <a:r>
              <a:rPr spc="2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retrained.</a:t>
            </a:r>
            <a:endParaRPr>
              <a:latin typeface="Calibri" panose="020F0502020204030204" charset="0"/>
              <a:cs typeface="Calibri" panose="020F0502020204030204" charset="0"/>
            </a:endParaRPr>
          </a:p>
        </p:txBody>
      </p:sp>
      <p:pic>
        <p:nvPicPr>
          <p:cNvPr id="5" name="object 5"/>
          <p:cNvPicPr/>
          <p:nvPr/>
        </p:nvPicPr>
        <p:blipFill>
          <a:blip r:embed="rId1" cstate="print"/>
          <a:stretch>
            <a:fillRect/>
          </a:stretch>
        </p:blipFill>
        <p:spPr>
          <a:xfrm>
            <a:off x="7250467" y="1190900"/>
            <a:ext cx="4525933" cy="4476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72257" y="225374"/>
            <a:ext cx="6580505" cy="56642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696363"/>
                </a:solidFill>
                <a:latin typeface="Arial MT"/>
                <a:cs typeface="Arial MT"/>
              </a:rPr>
              <a:t>Concepts</a:t>
            </a:r>
            <a:r>
              <a:rPr sz="3600" spc="-40" dirty="0">
                <a:solidFill>
                  <a:srgbClr val="696363"/>
                </a:solidFill>
                <a:latin typeface="Arial MT"/>
                <a:cs typeface="Arial MT"/>
              </a:rPr>
              <a:t> </a:t>
            </a:r>
            <a:r>
              <a:rPr sz="3600" dirty="0">
                <a:solidFill>
                  <a:srgbClr val="696363"/>
                </a:solidFill>
                <a:latin typeface="Arial MT"/>
                <a:cs typeface="Arial MT"/>
              </a:rPr>
              <a:t>in</a:t>
            </a:r>
            <a:r>
              <a:rPr sz="3600" spc="-220" dirty="0">
                <a:solidFill>
                  <a:srgbClr val="696363"/>
                </a:solidFill>
                <a:latin typeface="Arial MT"/>
                <a:cs typeface="Arial MT"/>
              </a:rPr>
              <a:t> </a:t>
            </a:r>
            <a:r>
              <a:rPr sz="3600" dirty="0">
                <a:solidFill>
                  <a:srgbClr val="696363"/>
                </a:solidFill>
                <a:latin typeface="Arial MT"/>
                <a:cs typeface="Arial MT"/>
              </a:rPr>
              <a:t>Artificial</a:t>
            </a:r>
            <a:r>
              <a:rPr sz="3600" spc="-30" dirty="0">
                <a:solidFill>
                  <a:srgbClr val="696363"/>
                </a:solidFill>
                <a:latin typeface="Arial MT"/>
                <a:cs typeface="Arial MT"/>
              </a:rPr>
              <a:t> </a:t>
            </a:r>
            <a:r>
              <a:rPr sz="3600" spc="-10" dirty="0">
                <a:solidFill>
                  <a:srgbClr val="696363"/>
                </a:solidFill>
                <a:latin typeface="Arial MT"/>
                <a:cs typeface="Arial MT"/>
              </a:rPr>
              <a:t>Intelligence</a:t>
            </a:r>
            <a:endParaRPr sz="3600">
              <a:latin typeface="Arial MT"/>
              <a:cs typeface="Arial MT"/>
            </a:endParaRPr>
          </a:p>
        </p:txBody>
      </p:sp>
      <p:pic>
        <p:nvPicPr>
          <p:cNvPr id="3" name="object 3"/>
          <p:cNvPicPr/>
          <p:nvPr/>
        </p:nvPicPr>
        <p:blipFill>
          <a:blip r:embed="rId1" cstate="print"/>
          <a:stretch>
            <a:fillRect/>
          </a:stretch>
        </p:blipFill>
        <p:spPr>
          <a:xfrm>
            <a:off x="2706115" y="1752599"/>
            <a:ext cx="6739670" cy="4578046"/>
          </a:xfrm>
          <a:prstGeom prst="rect">
            <a:avLst/>
          </a:prstGeom>
        </p:spPr>
      </p:pic>
      <p:sp>
        <p:nvSpPr>
          <p:cNvPr id="4" name="object 4"/>
          <p:cNvSpPr txBox="1"/>
          <p:nvPr/>
        </p:nvSpPr>
        <p:spPr>
          <a:xfrm>
            <a:off x="1831340" y="901649"/>
            <a:ext cx="2819400" cy="442595"/>
          </a:xfrm>
          <a:prstGeom prst="rect">
            <a:avLst/>
          </a:prstGeom>
        </p:spPr>
        <p:txBody>
          <a:bodyPr vert="horz" wrap="square" lIns="0" tIns="12065" rIns="0" bIns="0" rtlCol="0">
            <a:spAutoFit/>
          </a:bodyPr>
          <a:lstStyle/>
          <a:p>
            <a:pPr marL="12700">
              <a:lnSpc>
                <a:spcPct val="100000"/>
              </a:lnSpc>
              <a:spcBef>
                <a:spcPts val="95"/>
              </a:spcBef>
            </a:pPr>
            <a:r>
              <a:rPr sz="2800" b="1" dirty="0">
                <a:latin typeface="Times New Roman" panose="02020603050405020304"/>
                <a:cs typeface="Times New Roman" panose="02020603050405020304"/>
              </a:rPr>
              <a:t>Machine</a:t>
            </a:r>
            <a:r>
              <a:rPr sz="2800" b="1" spc="-5" dirty="0">
                <a:latin typeface="Times New Roman" panose="02020603050405020304"/>
                <a:cs typeface="Times New Roman" panose="02020603050405020304"/>
              </a:rPr>
              <a:t> </a:t>
            </a:r>
            <a:r>
              <a:rPr sz="2800" b="1" spc="-10" dirty="0">
                <a:latin typeface="Times New Roman" panose="02020603050405020304"/>
                <a:cs typeface="Times New Roman" panose="02020603050405020304"/>
              </a:rPr>
              <a:t>learning:</a:t>
            </a:r>
            <a:endParaRPr sz="2800">
              <a:latin typeface="Times New Roman" panose="02020603050405020304"/>
              <a:cs typeface="Times New Roman" panose="02020603050405020304"/>
            </a:endParaRPr>
          </a:p>
        </p:txBody>
      </p:sp>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367983"/>
            <a:ext cx="10972800" cy="956310"/>
          </a:xfrm>
          <a:prstGeom prst="rect">
            <a:avLst/>
          </a:prstGeom>
        </p:spPr>
        <p:txBody>
          <a:bodyPr vert="horz" wrap="square" lIns="0" tIns="505070" rIns="0" bIns="0" rtlCol="0">
            <a:spAutoFit/>
          </a:bodyPr>
          <a:lstStyle/>
          <a:p>
            <a:pPr marL="12700">
              <a:lnSpc>
                <a:spcPct val="100000"/>
              </a:lnSpc>
              <a:spcBef>
                <a:spcPts val="120"/>
              </a:spcBef>
            </a:pPr>
            <a:r>
              <a:rPr sz="2935" dirty="0"/>
              <a:t>Activity:</a:t>
            </a:r>
            <a:r>
              <a:rPr sz="2935" spc="-15" dirty="0"/>
              <a:t> </a:t>
            </a:r>
            <a:r>
              <a:rPr sz="2935" dirty="0"/>
              <a:t>Which</a:t>
            </a:r>
            <a:r>
              <a:rPr sz="2935" spc="-10" dirty="0"/>
              <a:t> </a:t>
            </a:r>
            <a:r>
              <a:rPr sz="2935" dirty="0"/>
              <a:t>of</a:t>
            </a:r>
            <a:r>
              <a:rPr sz="2935" spc="-10" dirty="0"/>
              <a:t> </a:t>
            </a:r>
            <a:r>
              <a:rPr sz="2935" dirty="0"/>
              <a:t>the</a:t>
            </a:r>
            <a:r>
              <a:rPr sz="2935" spc="-10" dirty="0"/>
              <a:t> </a:t>
            </a:r>
            <a:r>
              <a:rPr sz="2935" dirty="0"/>
              <a:t>following</a:t>
            </a:r>
            <a:r>
              <a:rPr sz="2935" spc="-10" dirty="0"/>
              <a:t> applications </a:t>
            </a:r>
            <a:r>
              <a:rPr sz="2935" dirty="0"/>
              <a:t>are</a:t>
            </a:r>
            <a:r>
              <a:rPr sz="2935" spc="-10" dirty="0"/>
              <a:t> </a:t>
            </a:r>
            <a:r>
              <a:rPr sz="2935" dirty="0"/>
              <a:t>ML,</a:t>
            </a:r>
            <a:r>
              <a:rPr sz="2935" spc="-10" dirty="0"/>
              <a:t> </a:t>
            </a:r>
            <a:r>
              <a:rPr sz="2935" dirty="0"/>
              <a:t>AI,</a:t>
            </a:r>
            <a:r>
              <a:rPr sz="2935" spc="-10" dirty="0"/>
              <a:t> </a:t>
            </a:r>
            <a:r>
              <a:rPr sz="2935" dirty="0"/>
              <a:t>or</a:t>
            </a:r>
            <a:r>
              <a:rPr sz="2935" spc="-10" dirty="0"/>
              <a:t> neither?</a:t>
            </a:r>
            <a:endParaRPr sz="2935"/>
          </a:p>
        </p:txBody>
      </p:sp>
      <p:sp>
        <p:nvSpPr>
          <p:cNvPr id="3" name="object 3"/>
          <p:cNvSpPr txBox="1"/>
          <p:nvPr/>
        </p:nvSpPr>
        <p:spPr>
          <a:xfrm>
            <a:off x="633665" y="1621807"/>
            <a:ext cx="10813627" cy="3366770"/>
          </a:xfrm>
          <a:prstGeom prst="rect">
            <a:avLst/>
          </a:prstGeom>
        </p:spPr>
        <p:txBody>
          <a:bodyPr vert="horz" wrap="square" lIns="0" tIns="14393" rIns="0" bIns="0" rtlCol="0">
            <a:spAutoFit/>
          </a:bodyPr>
          <a:lstStyle/>
          <a:p>
            <a:pPr marL="354965" marR="5080" indent="-342900">
              <a:lnSpc>
                <a:spcPct val="150000"/>
              </a:lnSpc>
              <a:spcBef>
                <a:spcPts val="85"/>
              </a:spcBef>
              <a:buAutoNum type="arabicPeriod"/>
              <a:tabLst>
                <a:tab pos="379095" algn="l"/>
              </a:tabLst>
            </a:pPr>
            <a:r>
              <a:rPr spc="55" dirty="0">
                <a:solidFill>
                  <a:srgbClr val="595959"/>
                </a:solidFill>
                <a:latin typeface="Calibri" panose="020F0502020204030204" charset="0"/>
                <a:cs typeface="Calibri" panose="020F0502020204030204" charset="0"/>
              </a:rPr>
              <a:t>A</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headset</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that</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allows</a:t>
            </a:r>
            <a:r>
              <a:rPr spc="-5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visitors</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to</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explore</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VR</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recreation</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of</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a:t>
            </a:r>
            <a:r>
              <a:rPr spc="-5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dinosaur</a:t>
            </a:r>
            <a:r>
              <a:rPr spc="-5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fossil </a:t>
            </a:r>
            <a:r>
              <a:rPr dirty="0">
                <a:solidFill>
                  <a:srgbClr val="595959"/>
                </a:solidFill>
                <a:latin typeface="Calibri" panose="020F0502020204030204" charset="0"/>
                <a:cs typeface="Calibri" panose="020F0502020204030204" charset="0"/>
              </a:rPr>
              <a:t>field</a:t>
            </a:r>
            <a:r>
              <a:rPr spc="-60"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site</a:t>
            </a:r>
            <a:endParaRPr>
              <a:latin typeface="Calibri" panose="020F0502020204030204" charset="0"/>
              <a:cs typeface="Calibri" panose="020F0502020204030204" charset="0"/>
            </a:endParaRPr>
          </a:p>
          <a:p>
            <a:pPr marL="355600" indent="-342900">
              <a:lnSpc>
                <a:spcPct val="150000"/>
              </a:lnSpc>
              <a:spcBef>
                <a:spcPts val="10"/>
              </a:spcBef>
              <a:buAutoNum type="arabicPeriod"/>
              <a:tabLst>
                <a:tab pos="379095" algn="l"/>
              </a:tabLst>
            </a:pPr>
            <a:r>
              <a:rPr spc="55" dirty="0">
                <a:solidFill>
                  <a:srgbClr val="595959"/>
                </a:solidFill>
                <a:latin typeface="Calibri" panose="020F0502020204030204" charset="0"/>
                <a:cs typeface="Calibri" panose="020F0502020204030204" charset="0"/>
              </a:rPr>
              <a:t>A</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search</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system</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that</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looks</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for</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images</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similar</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to</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user</a:t>
            </a:r>
            <a:r>
              <a:rPr spc="-5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submitted</a:t>
            </a:r>
            <a:r>
              <a:rPr spc="-5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sketch.</a:t>
            </a:r>
            <a:endParaRPr>
              <a:latin typeface="Calibri" panose="020F0502020204030204" charset="0"/>
              <a:cs typeface="Calibri" panose="020F0502020204030204" charset="0"/>
            </a:endParaRPr>
          </a:p>
          <a:p>
            <a:pPr marL="354965" marR="228600" indent="-342900">
              <a:lnSpc>
                <a:spcPct val="150000"/>
              </a:lnSpc>
              <a:buAutoNum type="arabicPeriod"/>
              <a:tabLst>
                <a:tab pos="379095" algn="l"/>
              </a:tabLst>
            </a:pPr>
            <a:r>
              <a:rPr spc="55" dirty="0">
                <a:solidFill>
                  <a:srgbClr val="595959"/>
                </a:solidFill>
                <a:latin typeface="Calibri" panose="020F0502020204030204" charset="0"/>
                <a:cs typeface="Calibri" panose="020F0502020204030204" charset="0"/>
              </a:rPr>
              <a:t>A</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system</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that</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recommends</a:t>
            </a:r>
            <a:r>
              <a:rPr spc="-6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library</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books</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based</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on</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what</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other</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users</a:t>
            </a:r>
            <a:r>
              <a:rPr spc="-65"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have </a:t>
            </a:r>
            <a:r>
              <a:rPr spc="-10" dirty="0">
                <a:solidFill>
                  <a:srgbClr val="595959"/>
                </a:solidFill>
                <a:latin typeface="Calibri" panose="020F0502020204030204" charset="0"/>
                <a:cs typeface="Calibri" panose="020F0502020204030204" charset="0"/>
              </a:rPr>
              <a:t>ordered.</a:t>
            </a:r>
            <a:endParaRPr>
              <a:latin typeface="Calibri" panose="020F0502020204030204" charset="0"/>
              <a:cs typeface="Calibri" panose="020F0502020204030204" charset="0"/>
            </a:endParaRPr>
          </a:p>
          <a:p>
            <a:pPr marL="355600" indent="-342900">
              <a:lnSpc>
                <a:spcPct val="150000"/>
              </a:lnSpc>
              <a:spcBef>
                <a:spcPts val="110"/>
              </a:spcBef>
              <a:buAutoNum type="arabicPeriod"/>
              <a:tabLst>
                <a:tab pos="379095" algn="l"/>
              </a:tabLst>
            </a:pPr>
            <a:r>
              <a:rPr spc="55" dirty="0">
                <a:solidFill>
                  <a:srgbClr val="595959"/>
                </a:solidFill>
                <a:latin typeface="Calibri" panose="020F0502020204030204" charset="0"/>
                <a:cs typeface="Calibri" panose="020F0502020204030204" charset="0"/>
              </a:rPr>
              <a:t>A</a:t>
            </a:r>
            <a:r>
              <a:rPr spc="-5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queueing</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system</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that</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spreads</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people</a:t>
            </a:r>
            <a:r>
              <a:rPr spc="-5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evenly</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between</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5</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ticket</a:t>
            </a:r>
            <a:r>
              <a:rPr spc="-5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booths</a:t>
            </a:r>
            <a:endParaRPr>
              <a:latin typeface="Calibri" panose="020F0502020204030204" charset="0"/>
              <a:cs typeface="Calibri" panose="020F0502020204030204" charset="0"/>
            </a:endParaRPr>
          </a:p>
          <a:p>
            <a:pPr marL="354965" marR="86360" indent="-342900">
              <a:lnSpc>
                <a:spcPct val="150000"/>
              </a:lnSpc>
              <a:buAutoNum type="arabicPeriod"/>
              <a:tabLst>
                <a:tab pos="379095" algn="l"/>
              </a:tabLst>
            </a:pPr>
            <a:r>
              <a:rPr spc="55" dirty="0">
                <a:solidFill>
                  <a:srgbClr val="595959"/>
                </a:solidFill>
                <a:latin typeface="Calibri" panose="020F0502020204030204" charset="0"/>
                <a:cs typeface="Calibri" panose="020F0502020204030204" charset="0"/>
              </a:rPr>
              <a:t>A</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program</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which</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extracts</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names</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from</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documents</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by</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finding</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all</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capitalised </a:t>
            </a:r>
            <a:r>
              <a:rPr dirty="0">
                <a:solidFill>
                  <a:srgbClr val="595959"/>
                </a:solidFill>
                <a:latin typeface="Calibri" panose="020F0502020204030204" charset="0"/>
                <a:cs typeface="Calibri" panose="020F0502020204030204" charset="0"/>
              </a:rPr>
              <a:t>words</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and</a:t>
            </a:r>
            <a:r>
              <a:rPr spc="-5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checking</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them</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against</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list</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of</a:t>
            </a:r>
            <a:r>
              <a:rPr spc="-5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known</a:t>
            </a:r>
            <a:r>
              <a:rPr spc="-5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names</a:t>
            </a:r>
            <a:endParaRPr>
              <a:latin typeface="Calibri" panose="020F0502020204030204" charset="0"/>
              <a:cs typeface="Calibri" panose="020F0502020204030204" charset="0"/>
            </a:endParaRPr>
          </a:p>
          <a:p>
            <a:pPr marL="355600" indent="-342900">
              <a:lnSpc>
                <a:spcPct val="150000"/>
              </a:lnSpc>
              <a:spcBef>
                <a:spcPts val="105"/>
              </a:spcBef>
              <a:buAutoNum type="arabicPeriod"/>
              <a:tabLst>
                <a:tab pos="379095" algn="l"/>
              </a:tabLst>
            </a:pPr>
            <a:r>
              <a:rPr spc="55" dirty="0">
                <a:solidFill>
                  <a:srgbClr val="595959"/>
                </a:solidFill>
                <a:latin typeface="Calibri" panose="020F0502020204030204" charset="0"/>
                <a:cs typeface="Calibri" panose="020F0502020204030204" charset="0"/>
              </a:rPr>
              <a:t>A</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system</a:t>
            </a:r>
            <a:r>
              <a:rPr spc="-6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which</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turns</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digitized</a:t>
            </a:r>
            <a:r>
              <a:rPr spc="-65"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handwritten</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documents</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into</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searchable</a:t>
            </a:r>
            <a:r>
              <a:rPr spc="-65"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text</a:t>
            </a:r>
            <a:endParaRPr>
              <a:latin typeface="Calibri" panose="020F0502020204030204" charset="0"/>
              <a:cs typeface="Calibri" panose="020F0502020204030204" charset="0"/>
            </a:endParaRPr>
          </a:p>
          <a:p>
            <a:pPr marL="354965" marR="115570" indent="-342900">
              <a:lnSpc>
                <a:spcPct val="150000"/>
              </a:lnSpc>
              <a:buAutoNum type="arabicPeriod"/>
              <a:tabLst>
                <a:tab pos="379095" algn="l"/>
              </a:tabLst>
            </a:pPr>
            <a:r>
              <a:rPr spc="55" dirty="0">
                <a:solidFill>
                  <a:srgbClr val="595959"/>
                </a:solidFill>
                <a:latin typeface="Calibri" panose="020F0502020204030204" charset="0"/>
                <a:cs typeface="Calibri" panose="020F0502020204030204" charset="0"/>
              </a:rPr>
              <a:t>A</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robot</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which</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cleans</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the</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vases</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in</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museum</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without</a:t>
            </a:r>
            <a:r>
              <a:rPr spc="-60"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bumping</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into</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them</a:t>
            </a:r>
            <a:r>
              <a:rPr spc="-60" dirty="0">
                <a:solidFill>
                  <a:srgbClr val="595959"/>
                </a:solidFill>
                <a:latin typeface="Calibri" panose="020F0502020204030204" charset="0"/>
                <a:cs typeface="Calibri" panose="020F0502020204030204" charset="0"/>
              </a:rPr>
              <a:t> </a:t>
            </a:r>
            <a:r>
              <a:rPr spc="-25" dirty="0">
                <a:solidFill>
                  <a:srgbClr val="595959"/>
                </a:solidFill>
                <a:latin typeface="Calibri" panose="020F0502020204030204" charset="0"/>
                <a:cs typeface="Calibri" panose="020F0502020204030204" charset="0"/>
              </a:rPr>
              <a:t>or </a:t>
            </a:r>
            <a:r>
              <a:rPr spc="-10" dirty="0">
                <a:solidFill>
                  <a:srgbClr val="595959"/>
                </a:solidFill>
                <a:latin typeface="Calibri" panose="020F0502020204030204" charset="0"/>
                <a:cs typeface="Calibri" panose="020F0502020204030204" charset="0"/>
              </a:rPr>
              <a:t>breaking</a:t>
            </a:r>
            <a:r>
              <a:rPr spc="-50"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them</a:t>
            </a:r>
            <a:endParaRPr>
              <a:latin typeface="Calibri" panose="020F0502020204030204" charset="0"/>
              <a:cs typeface="Calibri" panose="020F050202020403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92284"/>
            <a:ext cx="10515600" cy="608965"/>
          </a:xfrm>
          <a:prstGeom prst="rect">
            <a:avLst/>
          </a:prstGeom>
        </p:spPr>
        <p:txBody>
          <a:bodyPr vert="horz" wrap="square" lIns="0" tIns="55701" rIns="0" bIns="0" rtlCol="0">
            <a:spAutoFit/>
          </a:bodyPr>
          <a:lstStyle/>
          <a:p>
            <a:pPr marL="724535">
              <a:lnSpc>
                <a:spcPct val="100000"/>
              </a:lnSpc>
              <a:spcBef>
                <a:spcPts val="100"/>
              </a:spcBef>
            </a:pPr>
            <a:r>
              <a:rPr sz="3600" dirty="0"/>
              <a:t>Concepts</a:t>
            </a:r>
            <a:r>
              <a:rPr sz="3600" spc="-40" dirty="0"/>
              <a:t> </a:t>
            </a:r>
            <a:r>
              <a:rPr sz="3600" dirty="0"/>
              <a:t>in</a:t>
            </a:r>
            <a:r>
              <a:rPr sz="3600" spc="-220" dirty="0"/>
              <a:t> </a:t>
            </a:r>
            <a:r>
              <a:rPr sz="3600" dirty="0"/>
              <a:t>Artificial</a:t>
            </a:r>
            <a:r>
              <a:rPr sz="3600" spc="-30" dirty="0"/>
              <a:t> </a:t>
            </a:r>
            <a:r>
              <a:rPr sz="3600" spc="-10" dirty="0"/>
              <a:t>Intelligence</a:t>
            </a:r>
            <a:endParaRPr sz="3600"/>
          </a:p>
        </p:txBody>
      </p:sp>
      <p:sp>
        <p:nvSpPr>
          <p:cNvPr id="3" name="object 3"/>
          <p:cNvSpPr txBox="1"/>
          <p:nvPr/>
        </p:nvSpPr>
        <p:spPr>
          <a:xfrm>
            <a:off x="524510" y="1332230"/>
            <a:ext cx="11354435" cy="1398905"/>
          </a:xfrm>
          <a:prstGeom prst="rect">
            <a:avLst/>
          </a:prstGeom>
        </p:spPr>
        <p:txBody>
          <a:bodyPr vert="horz" wrap="square" lIns="0" tIns="13335" rIns="0" bIns="0" rtlCol="0">
            <a:spAutoFit/>
          </a:bodyPr>
          <a:lstStyle/>
          <a:p>
            <a:pPr marL="12700">
              <a:lnSpc>
                <a:spcPct val="100000"/>
              </a:lnSpc>
              <a:spcBef>
                <a:spcPts val="105"/>
              </a:spcBef>
              <a:tabLst>
                <a:tab pos="1088390" algn="l"/>
                <a:tab pos="2204085" algn="l"/>
                <a:tab pos="3221990" algn="l"/>
                <a:tab pos="4182745" algn="l"/>
                <a:tab pos="4479925" algn="l"/>
                <a:tab pos="4723765" algn="l"/>
                <a:tab pos="5701030" algn="l"/>
                <a:tab pos="6958330" algn="l"/>
                <a:tab pos="7708900" algn="l"/>
              </a:tabLst>
            </a:pPr>
            <a:r>
              <a:rPr sz="2000" b="1" spc="-10" dirty="0">
                <a:latin typeface="Times New Roman" panose="02020603050405020304"/>
                <a:cs typeface="Times New Roman" panose="02020603050405020304"/>
              </a:rPr>
              <a:t>Machine</a:t>
            </a:r>
            <a:r>
              <a:rPr sz="2000" b="1"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learning:</a:t>
            </a:r>
            <a:r>
              <a:rPr sz="2000" b="1"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Machine</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learning</a:t>
            </a:r>
            <a:r>
              <a:rPr sz="200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is</a:t>
            </a:r>
            <a:r>
              <a:rPr sz="2000" dirty="0">
                <a:latin typeface="Times New Roman" panose="02020603050405020304"/>
                <a:cs typeface="Times New Roman" panose="02020603050405020304"/>
              </a:rPr>
              <a:t>	</a:t>
            </a:r>
            <a:r>
              <a:rPr sz="2000" spc="-50" dirty="0">
                <a:latin typeface="Times New Roman" panose="02020603050405020304"/>
                <a:cs typeface="Times New Roman" panose="02020603050405020304"/>
              </a:rPr>
              <a:t>a</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growing</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technology</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which</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enables</a:t>
            </a:r>
            <a:endParaRPr sz="2000">
              <a:latin typeface="Times New Roman" panose="02020603050405020304"/>
              <a:cs typeface="Times New Roman" panose="02020603050405020304"/>
            </a:endParaRPr>
          </a:p>
          <a:p>
            <a:pPr marL="12700">
              <a:lnSpc>
                <a:spcPct val="100000"/>
              </a:lnSpc>
              <a:spcBef>
                <a:spcPts val="5"/>
              </a:spcBef>
            </a:pPr>
            <a:r>
              <a:rPr sz="2000" dirty="0">
                <a:latin typeface="Times New Roman" panose="02020603050405020304"/>
                <a:cs typeface="Times New Roman" panose="02020603050405020304"/>
              </a:rPr>
              <a:t>computers</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automatically</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from</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past</a:t>
            </a:r>
            <a:r>
              <a:rPr sz="2000" spc="-3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data.</a:t>
            </a:r>
            <a:endParaRPr sz="2000">
              <a:latin typeface="Times New Roman" panose="02020603050405020304"/>
              <a:cs typeface="Times New Roman" panose="02020603050405020304"/>
            </a:endParaRPr>
          </a:p>
          <a:p>
            <a:pPr marL="355600" marR="5080" indent="-342900">
              <a:lnSpc>
                <a:spcPct val="100000"/>
              </a:lnSpc>
              <a:spcBef>
                <a:spcPts val="1200"/>
              </a:spcBef>
              <a:buFont typeface="Microsoft Sans Serif" panose="020B0604020202020204"/>
              <a:buChar char="•"/>
              <a:tabLst>
                <a:tab pos="355600" algn="l"/>
              </a:tabLst>
            </a:pPr>
            <a:r>
              <a:rPr sz="2000" dirty="0">
                <a:latin typeface="Times New Roman" panose="02020603050405020304"/>
                <a:cs typeface="Times New Roman" panose="02020603050405020304"/>
              </a:rPr>
              <a:t>Machine</a:t>
            </a:r>
            <a:r>
              <a:rPr sz="2000" spc="15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155" dirty="0">
                <a:latin typeface="Times New Roman" panose="02020603050405020304"/>
                <a:cs typeface="Times New Roman" panose="02020603050405020304"/>
              </a:rPr>
              <a:t> </a:t>
            </a:r>
            <a:r>
              <a:rPr sz="2000" dirty="0">
                <a:latin typeface="Times New Roman" panose="02020603050405020304"/>
                <a:cs typeface="Times New Roman" panose="02020603050405020304"/>
              </a:rPr>
              <a:t>uses</a:t>
            </a:r>
            <a:r>
              <a:rPr sz="2000" spc="140" dirty="0">
                <a:latin typeface="Times New Roman" panose="02020603050405020304"/>
                <a:cs typeface="Times New Roman" panose="02020603050405020304"/>
              </a:rPr>
              <a:t> </a:t>
            </a:r>
            <a:r>
              <a:rPr sz="2000" dirty="0">
                <a:latin typeface="Times New Roman" panose="02020603050405020304"/>
                <a:cs typeface="Times New Roman" panose="02020603050405020304"/>
              </a:rPr>
              <a:t>various</a:t>
            </a:r>
            <a:r>
              <a:rPr sz="2000" spc="145" dirty="0">
                <a:latin typeface="Times New Roman" panose="02020603050405020304"/>
                <a:cs typeface="Times New Roman" panose="02020603050405020304"/>
              </a:rPr>
              <a:t> </a:t>
            </a:r>
            <a:r>
              <a:rPr sz="2000" dirty="0">
                <a:latin typeface="Times New Roman" panose="02020603050405020304"/>
                <a:cs typeface="Times New Roman" panose="02020603050405020304"/>
              </a:rPr>
              <a:t>algorithms</a:t>
            </a:r>
            <a:r>
              <a:rPr sz="2000" spc="155" dirty="0">
                <a:latin typeface="Times New Roman" panose="02020603050405020304"/>
                <a:cs typeface="Times New Roman" panose="02020603050405020304"/>
              </a:rPr>
              <a:t> </a:t>
            </a:r>
            <a:r>
              <a:rPr sz="2000" dirty="0">
                <a:latin typeface="Times New Roman" panose="02020603050405020304"/>
                <a:cs typeface="Times New Roman" panose="02020603050405020304"/>
              </a:rPr>
              <a:t>for</a:t>
            </a:r>
            <a:r>
              <a:rPr sz="2000" spc="150"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building</a:t>
            </a:r>
            <a:r>
              <a:rPr sz="2000" b="1" spc="15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mathematical</a:t>
            </a:r>
            <a:r>
              <a:rPr sz="2000" b="1" spc="145"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models </a:t>
            </a:r>
            <a:r>
              <a:rPr sz="2000" b="1" dirty="0">
                <a:latin typeface="Times New Roman" panose="02020603050405020304"/>
                <a:cs typeface="Times New Roman" panose="02020603050405020304"/>
              </a:rPr>
              <a:t>and</a:t>
            </a:r>
            <a:r>
              <a:rPr sz="2000" b="1" spc="-40"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making</a:t>
            </a:r>
            <a:r>
              <a:rPr sz="2000" b="1" spc="-20"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predictions</a:t>
            </a:r>
            <a:r>
              <a:rPr sz="2000" b="1" spc="-50"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using</a:t>
            </a:r>
            <a:r>
              <a:rPr sz="2000" b="1" spc="-20"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historical</a:t>
            </a:r>
            <a:r>
              <a:rPr sz="2000" b="1" spc="-50"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data</a:t>
            </a:r>
            <a:r>
              <a:rPr sz="2000" b="1" spc="-2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or</a:t>
            </a:r>
            <a:r>
              <a:rPr sz="2000" b="1" spc="-45"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information</a:t>
            </a:r>
            <a:r>
              <a:rPr sz="2000" spc="-10" dirty="0">
                <a:latin typeface="Times New Roman" panose="02020603050405020304"/>
                <a:cs typeface="Times New Roman" panose="02020603050405020304"/>
              </a:rPr>
              <a:t>.</a:t>
            </a:r>
            <a:endParaRPr sz="20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1881228" y="2840355"/>
            <a:ext cx="8533787" cy="3955260"/>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44696"/>
            <a:ext cx="10515600" cy="566420"/>
          </a:xfrm>
          <a:prstGeom prst="rect">
            <a:avLst/>
          </a:prstGeom>
        </p:spPr>
        <p:txBody>
          <a:bodyPr vert="horz" wrap="square" lIns="0" tIns="12700" rIns="0" bIns="0" rtlCol="0">
            <a:spAutoFit/>
          </a:bodyPr>
          <a:lstStyle/>
          <a:p>
            <a:pPr marL="724535">
              <a:lnSpc>
                <a:spcPct val="100000"/>
              </a:lnSpc>
              <a:spcBef>
                <a:spcPts val="100"/>
              </a:spcBef>
            </a:pPr>
            <a:r>
              <a:rPr sz="3600" dirty="0"/>
              <a:t>Concepts</a:t>
            </a:r>
            <a:r>
              <a:rPr sz="3600" spc="-40" dirty="0"/>
              <a:t> </a:t>
            </a:r>
            <a:r>
              <a:rPr sz="3600" dirty="0"/>
              <a:t>in</a:t>
            </a:r>
            <a:r>
              <a:rPr sz="3600" spc="-220" dirty="0"/>
              <a:t> </a:t>
            </a:r>
            <a:r>
              <a:rPr sz="3600" dirty="0"/>
              <a:t>Artificial</a:t>
            </a:r>
            <a:r>
              <a:rPr sz="3600" spc="-30" dirty="0"/>
              <a:t> </a:t>
            </a:r>
            <a:r>
              <a:rPr sz="3600" spc="-10" dirty="0"/>
              <a:t>Intelligence</a:t>
            </a:r>
            <a:endParaRPr sz="3600"/>
          </a:p>
        </p:txBody>
      </p:sp>
      <p:sp>
        <p:nvSpPr>
          <p:cNvPr id="11" name="Content Placeholder 10"/>
          <p:cNvSpPr>
            <a:spLocks noGrp="1"/>
          </p:cNvSpPr>
          <p:nvPr>
            <p:ph idx="1"/>
          </p:nvPr>
        </p:nvSpPr>
        <p:spPr/>
        <p:txBody>
          <a:bodyPr/>
          <a:p>
            <a:pPr marL="0" indent="0">
              <a:buNone/>
            </a:pPr>
            <a:r>
              <a:rPr lang="en-US" altLang="en-US"/>
              <a:t>Machine learning:</a:t>
            </a:r>
            <a:endParaRPr lang="en-US" altLang="en-US"/>
          </a:p>
          <a:p>
            <a:r>
              <a:rPr lang="en-US" altLang="en-US"/>
              <a:t>machine learning is a rapidly evolving technology that allows computers to automatically learn from past data without explicit programming.</a:t>
            </a:r>
            <a:endParaRPr lang="en-US" altLang="en-US"/>
          </a:p>
          <a:p>
            <a:r>
              <a:rPr lang="en-US" altLang="en-US"/>
              <a:t>it is applied in many areas, including image recognition, speech recognition, email filtering, facebook auto-tagging, recommender systems, and more.</a:t>
            </a:r>
            <a:endParaRPr lang="en-US" altLang="en-US"/>
          </a:p>
          <a:p>
            <a:r>
              <a:rPr lang="en-US" altLang="en-US"/>
              <a:t>machine learning methods include supervised learning, unsupervised learning, and reinforcement learning.</a:t>
            </a:r>
            <a:endParaRPr lang="en-US" altLang="en-US"/>
          </a:p>
          <a:p>
            <a:r>
              <a:rPr lang="en-US" altLang="en-US"/>
              <a:t>topics you will explore include regression and classification models, clustering algorithms, hidden markov models, and other sequential models.</a:t>
            </a:r>
            <a:endParaRPr lang="en-US" altLang="en-US"/>
          </a:p>
          <a:p>
            <a:endParaRPr lang="en-US" altLang="en-US"/>
          </a:p>
          <a:p>
            <a:pPr marL="0" indent="0">
              <a:buNone/>
            </a:pPr>
            <a:r>
              <a:rPr lang="en-US" altLang="en-US"/>
              <a:t>basic process:</a:t>
            </a:r>
            <a:endParaRPr lang="en-US" altLang="en-US"/>
          </a:p>
        </p:txBody>
      </p:sp>
      <p:pic>
        <p:nvPicPr>
          <p:cNvPr id="6" name="object 6"/>
          <p:cNvPicPr/>
          <p:nvPr/>
        </p:nvPicPr>
        <p:blipFill>
          <a:blip r:embed="rId1" cstate="print"/>
          <a:stretch>
            <a:fillRect/>
          </a:stretch>
        </p:blipFill>
        <p:spPr>
          <a:xfrm>
            <a:off x="2386623" y="4773781"/>
            <a:ext cx="7747976" cy="1669789"/>
          </a:xfrm>
          <a:prstGeom prst="rect">
            <a:avLst/>
          </a:prstGeom>
        </p:spPr>
      </p:pic>
      <p:sp>
        <p:nvSpPr>
          <p:cNvPr id="7" name="Date Placeholder 6"/>
          <p:cNvSpPr>
            <a:spLocks noGrp="1"/>
          </p:cNvSpPr>
          <p:nvPr>
            <p:ph type="dt" sz="half" idx="10"/>
          </p:nvPr>
        </p:nvSpPr>
        <p:spPr/>
        <p:txBody>
          <a:bodyPr/>
          <a:p>
            <a:fld id="{63A1C593-65D0-4073-BCC9-577B9352EA97}" type="datetime1">
              <a:rPr lang="en-US" smtClean="0"/>
            </a:fld>
            <a:endParaRPr lang="en-US"/>
          </a:p>
        </p:txBody>
      </p:sp>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2257" y="229501"/>
            <a:ext cx="6580505" cy="566420"/>
          </a:xfrm>
          <a:prstGeom prst="rect">
            <a:avLst/>
          </a:prstGeom>
        </p:spPr>
        <p:txBody>
          <a:bodyPr vert="horz" wrap="square" lIns="0" tIns="12700" rIns="0" bIns="0" rtlCol="0">
            <a:spAutoFit/>
          </a:bodyPr>
          <a:lstStyle/>
          <a:p>
            <a:pPr marL="12700">
              <a:lnSpc>
                <a:spcPct val="100000"/>
              </a:lnSpc>
              <a:spcBef>
                <a:spcPts val="100"/>
              </a:spcBef>
            </a:pPr>
            <a:r>
              <a:rPr sz="3600" dirty="0"/>
              <a:t>Concepts</a:t>
            </a:r>
            <a:r>
              <a:rPr sz="3600" spc="-40" dirty="0"/>
              <a:t> </a:t>
            </a:r>
            <a:r>
              <a:rPr sz="3600" dirty="0"/>
              <a:t>in</a:t>
            </a:r>
            <a:r>
              <a:rPr sz="3600" spc="-220" dirty="0"/>
              <a:t> </a:t>
            </a:r>
            <a:r>
              <a:rPr sz="3600" dirty="0"/>
              <a:t>Artificial</a:t>
            </a:r>
            <a:r>
              <a:rPr sz="3600" spc="-30" dirty="0"/>
              <a:t> </a:t>
            </a:r>
            <a:r>
              <a:rPr sz="3600" spc="-10" dirty="0"/>
              <a:t>Intelligence</a:t>
            </a:r>
            <a:endParaRPr sz="3600"/>
          </a:p>
        </p:txBody>
      </p:sp>
      <p:sp>
        <p:nvSpPr>
          <p:cNvPr id="3" name="object 3"/>
          <p:cNvSpPr txBox="1"/>
          <p:nvPr/>
        </p:nvSpPr>
        <p:spPr>
          <a:xfrm>
            <a:off x="1821891" y="789300"/>
            <a:ext cx="8481060" cy="5616575"/>
          </a:xfrm>
          <a:prstGeom prst="rect">
            <a:avLst/>
          </a:prstGeom>
        </p:spPr>
        <p:txBody>
          <a:bodyPr vert="horz" wrap="square" lIns="0" tIns="165735" rIns="0" bIns="0" rtlCol="0">
            <a:spAutoFit/>
          </a:bodyPr>
          <a:lstStyle/>
          <a:p>
            <a:pPr marL="12700">
              <a:lnSpc>
                <a:spcPct val="100000"/>
              </a:lnSpc>
              <a:spcBef>
                <a:spcPts val="1305"/>
              </a:spcBef>
            </a:pPr>
            <a:r>
              <a:rPr sz="2200" b="1" dirty="0">
                <a:latin typeface="Times New Roman" panose="02020603050405020304"/>
                <a:cs typeface="Times New Roman" panose="02020603050405020304"/>
              </a:rPr>
              <a:t>Machine</a:t>
            </a:r>
            <a:r>
              <a:rPr sz="2200" b="1" spc="-85" dirty="0">
                <a:latin typeface="Times New Roman" panose="02020603050405020304"/>
                <a:cs typeface="Times New Roman" panose="02020603050405020304"/>
              </a:rPr>
              <a:t> </a:t>
            </a:r>
            <a:r>
              <a:rPr sz="2200" b="1" spc="-10" dirty="0">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a:p>
            <a:pPr marL="12700">
              <a:lnSpc>
                <a:spcPct val="100000"/>
              </a:lnSpc>
              <a:spcBef>
                <a:spcPts val="1205"/>
              </a:spcBef>
            </a:pPr>
            <a:r>
              <a:rPr sz="2200" b="1" dirty="0">
                <a:latin typeface="Times New Roman" panose="02020603050405020304"/>
                <a:cs typeface="Times New Roman" panose="02020603050405020304"/>
              </a:rPr>
              <a:t>Features</a:t>
            </a:r>
            <a:r>
              <a:rPr sz="2200" b="1" spc="-55"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of</a:t>
            </a:r>
            <a:r>
              <a:rPr sz="2200" b="1" spc="-65"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Machine</a:t>
            </a:r>
            <a:r>
              <a:rPr sz="2200" b="1" spc="-55" dirty="0">
                <a:latin typeface="Times New Roman" panose="02020603050405020304"/>
                <a:cs typeface="Times New Roman" panose="02020603050405020304"/>
              </a:rPr>
              <a:t> </a:t>
            </a:r>
            <a:r>
              <a:rPr sz="2200" b="1" spc="-10" dirty="0">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a:p>
            <a:pPr marL="641985" marR="5080" indent="-342900">
              <a:lnSpc>
                <a:spcPct val="100000"/>
              </a:lnSpc>
              <a:spcBef>
                <a:spcPts val="1200"/>
              </a:spcBef>
              <a:buFont typeface="Microsoft Sans Serif" panose="020B0604020202020204"/>
              <a:buChar char="•"/>
              <a:tabLst>
                <a:tab pos="641985" algn="l"/>
                <a:tab pos="1762125" algn="l"/>
                <a:tab pos="2822575" algn="l"/>
                <a:tab pos="3446145" algn="l"/>
                <a:tab pos="4052570" algn="l"/>
                <a:tab pos="4413885" algn="l"/>
                <a:tab pos="5224780" algn="l"/>
                <a:tab pos="6191250" algn="l"/>
                <a:tab pos="7218680" algn="l"/>
                <a:tab pos="7579995" algn="l"/>
                <a:tab pos="7846695" algn="l"/>
              </a:tabLst>
            </a:pPr>
            <a:r>
              <a:rPr sz="2200" spc="-10" dirty="0">
                <a:latin typeface="Times New Roman" panose="02020603050405020304"/>
                <a:cs typeface="Times New Roman" panose="02020603050405020304"/>
              </a:rPr>
              <a:t>Machine</a:t>
            </a:r>
            <a:r>
              <a:rPr sz="220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learning</a:t>
            </a:r>
            <a:r>
              <a:rPr sz="2200" dirty="0">
                <a:latin typeface="Times New Roman" panose="02020603050405020304"/>
                <a:cs typeface="Times New Roman" panose="02020603050405020304"/>
              </a:rPr>
              <a:t>	</a:t>
            </a:r>
            <a:r>
              <a:rPr sz="2200" spc="-20" dirty="0">
                <a:latin typeface="Times New Roman" panose="02020603050405020304"/>
                <a:cs typeface="Times New Roman" panose="02020603050405020304"/>
              </a:rPr>
              <a:t>uses</a:t>
            </a:r>
            <a:r>
              <a:rPr sz="2200" dirty="0">
                <a:latin typeface="Times New Roman" panose="02020603050405020304"/>
                <a:cs typeface="Times New Roman" panose="02020603050405020304"/>
              </a:rPr>
              <a:t>	</a:t>
            </a:r>
            <a:r>
              <a:rPr sz="2200" spc="-20" dirty="0">
                <a:latin typeface="Times New Roman" panose="02020603050405020304"/>
                <a:cs typeface="Times New Roman" panose="02020603050405020304"/>
              </a:rPr>
              <a:t>data</a:t>
            </a:r>
            <a:r>
              <a:rPr sz="220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to</a:t>
            </a:r>
            <a:r>
              <a:rPr sz="220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detect</a:t>
            </a:r>
            <a:r>
              <a:rPr sz="220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various</a:t>
            </a:r>
            <a:r>
              <a:rPr sz="220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patterns</a:t>
            </a:r>
            <a:r>
              <a:rPr sz="220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in</a:t>
            </a:r>
            <a:r>
              <a:rPr sz="2200" dirty="0">
                <a:latin typeface="Times New Roman" panose="02020603050405020304"/>
                <a:cs typeface="Times New Roman" panose="02020603050405020304"/>
              </a:rPr>
              <a:t>	</a:t>
            </a:r>
            <a:r>
              <a:rPr sz="2200" spc="-50" dirty="0">
                <a:latin typeface="Times New Roman" panose="02020603050405020304"/>
                <a:cs typeface="Times New Roman" panose="02020603050405020304"/>
              </a:rPr>
              <a:t>a</a:t>
            </a:r>
            <a:r>
              <a:rPr sz="2200"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given dataset.</a:t>
            </a:r>
            <a:endParaRPr sz="2200">
              <a:latin typeface="Times New Roman" panose="02020603050405020304"/>
              <a:cs typeface="Times New Roman" panose="02020603050405020304"/>
            </a:endParaRPr>
          </a:p>
          <a:p>
            <a:pPr marL="641985" indent="-342900">
              <a:lnSpc>
                <a:spcPct val="100000"/>
              </a:lnSpc>
              <a:spcBef>
                <a:spcPts val="1200"/>
              </a:spcBef>
              <a:buFont typeface="Microsoft Sans Serif" panose="020B0604020202020204"/>
              <a:buChar char="•"/>
              <a:tabLst>
                <a:tab pos="641985" algn="l"/>
              </a:tabLst>
            </a:pPr>
            <a:r>
              <a:rPr sz="2200" dirty="0">
                <a:latin typeface="Times New Roman" panose="02020603050405020304"/>
                <a:cs typeface="Times New Roman" panose="02020603050405020304"/>
              </a:rPr>
              <a:t>It</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can</a:t>
            </a:r>
            <a:r>
              <a:rPr sz="2200" spc="-25" dirty="0">
                <a:latin typeface="Times New Roman" panose="02020603050405020304"/>
                <a:cs typeface="Times New Roman" panose="02020603050405020304"/>
              </a:rPr>
              <a:t> </a:t>
            </a:r>
            <a:r>
              <a:rPr sz="2200" dirty="0">
                <a:latin typeface="Times New Roman" panose="02020603050405020304"/>
                <a:cs typeface="Times New Roman" panose="02020603050405020304"/>
              </a:rPr>
              <a:t>learn</a:t>
            </a:r>
            <a:r>
              <a:rPr sz="2200" spc="-25" dirty="0">
                <a:latin typeface="Times New Roman" panose="02020603050405020304"/>
                <a:cs typeface="Times New Roman" panose="02020603050405020304"/>
              </a:rPr>
              <a:t> </a:t>
            </a:r>
            <a:r>
              <a:rPr sz="2200" dirty="0">
                <a:latin typeface="Times New Roman" panose="02020603050405020304"/>
                <a:cs typeface="Times New Roman" panose="02020603050405020304"/>
              </a:rPr>
              <a:t>from</a:t>
            </a:r>
            <a:r>
              <a:rPr sz="2200" spc="-25" dirty="0">
                <a:latin typeface="Times New Roman" panose="02020603050405020304"/>
                <a:cs typeface="Times New Roman" panose="02020603050405020304"/>
              </a:rPr>
              <a:t> </a:t>
            </a:r>
            <a:r>
              <a:rPr sz="2200" dirty="0">
                <a:latin typeface="Times New Roman" panose="02020603050405020304"/>
                <a:cs typeface="Times New Roman" panose="02020603050405020304"/>
              </a:rPr>
              <a:t>past</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data</a:t>
            </a:r>
            <a:r>
              <a:rPr sz="2200" spc="-30" dirty="0">
                <a:latin typeface="Times New Roman" panose="02020603050405020304"/>
                <a:cs typeface="Times New Roman" panose="02020603050405020304"/>
              </a:rPr>
              <a:t> </a:t>
            </a:r>
            <a:r>
              <a:rPr sz="2200" dirty="0">
                <a:latin typeface="Times New Roman" panose="02020603050405020304"/>
                <a:cs typeface="Times New Roman" panose="02020603050405020304"/>
              </a:rPr>
              <a:t>and</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improve</a:t>
            </a:r>
            <a:r>
              <a:rPr sz="2200" spc="-25"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automatically.</a:t>
            </a:r>
            <a:endParaRPr sz="2200">
              <a:latin typeface="Times New Roman" panose="02020603050405020304"/>
              <a:cs typeface="Times New Roman" panose="02020603050405020304"/>
            </a:endParaRPr>
          </a:p>
          <a:p>
            <a:pPr marL="641985" indent="-342900">
              <a:lnSpc>
                <a:spcPct val="100000"/>
              </a:lnSpc>
              <a:spcBef>
                <a:spcPts val="1200"/>
              </a:spcBef>
              <a:buFont typeface="Microsoft Sans Serif" panose="020B0604020202020204"/>
              <a:buChar char="•"/>
              <a:tabLst>
                <a:tab pos="641985" algn="l"/>
              </a:tabLst>
            </a:pPr>
            <a:r>
              <a:rPr sz="2200" dirty="0">
                <a:latin typeface="Times New Roman" panose="02020603050405020304"/>
                <a:cs typeface="Times New Roman" panose="02020603050405020304"/>
              </a:rPr>
              <a:t>It</a:t>
            </a:r>
            <a:r>
              <a:rPr sz="2200" spc="-20" dirty="0">
                <a:latin typeface="Times New Roman" panose="02020603050405020304"/>
                <a:cs typeface="Times New Roman" panose="02020603050405020304"/>
              </a:rPr>
              <a:t> </a:t>
            </a:r>
            <a:r>
              <a:rPr sz="2200" dirty="0">
                <a:latin typeface="Times New Roman" panose="02020603050405020304"/>
                <a:cs typeface="Times New Roman" panose="02020603050405020304"/>
              </a:rPr>
              <a:t>is</a:t>
            </a:r>
            <a:r>
              <a:rPr sz="2200" spc="-20" dirty="0">
                <a:latin typeface="Times New Roman" panose="02020603050405020304"/>
                <a:cs typeface="Times New Roman" panose="02020603050405020304"/>
              </a:rPr>
              <a:t> </a:t>
            </a:r>
            <a:r>
              <a:rPr sz="2200" dirty="0">
                <a:latin typeface="Times New Roman" panose="02020603050405020304"/>
                <a:cs typeface="Times New Roman" panose="02020603050405020304"/>
              </a:rPr>
              <a:t>a</a:t>
            </a:r>
            <a:r>
              <a:rPr sz="2200" spc="-15" dirty="0">
                <a:latin typeface="Times New Roman" panose="02020603050405020304"/>
                <a:cs typeface="Times New Roman" panose="02020603050405020304"/>
              </a:rPr>
              <a:t> </a:t>
            </a:r>
            <a:r>
              <a:rPr sz="2200" spc="-10" dirty="0">
                <a:latin typeface="Times New Roman" panose="02020603050405020304"/>
                <a:cs typeface="Times New Roman" panose="02020603050405020304"/>
              </a:rPr>
              <a:t>data-</a:t>
            </a:r>
            <a:r>
              <a:rPr sz="2200" dirty="0">
                <a:latin typeface="Times New Roman" panose="02020603050405020304"/>
                <a:cs typeface="Times New Roman" panose="02020603050405020304"/>
              </a:rPr>
              <a:t>driven</a:t>
            </a:r>
            <a:r>
              <a:rPr sz="2200" spc="-10" dirty="0">
                <a:latin typeface="Times New Roman" panose="02020603050405020304"/>
                <a:cs typeface="Times New Roman" panose="02020603050405020304"/>
              </a:rPr>
              <a:t> technology.</a:t>
            </a:r>
            <a:endParaRPr sz="2200">
              <a:latin typeface="Times New Roman" panose="02020603050405020304"/>
              <a:cs typeface="Times New Roman" panose="02020603050405020304"/>
            </a:endParaRPr>
          </a:p>
          <a:p>
            <a:pPr marL="641985" indent="-342900">
              <a:lnSpc>
                <a:spcPct val="100000"/>
              </a:lnSpc>
              <a:spcBef>
                <a:spcPts val="1200"/>
              </a:spcBef>
              <a:buFont typeface="Microsoft Sans Serif" panose="020B0604020202020204"/>
              <a:buChar char="•"/>
              <a:tabLst>
                <a:tab pos="641985" algn="l"/>
              </a:tabLst>
            </a:pPr>
            <a:r>
              <a:rPr sz="2200" dirty="0">
                <a:latin typeface="Times New Roman" panose="02020603050405020304"/>
                <a:cs typeface="Times New Roman" panose="02020603050405020304"/>
              </a:rPr>
              <a:t>Machine</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learning</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is</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much</a:t>
            </a:r>
            <a:r>
              <a:rPr sz="2200" spc="60" dirty="0">
                <a:latin typeface="Times New Roman" panose="02020603050405020304"/>
                <a:cs typeface="Times New Roman" panose="02020603050405020304"/>
              </a:rPr>
              <a:t> </a:t>
            </a:r>
            <a:r>
              <a:rPr sz="2200" dirty="0">
                <a:latin typeface="Times New Roman" panose="02020603050405020304"/>
                <a:cs typeface="Times New Roman" panose="02020603050405020304"/>
              </a:rPr>
              <a:t>similar</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to</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data</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mining</a:t>
            </a:r>
            <a:r>
              <a:rPr sz="2200" spc="65" dirty="0">
                <a:latin typeface="Times New Roman" panose="02020603050405020304"/>
                <a:cs typeface="Times New Roman" panose="02020603050405020304"/>
              </a:rPr>
              <a:t> </a:t>
            </a:r>
            <a:r>
              <a:rPr sz="2200" dirty="0">
                <a:latin typeface="Times New Roman" panose="02020603050405020304"/>
                <a:cs typeface="Times New Roman" panose="02020603050405020304"/>
              </a:rPr>
              <a:t>as</a:t>
            </a:r>
            <a:r>
              <a:rPr sz="2200" spc="45" dirty="0">
                <a:latin typeface="Times New Roman" panose="02020603050405020304"/>
                <a:cs typeface="Times New Roman" panose="02020603050405020304"/>
              </a:rPr>
              <a:t> </a:t>
            </a:r>
            <a:r>
              <a:rPr sz="2200" dirty="0">
                <a:latin typeface="Times New Roman" panose="02020603050405020304"/>
                <a:cs typeface="Times New Roman" panose="02020603050405020304"/>
              </a:rPr>
              <a:t>it</a:t>
            </a:r>
            <a:r>
              <a:rPr sz="2200" spc="50" dirty="0">
                <a:latin typeface="Times New Roman" panose="02020603050405020304"/>
                <a:cs typeface="Times New Roman" panose="02020603050405020304"/>
              </a:rPr>
              <a:t> </a:t>
            </a:r>
            <a:r>
              <a:rPr sz="2200" dirty="0">
                <a:latin typeface="Times New Roman" panose="02020603050405020304"/>
                <a:cs typeface="Times New Roman" panose="02020603050405020304"/>
              </a:rPr>
              <a:t>also</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deals</a:t>
            </a:r>
            <a:r>
              <a:rPr sz="2200" spc="45" dirty="0">
                <a:latin typeface="Times New Roman" panose="02020603050405020304"/>
                <a:cs typeface="Times New Roman" panose="02020603050405020304"/>
              </a:rPr>
              <a:t> </a:t>
            </a:r>
            <a:r>
              <a:rPr sz="2200" spc="-20" dirty="0">
                <a:latin typeface="Times New Roman" panose="02020603050405020304"/>
                <a:cs typeface="Times New Roman" panose="02020603050405020304"/>
              </a:rPr>
              <a:t>with</a:t>
            </a:r>
            <a:endParaRPr sz="2200">
              <a:latin typeface="Times New Roman" panose="02020603050405020304"/>
              <a:cs typeface="Times New Roman" panose="02020603050405020304"/>
            </a:endParaRPr>
          </a:p>
          <a:p>
            <a:pPr marL="641985">
              <a:lnSpc>
                <a:spcPct val="100000"/>
              </a:lnSpc>
            </a:pPr>
            <a:r>
              <a:rPr sz="2200" dirty="0">
                <a:latin typeface="Times New Roman" panose="02020603050405020304"/>
                <a:cs typeface="Times New Roman" panose="02020603050405020304"/>
              </a:rPr>
              <a:t>the</a:t>
            </a:r>
            <a:r>
              <a:rPr sz="2200" spc="-40" dirty="0">
                <a:latin typeface="Times New Roman" panose="02020603050405020304"/>
                <a:cs typeface="Times New Roman" panose="02020603050405020304"/>
              </a:rPr>
              <a:t> </a:t>
            </a:r>
            <a:r>
              <a:rPr sz="2200" dirty="0">
                <a:latin typeface="Times New Roman" panose="02020603050405020304"/>
                <a:cs typeface="Times New Roman" panose="02020603050405020304"/>
              </a:rPr>
              <a:t>huge</a:t>
            </a:r>
            <a:r>
              <a:rPr sz="2200" spc="-55" dirty="0">
                <a:latin typeface="Times New Roman" panose="02020603050405020304"/>
                <a:cs typeface="Times New Roman" panose="02020603050405020304"/>
              </a:rPr>
              <a:t> </a:t>
            </a:r>
            <a:r>
              <a:rPr sz="2200" dirty="0">
                <a:latin typeface="Times New Roman" panose="02020603050405020304"/>
                <a:cs typeface="Times New Roman" panose="02020603050405020304"/>
              </a:rPr>
              <a:t>amount</a:t>
            </a:r>
            <a:r>
              <a:rPr sz="2200" spc="-20" dirty="0">
                <a:latin typeface="Times New Roman" panose="02020603050405020304"/>
                <a:cs typeface="Times New Roman" panose="02020603050405020304"/>
              </a:rPr>
              <a:t> </a:t>
            </a:r>
            <a:r>
              <a:rPr sz="2200" dirty="0">
                <a:latin typeface="Times New Roman" panose="02020603050405020304"/>
                <a:cs typeface="Times New Roman" panose="02020603050405020304"/>
              </a:rPr>
              <a:t>of</a:t>
            </a:r>
            <a:r>
              <a:rPr sz="2200" spc="-35" dirty="0">
                <a:latin typeface="Times New Roman" panose="02020603050405020304"/>
                <a:cs typeface="Times New Roman" panose="02020603050405020304"/>
              </a:rPr>
              <a:t> </a:t>
            </a:r>
            <a:r>
              <a:rPr sz="2200" dirty="0">
                <a:latin typeface="Times New Roman" panose="02020603050405020304"/>
                <a:cs typeface="Times New Roman" panose="02020603050405020304"/>
              </a:rPr>
              <a:t>the</a:t>
            </a:r>
            <a:r>
              <a:rPr sz="2200" spc="-50" dirty="0">
                <a:latin typeface="Times New Roman" panose="02020603050405020304"/>
                <a:cs typeface="Times New Roman" panose="02020603050405020304"/>
              </a:rPr>
              <a:t> </a:t>
            </a:r>
            <a:r>
              <a:rPr sz="2200" spc="-20" dirty="0">
                <a:latin typeface="Times New Roman" panose="02020603050405020304"/>
                <a:cs typeface="Times New Roman" panose="02020603050405020304"/>
              </a:rPr>
              <a:t>data.</a:t>
            </a:r>
            <a:endParaRPr sz="2200">
              <a:latin typeface="Times New Roman" panose="02020603050405020304"/>
              <a:cs typeface="Times New Roman" panose="02020603050405020304"/>
            </a:endParaRPr>
          </a:p>
          <a:p>
            <a:pPr marL="12700">
              <a:lnSpc>
                <a:spcPct val="100000"/>
              </a:lnSpc>
              <a:spcBef>
                <a:spcPts val="1220"/>
              </a:spcBef>
            </a:pPr>
            <a:r>
              <a:rPr sz="2200" dirty="0">
                <a:solidFill>
                  <a:srgbClr val="600A38"/>
                </a:solidFill>
                <a:latin typeface="Times New Roman" panose="02020603050405020304"/>
                <a:cs typeface="Times New Roman" panose="02020603050405020304"/>
              </a:rPr>
              <a:t>Classification</a:t>
            </a:r>
            <a:r>
              <a:rPr sz="2200" spc="-50" dirty="0">
                <a:solidFill>
                  <a:srgbClr val="600A38"/>
                </a:solidFill>
                <a:latin typeface="Times New Roman" panose="02020603050405020304"/>
                <a:cs typeface="Times New Roman" panose="02020603050405020304"/>
              </a:rPr>
              <a:t> </a:t>
            </a:r>
            <a:r>
              <a:rPr sz="2200" dirty="0">
                <a:solidFill>
                  <a:srgbClr val="600A38"/>
                </a:solidFill>
                <a:latin typeface="Times New Roman" panose="02020603050405020304"/>
                <a:cs typeface="Times New Roman" panose="02020603050405020304"/>
              </a:rPr>
              <a:t>of</a:t>
            </a:r>
            <a:r>
              <a:rPr sz="2200" spc="-55" dirty="0">
                <a:solidFill>
                  <a:srgbClr val="600A38"/>
                </a:solidFill>
                <a:latin typeface="Times New Roman" panose="02020603050405020304"/>
                <a:cs typeface="Times New Roman" panose="02020603050405020304"/>
              </a:rPr>
              <a:t> </a:t>
            </a:r>
            <a:r>
              <a:rPr sz="2200" dirty="0">
                <a:solidFill>
                  <a:srgbClr val="600A38"/>
                </a:solidFill>
                <a:latin typeface="Times New Roman" panose="02020603050405020304"/>
                <a:cs typeface="Times New Roman" panose="02020603050405020304"/>
              </a:rPr>
              <a:t>Machine</a:t>
            </a:r>
            <a:r>
              <a:rPr sz="2200" spc="-55" dirty="0">
                <a:solidFill>
                  <a:srgbClr val="600A38"/>
                </a:solidFill>
                <a:latin typeface="Times New Roman" panose="02020603050405020304"/>
                <a:cs typeface="Times New Roman" panose="02020603050405020304"/>
              </a:rPr>
              <a:t> </a:t>
            </a:r>
            <a:r>
              <a:rPr sz="2200" spc="-10" dirty="0">
                <a:solidFill>
                  <a:srgbClr val="600A38"/>
                </a:solidFill>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a:p>
            <a:pPr marL="812165" lvl="1" indent="-456565">
              <a:lnSpc>
                <a:spcPct val="100000"/>
              </a:lnSpc>
              <a:spcBef>
                <a:spcPts val="1200"/>
              </a:spcBef>
              <a:buAutoNum type="arabicPeriod"/>
              <a:tabLst>
                <a:tab pos="812165" algn="l"/>
              </a:tabLst>
            </a:pPr>
            <a:r>
              <a:rPr sz="2200" b="1" dirty="0">
                <a:latin typeface="Times New Roman" panose="02020603050405020304"/>
                <a:cs typeface="Times New Roman" panose="02020603050405020304"/>
              </a:rPr>
              <a:t>Supervised</a:t>
            </a:r>
            <a:r>
              <a:rPr sz="2200" b="1" spc="-110" dirty="0">
                <a:latin typeface="Times New Roman" panose="02020603050405020304"/>
                <a:cs typeface="Times New Roman" panose="02020603050405020304"/>
              </a:rPr>
              <a:t> </a:t>
            </a:r>
            <a:r>
              <a:rPr sz="2200" b="1" spc="-10" dirty="0">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a:p>
            <a:pPr marL="812165" lvl="1" indent="-456565">
              <a:lnSpc>
                <a:spcPct val="100000"/>
              </a:lnSpc>
              <a:spcBef>
                <a:spcPts val="1200"/>
              </a:spcBef>
              <a:buAutoNum type="arabicPeriod"/>
              <a:tabLst>
                <a:tab pos="812165" algn="l"/>
              </a:tabLst>
            </a:pPr>
            <a:r>
              <a:rPr sz="2200" b="1" dirty="0">
                <a:latin typeface="Times New Roman" panose="02020603050405020304"/>
                <a:cs typeface="Times New Roman" panose="02020603050405020304"/>
              </a:rPr>
              <a:t>Unsupervised</a:t>
            </a:r>
            <a:r>
              <a:rPr sz="2200" b="1" spc="-90" dirty="0">
                <a:latin typeface="Times New Roman" panose="02020603050405020304"/>
                <a:cs typeface="Times New Roman" panose="02020603050405020304"/>
              </a:rPr>
              <a:t> </a:t>
            </a:r>
            <a:r>
              <a:rPr sz="2200" b="1" spc="-10" dirty="0">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a:p>
            <a:pPr marL="812165" lvl="1" indent="-456565">
              <a:lnSpc>
                <a:spcPct val="100000"/>
              </a:lnSpc>
              <a:spcBef>
                <a:spcPts val="1200"/>
              </a:spcBef>
              <a:buAutoNum type="arabicPeriod"/>
              <a:tabLst>
                <a:tab pos="812165" algn="l"/>
              </a:tabLst>
            </a:pPr>
            <a:r>
              <a:rPr sz="2200" b="1" spc="-10" dirty="0">
                <a:latin typeface="Times New Roman" panose="02020603050405020304"/>
                <a:cs typeface="Times New Roman" panose="02020603050405020304"/>
              </a:rPr>
              <a:t>Reinforcement</a:t>
            </a:r>
            <a:r>
              <a:rPr sz="2200" b="1" spc="-30" dirty="0">
                <a:latin typeface="Times New Roman" panose="02020603050405020304"/>
                <a:cs typeface="Times New Roman" panose="02020603050405020304"/>
              </a:rPr>
              <a:t> </a:t>
            </a:r>
            <a:r>
              <a:rPr sz="2200" b="1" spc="-10" dirty="0">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2257" y="170942"/>
            <a:ext cx="6577965" cy="566420"/>
          </a:xfrm>
          <a:prstGeom prst="rect">
            <a:avLst/>
          </a:prstGeom>
        </p:spPr>
        <p:txBody>
          <a:bodyPr vert="horz" wrap="square" lIns="0" tIns="12700" rIns="0" bIns="0" rtlCol="0">
            <a:spAutoFit/>
          </a:bodyPr>
          <a:lstStyle/>
          <a:p>
            <a:pPr marL="12700">
              <a:lnSpc>
                <a:spcPct val="100000"/>
              </a:lnSpc>
              <a:spcBef>
                <a:spcPts val="100"/>
              </a:spcBef>
            </a:pPr>
            <a:r>
              <a:rPr sz="3600" dirty="0"/>
              <a:t>Concepts</a:t>
            </a:r>
            <a:r>
              <a:rPr sz="3600" spc="-45" dirty="0"/>
              <a:t> </a:t>
            </a:r>
            <a:r>
              <a:rPr sz="3600" dirty="0"/>
              <a:t>in</a:t>
            </a:r>
            <a:r>
              <a:rPr sz="3600" spc="-225" dirty="0"/>
              <a:t> </a:t>
            </a:r>
            <a:r>
              <a:rPr sz="3600" dirty="0"/>
              <a:t>Artificial</a:t>
            </a:r>
            <a:r>
              <a:rPr sz="3600" spc="-35" dirty="0"/>
              <a:t> </a:t>
            </a:r>
            <a:r>
              <a:rPr sz="3600" spc="-10" dirty="0"/>
              <a:t>Intelligence</a:t>
            </a:r>
            <a:endParaRPr sz="3600"/>
          </a:p>
        </p:txBody>
      </p:sp>
      <p:pic>
        <p:nvPicPr>
          <p:cNvPr id="3" name="object 3"/>
          <p:cNvPicPr/>
          <p:nvPr/>
        </p:nvPicPr>
        <p:blipFill>
          <a:blip r:embed="rId1" cstate="print"/>
          <a:stretch>
            <a:fillRect/>
          </a:stretch>
        </p:blipFill>
        <p:spPr>
          <a:xfrm>
            <a:off x="2201010" y="4802428"/>
            <a:ext cx="1837306" cy="1759610"/>
          </a:xfrm>
          <a:prstGeom prst="rect">
            <a:avLst/>
          </a:prstGeom>
        </p:spPr>
      </p:pic>
      <p:sp>
        <p:nvSpPr>
          <p:cNvPr id="4" name="object 4"/>
          <p:cNvSpPr txBox="1"/>
          <p:nvPr/>
        </p:nvSpPr>
        <p:spPr>
          <a:xfrm>
            <a:off x="1821891" y="674693"/>
            <a:ext cx="8312150" cy="5742305"/>
          </a:xfrm>
          <a:prstGeom prst="rect">
            <a:avLst/>
          </a:prstGeom>
        </p:spPr>
        <p:txBody>
          <a:bodyPr vert="horz" wrap="square" lIns="0" tIns="139065" rIns="0" bIns="0" rtlCol="0">
            <a:spAutoFit/>
          </a:bodyPr>
          <a:lstStyle/>
          <a:p>
            <a:pPr marL="12700" algn="just">
              <a:lnSpc>
                <a:spcPct val="100000"/>
              </a:lnSpc>
              <a:spcBef>
                <a:spcPts val="1095"/>
              </a:spcBef>
            </a:pPr>
            <a:r>
              <a:rPr sz="2200" b="1" dirty="0">
                <a:latin typeface="Times New Roman" panose="02020603050405020304"/>
                <a:cs typeface="Times New Roman" panose="02020603050405020304"/>
              </a:rPr>
              <a:t>Supervised</a:t>
            </a:r>
            <a:r>
              <a:rPr sz="2200" b="1" spc="-80"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learning</a:t>
            </a:r>
            <a:r>
              <a:rPr sz="2200" b="1" spc="-70"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Machine</a:t>
            </a:r>
            <a:r>
              <a:rPr sz="2200" b="1" spc="-65" dirty="0">
                <a:latin typeface="Times New Roman" panose="02020603050405020304"/>
                <a:cs typeface="Times New Roman" panose="02020603050405020304"/>
              </a:rPr>
              <a:t> </a:t>
            </a:r>
            <a:r>
              <a:rPr sz="2200" b="1" spc="-10" dirty="0">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a:p>
            <a:pPr marL="379095" algn="just">
              <a:lnSpc>
                <a:spcPct val="100000"/>
              </a:lnSpc>
              <a:spcBef>
                <a:spcPts val="920"/>
              </a:spcBef>
            </a:pPr>
            <a:r>
              <a:rPr sz="2000" dirty="0">
                <a:latin typeface="Times New Roman" panose="02020603050405020304"/>
                <a:cs typeface="Times New Roman" panose="02020603050405020304"/>
              </a:rPr>
              <a:t>Supervised learning,</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name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indicates, has</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 presence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10" dirty="0">
                <a:latin typeface="Times New Roman" panose="02020603050405020304"/>
                <a:cs typeface="Times New Roman" panose="02020603050405020304"/>
              </a:rPr>
              <a:t> supervisor</a:t>
            </a:r>
            <a:endParaRPr sz="2000">
              <a:latin typeface="Times New Roman" panose="02020603050405020304"/>
              <a:cs typeface="Times New Roman" panose="02020603050405020304"/>
            </a:endParaRPr>
          </a:p>
          <a:p>
            <a:pPr marL="379095" algn="just">
              <a:lnSpc>
                <a:spcPct val="100000"/>
              </a:lnSpc>
            </a:pPr>
            <a:r>
              <a:rPr sz="2000" dirty="0">
                <a:latin typeface="Times New Roman" panose="02020603050405020304"/>
                <a:cs typeface="Times New Roman" panose="02020603050405020304"/>
              </a:rPr>
              <a:t>as</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a </a:t>
            </a:r>
            <a:r>
              <a:rPr sz="2000" spc="-10" dirty="0">
                <a:latin typeface="Times New Roman" panose="02020603050405020304"/>
                <a:cs typeface="Times New Roman" panose="02020603050405020304"/>
              </a:rPr>
              <a:t>teacher.</a:t>
            </a:r>
            <a:endParaRPr sz="2000">
              <a:latin typeface="Times New Roman" panose="02020603050405020304"/>
              <a:cs typeface="Times New Roman" panose="02020603050405020304"/>
            </a:endParaRPr>
          </a:p>
          <a:p>
            <a:pPr marL="379095" marR="214630" algn="just">
              <a:lnSpc>
                <a:spcPct val="100000"/>
              </a:lnSpc>
            </a:pPr>
            <a:r>
              <a:rPr sz="2000" dirty="0">
                <a:latin typeface="Times New Roman" panose="02020603050405020304"/>
                <a:cs typeface="Times New Roman" panose="02020603050405020304"/>
              </a:rPr>
              <a:t>Basically</a:t>
            </a:r>
            <a:r>
              <a:rPr sz="2000" spc="110" dirty="0">
                <a:latin typeface="Times New Roman" panose="02020603050405020304"/>
                <a:cs typeface="Times New Roman" panose="02020603050405020304"/>
              </a:rPr>
              <a:t> </a:t>
            </a:r>
            <a:r>
              <a:rPr sz="2000" dirty="0">
                <a:latin typeface="Times New Roman" panose="02020603050405020304"/>
                <a:cs typeface="Times New Roman" panose="02020603050405020304"/>
              </a:rPr>
              <a:t>supervised</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11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when</a:t>
            </a:r>
            <a:r>
              <a:rPr sz="2000" spc="130" dirty="0">
                <a:latin typeface="Times New Roman" panose="02020603050405020304"/>
                <a:cs typeface="Times New Roman" panose="02020603050405020304"/>
              </a:rPr>
              <a:t> </a:t>
            </a:r>
            <a:r>
              <a:rPr sz="2000" dirty="0">
                <a:latin typeface="Times New Roman" panose="02020603050405020304"/>
                <a:cs typeface="Times New Roman" panose="02020603050405020304"/>
              </a:rPr>
              <a:t>we</a:t>
            </a:r>
            <a:r>
              <a:rPr sz="2000" spc="1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teach</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or</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train</a:t>
            </a:r>
            <a:r>
              <a:rPr sz="2000" spc="1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14"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1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using </a:t>
            </a:r>
            <a:r>
              <a:rPr sz="2000" dirty="0">
                <a:latin typeface="Times New Roman" panose="02020603050405020304"/>
                <a:cs typeface="Times New Roman" panose="02020603050405020304"/>
              </a:rPr>
              <a:t>data</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that</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well</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labeled. Which</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means</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some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already tagged</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with</a:t>
            </a:r>
            <a:r>
              <a:rPr sz="2000" spc="1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the </a:t>
            </a:r>
            <a:r>
              <a:rPr sz="2000" dirty="0">
                <a:latin typeface="Times New Roman" panose="02020603050405020304"/>
                <a:cs typeface="Times New Roman" panose="02020603050405020304"/>
              </a:rPr>
              <a:t>correct</a:t>
            </a:r>
            <a:r>
              <a:rPr sz="2000" spc="-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answer.</a:t>
            </a:r>
            <a:endParaRPr sz="2000">
              <a:latin typeface="Times New Roman" panose="02020603050405020304"/>
              <a:cs typeface="Times New Roman" panose="02020603050405020304"/>
            </a:endParaRPr>
          </a:p>
          <a:p>
            <a:pPr marL="379095" marR="215900" algn="just">
              <a:lnSpc>
                <a:spcPct val="100000"/>
              </a:lnSpc>
            </a:pPr>
            <a:r>
              <a:rPr sz="2000" dirty="0">
                <a:latin typeface="Times New Roman" panose="02020603050405020304"/>
                <a:cs typeface="Times New Roman" panose="02020603050405020304"/>
              </a:rPr>
              <a:t>After</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that,</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provided with a</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new</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set</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examples(data)</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so</a:t>
            </a:r>
            <a:r>
              <a:rPr sz="2000" spc="10"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that </a:t>
            </a:r>
            <a:r>
              <a:rPr sz="2000" dirty="0">
                <a:latin typeface="Times New Roman" panose="02020603050405020304"/>
                <a:cs typeface="Times New Roman" panose="02020603050405020304"/>
              </a:rPr>
              <a:t>the</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supervised</a:t>
            </a:r>
            <a:r>
              <a:rPr sz="2000" spc="6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70" dirty="0">
                <a:latin typeface="Times New Roman" panose="02020603050405020304"/>
                <a:cs typeface="Times New Roman" panose="02020603050405020304"/>
              </a:rPr>
              <a:t> </a:t>
            </a:r>
            <a:r>
              <a:rPr sz="2000" dirty="0">
                <a:latin typeface="Times New Roman" panose="02020603050405020304"/>
                <a:cs typeface="Times New Roman" panose="02020603050405020304"/>
              </a:rPr>
              <a:t>algorithm</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analyses</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70" dirty="0">
                <a:latin typeface="Times New Roman" panose="02020603050405020304"/>
                <a:cs typeface="Times New Roman" panose="02020603050405020304"/>
              </a:rPr>
              <a:t> </a:t>
            </a:r>
            <a:r>
              <a:rPr sz="2000" dirty="0">
                <a:latin typeface="Times New Roman" panose="02020603050405020304"/>
                <a:cs typeface="Times New Roman" panose="02020603050405020304"/>
              </a:rPr>
              <a:t>training</a:t>
            </a:r>
            <a:r>
              <a:rPr sz="2000" spc="70"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70" dirty="0">
                <a:latin typeface="Times New Roman" panose="02020603050405020304"/>
                <a:cs typeface="Times New Roman" panose="02020603050405020304"/>
              </a:rPr>
              <a:t> </a:t>
            </a:r>
            <a:r>
              <a:rPr sz="2000" dirty="0">
                <a:latin typeface="Times New Roman" panose="02020603050405020304"/>
                <a:cs typeface="Times New Roman" panose="02020603050405020304"/>
              </a:rPr>
              <a:t>(set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7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training </a:t>
            </a:r>
            <a:r>
              <a:rPr sz="2000" dirty="0">
                <a:latin typeface="Times New Roman" panose="02020603050405020304"/>
                <a:cs typeface="Times New Roman" panose="02020603050405020304"/>
              </a:rPr>
              <a:t>examples)</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produces</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correct</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outcome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from</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labeled</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data.</a:t>
            </a:r>
            <a:endParaRPr sz="2000">
              <a:latin typeface="Times New Roman" panose="02020603050405020304"/>
              <a:cs typeface="Times New Roman" panose="02020603050405020304"/>
            </a:endParaRPr>
          </a:p>
          <a:p>
            <a:pPr marL="379095" marR="214630" indent="63500" algn="just">
              <a:lnSpc>
                <a:spcPct val="100000"/>
              </a:lnSpc>
              <a:spcBef>
                <a:spcPts val="5"/>
              </a:spcBef>
            </a:pPr>
            <a:r>
              <a:rPr sz="2000" dirty="0">
                <a:latin typeface="Times New Roman" panose="02020603050405020304"/>
                <a:cs typeface="Times New Roman" panose="02020603050405020304"/>
              </a:rPr>
              <a:t>For</a:t>
            </a:r>
            <a:r>
              <a:rPr sz="2000" spc="10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instance,</a:t>
            </a:r>
            <a:r>
              <a:rPr sz="2000" spc="90" dirty="0">
                <a:latin typeface="Times New Roman" panose="02020603050405020304"/>
                <a:cs typeface="Times New Roman" panose="02020603050405020304"/>
              </a:rPr>
              <a:t> </a:t>
            </a:r>
            <a:r>
              <a:rPr sz="2000" dirty="0">
                <a:latin typeface="Times New Roman" panose="02020603050405020304"/>
                <a:cs typeface="Times New Roman" panose="02020603050405020304"/>
              </a:rPr>
              <a:t>suppose</a:t>
            </a:r>
            <a:r>
              <a:rPr sz="2000" spc="105" dirty="0">
                <a:latin typeface="Times New Roman" panose="02020603050405020304"/>
                <a:cs typeface="Times New Roman" panose="02020603050405020304"/>
              </a:rPr>
              <a:t> </a:t>
            </a:r>
            <a:r>
              <a:rPr sz="2000" dirty="0">
                <a:latin typeface="Times New Roman" panose="02020603050405020304"/>
                <a:cs typeface="Times New Roman" panose="02020603050405020304"/>
              </a:rPr>
              <a:t>you</a:t>
            </a:r>
            <a:r>
              <a:rPr sz="2000" spc="1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are</a:t>
            </a:r>
            <a:r>
              <a:rPr sz="2000" spc="105" dirty="0">
                <a:latin typeface="Times New Roman" panose="02020603050405020304"/>
                <a:cs typeface="Times New Roman" panose="02020603050405020304"/>
              </a:rPr>
              <a:t> </a:t>
            </a:r>
            <a:r>
              <a:rPr sz="2000" dirty="0">
                <a:latin typeface="Times New Roman" panose="02020603050405020304"/>
                <a:cs typeface="Times New Roman" panose="02020603050405020304"/>
              </a:rPr>
              <a:t>given</a:t>
            </a:r>
            <a:r>
              <a:rPr sz="2000" spc="1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100" dirty="0">
                <a:latin typeface="Times New Roman" panose="02020603050405020304"/>
                <a:cs typeface="Times New Roman" panose="02020603050405020304"/>
              </a:rPr>
              <a:t> </a:t>
            </a:r>
            <a:r>
              <a:rPr sz="2000" dirty="0">
                <a:latin typeface="Times New Roman" panose="02020603050405020304"/>
                <a:cs typeface="Times New Roman" panose="02020603050405020304"/>
              </a:rPr>
              <a:t>basket</a:t>
            </a:r>
            <a:r>
              <a:rPr sz="2000" spc="105" dirty="0">
                <a:latin typeface="Times New Roman" panose="02020603050405020304"/>
                <a:cs typeface="Times New Roman" panose="02020603050405020304"/>
              </a:rPr>
              <a:t> </a:t>
            </a:r>
            <a:r>
              <a:rPr sz="2000" dirty="0">
                <a:latin typeface="Times New Roman" panose="02020603050405020304"/>
                <a:cs typeface="Times New Roman" panose="02020603050405020304"/>
              </a:rPr>
              <a:t>filled</a:t>
            </a:r>
            <a:r>
              <a:rPr sz="2000" spc="105" dirty="0">
                <a:latin typeface="Times New Roman" panose="02020603050405020304"/>
                <a:cs typeface="Times New Roman" panose="02020603050405020304"/>
              </a:rPr>
              <a:t> </a:t>
            </a:r>
            <a:r>
              <a:rPr sz="2000" dirty="0">
                <a:latin typeface="Times New Roman" panose="02020603050405020304"/>
                <a:cs typeface="Times New Roman" panose="02020603050405020304"/>
              </a:rPr>
              <a:t>with</a:t>
            </a:r>
            <a:r>
              <a:rPr sz="2000" spc="100" dirty="0">
                <a:latin typeface="Times New Roman" panose="02020603050405020304"/>
                <a:cs typeface="Times New Roman" panose="02020603050405020304"/>
              </a:rPr>
              <a:t> </a:t>
            </a:r>
            <a:r>
              <a:rPr sz="2000" dirty="0">
                <a:latin typeface="Times New Roman" panose="02020603050405020304"/>
                <a:cs typeface="Times New Roman" panose="02020603050405020304"/>
              </a:rPr>
              <a:t>different</a:t>
            </a:r>
            <a:r>
              <a:rPr sz="2000" spc="90" dirty="0">
                <a:latin typeface="Times New Roman" panose="02020603050405020304"/>
                <a:cs typeface="Times New Roman" panose="02020603050405020304"/>
              </a:rPr>
              <a:t> </a:t>
            </a:r>
            <a:r>
              <a:rPr sz="2000" dirty="0">
                <a:latin typeface="Times New Roman" panose="02020603050405020304"/>
                <a:cs typeface="Times New Roman" panose="02020603050405020304"/>
              </a:rPr>
              <a:t>kinds</a:t>
            </a:r>
            <a:r>
              <a:rPr sz="2000" spc="9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of </a:t>
            </a:r>
            <a:r>
              <a:rPr sz="2000" dirty="0">
                <a:latin typeface="Times New Roman" panose="02020603050405020304"/>
                <a:cs typeface="Times New Roman" panose="02020603050405020304"/>
              </a:rPr>
              <a:t>fruits.</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Now</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first</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step</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train</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with</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all</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different</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fruits</a:t>
            </a:r>
            <a:r>
              <a:rPr sz="2000" spc="5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one </a:t>
            </a:r>
            <a:r>
              <a:rPr sz="2000" dirty="0">
                <a:latin typeface="Times New Roman" panose="02020603050405020304"/>
                <a:cs typeface="Times New Roman" panose="02020603050405020304"/>
              </a:rPr>
              <a:t>by</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one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like</a:t>
            </a:r>
            <a:r>
              <a:rPr sz="2000" spc="-1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this:</a:t>
            </a:r>
            <a:endParaRPr sz="2000">
              <a:latin typeface="Times New Roman" panose="02020603050405020304"/>
              <a:cs typeface="Times New Roman" panose="02020603050405020304"/>
            </a:endParaRPr>
          </a:p>
          <a:p>
            <a:pPr marL="3568065" indent="-345440" algn="just">
              <a:lnSpc>
                <a:spcPts val="1725"/>
              </a:lnSpc>
              <a:buFont typeface="Microsoft Sans Serif" panose="020B0604020202020204"/>
              <a:buChar char="•"/>
              <a:tabLst>
                <a:tab pos="3568065" algn="l"/>
              </a:tabLst>
            </a:pPr>
            <a:r>
              <a:rPr sz="2000" dirty="0">
                <a:latin typeface="Times New Roman" panose="02020603050405020304"/>
                <a:cs typeface="Times New Roman" panose="02020603050405020304"/>
              </a:rPr>
              <a:t>If</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shape</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object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rounded</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has</a:t>
            </a:r>
            <a:r>
              <a:rPr sz="2000" spc="45" dirty="0">
                <a:latin typeface="Times New Roman" panose="02020603050405020304"/>
                <a:cs typeface="Times New Roman" panose="02020603050405020304"/>
              </a:rPr>
              <a:t> </a:t>
            </a:r>
            <a:r>
              <a:rPr sz="2000" spc="-50" dirty="0">
                <a:latin typeface="Times New Roman" panose="02020603050405020304"/>
                <a:cs typeface="Times New Roman" panose="02020603050405020304"/>
              </a:rPr>
              <a:t>a</a:t>
            </a:r>
            <a:endParaRPr sz="2000">
              <a:latin typeface="Times New Roman" panose="02020603050405020304"/>
              <a:cs typeface="Times New Roman" panose="02020603050405020304"/>
            </a:endParaRPr>
          </a:p>
          <a:p>
            <a:pPr marL="3565525" marR="6350" algn="just">
              <a:lnSpc>
                <a:spcPct val="100000"/>
              </a:lnSpc>
            </a:pPr>
            <a:r>
              <a:rPr sz="2000" dirty="0">
                <a:latin typeface="Times New Roman" panose="02020603050405020304"/>
                <a:cs typeface="Times New Roman" panose="02020603050405020304"/>
              </a:rPr>
              <a:t>depression</a:t>
            </a:r>
            <a:r>
              <a:rPr sz="2000" spc="280" dirty="0">
                <a:latin typeface="Times New Roman" panose="02020603050405020304"/>
                <a:cs typeface="Times New Roman" panose="02020603050405020304"/>
              </a:rPr>
              <a:t> </a:t>
            </a:r>
            <a:r>
              <a:rPr sz="2000" dirty="0">
                <a:latin typeface="Times New Roman" panose="02020603050405020304"/>
                <a:cs typeface="Times New Roman" panose="02020603050405020304"/>
              </a:rPr>
              <a:t>at</a:t>
            </a:r>
            <a:r>
              <a:rPr sz="2000" spc="27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9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top,</a:t>
            </a:r>
            <a:r>
              <a:rPr sz="2000" spc="29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275" dirty="0">
                <a:latin typeface="Times New Roman" panose="02020603050405020304"/>
                <a:cs typeface="Times New Roman" panose="02020603050405020304"/>
              </a:rPr>
              <a:t> </a:t>
            </a:r>
            <a:r>
              <a:rPr sz="2000" dirty="0">
                <a:latin typeface="Times New Roman" panose="02020603050405020304"/>
                <a:cs typeface="Times New Roman" panose="02020603050405020304"/>
              </a:rPr>
              <a:t>red</a:t>
            </a:r>
            <a:r>
              <a:rPr sz="2000" spc="28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a:t>
            </a:r>
            <a:r>
              <a:rPr sz="2000" spc="300" dirty="0">
                <a:latin typeface="Times New Roman" panose="02020603050405020304"/>
                <a:cs typeface="Times New Roman" panose="02020603050405020304"/>
              </a:rPr>
              <a:t> </a:t>
            </a:r>
            <a:r>
              <a:rPr sz="2000" dirty="0">
                <a:latin typeface="Times New Roman" panose="02020603050405020304"/>
                <a:cs typeface="Times New Roman" panose="02020603050405020304"/>
              </a:rPr>
              <a:t>color,</a:t>
            </a:r>
            <a:r>
              <a:rPr sz="2000" spc="29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then</a:t>
            </a:r>
            <a:r>
              <a:rPr sz="2000" spc="27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it </a:t>
            </a:r>
            <a:r>
              <a:rPr sz="2000" dirty="0">
                <a:latin typeface="Times New Roman" panose="02020603050405020304"/>
                <a:cs typeface="Times New Roman" panose="02020603050405020304"/>
              </a:rPr>
              <a:t>will</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labeled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10" dirty="0">
                <a:latin typeface="Times New Roman" panose="02020603050405020304"/>
                <a:cs typeface="Times New Roman" panose="02020603050405020304"/>
              </a:rPr>
              <a:t> –Apple.</a:t>
            </a:r>
            <a:endParaRPr sz="2000">
              <a:latin typeface="Times New Roman" panose="02020603050405020304"/>
              <a:cs typeface="Times New Roman" panose="02020603050405020304"/>
            </a:endParaRPr>
          </a:p>
          <a:p>
            <a:pPr marL="3565525" marR="5080" indent="-342900" algn="just">
              <a:lnSpc>
                <a:spcPct val="100000"/>
              </a:lnSpc>
              <a:spcBef>
                <a:spcPts val="5"/>
              </a:spcBef>
              <a:buFont typeface="Microsoft Sans Serif" panose="020B0604020202020204"/>
              <a:buChar char="•"/>
              <a:tabLst>
                <a:tab pos="3565525" algn="l"/>
                <a:tab pos="3568065" algn="l"/>
              </a:tabLst>
            </a:pPr>
            <a:r>
              <a:rPr sz="2000" dirty="0">
                <a:latin typeface="Times New Roman" panose="02020603050405020304"/>
                <a:cs typeface="Times New Roman" panose="02020603050405020304"/>
              </a:rPr>
              <a:t>	If</a:t>
            </a:r>
            <a:r>
              <a:rPr sz="2000" spc="39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375" dirty="0">
                <a:latin typeface="Times New Roman" panose="02020603050405020304"/>
                <a:cs typeface="Times New Roman" panose="02020603050405020304"/>
              </a:rPr>
              <a:t> </a:t>
            </a:r>
            <a:r>
              <a:rPr sz="2000" dirty="0">
                <a:latin typeface="Times New Roman" panose="02020603050405020304"/>
                <a:cs typeface="Times New Roman" panose="02020603050405020304"/>
              </a:rPr>
              <a:t>shape</a:t>
            </a:r>
            <a:r>
              <a:rPr sz="2000" spc="38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39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400" dirty="0">
                <a:latin typeface="Times New Roman" panose="02020603050405020304"/>
                <a:cs typeface="Times New Roman" panose="02020603050405020304"/>
              </a:rPr>
              <a:t> </a:t>
            </a:r>
            <a:r>
              <a:rPr sz="2000" dirty="0">
                <a:latin typeface="Times New Roman" panose="02020603050405020304"/>
                <a:cs typeface="Times New Roman" panose="02020603050405020304"/>
              </a:rPr>
              <a:t>object</a:t>
            </a:r>
            <a:r>
              <a:rPr sz="2000" spc="37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375"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390" dirty="0">
                <a:latin typeface="Times New Roman" panose="02020603050405020304"/>
                <a:cs typeface="Times New Roman" panose="02020603050405020304"/>
              </a:rPr>
              <a:t> </a:t>
            </a:r>
            <a:r>
              <a:rPr sz="2000" dirty="0">
                <a:latin typeface="Times New Roman" panose="02020603050405020304"/>
                <a:cs typeface="Times New Roman" panose="02020603050405020304"/>
              </a:rPr>
              <a:t>long</a:t>
            </a:r>
            <a:r>
              <a:rPr sz="2000" spc="40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curving </a:t>
            </a:r>
            <a:r>
              <a:rPr sz="2000" dirty="0">
                <a:latin typeface="Times New Roman" panose="02020603050405020304"/>
                <a:cs typeface="Times New Roman" panose="02020603050405020304"/>
              </a:rPr>
              <a:t>cylinder</a:t>
            </a:r>
            <a:r>
              <a:rPr sz="2000" spc="409" dirty="0">
                <a:latin typeface="Times New Roman" panose="02020603050405020304"/>
                <a:cs typeface="Times New Roman" panose="02020603050405020304"/>
              </a:rPr>
              <a:t> </a:t>
            </a:r>
            <a:r>
              <a:rPr sz="2000" dirty="0">
                <a:latin typeface="Times New Roman" panose="02020603050405020304"/>
                <a:cs typeface="Times New Roman" panose="02020603050405020304"/>
              </a:rPr>
              <a:t>having</a:t>
            </a:r>
            <a:r>
              <a:rPr sz="2000" spc="42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Green-</a:t>
            </a:r>
            <a:r>
              <a:rPr sz="2000" dirty="0">
                <a:latin typeface="Times New Roman" panose="02020603050405020304"/>
                <a:cs typeface="Times New Roman" panose="02020603050405020304"/>
              </a:rPr>
              <a:t>Yellow</a:t>
            </a:r>
            <a:r>
              <a:rPr sz="2000" spc="420" dirty="0">
                <a:latin typeface="Times New Roman" panose="02020603050405020304"/>
                <a:cs typeface="Times New Roman" panose="02020603050405020304"/>
              </a:rPr>
              <a:t> </a:t>
            </a:r>
            <a:r>
              <a:rPr sz="2000" dirty="0">
                <a:latin typeface="Times New Roman" panose="02020603050405020304"/>
                <a:cs typeface="Times New Roman" panose="02020603050405020304"/>
              </a:rPr>
              <a:t>color,</a:t>
            </a:r>
            <a:r>
              <a:rPr sz="2000" spc="41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then</a:t>
            </a:r>
            <a:r>
              <a:rPr sz="2000" spc="409"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it </a:t>
            </a:r>
            <a:r>
              <a:rPr sz="2000" dirty="0">
                <a:latin typeface="Times New Roman" panose="02020603050405020304"/>
                <a:cs typeface="Times New Roman" panose="02020603050405020304"/>
              </a:rPr>
              <a:t>will</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labeled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10" dirty="0">
                <a:latin typeface="Times New Roman" panose="02020603050405020304"/>
                <a:cs typeface="Times New Roman" panose="02020603050405020304"/>
              </a:rPr>
              <a:t> –Banana</a:t>
            </a:r>
            <a:endParaRPr sz="2000">
              <a:latin typeface="Times New Roman" panose="02020603050405020304"/>
              <a:cs typeface="Times New Roman" panose="02020603050405020304"/>
            </a:endParaRPr>
          </a:p>
        </p:txBody>
      </p:sp>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1891" y="27989"/>
            <a:ext cx="7528559" cy="1132205"/>
          </a:xfrm>
          <a:prstGeom prst="rect">
            <a:avLst/>
          </a:prstGeom>
        </p:spPr>
        <p:txBody>
          <a:bodyPr vert="horz" wrap="square" lIns="0" tIns="153670" rIns="0" bIns="0" rtlCol="0">
            <a:spAutoFit/>
          </a:bodyPr>
          <a:lstStyle/>
          <a:p>
            <a:pPr marL="962660">
              <a:lnSpc>
                <a:spcPct val="100000"/>
              </a:lnSpc>
              <a:spcBef>
                <a:spcPts val="1210"/>
              </a:spcBef>
            </a:pPr>
            <a:r>
              <a:rPr sz="3600" dirty="0"/>
              <a:t>Concepts</a:t>
            </a:r>
            <a:r>
              <a:rPr sz="3600" spc="-45" dirty="0"/>
              <a:t> </a:t>
            </a:r>
            <a:r>
              <a:rPr sz="3600" dirty="0"/>
              <a:t>in</a:t>
            </a:r>
            <a:r>
              <a:rPr sz="3600" spc="-225" dirty="0"/>
              <a:t> </a:t>
            </a:r>
            <a:r>
              <a:rPr sz="3600" dirty="0"/>
              <a:t>Artificial</a:t>
            </a:r>
            <a:r>
              <a:rPr sz="3600" spc="-35" dirty="0"/>
              <a:t> </a:t>
            </a:r>
            <a:r>
              <a:rPr sz="3600" spc="-10" dirty="0"/>
              <a:t>Intelligence</a:t>
            </a:r>
            <a:endParaRPr sz="3600"/>
          </a:p>
          <a:p>
            <a:pPr marL="12700">
              <a:lnSpc>
                <a:spcPct val="100000"/>
              </a:lnSpc>
              <a:spcBef>
                <a:spcPts val="675"/>
              </a:spcBef>
            </a:pPr>
            <a:r>
              <a:rPr sz="2200" b="1" dirty="0">
                <a:solidFill>
                  <a:srgbClr val="000000"/>
                </a:solidFill>
                <a:latin typeface="Times New Roman" panose="02020603050405020304"/>
                <a:cs typeface="Times New Roman" panose="02020603050405020304"/>
              </a:rPr>
              <a:t>Unsupervised</a:t>
            </a:r>
            <a:r>
              <a:rPr sz="2200" b="1" spc="-70" dirty="0">
                <a:solidFill>
                  <a:srgbClr val="000000"/>
                </a:solidFill>
                <a:latin typeface="Times New Roman" panose="02020603050405020304"/>
                <a:cs typeface="Times New Roman" panose="02020603050405020304"/>
              </a:rPr>
              <a:t> </a:t>
            </a:r>
            <a:r>
              <a:rPr sz="2200" b="1" dirty="0">
                <a:solidFill>
                  <a:srgbClr val="000000"/>
                </a:solidFill>
                <a:latin typeface="Times New Roman" panose="02020603050405020304"/>
                <a:cs typeface="Times New Roman" panose="02020603050405020304"/>
              </a:rPr>
              <a:t>learning</a:t>
            </a:r>
            <a:r>
              <a:rPr sz="2200" b="1" spc="-75" dirty="0">
                <a:solidFill>
                  <a:srgbClr val="000000"/>
                </a:solidFill>
                <a:latin typeface="Times New Roman" panose="02020603050405020304"/>
                <a:cs typeface="Times New Roman" panose="02020603050405020304"/>
              </a:rPr>
              <a:t> </a:t>
            </a:r>
            <a:r>
              <a:rPr sz="2200" b="1" dirty="0">
                <a:solidFill>
                  <a:srgbClr val="000000"/>
                </a:solidFill>
                <a:latin typeface="Times New Roman" panose="02020603050405020304"/>
                <a:cs typeface="Times New Roman" panose="02020603050405020304"/>
              </a:rPr>
              <a:t>Machine</a:t>
            </a:r>
            <a:r>
              <a:rPr sz="2200" b="1" spc="-75" dirty="0">
                <a:solidFill>
                  <a:srgbClr val="000000"/>
                </a:solidFill>
                <a:latin typeface="Times New Roman" panose="02020603050405020304"/>
                <a:cs typeface="Times New Roman" panose="02020603050405020304"/>
              </a:rPr>
              <a:t> </a:t>
            </a:r>
            <a:r>
              <a:rPr sz="2200" b="1" spc="-10" dirty="0">
                <a:solidFill>
                  <a:srgbClr val="000000"/>
                </a:solidFill>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p:txBody>
      </p:sp>
      <p:sp>
        <p:nvSpPr>
          <p:cNvPr id="3" name="object 3"/>
          <p:cNvSpPr txBox="1"/>
          <p:nvPr/>
        </p:nvSpPr>
        <p:spPr>
          <a:xfrm>
            <a:off x="1907540" y="5559044"/>
            <a:ext cx="7495540" cy="93599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panose="02020603050405020304"/>
                <a:cs typeface="Times New Roman" panose="02020603050405020304"/>
              </a:rPr>
              <a:t>Unsupervised</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further</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classifieds</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into</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two</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categories</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algorithms:</a:t>
            </a:r>
            <a:endParaRPr sz="2000">
              <a:latin typeface="Times New Roman" panose="02020603050405020304"/>
              <a:cs typeface="Times New Roman" panose="02020603050405020304"/>
            </a:endParaRPr>
          </a:p>
          <a:p>
            <a:pPr marL="641985" indent="-342900">
              <a:lnSpc>
                <a:spcPct val="100000"/>
              </a:lnSpc>
              <a:buFont typeface="Microsoft Sans Serif" panose="020B0604020202020204"/>
              <a:buChar char="•"/>
              <a:tabLst>
                <a:tab pos="641985" algn="l"/>
              </a:tabLst>
            </a:pPr>
            <a:r>
              <a:rPr sz="2000" b="1" spc="-10" dirty="0">
                <a:latin typeface="Times New Roman" panose="02020603050405020304"/>
                <a:cs typeface="Times New Roman" panose="02020603050405020304"/>
              </a:rPr>
              <a:t>Clustering</a:t>
            </a:r>
            <a:endParaRPr sz="2000">
              <a:latin typeface="Times New Roman" panose="02020603050405020304"/>
              <a:cs typeface="Times New Roman" panose="02020603050405020304"/>
            </a:endParaRPr>
          </a:p>
          <a:p>
            <a:pPr marL="641985" indent="-342900">
              <a:lnSpc>
                <a:spcPct val="100000"/>
              </a:lnSpc>
              <a:buFont typeface="Microsoft Sans Serif" panose="020B0604020202020204"/>
              <a:buChar char="•"/>
              <a:tabLst>
                <a:tab pos="641985" algn="l"/>
              </a:tabLst>
            </a:pPr>
            <a:r>
              <a:rPr sz="2000" b="1" spc="-10" dirty="0">
                <a:latin typeface="Times New Roman" panose="02020603050405020304"/>
                <a:cs typeface="Times New Roman" panose="02020603050405020304"/>
              </a:rPr>
              <a:t>Association</a:t>
            </a:r>
            <a:endParaRPr sz="20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1743456" y="1243583"/>
            <a:ext cx="8391144" cy="4390644"/>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2257" y="170942"/>
            <a:ext cx="6577965" cy="566420"/>
          </a:xfrm>
          <a:prstGeom prst="rect">
            <a:avLst/>
          </a:prstGeom>
        </p:spPr>
        <p:txBody>
          <a:bodyPr vert="horz" wrap="square" lIns="0" tIns="12700" rIns="0" bIns="0" rtlCol="0">
            <a:spAutoFit/>
          </a:bodyPr>
          <a:lstStyle/>
          <a:p>
            <a:pPr marL="12700">
              <a:lnSpc>
                <a:spcPct val="100000"/>
              </a:lnSpc>
              <a:spcBef>
                <a:spcPts val="100"/>
              </a:spcBef>
            </a:pPr>
            <a:r>
              <a:rPr sz="3600" dirty="0"/>
              <a:t>Concepts</a:t>
            </a:r>
            <a:r>
              <a:rPr sz="3600" spc="-45" dirty="0"/>
              <a:t> </a:t>
            </a:r>
            <a:r>
              <a:rPr sz="3600" dirty="0"/>
              <a:t>in</a:t>
            </a:r>
            <a:r>
              <a:rPr sz="3600" spc="-225" dirty="0"/>
              <a:t> </a:t>
            </a:r>
            <a:r>
              <a:rPr sz="3600" dirty="0"/>
              <a:t>Artificial</a:t>
            </a:r>
            <a:r>
              <a:rPr sz="3600" spc="-35" dirty="0"/>
              <a:t> </a:t>
            </a:r>
            <a:r>
              <a:rPr sz="3600" spc="-10" dirty="0"/>
              <a:t>Intelligence</a:t>
            </a:r>
            <a:endParaRPr sz="3600"/>
          </a:p>
        </p:txBody>
      </p:sp>
      <p:sp>
        <p:nvSpPr>
          <p:cNvPr id="3" name="object 3"/>
          <p:cNvSpPr txBox="1"/>
          <p:nvPr/>
        </p:nvSpPr>
        <p:spPr>
          <a:xfrm>
            <a:off x="1821891" y="674693"/>
            <a:ext cx="8489315" cy="6186170"/>
          </a:xfrm>
          <a:prstGeom prst="rect">
            <a:avLst/>
          </a:prstGeom>
        </p:spPr>
        <p:txBody>
          <a:bodyPr vert="horz" wrap="square" lIns="0" tIns="139065" rIns="0" bIns="0" rtlCol="0">
            <a:spAutoFit/>
          </a:bodyPr>
          <a:lstStyle/>
          <a:p>
            <a:pPr marL="12700">
              <a:lnSpc>
                <a:spcPct val="100000"/>
              </a:lnSpc>
              <a:spcBef>
                <a:spcPts val="1095"/>
              </a:spcBef>
            </a:pPr>
            <a:r>
              <a:rPr sz="2200" b="1" dirty="0">
                <a:latin typeface="Times New Roman" panose="02020603050405020304"/>
                <a:cs typeface="Times New Roman" panose="02020603050405020304"/>
              </a:rPr>
              <a:t>Supervised</a:t>
            </a:r>
            <a:r>
              <a:rPr sz="2200" b="1" spc="-80"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learning</a:t>
            </a:r>
            <a:r>
              <a:rPr sz="2200" b="1" spc="-70"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Machine</a:t>
            </a:r>
            <a:r>
              <a:rPr sz="2200" b="1" spc="-65" dirty="0">
                <a:latin typeface="Times New Roman" panose="02020603050405020304"/>
                <a:cs typeface="Times New Roman" panose="02020603050405020304"/>
              </a:rPr>
              <a:t> </a:t>
            </a:r>
            <a:r>
              <a:rPr sz="2200" b="1" spc="-10" dirty="0">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a:p>
            <a:pPr marL="379095">
              <a:lnSpc>
                <a:spcPct val="100000"/>
              </a:lnSpc>
              <a:spcBef>
                <a:spcPts val="920"/>
              </a:spcBef>
            </a:pPr>
            <a:r>
              <a:rPr sz="2000" dirty="0">
                <a:latin typeface="Times New Roman" panose="02020603050405020304"/>
                <a:cs typeface="Times New Roman" panose="02020603050405020304"/>
              </a:rPr>
              <a:t>Supervised</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classified</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into</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two</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categories</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algorithms:</a:t>
            </a:r>
            <a:endParaRPr sz="2000">
              <a:latin typeface="Times New Roman" panose="02020603050405020304"/>
              <a:cs typeface="Times New Roman" panose="02020603050405020304"/>
            </a:endParaRPr>
          </a:p>
          <a:p>
            <a:pPr marL="721995" marR="10795" indent="-342900">
              <a:lnSpc>
                <a:spcPct val="100000"/>
              </a:lnSpc>
              <a:spcBef>
                <a:spcPts val="1200"/>
              </a:spcBef>
              <a:buFont typeface="Microsoft Sans Serif" panose="020B0604020202020204"/>
              <a:buChar char="•"/>
              <a:tabLst>
                <a:tab pos="721995" algn="l"/>
              </a:tabLst>
            </a:pPr>
            <a:r>
              <a:rPr sz="2000" b="1" dirty="0">
                <a:latin typeface="Times New Roman" panose="02020603050405020304"/>
                <a:cs typeface="Times New Roman" panose="02020603050405020304"/>
              </a:rPr>
              <a:t>Classification:</a:t>
            </a:r>
            <a:r>
              <a:rPr sz="2000" b="1" spc="3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220" dirty="0">
                <a:latin typeface="Times New Roman" panose="02020603050405020304"/>
                <a:cs typeface="Times New Roman" panose="02020603050405020304"/>
              </a:rPr>
              <a:t> </a:t>
            </a:r>
            <a:r>
              <a:rPr sz="2000" dirty="0">
                <a:latin typeface="Times New Roman" panose="02020603050405020304"/>
                <a:cs typeface="Times New Roman" panose="02020603050405020304"/>
              </a:rPr>
              <a:t>classification</a:t>
            </a:r>
            <a:r>
              <a:rPr sz="2000" spc="315"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problem</a:t>
            </a:r>
            <a:r>
              <a:rPr sz="2000" spc="30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315" dirty="0">
                <a:latin typeface="Times New Roman" panose="02020603050405020304"/>
                <a:cs typeface="Times New Roman" panose="02020603050405020304"/>
              </a:rPr>
              <a:t> </a:t>
            </a:r>
            <a:r>
              <a:rPr sz="2000" dirty="0">
                <a:latin typeface="Times New Roman" panose="02020603050405020304"/>
                <a:cs typeface="Times New Roman" panose="02020603050405020304"/>
              </a:rPr>
              <a:t>when</a:t>
            </a:r>
            <a:r>
              <a:rPr sz="2000" spc="3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95" dirty="0">
                <a:latin typeface="Times New Roman" panose="02020603050405020304"/>
                <a:cs typeface="Times New Roman" panose="02020603050405020304"/>
              </a:rPr>
              <a:t> </a:t>
            </a:r>
            <a:r>
              <a:rPr sz="2000" dirty="0">
                <a:latin typeface="Times New Roman" panose="02020603050405020304"/>
                <a:cs typeface="Times New Roman" panose="02020603050405020304"/>
              </a:rPr>
              <a:t>output</a:t>
            </a:r>
            <a:r>
              <a:rPr sz="2000" spc="310" dirty="0">
                <a:latin typeface="Times New Roman" panose="02020603050405020304"/>
                <a:cs typeface="Times New Roman" panose="02020603050405020304"/>
              </a:rPr>
              <a:t> </a:t>
            </a:r>
            <a:r>
              <a:rPr sz="2000" dirty="0">
                <a:latin typeface="Times New Roman" panose="02020603050405020304"/>
                <a:cs typeface="Times New Roman" panose="02020603050405020304"/>
              </a:rPr>
              <a:t>variable</a:t>
            </a:r>
            <a:r>
              <a:rPr sz="2000" spc="31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315" dirty="0">
                <a:latin typeface="Times New Roman" panose="02020603050405020304"/>
                <a:cs typeface="Times New Roman" panose="02020603050405020304"/>
              </a:rPr>
              <a:t> </a:t>
            </a:r>
            <a:r>
              <a:rPr sz="2000" spc="-50" dirty="0">
                <a:latin typeface="Times New Roman" panose="02020603050405020304"/>
                <a:cs typeface="Times New Roman" panose="02020603050405020304"/>
              </a:rPr>
              <a:t>a </a:t>
            </a:r>
            <a:r>
              <a:rPr sz="2000" spc="-10" dirty="0">
                <a:latin typeface="Times New Roman" panose="02020603050405020304"/>
                <a:cs typeface="Times New Roman" panose="02020603050405020304"/>
              </a:rPr>
              <a:t>category,</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such</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“Red”</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or</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“blue”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or</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“disease”</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“no</a:t>
            </a:r>
            <a:r>
              <a:rPr sz="2000" spc="-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disease”.</a:t>
            </a:r>
            <a:endParaRPr sz="2000">
              <a:latin typeface="Times New Roman" panose="02020603050405020304"/>
              <a:cs typeface="Times New Roman" panose="02020603050405020304"/>
            </a:endParaRPr>
          </a:p>
          <a:p>
            <a:pPr marL="721995" marR="10160" indent="-342900">
              <a:lnSpc>
                <a:spcPct val="100000"/>
              </a:lnSpc>
              <a:spcBef>
                <a:spcPts val="1200"/>
              </a:spcBef>
              <a:buFont typeface="Microsoft Sans Serif" panose="020B0604020202020204"/>
              <a:buChar char="•"/>
              <a:tabLst>
                <a:tab pos="721995" algn="l"/>
              </a:tabLst>
            </a:pPr>
            <a:r>
              <a:rPr sz="2000" b="1" dirty="0">
                <a:latin typeface="Times New Roman" panose="02020603050405020304"/>
                <a:cs typeface="Times New Roman" panose="02020603050405020304"/>
              </a:rPr>
              <a:t>Regression:</a:t>
            </a:r>
            <a:r>
              <a:rPr sz="2000" b="1" spc="39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270" dirty="0">
                <a:latin typeface="Times New Roman" panose="02020603050405020304"/>
                <a:cs typeface="Times New Roman" panose="02020603050405020304"/>
              </a:rPr>
              <a:t> </a:t>
            </a:r>
            <a:r>
              <a:rPr sz="2000" dirty="0">
                <a:latin typeface="Times New Roman" panose="02020603050405020304"/>
                <a:cs typeface="Times New Roman" panose="02020603050405020304"/>
              </a:rPr>
              <a:t>regression</a:t>
            </a:r>
            <a:r>
              <a:rPr sz="2000" spc="380"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problem</a:t>
            </a:r>
            <a:r>
              <a:rPr sz="2000" spc="36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390" dirty="0">
                <a:latin typeface="Times New Roman" panose="02020603050405020304"/>
                <a:cs typeface="Times New Roman" panose="02020603050405020304"/>
              </a:rPr>
              <a:t> </a:t>
            </a:r>
            <a:r>
              <a:rPr sz="2000" dirty="0">
                <a:latin typeface="Times New Roman" panose="02020603050405020304"/>
                <a:cs typeface="Times New Roman" panose="02020603050405020304"/>
              </a:rPr>
              <a:t>when</a:t>
            </a:r>
            <a:r>
              <a:rPr sz="2000" spc="39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395" dirty="0">
                <a:latin typeface="Times New Roman" panose="02020603050405020304"/>
                <a:cs typeface="Times New Roman" panose="02020603050405020304"/>
              </a:rPr>
              <a:t> </a:t>
            </a:r>
            <a:r>
              <a:rPr sz="2000" dirty="0">
                <a:latin typeface="Times New Roman" panose="02020603050405020304"/>
                <a:cs typeface="Times New Roman" panose="02020603050405020304"/>
              </a:rPr>
              <a:t>output</a:t>
            </a:r>
            <a:r>
              <a:rPr sz="2000" spc="380" dirty="0">
                <a:latin typeface="Times New Roman" panose="02020603050405020304"/>
                <a:cs typeface="Times New Roman" panose="02020603050405020304"/>
              </a:rPr>
              <a:t> </a:t>
            </a:r>
            <a:r>
              <a:rPr sz="2000" dirty="0">
                <a:latin typeface="Times New Roman" panose="02020603050405020304"/>
                <a:cs typeface="Times New Roman" panose="02020603050405020304"/>
              </a:rPr>
              <a:t>variable</a:t>
            </a:r>
            <a:r>
              <a:rPr sz="2000" spc="38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385"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370"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real </a:t>
            </a:r>
            <a:r>
              <a:rPr sz="2000" dirty="0">
                <a:latin typeface="Times New Roman" panose="02020603050405020304"/>
                <a:cs typeface="Times New Roman" panose="02020603050405020304"/>
              </a:rPr>
              <a:t>value,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such</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“dollars”</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or</a:t>
            </a:r>
            <a:r>
              <a:rPr sz="2000" spc="-1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“weight”.</a:t>
            </a:r>
            <a:endParaRPr sz="2000">
              <a:latin typeface="Times New Roman" panose="02020603050405020304"/>
              <a:cs typeface="Times New Roman" panose="02020603050405020304"/>
            </a:endParaRPr>
          </a:p>
          <a:p>
            <a:pPr marL="185420">
              <a:lnSpc>
                <a:spcPct val="100000"/>
              </a:lnSpc>
              <a:spcBef>
                <a:spcPts val="1015"/>
              </a:spcBef>
            </a:pPr>
            <a:r>
              <a:rPr sz="2000" b="1" dirty="0">
                <a:latin typeface="Times New Roman" panose="02020603050405020304"/>
                <a:cs typeface="Times New Roman" panose="02020603050405020304"/>
              </a:rPr>
              <a:t>Advantages</a:t>
            </a:r>
            <a:r>
              <a:rPr sz="2000" b="1" spc="-5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Supervised</a:t>
            </a:r>
            <a:r>
              <a:rPr sz="2000" b="1" spc="-40"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learning</a:t>
            </a:r>
            <a:r>
              <a:rPr sz="2000" b="1" spc="-40"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Machine</a:t>
            </a:r>
            <a:r>
              <a:rPr sz="2000" b="1" spc="-40"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learning:-</a:t>
            </a:r>
            <a:endParaRPr sz="2000">
              <a:latin typeface="Times New Roman" panose="02020603050405020304"/>
              <a:cs typeface="Times New Roman" panose="02020603050405020304"/>
            </a:endParaRPr>
          </a:p>
          <a:p>
            <a:pPr marL="528320" marR="182880" indent="-342900">
              <a:lnSpc>
                <a:spcPct val="100000"/>
              </a:lnSpc>
              <a:spcBef>
                <a:spcPts val="1200"/>
              </a:spcBef>
              <a:buFont typeface="Microsoft Sans Serif" panose="020B0604020202020204"/>
              <a:buChar char="•"/>
              <a:tabLst>
                <a:tab pos="528320" algn="l"/>
              </a:tabLst>
            </a:pPr>
            <a:r>
              <a:rPr sz="2000" dirty="0">
                <a:latin typeface="Times New Roman" panose="02020603050405020304"/>
                <a:cs typeface="Times New Roman" panose="02020603050405020304"/>
              </a:rPr>
              <a:t>Supervised</a:t>
            </a:r>
            <a:r>
              <a:rPr sz="2000" spc="24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2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allows</a:t>
            </a:r>
            <a:r>
              <a:rPr sz="2000" spc="245" dirty="0">
                <a:latin typeface="Times New Roman" panose="02020603050405020304"/>
                <a:cs typeface="Times New Roman" panose="02020603050405020304"/>
              </a:rPr>
              <a:t> </a:t>
            </a:r>
            <a:r>
              <a:rPr sz="2000" dirty="0">
                <a:latin typeface="Times New Roman" panose="02020603050405020304"/>
                <a:cs typeface="Times New Roman" panose="02020603050405020304"/>
              </a:rPr>
              <a:t>collecting</a:t>
            </a:r>
            <a:r>
              <a:rPr sz="2000" spc="250"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229"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245"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produces</a:t>
            </a:r>
            <a:r>
              <a:rPr sz="2000" spc="235"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245" dirty="0">
                <a:latin typeface="Times New Roman" panose="02020603050405020304"/>
                <a:cs typeface="Times New Roman" panose="02020603050405020304"/>
              </a:rPr>
              <a:t> </a:t>
            </a:r>
            <a:r>
              <a:rPr sz="2000" dirty="0">
                <a:latin typeface="Times New Roman" panose="02020603050405020304"/>
                <a:cs typeface="Times New Roman" panose="02020603050405020304"/>
              </a:rPr>
              <a:t>output</a:t>
            </a:r>
            <a:r>
              <a:rPr sz="2000" spc="240"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from </a:t>
            </a:r>
            <a:r>
              <a:rPr sz="2000" dirty="0">
                <a:latin typeface="Times New Roman" panose="02020603050405020304"/>
                <a:cs typeface="Times New Roman" panose="02020603050405020304"/>
              </a:rPr>
              <a:t>previous</a:t>
            </a:r>
            <a:r>
              <a:rPr sz="2000" spc="-5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experiences.</a:t>
            </a:r>
            <a:endParaRPr sz="2000">
              <a:latin typeface="Times New Roman" panose="02020603050405020304"/>
              <a:cs typeface="Times New Roman" panose="02020603050405020304"/>
            </a:endParaRPr>
          </a:p>
          <a:p>
            <a:pPr marL="528320" indent="-342900">
              <a:lnSpc>
                <a:spcPct val="100000"/>
              </a:lnSpc>
              <a:spcBef>
                <a:spcPts val="1200"/>
              </a:spcBef>
              <a:buFont typeface="Microsoft Sans Serif" panose="020B0604020202020204"/>
              <a:buChar char="•"/>
              <a:tabLst>
                <a:tab pos="528320" algn="l"/>
              </a:tabLst>
            </a:pPr>
            <a:r>
              <a:rPr sz="2000" dirty="0">
                <a:latin typeface="Times New Roman" panose="02020603050405020304"/>
                <a:cs typeface="Times New Roman" panose="02020603050405020304"/>
              </a:rPr>
              <a:t>Helps</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optimize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performance</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criteria</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with</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help</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experience.</a:t>
            </a:r>
            <a:endParaRPr sz="2000">
              <a:latin typeface="Times New Roman" panose="02020603050405020304"/>
              <a:cs typeface="Times New Roman" panose="02020603050405020304"/>
            </a:endParaRPr>
          </a:p>
          <a:p>
            <a:pPr marL="528320" indent="-342900">
              <a:lnSpc>
                <a:spcPct val="100000"/>
              </a:lnSpc>
              <a:spcBef>
                <a:spcPts val="1200"/>
              </a:spcBef>
              <a:buFont typeface="Microsoft Sans Serif" panose="020B0604020202020204"/>
              <a:buChar char="•"/>
              <a:tabLst>
                <a:tab pos="528320" algn="l"/>
              </a:tabLst>
            </a:pPr>
            <a:r>
              <a:rPr sz="2000" dirty="0">
                <a:latin typeface="Times New Roman" panose="02020603050405020304"/>
                <a:cs typeface="Times New Roman" panose="02020603050405020304"/>
              </a:rPr>
              <a:t>Supervised</a:t>
            </a:r>
            <a:r>
              <a:rPr sz="2000" spc="459"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47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459" dirty="0">
                <a:latin typeface="Times New Roman" panose="02020603050405020304"/>
                <a:cs typeface="Times New Roman" panose="02020603050405020304"/>
              </a:rPr>
              <a:t> </a:t>
            </a:r>
            <a:r>
              <a:rPr sz="2000" dirty="0">
                <a:latin typeface="Times New Roman" panose="02020603050405020304"/>
                <a:cs typeface="Times New Roman" panose="02020603050405020304"/>
              </a:rPr>
              <a:t>helps</a:t>
            </a:r>
            <a:r>
              <a:rPr sz="2000" spc="46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459" dirty="0">
                <a:latin typeface="Times New Roman" panose="02020603050405020304"/>
                <a:cs typeface="Times New Roman" panose="02020603050405020304"/>
              </a:rPr>
              <a:t> </a:t>
            </a:r>
            <a:r>
              <a:rPr sz="2000" dirty="0">
                <a:latin typeface="Times New Roman" panose="02020603050405020304"/>
                <a:cs typeface="Times New Roman" panose="02020603050405020304"/>
              </a:rPr>
              <a:t>solve</a:t>
            </a:r>
            <a:r>
              <a:rPr sz="2000" spc="465" dirty="0">
                <a:latin typeface="Times New Roman" panose="02020603050405020304"/>
                <a:cs typeface="Times New Roman" panose="02020603050405020304"/>
              </a:rPr>
              <a:t> </a:t>
            </a:r>
            <a:r>
              <a:rPr sz="2000" dirty="0">
                <a:latin typeface="Times New Roman" panose="02020603050405020304"/>
                <a:cs typeface="Times New Roman" panose="02020603050405020304"/>
              </a:rPr>
              <a:t>various</a:t>
            </a:r>
            <a:r>
              <a:rPr sz="2000" spc="459" dirty="0">
                <a:latin typeface="Times New Roman" panose="02020603050405020304"/>
                <a:cs typeface="Times New Roman" panose="02020603050405020304"/>
              </a:rPr>
              <a:t> </a:t>
            </a:r>
            <a:r>
              <a:rPr sz="2000" dirty="0">
                <a:latin typeface="Times New Roman" panose="02020603050405020304"/>
                <a:cs typeface="Times New Roman" panose="02020603050405020304"/>
              </a:rPr>
              <a:t>types</a:t>
            </a:r>
            <a:r>
              <a:rPr sz="2000" spc="46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46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real-world</a:t>
            </a:r>
            <a:endParaRPr sz="2000">
              <a:latin typeface="Times New Roman" panose="02020603050405020304"/>
              <a:cs typeface="Times New Roman" panose="02020603050405020304"/>
            </a:endParaRPr>
          </a:p>
          <a:p>
            <a:pPr marL="528320">
              <a:lnSpc>
                <a:spcPct val="100000"/>
              </a:lnSpc>
              <a:spcBef>
                <a:spcPts val="5"/>
              </a:spcBef>
            </a:pPr>
            <a:r>
              <a:rPr sz="2000" dirty="0">
                <a:latin typeface="Times New Roman" panose="02020603050405020304"/>
                <a:cs typeface="Times New Roman" panose="02020603050405020304"/>
              </a:rPr>
              <a:t>computation</a:t>
            </a:r>
            <a:r>
              <a:rPr sz="2000" spc="-4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problems.</a:t>
            </a:r>
            <a:endParaRPr sz="2000">
              <a:latin typeface="Times New Roman" panose="02020603050405020304"/>
              <a:cs typeface="Times New Roman" panose="02020603050405020304"/>
            </a:endParaRPr>
          </a:p>
          <a:p>
            <a:pPr marL="213995">
              <a:lnSpc>
                <a:spcPct val="100000"/>
              </a:lnSpc>
              <a:spcBef>
                <a:spcPts val="575"/>
              </a:spcBef>
            </a:pPr>
            <a:r>
              <a:rPr sz="2000" b="1" spc="-10" dirty="0">
                <a:latin typeface="Times New Roman" panose="02020603050405020304"/>
                <a:cs typeface="Times New Roman" panose="02020603050405020304"/>
              </a:rPr>
              <a:t>Disadvantages:-</a:t>
            </a:r>
            <a:endParaRPr sz="2000">
              <a:latin typeface="Times New Roman" panose="02020603050405020304"/>
              <a:cs typeface="Times New Roman" panose="02020603050405020304"/>
            </a:endParaRPr>
          </a:p>
          <a:p>
            <a:pPr marL="213995">
              <a:lnSpc>
                <a:spcPct val="100000"/>
              </a:lnSpc>
            </a:pPr>
            <a:r>
              <a:rPr sz="2000" dirty="0">
                <a:latin typeface="Times New Roman" panose="02020603050405020304"/>
                <a:cs typeface="Times New Roman" panose="02020603050405020304"/>
              </a:rPr>
              <a:t>Classifying</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big</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challenging.</a:t>
            </a:r>
            <a:endParaRPr sz="2000">
              <a:latin typeface="Times New Roman" panose="02020603050405020304"/>
              <a:cs typeface="Times New Roman" panose="02020603050405020304"/>
            </a:endParaRPr>
          </a:p>
          <a:p>
            <a:pPr marL="213995" marR="5080">
              <a:lnSpc>
                <a:spcPct val="100000"/>
              </a:lnSpc>
            </a:pPr>
            <a:r>
              <a:rPr sz="2000" dirty="0">
                <a:latin typeface="Times New Roman" panose="02020603050405020304"/>
                <a:cs typeface="Times New Roman" panose="02020603050405020304"/>
              </a:rPr>
              <a:t>Training</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for</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supervised</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needs</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lot</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computation</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time. So,</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it</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requires</a:t>
            </a:r>
            <a:r>
              <a:rPr sz="2000" spc="-45" dirty="0">
                <a:latin typeface="Times New Roman" panose="02020603050405020304"/>
                <a:cs typeface="Times New Roman" panose="02020603050405020304"/>
              </a:rPr>
              <a:t> </a:t>
            </a:r>
            <a:r>
              <a:rPr sz="2000" spc="-50" dirty="0">
                <a:latin typeface="Times New Roman" panose="02020603050405020304"/>
                <a:cs typeface="Times New Roman" panose="02020603050405020304"/>
              </a:rPr>
              <a:t>a </a:t>
            </a:r>
            <a:r>
              <a:rPr sz="2000" dirty="0">
                <a:latin typeface="Times New Roman" panose="02020603050405020304"/>
                <a:cs typeface="Times New Roman" panose="02020603050405020304"/>
              </a:rPr>
              <a:t>lot</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10" dirty="0">
                <a:latin typeface="Times New Roman" panose="02020603050405020304"/>
                <a:cs typeface="Times New Roman" panose="02020603050405020304"/>
              </a:rPr>
              <a:t> time.</a:t>
            </a:r>
            <a:endParaRPr sz="2000">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2257" y="170942"/>
            <a:ext cx="6577965" cy="566420"/>
          </a:xfrm>
          <a:prstGeom prst="rect">
            <a:avLst/>
          </a:prstGeom>
        </p:spPr>
        <p:txBody>
          <a:bodyPr vert="horz" wrap="square" lIns="0" tIns="12700" rIns="0" bIns="0" rtlCol="0">
            <a:spAutoFit/>
          </a:bodyPr>
          <a:lstStyle/>
          <a:p>
            <a:pPr marL="12700">
              <a:lnSpc>
                <a:spcPct val="100000"/>
              </a:lnSpc>
              <a:spcBef>
                <a:spcPts val="100"/>
              </a:spcBef>
            </a:pPr>
            <a:r>
              <a:rPr sz="3600" dirty="0"/>
              <a:t>Concepts</a:t>
            </a:r>
            <a:r>
              <a:rPr sz="3600" spc="-45" dirty="0"/>
              <a:t> </a:t>
            </a:r>
            <a:r>
              <a:rPr sz="3600" dirty="0"/>
              <a:t>in</a:t>
            </a:r>
            <a:r>
              <a:rPr sz="3600" spc="-225" dirty="0"/>
              <a:t> </a:t>
            </a:r>
            <a:r>
              <a:rPr sz="3600" dirty="0"/>
              <a:t>Artificial</a:t>
            </a:r>
            <a:r>
              <a:rPr sz="3600" spc="-35" dirty="0"/>
              <a:t> </a:t>
            </a:r>
            <a:r>
              <a:rPr sz="3600" spc="-10" dirty="0"/>
              <a:t>Intelligence</a:t>
            </a:r>
            <a:endParaRPr sz="3600"/>
          </a:p>
        </p:txBody>
      </p:sp>
      <p:sp>
        <p:nvSpPr>
          <p:cNvPr id="3" name="object 3"/>
          <p:cNvSpPr txBox="1"/>
          <p:nvPr/>
        </p:nvSpPr>
        <p:spPr>
          <a:xfrm>
            <a:off x="1821891" y="695429"/>
            <a:ext cx="8484235" cy="2710180"/>
          </a:xfrm>
          <a:prstGeom prst="rect">
            <a:avLst/>
          </a:prstGeom>
        </p:spPr>
        <p:txBody>
          <a:bodyPr vert="horz" wrap="square" lIns="0" tIns="118745" rIns="0" bIns="0" rtlCol="0">
            <a:spAutoFit/>
          </a:bodyPr>
          <a:lstStyle/>
          <a:p>
            <a:pPr marL="12700">
              <a:lnSpc>
                <a:spcPct val="100000"/>
              </a:lnSpc>
              <a:spcBef>
                <a:spcPts val="935"/>
              </a:spcBef>
            </a:pPr>
            <a:r>
              <a:rPr sz="2200" b="1" dirty="0">
                <a:latin typeface="Times New Roman" panose="02020603050405020304"/>
                <a:cs typeface="Times New Roman" panose="02020603050405020304"/>
              </a:rPr>
              <a:t>Unsupervised</a:t>
            </a:r>
            <a:r>
              <a:rPr sz="2200" b="1" spc="-70"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learning</a:t>
            </a:r>
            <a:r>
              <a:rPr sz="2200" b="1" spc="-75"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Machine</a:t>
            </a:r>
            <a:r>
              <a:rPr sz="2200" b="1" spc="-75" dirty="0">
                <a:latin typeface="Times New Roman" panose="02020603050405020304"/>
                <a:cs typeface="Times New Roman" panose="02020603050405020304"/>
              </a:rPr>
              <a:t> </a:t>
            </a:r>
            <a:r>
              <a:rPr sz="2200" b="1" spc="-10" dirty="0">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a:p>
            <a:pPr marL="379095" algn="just">
              <a:lnSpc>
                <a:spcPct val="100000"/>
              </a:lnSpc>
              <a:spcBef>
                <a:spcPts val="770"/>
              </a:spcBef>
            </a:pPr>
            <a:r>
              <a:rPr sz="2000" dirty="0">
                <a:latin typeface="Times New Roman" panose="02020603050405020304"/>
                <a:cs typeface="Times New Roman" panose="02020603050405020304"/>
              </a:rPr>
              <a:t>Unsupervised</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classified</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into</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two</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categories</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algorithms:</a:t>
            </a:r>
            <a:endParaRPr sz="2000">
              <a:latin typeface="Times New Roman" panose="02020603050405020304"/>
              <a:cs typeface="Times New Roman" panose="02020603050405020304"/>
            </a:endParaRPr>
          </a:p>
          <a:p>
            <a:pPr marL="379095" marR="5080" indent="63500" algn="just">
              <a:lnSpc>
                <a:spcPct val="100000"/>
              </a:lnSpc>
              <a:spcBef>
                <a:spcPts val="1200"/>
              </a:spcBef>
            </a:pPr>
            <a:r>
              <a:rPr sz="2000" b="1" dirty="0">
                <a:latin typeface="Times New Roman" panose="02020603050405020304"/>
                <a:cs typeface="Times New Roman" panose="02020603050405020304"/>
              </a:rPr>
              <a:t>Clustering:</a:t>
            </a:r>
            <a:r>
              <a:rPr sz="2000" b="1" spc="1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clustering</a:t>
            </a:r>
            <a:r>
              <a:rPr sz="2000" spc="135"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problem</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135" dirty="0">
                <a:latin typeface="Times New Roman" panose="02020603050405020304"/>
                <a:cs typeface="Times New Roman" panose="02020603050405020304"/>
              </a:rPr>
              <a:t> </a:t>
            </a:r>
            <a:r>
              <a:rPr sz="2000" dirty="0">
                <a:latin typeface="Times New Roman" panose="02020603050405020304"/>
                <a:cs typeface="Times New Roman" panose="02020603050405020304"/>
              </a:rPr>
              <a:t>where</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you</a:t>
            </a:r>
            <a:r>
              <a:rPr sz="2000" spc="140" dirty="0">
                <a:latin typeface="Times New Roman" panose="02020603050405020304"/>
                <a:cs typeface="Times New Roman" panose="02020603050405020304"/>
              </a:rPr>
              <a:t> </a:t>
            </a:r>
            <a:r>
              <a:rPr sz="2000" dirty="0">
                <a:latin typeface="Times New Roman" panose="02020603050405020304"/>
                <a:cs typeface="Times New Roman" panose="02020603050405020304"/>
              </a:rPr>
              <a:t>want</a:t>
            </a:r>
            <a:r>
              <a:rPr sz="2000" spc="13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discover</a:t>
            </a:r>
            <a:r>
              <a:rPr sz="2000" spc="14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inherent </a:t>
            </a:r>
            <a:r>
              <a:rPr sz="2000" dirty="0">
                <a:latin typeface="Times New Roman" panose="02020603050405020304"/>
                <a:cs typeface="Times New Roman" panose="02020603050405020304"/>
              </a:rPr>
              <a:t>groupings</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such</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grouping</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customers</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by</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purchasing</a:t>
            </a:r>
            <a:r>
              <a:rPr sz="2000" spc="-4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behavior.</a:t>
            </a:r>
            <a:endParaRPr sz="2000">
              <a:latin typeface="Times New Roman" panose="02020603050405020304"/>
              <a:cs typeface="Times New Roman" panose="02020603050405020304"/>
            </a:endParaRPr>
          </a:p>
          <a:p>
            <a:pPr marL="379095" marR="6985" algn="just">
              <a:lnSpc>
                <a:spcPct val="100000"/>
              </a:lnSpc>
              <a:spcBef>
                <a:spcPts val="1200"/>
              </a:spcBef>
            </a:pPr>
            <a:r>
              <a:rPr sz="2000" b="1" dirty="0">
                <a:latin typeface="Times New Roman" panose="02020603050405020304"/>
                <a:cs typeface="Times New Roman" panose="02020603050405020304"/>
              </a:rPr>
              <a:t>Association:</a:t>
            </a:r>
            <a:r>
              <a:rPr sz="2000" b="1"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association</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rule</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problem</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where</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you</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want</a:t>
            </a:r>
            <a:r>
              <a:rPr sz="2000" spc="3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to </a:t>
            </a:r>
            <a:r>
              <a:rPr sz="2000" dirty="0">
                <a:latin typeface="Times New Roman" panose="02020603050405020304"/>
                <a:cs typeface="Times New Roman" panose="02020603050405020304"/>
              </a:rPr>
              <a:t>discover</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rules</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that</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describe</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large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portions</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your</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such</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people</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that</a:t>
            </a:r>
            <a:r>
              <a:rPr sz="2000" spc="2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buy </a:t>
            </a:r>
            <a:r>
              <a:rPr sz="2000" dirty="0">
                <a:latin typeface="Times New Roman" panose="02020603050405020304"/>
                <a:cs typeface="Times New Roman" panose="02020603050405020304"/>
              </a:rPr>
              <a:t>X</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also</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tend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buy</a:t>
            </a:r>
            <a:r>
              <a:rPr sz="2000" spc="-10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Y.</a:t>
            </a:r>
            <a:endParaRPr sz="20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4515611" y="3200400"/>
            <a:ext cx="5867399" cy="3251531"/>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2257" y="170942"/>
            <a:ext cx="6577965" cy="566420"/>
          </a:xfrm>
          <a:prstGeom prst="rect">
            <a:avLst/>
          </a:prstGeom>
        </p:spPr>
        <p:txBody>
          <a:bodyPr vert="horz" wrap="square" lIns="0" tIns="12700" rIns="0" bIns="0" rtlCol="0">
            <a:spAutoFit/>
          </a:bodyPr>
          <a:lstStyle/>
          <a:p>
            <a:pPr marL="12700">
              <a:lnSpc>
                <a:spcPct val="100000"/>
              </a:lnSpc>
              <a:spcBef>
                <a:spcPts val="100"/>
              </a:spcBef>
            </a:pPr>
            <a:r>
              <a:rPr sz="3600" dirty="0"/>
              <a:t>Concepts</a:t>
            </a:r>
            <a:r>
              <a:rPr sz="3600" spc="-45" dirty="0"/>
              <a:t> </a:t>
            </a:r>
            <a:r>
              <a:rPr sz="3600" dirty="0"/>
              <a:t>in</a:t>
            </a:r>
            <a:r>
              <a:rPr sz="3600" spc="-225" dirty="0"/>
              <a:t> </a:t>
            </a:r>
            <a:r>
              <a:rPr sz="3600" dirty="0"/>
              <a:t>Artificial</a:t>
            </a:r>
            <a:r>
              <a:rPr sz="3600" spc="-35" dirty="0"/>
              <a:t> </a:t>
            </a:r>
            <a:r>
              <a:rPr sz="3600" spc="-10" dirty="0"/>
              <a:t>Intelligence</a:t>
            </a:r>
            <a:endParaRPr sz="3600"/>
          </a:p>
        </p:txBody>
      </p:sp>
      <p:pic>
        <p:nvPicPr>
          <p:cNvPr id="3" name="object 3"/>
          <p:cNvPicPr/>
          <p:nvPr/>
        </p:nvPicPr>
        <p:blipFill>
          <a:blip r:embed="rId1" cstate="print"/>
          <a:stretch>
            <a:fillRect/>
          </a:stretch>
        </p:blipFill>
        <p:spPr>
          <a:xfrm>
            <a:off x="1723644" y="4418076"/>
            <a:ext cx="4482084" cy="2095500"/>
          </a:xfrm>
          <a:prstGeom prst="rect">
            <a:avLst/>
          </a:prstGeom>
        </p:spPr>
      </p:pic>
      <p:sp>
        <p:nvSpPr>
          <p:cNvPr id="4" name="object 4"/>
          <p:cNvSpPr txBox="1"/>
          <p:nvPr/>
        </p:nvSpPr>
        <p:spPr>
          <a:xfrm>
            <a:off x="1821891" y="674693"/>
            <a:ext cx="8616950" cy="4895850"/>
          </a:xfrm>
          <a:prstGeom prst="rect">
            <a:avLst/>
          </a:prstGeom>
        </p:spPr>
        <p:txBody>
          <a:bodyPr vert="horz" wrap="square" lIns="0" tIns="139065" rIns="0" bIns="0" rtlCol="0">
            <a:spAutoFit/>
          </a:bodyPr>
          <a:lstStyle/>
          <a:p>
            <a:pPr marL="12700" algn="just">
              <a:lnSpc>
                <a:spcPct val="100000"/>
              </a:lnSpc>
              <a:spcBef>
                <a:spcPts val="1095"/>
              </a:spcBef>
            </a:pPr>
            <a:r>
              <a:rPr sz="2200" b="1" dirty="0">
                <a:latin typeface="Times New Roman" panose="02020603050405020304"/>
                <a:cs typeface="Times New Roman" panose="02020603050405020304"/>
              </a:rPr>
              <a:t>Unsupervised</a:t>
            </a:r>
            <a:r>
              <a:rPr sz="2200" b="1" spc="-70"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learning</a:t>
            </a:r>
            <a:r>
              <a:rPr sz="2200" b="1" spc="-75"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Machine</a:t>
            </a:r>
            <a:r>
              <a:rPr sz="2200" b="1" spc="-75" dirty="0">
                <a:latin typeface="Times New Roman" panose="02020603050405020304"/>
                <a:cs typeface="Times New Roman" panose="02020603050405020304"/>
              </a:rPr>
              <a:t> </a:t>
            </a:r>
            <a:r>
              <a:rPr sz="2200" b="1" spc="-10" dirty="0">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a:p>
            <a:pPr marL="379095" marR="518795" algn="just">
              <a:lnSpc>
                <a:spcPct val="100000"/>
              </a:lnSpc>
              <a:spcBef>
                <a:spcPts val="920"/>
              </a:spcBef>
            </a:pPr>
            <a:r>
              <a:rPr sz="2000" dirty="0">
                <a:latin typeface="Times New Roman" panose="02020603050405020304"/>
                <a:cs typeface="Times New Roman" panose="02020603050405020304"/>
              </a:rPr>
              <a:t>Unsupervised</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 is</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training of</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using information</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that </a:t>
            </a:r>
            <a:r>
              <a:rPr sz="2000" spc="-25" dirty="0">
                <a:latin typeface="Times New Roman" panose="02020603050405020304"/>
                <a:cs typeface="Times New Roman" panose="02020603050405020304"/>
              </a:rPr>
              <a:t>is </a:t>
            </a:r>
            <a:r>
              <a:rPr sz="2000" dirty="0">
                <a:latin typeface="Times New Roman" panose="02020603050405020304"/>
                <a:cs typeface="Times New Roman" panose="02020603050405020304"/>
              </a:rPr>
              <a:t>neither</a:t>
            </a:r>
            <a:r>
              <a:rPr sz="2000" spc="415" dirty="0">
                <a:latin typeface="Times New Roman" panose="02020603050405020304"/>
                <a:cs typeface="Times New Roman" panose="02020603050405020304"/>
              </a:rPr>
              <a:t> </a:t>
            </a:r>
            <a:r>
              <a:rPr sz="2000" dirty="0">
                <a:latin typeface="Times New Roman" panose="02020603050405020304"/>
                <a:cs typeface="Times New Roman" panose="02020603050405020304"/>
              </a:rPr>
              <a:t>classified</a:t>
            </a:r>
            <a:r>
              <a:rPr sz="2000" spc="405" dirty="0">
                <a:latin typeface="Times New Roman" panose="02020603050405020304"/>
                <a:cs typeface="Times New Roman" panose="02020603050405020304"/>
              </a:rPr>
              <a:t> </a:t>
            </a:r>
            <a:r>
              <a:rPr sz="2000" dirty="0">
                <a:latin typeface="Times New Roman" panose="02020603050405020304"/>
                <a:cs typeface="Times New Roman" panose="02020603050405020304"/>
              </a:rPr>
              <a:t>nor</a:t>
            </a:r>
            <a:r>
              <a:rPr sz="2000" spc="409" dirty="0">
                <a:latin typeface="Times New Roman" panose="02020603050405020304"/>
                <a:cs typeface="Times New Roman" panose="02020603050405020304"/>
              </a:rPr>
              <a:t> </a:t>
            </a:r>
            <a:r>
              <a:rPr sz="2000" dirty="0">
                <a:latin typeface="Times New Roman" panose="02020603050405020304"/>
                <a:cs typeface="Times New Roman" panose="02020603050405020304"/>
              </a:rPr>
              <a:t>labeled</a:t>
            </a:r>
            <a:r>
              <a:rPr sz="2000" spc="409"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4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allowing</a:t>
            </a:r>
            <a:r>
              <a:rPr sz="2000" spc="409"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409" dirty="0">
                <a:latin typeface="Times New Roman" panose="02020603050405020304"/>
                <a:cs typeface="Times New Roman" panose="02020603050405020304"/>
              </a:rPr>
              <a:t> </a:t>
            </a:r>
            <a:r>
              <a:rPr sz="2000" dirty="0">
                <a:latin typeface="Times New Roman" panose="02020603050405020304"/>
                <a:cs typeface="Times New Roman" panose="02020603050405020304"/>
              </a:rPr>
              <a:t>algorithm</a:t>
            </a:r>
            <a:r>
              <a:rPr sz="2000" spc="40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4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act</a:t>
            </a:r>
            <a:r>
              <a:rPr sz="2000" spc="400" dirty="0">
                <a:latin typeface="Times New Roman" panose="02020603050405020304"/>
                <a:cs typeface="Times New Roman" panose="02020603050405020304"/>
              </a:rPr>
              <a:t> </a:t>
            </a:r>
            <a:r>
              <a:rPr sz="2000" dirty="0">
                <a:latin typeface="Times New Roman" panose="02020603050405020304"/>
                <a:cs typeface="Times New Roman" panose="02020603050405020304"/>
              </a:rPr>
              <a:t>on</a:t>
            </a:r>
            <a:r>
              <a:rPr sz="2000" spc="415"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that </a:t>
            </a:r>
            <a:r>
              <a:rPr sz="2000" dirty="0">
                <a:latin typeface="Times New Roman" panose="02020603050405020304"/>
                <a:cs typeface="Times New Roman" panose="02020603050405020304"/>
              </a:rPr>
              <a:t>information</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without</a:t>
            </a:r>
            <a:r>
              <a:rPr sz="2000" spc="-4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guidance.</a:t>
            </a:r>
            <a:endParaRPr sz="2000">
              <a:latin typeface="Times New Roman" panose="02020603050405020304"/>
              <a:cs typeface="Times New Roman" panose="02020603050405020304"/>
            </a:endParaRPr>
          </a:p>
          <a:p>
            <a:pPr marL="379095" marR="522605" algn="just">
              <a:lnSpc>
                <a:spcPct val="100000"/>
              </a:lnSpc>
            </a:pPr>
            <a:r>
              <a:rPr sz="2000" dirty="0">
                <a:latin typeface="Times New Roman" panose="02020603050405020304"/>
                <a:cs typeface="Times New Roman" panose="02020603050405020304"/>
              </a:rPr>
              <a:t>Here</a:t>
            </a:r>
            <a:r>
              <a:rPr sz="2000" spc="6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70" dirty="0">
                <a:latin typeface="Times New Roman" panose="02020603050405020304"/>
                <a:cs typeface="Times New Roman" panose="02020603050405020304"/>
              </a:rPr>
              <a:t> </a:t>
            </a:r>
            <a:r>
              <a:rPr sz="2000" dirty="0">
                <a:latin typeface="Times New Roman" panose="02020603050405020304"/>
                <a:cs typeface="Times New Roman" panose="02020603050405020304"/>
              </a:rPr>
              <a:t>task</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6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65" dirty="0">
                <a:latin typeface="Times New Roman" panose="02020603050405020304"/>
                <a:cs typeface="Times New Roman" panose="02020603050405020304"/>
              </a:rPr>
              <a:t> </a:t>
            </a:r>
            <a:r>
              <a:rPr sz="2000" dirty="0">
                <a:latin typeface="Times New Roman" panose="02020603050405020304"/>
                <a:cs typeface="Times New Roman" panose="02020603050405020304"/>
              </a:rPr>
              <a:t>group</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unsorted</a:t>
            </a:r>
            <a:r>
              <a:rPr sz="2000" spc="7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information</a:t>
            </a:r>
            <a:r>
              <a:rPr sz="2000" spc="75" dirty="0">
                <a:latin typeface="Times New Roman" panose="02020603050405020304"/>
                <a:cs typeface="Times New Roman" panose="02020603050405020304"/>
              </a:rPr>
              <a:t> </a:t>
            </a:r>
            <a:r>
              <a:rPr sz="2000" dirty="0">
                <a:latin typeface="Times New Roman" panose="02020603050405020304"/>
                <a:cs typeface="Times New Roman" panose="02020603050405020304"/>
              </a:rPr>
              <a:t>according</a:t>
            </a:r>
            <a:r>
              <a:rPr sz="2000" spc="5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to </a:t>
            </a:r>
            <a:r>
              <a:rPr sz="2000" dirty="0">
                <a:latin typeface="Times New Roman" panose="02020603050405020304"/>
                <a:cs typeface="Times New Roman" panose="02020603050405020304"/>
              </a:rPr>
              <a:t>similarities,</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patterns,</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differences</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without</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any</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prior</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training</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data.</a:t>
            </a:r>
            <a:endParaRPr sz="2000">
              <a:latin typeface="Times New Roman" panose="02020603050405020304"/>
              <a:cs typeface="Times New Roman" panose="02020603050405020304"/>
            </a:endParaRPr>
          </a:p>
          <a:p>
            <a:pPr marL="379095" marR="519430" algn="just">
              <a:lnSpc>
                <a:spcPct val="100000"/>
              </a:lnSpc>
            </a:pPr>
            <a:r>
              <a:rPr sz="2000" dirty="0">
                <a:latin typeface="Times New Roman" panose="02020603050405020304"/>
                <a:cs typeface="Times New Roman" panose="02020603050405020304"/>
              </a:rPr>
              <a:t>Unlike</a:t>
            </a:r>
            <a:r>
              <a:rPr sz="2000" spc="195" dirty="0">
                <a:latin typeface="Times New Roman" panose="02020603050405020304"/>
                <a:cs typeface="Times New Roman" panose="02020603050405020304"/>
              </a:rPr>
              <a:t> </a:t>
            </a:r>
            <a:r>
              <a:rPr sz="2000" dirty="0">
                <a:latin typeface="Times New Roman" panose="02020603050405020304"/>
                <a:cs typeface="Times New Roman" panose="02020603050405020304"/>
              </a:rPr>
              <a:t>supervised</a:t>
            </a:r>
            <a:r>
              <a:rPr sz="2000" spc="200"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200" dirty="0">
                <a:latin typeface="Times New Roman" panose="02020603050405020304"/>
                <a:cs typeface="Times New Roman" panose="02020603050405020304"/>
              </a:rPr>
              <a:t> </a:t>
            </a:r>
            <a:r>
              <a:rPr sz="2000" dirty="0">
                <a:latin typeface="Times New Roman" panose="02020603050405020304"/>
                <a:cs typeface="Times New Roman" panose="02020603050405020304"/>
              </a:rPr>
              <a:t>no</a:t>
            </a:r>
            <a:r>
              <a:rPr sz="2000" spc="195" dirty="0">
                <a:latin typeface="Times New Roman" panose="02020603050405020304"/>
                <a:cs typeface="Times New Roman" panose="02020603050405020304"/>
              </a:rPr>
              <a:t> </a:t>
            </a:r>
            <a:r>
              <a:rPr sz="2000" dirty="0">
                <a:latin typeface="Times New Roman" panose="02020603050405020304"/>
                <a:cs typeface="Times New Roman" panose="02020603050405020304"/>
              </a:rPr>
              <a:t>teacher</a:t>
            </a:r>
            <a:r>
              <a:rPr sz="2000" spc="19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180"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provided</a:t>
            </a:r>
            <a:r>
              <a:rPr sz="2000" spc="20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that</a:t>
            </a:r>
            <a:r>
              <a:rPr sz="2000" spc="190" dirty="0">
                <a:latin typeface="Times New Roman" panose="02020603050405020304"/>
                <a:cs typeface="Times New Roman" panose="02020603050405020304"/>
              </a:rPr>
              <a:t> </a:t>
            </a:r>
            <a:r>
              <a:rPr sz="2000" dirty="0">
                <a:latin typeface="Times New Roman" panose="02020603050405020304"/>
                <a:cs typeface="Times New Roman" panose="02020603050405020304"/>
              </a:rPr>
              <a:t>means</a:t>
            </a:r>
            <a:r>
              <a:rPr sz="2000" spc="185" dirty="0">
                <a:latin typeface="Times New Roman" panose="02020603050405020304"/>
                <a:cs typeface="Times New Roman" panose="02020603050405020304"/>
              </a:rPr>
              <a:t> </a:t>
            </a:r>
            <a:r>
              <a:rPr sz="2000" dirty="0">
                <a:latin typeface="Times New Roman" panose="02020603050405020304"/>
                <a:cs typeface="Times New Roman" panose="02020603050405020304"/>
              </a:rPr>
              <a:t>no</a:t>
            </a:r>
            <a:r>
              <a:rPr sz="2000" spc="2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training </a:t>
            </a:r>
            <a:r>
              <a:rPr sz="2000" dirty="0">
                <a:latin typeface="Times New Roman" panose="02020603050405020304"/>
                <a:cs typeface="Times New Roman" panose="02020603050405020304"/>
              </a:rPr>
              <a:t>will be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given</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Therefore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restricted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find</a:t>
            </a:r>
            <a:r>
              <a:rPr sz="2000" spc="2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the </a:t>
            </a:r>
            <a:r>
              <a:rPr sz="2000" dirty="0">
                <a:latin typeface="Times New Roman" panose="02020603050405020304"/>
                <a:cs typeface="Times New Roman" panose="02020603050405020304"/>
              </a:rPr>
              <a:t>hidden</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structure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unlabeled</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by</a:t>
            </a:r>
            <a:r>
              <a:rPr sz="2000" spc="-1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itself.</a:t>
            </a:r>
            <a:endParaRPr sz="2000">
              <a:latin typeface="Times New Roman" panose="02020603050405020304"/>
              <a:cs typeface="Times New Roman" panose="02020603050405020304"/>
            </a:endParaRPr>
          </a:p>
          <a:p>
            <a:pPr marL="379095" marR="520065" algn="just">
              <a:lnSpc>
                <a:spcPct val="100000"/>
              </a:lnSpc>
              <a:spcBef>
                <a:spcPts val="5"/>
              </a:spcBef>
            </a:pPr>
            <a:r>
              <a:rPr sz="2000" dirty="0">
                <a:latin typeface="Times New Roman" panose="02020603050405020304"/>
                <a:cs typeface="Times New Roman" panose="02020603050405020304"/>
              </a:rPr>
              <a:t>For</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instance,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suppose</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it</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given</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image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having</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both</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dogs</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cats</a:t>
            </a:r>
            <a:r>
              <a:rPr sz="2000" spc="3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which </a:t>
            </a:r>
            <a:r>
              <a:rPr sz="2000" dirty="0">
                <a:latin typeface="Times New Roman" panose="02020603050405020304"/>
                <a:cs typeface="Times New Roman" panose="02020603050405020304"/>
              </a:rPr>
              <a:t>it</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has</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never</a:t>
            </a:r>
            <a:r>
              <a:rPr sz="2000" spc="-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seen.</a:t>
            </a:r>
            <a:endParaRPr sz="2000">
              <a:latin typeface="Times New Roman" panose="02020603050405020304"/>
              <a:cs typeface="Times New Roman" panose="02020603050405020304"/>
            </a:endParaRPr>
          </a:p>
          <a:p>
            <a:pPr marL="4556125" marR="5080" indent="-342900" algn="just">
              <a:lnSpc>
                <a:spcPts val="2400"/>
              </a:lnSpc>
              <a:spcBef>
                <a:spcPts val="5"/>
              </a:spcBef>
              <a:buFont typeface="Microsoft Sans Serif" panose="020B0604020202020204"/>
              <a:buChar char="•"/>
              <a:tabLst>
                <a:tab pos="4556125" algn="l"/>
                <a:tab pos="4558665" algn="l"/>
              </a:tabLst>
            </a:pPr>
            <a:r>
              <a:rPr sz="2000" dirty="0">
                <a:latin typeface="Times New Roman" panose="02020603050405020304"/>
                <a:cs typeface="Times New Roman" panose="02020603050405020304"/>
              </a:rPr>
              <a:t>	Thus</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has</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no</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idea</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about</a:t>
            </a:r>
            <a:r>
              <a:rPr sz="2000" spc="2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the </a:t>
            </a:r>
            <a:r>
              <a:rPr sz="2000" dirty="0">
                <a:latin typeface="Times New Roman" panose="02020603050405020304"/>
                <a:cs typeface="Times New Roman" panose="02020603050405020304"/>
              </a:rPr>
              <a:t>features</a:t>
            </a:r>
            <a:r>
              <a:rPr sz="2000" spc="33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340" dirty="0">
                <a:latin typeface="Times New Roman" panose="02020603050405020304"/>
                <a:cs typeface="Times New Roman" panose="02020603050405020304"/>
              </a:rPr>
              <a:t> </a:t>
            </a:r>
            <a:r>
              <a:rPr sz="2000" dirty="0">
                <a:latin typeface="Times New Roman" panose="02020603050405020304"/>
                <a:cs typeface="Times New Roman" panose="02020603050405020304"/>
              </a:rPr>
              <a:t>dogs</a:t>
            </a:r>
            <a:r>
              <a:rPr sz="2000" spc="36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35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cats</a:t>
            </a:r>
            <a:r>
              <a:rPr sz="2000" spc="335" dirty="0">
                <a:latin typeface="Times New Roman" panose="02020603050405020304"/>
                <a:cs typeface="Times New Roman" panose="02020603050405020304"/>
              </a:rPr>
              <a:t> </a:t>
            </a:r>
            <a:r>
              <a:rPr sz="2000" dirty="0">
                <a:latin typeface="Times New Roman" panose="02020603050405020304"/>
                <a:cs typeface="Times New Roman" panose="02020603050405020304"/>
              </a:rPr>
              <a:t>so</a:t>
            </a:r>
            <a:r>
              <a:rPr sz="2000" spc="345" dirty="0">
                <a:latin typeface="Times New Roman" panose="02020603050405020304"/>
                <a:cs typeface="Times New Roman" panose="02020603050405020304"/>
              </a:rPr>
              <a:t> </a:t>
            </a:r>
            <a:r>
              <a:rPr sz="2000" dirty="0">
                <a:latin typeface="Times New Roman" panose="02020603050405020304"/>
                <a:cs typeface="Times New Roman" panose="02020603050405020304"/>
              </a:rPr>
              <a:t>we</a:t>
            </a:r>
            <a:r>
              <a:rPr sz="2000" spc="34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can’t </a:t>
            </a:r>
            <a:r>
              <a:rPr sz="2000" dirty="0">
                <a:latin typeface="Times New Roman" panose="02020603050405020304"/>
                <a:cs typeface="Times New Roman" panose="02020603050405020304"/>
              </a:rPr>
              <a:t>categorize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it</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‘dogs</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1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cats‘.</a:t>
            </a:r>
            <a:endParaRPr sz="2000">
              <a:latin typeface="Times New Roman" panose="02020603050405020304"/>
              <a:cs typeface="Times New Roman" panose="02020603050405020304"/>
            </a:endParaRPr>
          </a:p>
          <a:p>
            <a:pPr marL="4558665" indent="-345440" algn="just">
              <a:lnSpc>
                <a:spcPts val="2325"/>
              </a:lnSpc>
              <a:buFont typeface="Microsoft Sans Serif" panose="020B0604020202020204"/>
              <a:buChar char="•"/>
              <a:tabLst>
                <a:tab pos="4558665" algn="l"/>
              </a:tabLst>
            </a:pPr>
            <a:r>
              <a:rPr sz="2000" dirty="0">
                <a:latin typeface="Times New Roman" panose="02020603050405020304"/>
                <a:cs typeface="Times New Roman" panose="02020603050405020304"/>
              </a:rPr>
              <a:t>But</a:t>
            </a:r>
            <a:r>
              <a:rPr sz="2000" spc="70" dirty="0">
                <a:latin typeface="Times New Roman" panose="02020603050405020304"/>
                <a:cs typeface="Times New Roman" panose="02020603050405020304"/>
              </a:rPr>
              <a:t> </a:t>
            </a:r>
            <a:r>
              <a:rPr sz="2000" dirty="0">
                <a:latin typeface="Times New Roman" panose="02020603050405020304"/>
                <a:cs typeface="Times New Roman" panose="02020603050405020304"/>
              </a:rPr>
              <a:t>it</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65" dirty="0">
                <a:latin typeface="Times New Roman" panose="02020603050405020304"/>
                <a:cs typeface="Times New Roman" panose="02020603050405020304"/>
              </a:rPr>
              <a:t> </a:t>
            </a:r>
            <a:r>
              <a:rPr sz="2000" dirty="0">
                <a:latin typeface="Times New Roman" panose="02020603050405020304"/>
                <a:cs typeface="Times New Roman" panose="02020603050405020304"/>
              </a:rPr>
              <a:t>categorize</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them</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according</a:t>
            </a:r>
            <a:r>
              <a:rPr sz="2000" spc="6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to</a:t>
            </a:r>
            <a:endParaRPr sz="2000">
              <a:latin typeface="Times New Roman" panose="02020603050405020304"/>
              <a:cs typeface="Times New Roman" panose="02020603050405020304"/>
            </a:endParaRPr>
          </a:p>
        </p:txBody>
      </p:sp>
      <p:sp>
        <p:nvSpPr>
          <p:cNvPr id="5" name="object 5"/>
          <p:cNvSpPr txBox="1"/>
          <p:nvPr/>
        </p:nvSpPr>
        <p:spPr>
          <a:xfrm>
            <a:off x="6365875" y="5511495"/>
            <a:ext cx="3317240" cy="320040"/>
          </a:xfrm>
          <a:prstGeom prst="rect">
            <a:avLst/>
          </a:prstGeom>
        </p:spPr>
        <p:txBody>
          <a:bodyPr vert="horz" wrap="square" lIns="0" tIns="12700" rIns="0" bIns="0" rtlCol="0">
            <a:spAutoFit/>
          </a:bodyPr>
          <a:lstStyle/>
          <a:p>
            <a:pPr marL="12700">
              <a:lnSpc>
                <a:spcPct val="100000"/>
              </a:lnSpc>
              <a:spcBef>
                <a:spcPts val="100"/>
              </a:spcBef>
              <a:tabLst>
                <a:tab pos="864235" algn="l"/>
                <a:tab pos="2439035" algn="l"/>
              </a:tabLst>
            </a:pPr>
            <a:r>
              <a:rPr sz="2000" spc="-10" dirty="0">
                <a:latin typeface="Times New Roman" panose="02020603050405020304"/>
                <a:cs typeface="Times New Roman" panose="02020603050405020304"/>
              </a:rPr>
              <a:t>their</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similarities,</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patterns,</a:t>
            </a:r>
            <a:endParaRPr sz="2000">
              <a:latin typeface="Times New Roman" panose="02020603050405020304"/>
              <a:cs typeface="Times New Roman" panose="02020603050405020304"/>
            </a:endParaRPr>
          </a:p>
        </p:txBody>
      </p:sp>
      <p:sp>
        <p:nvSpPr>
          <p:cNvPr id="6" name="object 6"/>
          <p:cNvSpPr txBox="1"/>
          <p:nvPr/>
        </p:nvSpPr>
        <p:spPr>
          <a:xfrm>
            <a:off x="6365875" y="5511495"/>
            <a:ext cx="4073525" cy="628015"/>
          </a:xfrm>
          <a:prstGeom prst="rect">
            <a:avLst/>
          </a:prstGeom>
        </p:spPr>
        <p:txBody>
          <a:bodyPr vert="horz" wrap="square" lIns="0" tIns="12700" rIns="0" bIns="0" rtlCol="0">
            <a:spAutoFit/>
          </a:bodyPr>
          <a:lstStyle/>
          <a:p>
            <a:pPr marL="12700" marR="5080" indent="3679190">
              <a:lnSpc>
                <a:spcPct val="100000"/>
              </a:lnSpc>
              <a:spcBef>
                <a:spcPts val="100"/>
              </a:spcBef>
              <a:tabLst>
                <a:tab pos="1509395" algn="l"/>
                <a:tab pos="2195195" algn="l"/>
                <a:tab pos="2804795" algn="l"/>
                <a:tab pos="3469640" algn="l"/>
              </a:tabLst>
            </a:pPr>
            <a:r>
              <a:rPr sz="2000" spc="-25" dirty="0">
                <a:latin typeface="Times New Roman" panose="02020603050405020304"/>
                <a:cs typeface="Times New Roman" panose="02020603050405020304"/>
              </a:rPr>
              <a:t>and </a:t>
            </a:r>
            <a:r>
              <a:rPr sz="2000" spc="-10" dirty="0">
                <a:latin typeface="Times New Roman" panose="02020603050405020304"/>
                <a:cs typeface="Times New Roman" panose="02020603050405020304"/>
              </a:rPr>
              <a:t>differences,</a:t>
            </a:r>
            <a:r>
              <a:rPr sz="2000"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i.e.,</a:t>
            </a:r>
            <a:r>
              <a:rPr sz="200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we</a:t>
            </a:r>
            <a:r>
              <a:rPr sz="200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can</a:t>
            </a:r>
            <a:r>
              <a:rPr sz="20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easily</a:t>
            </a:r>
            <a:endParaRPr sz="2000">
              <a:latin typeface="Times New Roman" panose="02020603050405020304"/>
              <a:cs typeface="Times New Roman" panose="02020603050405020304"/>
            </a:endParaRPr>
          </a:p>
        </p:txBody>
      </p:sp>
      <p:sp>
        <p:nvSpPr>
          <p:cNvPr id="7" name="object 7"/>
          <p:cNvSpPr txBox="1"/>
          <p:nvPr/>
        </p:nvSpPr>
        <p:spPr>
          <a:xfrm>
            <a:off x="6365875" y="6121095"/>
            <a:ext cx="4070350" cy="62865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panose="02020603050405020304"/>
                <a:cs typeface="Times New Roman" panose="02020603050405020304"/>
              </a:rPr>
              <a:t>categorize</a:t>
            </a:r>
            <a:r>
              <a:rPr sz="2000" spc="434"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434" dirty="0">
                <a:latin typeface="Times New Roman" panose="02020603050405020304"/>
                <a:cs typeface="Times New Roman" panose="02020603050405020304"/>
              </a:rPr>
              <a:t> </a:t>
            </a:r>
            <a:r>
              <a:rPr sz="2000" dirty="0">
                <a:latin typeface="Times New Roman" panose="02020603050405020304"/>
                <a:cs typeface="Times New Roman" panose="02020603050405020304"/>
              </a:rPr>
              <a:t>above</a:t>
            </a:r>
            <a:r>
              <a:rPr sz="2000" spc="430" dirty="0">
                <a:latin typeface="Times New Roman" panose="02020603050405020304"/>
                <a:cs typeface="Times New Roman" panose="02020603050405020304"/>
              </a:rPr>
              <a:t> </a:t>
            </a:r>
            <a:r>
              <a:rPr sz="2000" dirty="0">
                <a:latin typeface="Times New Roman" panose="02020603050405020304"/>
                <a:cs typeface="Times New Roman" panose="02020603050405020304"/>
              </a:rPr>
              <a:t>picture</a:t>
            </a:r>
            <a:r>
              <a:rPr sz="2000" spc="42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into</a:t>
            </a:r>
            <a:r>
              <a:rPr sz="2000" spc="45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two</a:t>
            </a:r>
            <a:endParaRPr sz="2000">
              <a:latin typeface="Times New Roman" panose="02020603050405020304"/>
              <a:cs typeface="Times New Roman" panose="02020603050405020304"/>
            </a:endParaRPr>
          </a:p>
          <a:p>
            <a:pPr marL="12700">
              <a:lnSpc>
                <a:spcPct val="100000"/>
              </a:lnSpc>
              <a:spcBef>
                <a:spcPts val="5"/>
              </a:spcBef>
            </a:pPr>
            <a:r>
              <a:rPr sz="2000" spc="-10" dirty="0">
                <a:latin typeface="Times New Roman" panose="02020603050405020304"/>
                <a:cs typeface="Times New Roman" panose="02020603050405020304"/>
              </a:rPr>
              <a:t>parts.</a:t>
            </a:r>
            <a:endParaRPr sz="2000">
              <a:latin typeface="Times New Roman" panose="02020603050405020304"/>
              <a:cs typeface="Times New Roman" panose="02020603050405020304"/>
            </a:endParaRPr>
          </a:p>
        </p:txBody>
      </p:sp>
      <p:sp>
        <p:nvSpPr>
          <p:cNvPr id="8" name="Date Placeholder 7"/>
          <p:cNvSpPr>
            <a:spLocks noGrp="1"/>
          </p:cNvSpPr>
          <p:nvPr>
            <p:ph type="dt" sz="half" idx="10"/>
          </p:nvPr>
        </p:nvSpPr>
        <p:spPr/>
        <p:txBody>
          <a:bodyPr/>
          <a:p>
            <a:fld id="{63A1C593-65D0-4073-BCC9-577B9352EA97}" type="datetime1">
              <a:rPr lang="en-US" smtClean="0"/>
            </a:fld>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1891" y="27989"/>
            <a:ext cx="7528559" cy="1132205"/>
          </a:xfrm>
          <a:prstGeom prst="rect">
            <a:avLst/>
          </a:prstGeom>
        </p:spPr>
        <p:txBody>
          <a:bodyPr vert="horz" wrap="square" lIns="0" tIns="153670" rIns="0" bIns="0" rtlCol="0">
            <a:spAutoFit/>
          </a:bodyPr>
          <a:lstStyle/>
          <a:p>
            <a:pPr marL="962660">
              <a:lnSpc>
                <a:spcPct val="100000"/>
              </a:lnSpc>
              <a:spcBef>
                <a:spcPts val="1210"/>
              </a:spcBef>
            </a:pPr>
            <a:r>
              <a:rPr sz="3600" dirty="0"/>
              <a:t>Concepts</a:t>
            </a:r>
            <a:r>
              <a:rPr sz="3600" spc="-45" dirty="0"/>
              <a:t> </a:t>
            </a:r>
            <a:r>
              <a:rPr sz="3600" dirty="0"/>
              <a:t>in</a:t>
            </a:r>
            <a:r>
              <a:rPr sz="3600" spc="-225" dirty="0"/>
              <a:t> </a:t>
            </a:r>
            <a:r>
              <a:rPr sz="3600" dirty="0"/>
              <a:t>Artificial</a:t>
            </a:r>
            <a:r>
              <a:rPr sz="3600" spc="-35" dirty="0"/>
              <a:t> </a:t>
            </a:r>
            <a:r>
              <a:rPr sz="3600" spc="-10" dirty="0"/>
              <a:t>Intelligence</a:t>
            </a:r>
            <a:endParaRPr sz="3600"/>
          </a:p>
          <a:p>
            <a:pPr marL="12700">
              <a:lnSpc>
                <a:spcPct val="100000"/>
              </a:lnSpc>
              <a:spcBef>
                <a:spcPts val="675"/>
              </a:spcBef>
            </a:pPr>
            <a:r>
              <a:rPr sz="2200" b="1" spc="-10" dirty="0">
                <a:solidFill>
                  <a:srgbClr val="000000"/>
                </a:solidFill>
                <a:latin typeface="Times New Roman" panose="02020603050405020304"/>
                <a:cs typeface="Times New Roman" panose="02020603050405020304"/>
              </a:rPr>
              <a:t>Reinforcement</a:t>
            </a:r>
            <a:r>
              <a:rPr sz="2200" b="1" spc="-35" dirty="0">
                <a:solidFill>
                  <a:srgbClr val="000000"/>
                </a:solidFill>
                <a:latin typeface="Times New Roman" panose="02020603050405020304"/>
                <a:cs typeface="Times New Roman" panose="02020603050405020304"/>
              </a:rPr>
              <a:t> </a:t>
            </a:r>
            <a:r>
              <a:rPr sz="2200" b="1" dirty="0">
                <a:solidFill>
                  <a:srgbClr val="000000"/>
                </a:solidFill>
                <a:latin typeface="Times New Roman" panose="02020603050405020304"/>
                <a:cs typeface="Times New Roman" panose="02020603050405020304"/>
              </a:rPr>
              <a:t>learning</a:t>
            </a:r>
            <a:r>
              <a:rPr sz="2200" b="1" spc="-60" dirty="0">
                <a:solidFill>
                  <a:srgbClr val="000000"/>
                </a:solidFill>
                <a:latin typeface="Times New Roman" panose="02020603050405020304"/>
                <a:cs typeface="Times New Roman" panose="02020603050405020304"/>
              </a:rPr>
              <a:t> </a:t>
            </a:r>
            <a:r>
              <a:rPr sz="2200" b="1" dirty="0">
                <a:solidFill>
                  <a:srgbClr val="000000"/>
                </a:solidFill>
                <a:latin typeface="Times New Roman" panose="02020603050405020304"/>
                <a:cs typeface="Times New Roman" panose="02020603050405020304"/>
              </a:rPr>
              <a:t>Machine</a:t>
            </a:r>
            <a:r>
              <a:rPr sz="2200" b="1" spc="-65" dirty="0">
                <a:solidFill>
                  <a:srgbClr val="000000"/>
                </a:solidFill>
                <a:latin typeface="Times New Roman" panose="02020603050405020304"/>
                <a:cs typeface="Times New Roman" panose="02020603050405020304"/>
              </a:rPr>
              <a:t> </a:t>
            </a:r>
            <a:r>
              <a:rPr sz="2200" b="1" spc="-10" dirty="0">
                <a:solidFill>
                  <a:srgbClr val="000000"/>
                </a:solidFill>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p:txBody>
      </p:sp>
      <p:sp>
        <p:nvSpPr>
          <p:cNvPr id="3" name="object 3"/>
          <p:cNvSpPr txBox="1"/>
          <p:nvPr/>
        </p:nvSpPr>
        <p:spPr>
          <a:xfrm>
            <a:off x="1907540" y="5559044"/>
            <a:ext cx="7495540" cy="93599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panose="02020603050405020304"/>
                <a:cs typeface="Times New Roman" panose="02020603050405020304"/>
              </a:rPr>
              <a:t>Unsupervised</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further</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classifieds</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into</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two</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categories</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algorithms:</a:t>
            </a:r>
            <a:endParaRPr sz="2000">
              <a:latin typeface="Times New Roman" panose="02020603050405020304"/>
              <a:cs typeface="Times New Roman" panose="02020603050405020304"/>
            </a:endParaRPr>
          </a:p>
          <a:p>
            <a:pPr marL="641985" indent="-342900">
              <a:lnSpc>
                <a:spcPct val="100000"/>
              </a:lnSpc>
              <a:buFont typeface="Microsoft Sans Serif" panose="020B0604020202020204"/>
              <a:buChar char="•"/>
              <a:tabLst>
                <a:tab pos="641985" algn="l"/>
              </a:tabLst>
            </a:pPr>
            <a:r>
              <a:rPr sz="2000" b="1" spc="-10" dirty="0">
                <a:latin typeface="Times New Roman" panose="02020603050405020304"/>
                <a:cs typeface="Times New Roman" panose="02020603050405020304"/>
              </a:rPr>
              <a:t>Clustering</a:t>
            </a:r>
            <a:endParaRPr sz="2000">
              <a:latin typeface="Times New Roman" panose="02020603050405020304"/>
              <a:cs typeface="Times New Roman" panose="02020603050405020304"/>
            </a:endParaRPr>
          </a:p>
          <a:p>
            <a:pPr marL="641985" indent="-342900">
              <a:lnSpc>
                <a:spcPct val="100000"/>
              </a:lnSpc>
              <a:buFont typeface="Microsoft Sans Serif" panose="020B0604020202020204"/>
              <a:buChar char="•"/>
              <a:tabLst>
                <a:tab pos="641985" algn="l"/>
              </a:tabLst>
            </a:pPr>
            <a:r>
              <a:rPr sz="2000" b="1" spc="-10" dirty="0">
                <a:latin typeface="Times New Roman" panose="02020603050405020304"/>
                <a:cs typeface="Times New Roman" panose="02020603050405020304"/>
              </a:rPr>
              <a:t>Association</a:t>
            </a:r>
            <a:endParaRPr sz="20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1828800" y="1370075"/>
            <a:ext cx="8001000" cy="4166616"/>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1891" y="27989"/>
            <a:ext cx="7528559" cy="1132205"/>
          </a:xfrm>
          <a:prstGeom prst="rect">
            <a:avLst/>
          </a:prstGeom>
        </p:spPr>
        <p:txBody>
          <a:bodyPr vert="horz" wrap="square" lIns="0" tIns="153670" rIns="0" bIns="0" rtlCol="0">
            <a:spAutoFit/>
          </a:bodyPr>
          <a:lstStyle/>
          <a:p>
            <a:pPr marL="962660">
              <a:lnSpc>
                <a:spcPct val="100000"/>
              </a:lnSpc>
              <a:spcBef>
                <a:spcPts val="1210"/>
              </a:spcBef>
            </a:pPr>
            <a:r>
              <a:rPr sz="3600" dirty="0"/>
              <a:t>Concepts</a:t>
            </a:r>
            <a:r>
              <a:rPr sz="3600" spc="-45" dirty="0"/>
              <a:t> </a:t>
            </a:r>
            <a:r>
              <a:rPr sz="3600" dirty="0"/>
              <a:t>in</a:t>
            </a:r>
            <a:r>
              <a:rPr sz="3600" spc="-225" dirty="0"/>
              <a:t> </a:t>
            </a:r>
            <a:r>
              <a:rPr sz="3600" dirty="0"/>
              <a:t>Artificial</a:t>
            </a:r>
            <a:r>
              <a:rPr sz="3600" spc="-35" dirty="0"/>
              <a:t> </a:t>
            </a:r>
            <a:r>
              <a:rPr sz="3600" spc="-10" dirty="0"/>
              <a:t>Intelligence</a:t>
            </a:r>
            <a:endParaRPr sz="3600"/>
          </a:p>
          <a:p>
            <a:pPr marL="12700">
              <a:lnSpc>
                <a:spcPct val="100000"/>
              </a:lnSpc>
              <a:spcBef>
                <a:spcPts val="675"/>
              </a:spcBef>
            </a:pPr>
            <a:r>
              <a:rPr sz="2200" b="1" spc="-10" dirty="0">
                <a:solidFill>
                  <a:srgbClr val="000000"/>
                </a:solidFill>
                <a:latin typeface="Times New Roman" panose="02020603050405020304"/>
                <a:cs typeface="Times New Roman" panose="02020603050405020304"/>
              </a:rPr>
              <a:t>Reinforcement</a:t>
            </a:r>
            <a:r>
              <a:rPr sz="2200" b="1" spc="-35" dirty="0">
                <a:solidFill>
                  <a:srgbClr val="000000"/>
                </a:solidFill>
                <a:latin typeface="Times New Roman" panose="02020603050405020304"/>
                <a:cs typeface="Times New Roman" panose="02020603050405020304"/>
              </a:rPr>
              <a:t> </a:t>
            </a:r>
            <a:r>
              <a:rPr sz="2200" b="1" dirty="0">
                <a:solidFill>
                  <a:srgbClr val="000000"/>
                </a:solidFill>
                <a:latin typeface="Times New Roman" panose="02020603050405020304"/>
                <a:cs typeface="Times New Roman" panose="02020603050405020304"/>
              </a:rPr>
              <a:t>learning</a:t>
            </a:r>
            <a:r>
              <a:rPr sz="2200" b="1" spc="-60" dirty="0">
                <a:solidFill>
                  <a:srgbClr val="000000"/>
                </a:solidFill>
                <a:latin typeface="Times New Roman" panose="02020603050405020304"/>
                <a:cs typeface="Times New Roman" panose="02020603050405020304"/>
              </a:rPr>
              <a:t> </a:t>
            </a:r>
            <a:r>
              <a:rPr sz="2200" b="1" dirty="0">
                <a:solidFill>
                  <a:srgbClr val="000000"/>
                </a:solidFill>
                <a:latin typeface="Times New Roman" panose="02020603050405020304"/>
                <a:cs typeface="Times New Roman" panose="02020603050405020304"/>
              </a:rPr>
              <a:t>Machine</a:t>
            </a:r>
            <a:r>
              <a:rPr sz="2200" b="1" spc="-65" dirty="0">
                <a:solidFill>
                  <a:srgbClr val="000000"/>
                </a:solidFill>
                <a:latin typeface="Times New Roman" panose="02020603050405020304"/>
                <a:cs typeface="Times New Roman" panose="02020603050405020304"/>
              </a:rPr>
              <a:t> </a:t>
            </a:r>
            <a:r>
              <a:rPr sz="2200" b="1" spc="-10" dirty="0">
                <a:solidFill>
                  <a:srgbClr val="000000"/>
                </a:solidFill>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p:txBody>
      </p:sp>
      <p:sp>
        <p:nvSpPr>
          <p:cNvPr id="3" name="object 3"/>
          <p:cNvSpPr txBox="1"/>
          <p:nvPr/>
        </p:nvSpPr>
        <p:spPr>
          <a:xfrm>
            <a:off x="1907540" y="5559044"/>
            <a:ext cx="7495540" cy="935990"/>
          </a:xfrm>
          <a:prstGeom prst="rect">
            <a:avLst/>
          </a:prstGeom>
        </p:spPr>
        <p:txBody>
          <a:bodyPr vert="horz" wrap="square" lIns="0" tIns="12700" rIns="0" bIns="0" rtlCol="0">
            <a:spAutoFit/>
          </a:bodyPr>
          <a:lstStyle/>
          <a:p>
            <a:pPr marL="12700">
              <a:lnSpc>
                <a:spcPct val="100000"/>
              </a:lnSpc>
              <a:spcBef>
                <a:spcPts val="100"/>
              </a:spcBef>
            </a:pPr>
            <a:r>
              <a:rPr sz="2000" dirty="0">
                <a:latin typeface="Times New Roman" panose="02020603050405020304"/>
                <a:cs typeface="Times New Roman" panose="02020603050405020304"/>
              </a:rPr>
              <a:t>Unsupervised</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further</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classifieds</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into</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two</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categories</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algorithms:</a:t>
            </a:r>
            <a:endParaRPr sz="2000">
              <a:latin typeface="Times New Roman" panose="02020603050405020304"/>
              <a:cs typeface="Times New Roman" panose="02020603050405020304"/>
            </a:endParaRPr>
          </a:p>
          <a:p>
            <a:pPr marL="641985" indent="-342900">
              <a:lnSpc>
                <a:spcPct val="100000"/>
              </a:lnSpc>
              <a:buFont typeface="Microsoft Sans Serif" panose="020B0604020202020204"/>
              <a:buChar char="•"/>
              <a:tabLst>
                <a:tab pos="641985" algn="l"/>
              </a:tabLst>
            </a:pPr>
            <a:r>
              <a:rPr sz="2000" b="1" spc="-10" dirty="0">
                <a:latin typeface="Times New Roman" panose="02020603050405020304"/>
                <a:cs typeface="Times New Roman" panose="02020603050405020304"/>
              </a:rPr>
              <a:t>Clustering</a:t>
            </a:r>
            <a:endParaRPr sz="2000">
              <a:latin typeface="Times New Roman" panose="02020603050405020304"/>
              <a:cs typeface="Times New Roman" panose="02020603050405020304"/>
            </a:endParaRPr>
          </a:p>
          <a:p>
            <a:pPr marL="641985" indent="-342900">
              <a:lnSpc>
                <a:spcPct val="100000"/>
              </a:lnSpc>
              <a:buFont typeface="Microsoft Sans Serif" panose="020B0604020202020204"/>
              <a:buChar char="•"/>
              <a:tabLst>
                <a:tab pos="641985" algn="l"/>
              </a:tabLst>
            </a:pPr>
            <a:r>
              <a:rPr sz="2000" b="1" spc="-10" dirty="0">
                <a:latin typeface="Times New Roman" panose="02020603050405020304"/>
                <a:cs typeface="Times New Roman" panose="02020603050405020304"/>
              </a:rPr>
              <a:t>Association</a:t>
            </a:r>
            <a:endParaRPr sz="20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2129027" y="1178052"/>
            <a:ext cx="7691628" cy="4351020"/>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2257" y="170942"/>
            <a:ext cx="6577965" cy="566420"/>
          </a:xfrm>
          <a:prstGeom prst="rect">
            <a:avLst/>
          </a:prstGeom>
        </p:spPr>
        <p:txBody>
          <a:bodyPr vert="horz" wrap="square" lIns="0" tIns="12700" rIns="0" bIns="0" rtlCol="0">
            <a:spAutoFit/>
          </a:bodyPr>
          <a:lstStyle/>
          <a:p>
            <a:pPr marL="12700">
              <a:lnSpc>
                <a:spcPct val="100000"/>
              </a:lnSpc>
              <a:spcBef>
                <a:spcPts val="100"/>
              </a:spcBef>
            </a:pPr>
            <a:r>
              <a:rPr sz="3600" dirty="0"/>
              <a:t>Concepts</a:t>
            </a:r>
            <a:r>
              <a:rPr sz="3600" spc="-45" dirty="0"/>
              <a:t> </a:t>
            </a:r>
            <a:r>
              <a:rPr sz="3600" dirty="0"/>
              <a:t>in</a:t>
            </a:r>
            <a:r>
              <a:rPr sz="3600" spc="-225" dirty="0"/>
              <a:t> </a:t>
            </a:r>
            <a:r>
              <a:rPr sz="3600" dirty="0"/>
              <a:t>Artificial</a:t>
            </a:r>
            <a:r>
              <a:rPr sz="3600" spc="-35" dirty="0"/>
              <a:t> </a:t>
            </a:r>
            <a:r>
              <a:rPr sz="3600" spc="-10" dirty="0"/>
              <a:t>Intelligence</a:t>
            </a:r>
            <a:endParaRPr sz="3600"/>
          </a:p>
        </p:txBody>
      </p:sp>
      <p:sp>
        <p:nvSpPr>
          <p:cNvPr id="3" name="object 3"/>
          <p:cNvSpPr txBox="1"/>
          <p:nvPr/>
        </p:nvSpPr>
        <p:spPr>
          <a:xfrm>
            <a:off x="1807565" y="800480"/>
            <a:ext cx="8118475" cy="5761990"/>
          </a:xfrm>
          <a:prstGeom prst="rect">
            <a:avLst/>
          </a:prstGeom>
        </p:spPr>
        <p:txBody>
          <a:bodyPr vert="horz" wrap="square" lIns="0" tIns="12700" rIns="0" bIns="0" rtlCol="0">
            <a:spAutoFit/>
          </a:bodyPr>
          <a:lstStyle/>
          <a:p>
            <a:pPr marL="26670">
              <a:lnSpc>
                <a:spcPct val="100000"/>
              </a:lnSpc>
              <a:spcBef>
                <a:spcPts val="100"/>
              </a:spcBef>
            </a:pPr>
            <a:r>
              <a:rPr sz="2400" b="1" dirty="0">
                <a:latin typeface="Times New Roman" panose="02020603050405020304"/>
                <a:cs typeface="Times New Roman" panose="02020603050405020304"/>
              </a:rPr>
              <a:t>Reinforcement</a:t>
            </a:r>
            <a:r>
              <a:rPr sz="2400" b="1" spc="-140" dirty="0">
                <a:latin typeface="Times New Roman" panose="02020603050405020304"/>
                <a:cs typeface="Times New Roman" panose="02020603050405020304"/>
              </a:rPr>
              <a:t> </a:t>
            </a:r>
            <a:r>
              <a:rPr sz="2200" b="1" dirty="0">
                <a:latin typeface="Times New Roman" panose="02020603050405020304"/>
                <a:cs typeface="Times New Roman" panose="02020603050405020304"/>
              </a:rPr>
              <a:t>Machine</a:t>
            </a:r>
            <a:r>
              <a:rPr sz="2200" b="1" spc="-70" dirty="0">
                <a:latin typeface="Times New Roman" panose="02020603050405020304"/>
                <a:cs typeface="Times New Roman" panose="02020603050405020304"/>
              </a:rPr>
              <a:t> </a:t>
            </a:r>
            <a:r>
              <a:rPr sz="2200" b="1" spc="-10" dirty="0">
                <a:latin typeface="Times New Roman" panose="02020603050405020304"/>
                <a:cs typeface="Times New Roman" panose="02020603050405020304"/>
              </a:rPr>
              <a:t>learning</a:t>
            </a:r>
            <a:endParaRPr sz="2200">
              <a:latin typeface="Times New Roman" panose="02020603050405020304"/>
              <a:cs typeface="Times New Roman" panose="02020603050405020304"/>
            </a:endParaRPr>
          </a:p>
          <a:p>
            <a:pPr marL="355600" marR="8890" indent="-342900" algn="just">
              <a:lnSpc>
                <a:spcPct val="100000"/>
              </a:lnSpc>
              <a:spcBef>
                <a:spcPts val="2350"/>
              </a:spcBef>
              <a:buFont typeface="Microsoft Sans Serif" panose="020B0604020202020204"/>
              <a:buChar char="•"/>
              <a:tabLst>
                <a:tab pos="355600" algn="l"/>
                <a:tab pos="358140" algn="l"/>
              </a:tabLst>
            </a:pPr>
            <a:r>
              <a:rPr sz="2000" dirty="0">
                <a:latin typeface="Times New Roman" panose="02020603050405020304"/>
                <a:cs typeface="Times New Roman" panose="02020603050405020304"/>
              </a:rPr>
              <a:t>	Reinforcement</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2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feedback-</a:t>
            </a:r>
            <a:r>
              <a:rPr sz="2000" dirty="0">
                <a:latin typeface="Times New Roman" panose="02020603050405020304"/>
                <a:cs typeface="Times New Roman" panose="02020603050405020304"/>
              </a:rPr>
              <a:t>based</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technique</a:t>
            </a:r>
            <a:r>
              <a:rPr sz="2000" spc="4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in </a:t>
            </a:r>
            <a:r>
              <a:rPr sz="2000" dirty="0">
                <a:latin typeface="Times New Roman" panose="02020603050405020304"/>
                <a:cs typeface="Times New Roman" panose="02020603050405020304"/>
              </a:rPr>
              <a:t>which</a:t>
            </a:r>
            <a:r>
              <a:rPr sz="2000" spc="47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a:t>
            </a:r>
            <a:r>
              <a:rPr sz="2000" spc="480" dirty="0">
                <a:latin typeface="Times New Roman" panose="02020603050405020304"/>
                <a:cs typeface="Times New Roman" panose="02020603050405020304"/>
              </a:rPr>
              <a:t> </a:t>
            </a:r>
            <a:r>
              <a:rPr sz="2000" dirty="0">
                <a:latin typeface="Times New Roman" panose="02020603050405020304"/>
                <a:cs typeface="Times New Roman" panose="02020603050405020304"/>
              </a:rPr>
              <a:t>agent</a:t>
            </a:r>
            <a:r>
              <a:rPr sz="2000" spc="47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learns</a:t>
            </a:r>
            <a:r>
              <a:rPr sz="2000" spc="47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480" dirty="0">
                <a:latin typeface="Times New Roman" panose="02020603050405020304"/>
                <a:cs typeface="Times New Roman" panose="02020603050405020304"/>
              </a:rPr>
              <a:t> </a:t>
            </a:r>
            <a:r>
              <a:rPr sz="2000" dirty="0">
                <a:latin typeface="Times New Roman" panose="02020603050405020304"/>
                <a:cs typeface="Times New Roman" panose="02020603050405020304"/>
              </a:rPr>
              <a:t>behave</a:t>
            </a:r>
            <a:r>
              <a:rPr sz="2000" spc="459" dirty="0">
                <a:latin typeface="Times New Roman" panose="02020603050405020304"/>
                <a:cs typeface="Times New Roman" panose="02020603050405020304"/>
              </a:rPr>
              <a:t> </a:t>
            </a:r>
            <a:r>
              <a:rPr sz="2000" dirty="0">
                <a:latin typeface="Times New Roman" panose="02020603050405020304"/>
                <a:cs typeface="Times New Roman" panose="02020603050405020304"/>
              </a:rPr>
              <a:t>in</a:t>
            </a:r>
            <a:r>
              <a:rPr sz="2000" spc="48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a:t>
            </a:r>
            <a:r>
              <a:rPr sz="2000" spc="480" dirty="0">
                <a:latin typeface="Times New Roman" panose="02020603050405020304"/>
                <a:cs typeface="Times New Roman" panose="02020603050405020304"/>
              </a:rPr>
              <a:t> </a:t>
            </a:r>
            <a:r>
              <a:rPr sz="2000" dirty="0">
                <a:latin typeface="Times New Roman" panose="02020603050405020304"/>
                <a:cs typeface="Times New Roman" panose="02020603050405020304"/>
              </a:rPr>
              <a:t>environment</a:t>
            </a:r>
            <a:r>
              <a:rPr sz="2000" spc="475" dirty="0">
                <a:latin typeface="Times New Roman" panose="02020603050405020304"/>
                <a:cs typeface="Times New Roman" panose="02020603050405020304"/>
              </a:rPr>
              <a:t> </a:t>
            </a:r>
            <a:r>
              <a:rPr sz="2000" dirty="0">
                <a:latin typeface="Times New Roman" panose="02020603050405020304"/>
                <a:cs typeface="Times New Roman" panose="02020603050405020304"/>
              </a:rPr>
              <a:t>by</a:t>
            </a:r>
            <a:r>
              <a:rPr sz="2000" spc="455" dirty="0">
                <a:latin typeface="Times New Roman" panose="02020603050405020304"/>
                <a:cs typeface="Times New Roman" panose="02020603050405020304"/>
              </a:rPr>
              <a:t> </a:t>
            </a:r>
            <a:r>
              <a:rPr sz="2000" dirty="0">
                <a:latin typeface="Times New Roman" panose="02020603050405020304"/>
                <a:cs typeface="Times New Roman" panose="02020603050405020304"/>
              </a:rPr>
              <a:t>performing</a:t>
            </a:r>
            <a:r>
              <a:rPr sz="2000" spc="48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the </a:t>
            </a:r>
            <a:r>
              <a:rPr sz="2000" dirty="0">
                <a:latin typeface="Times New Roman" panose="02020603050405020304"/>
                <a:cs typeface="Times New Roman" panose="02020603050405020304"/>
              </a:rPr>
              <a:t>actions</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seeing</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results</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actions.</a:t>
            </a:r>
            <a:endParaRPr sz="2000">
              <a:latin typeface="Times New Roman" panose="02020603050405020304"/>
              <a:cs typeface="Times New Roman" panose="02020603050405020304"/>
            </a:endParaRPr>
          </a:p>
          <a:p>
            <a:pPr marL="355600" marR="10160" indent="-342900" algn="just">
              <a:lnSpc>
                <a:spcPct val="100000"/>
              </a:lnSpc>
              <a:spcBef>
                <a:spcPts val="1200"/>
              </a:spcBef>
              <a:buFont typeface="Microsoft Sans Serif" panose="020B0604020202020204"/>
              <a:buChar char="•"/>
              <a:tabLst>
                <a:tab pos="355600" algn="l"/>
                <a:tab pos="358140" algn="l"/>
              </a:tabLst>
            </a:pPr>
            <a:r>
              <a:rPr sz="2000" dirty="0">
                <a:latin typeface="Times New Roman" panose="02020603050405020304"/>
                <a:cs typeface="Times New Roman" panose="02020603050405020304"/>
              </a:rPr>
              <a:t>	For</a:t>
            </a:r>
            <a:r>
              <a:rPr sz="2000" spc="275" dirty="0">
                <a:latin typeface="Times New Roman" panose="02020603050405020304"/>
                <a:cs typeface="Times New Roman" panose="02020603050405020304"/>
              </a:rPr>
              <a:t> </a:t>
            </a:r>
            <a:r>
              <a:rPr sz="2000" dirty="0">
                <a:latin typeface="Times New Roman" panose="02020603050405020304"/>
                <a:cs typeface="Times New Roman" panose="02020603050405020304"/>
              </a:rPr>
              <a:t>each</a:t>
            </a:r>
            <a:r>
              <a:rPr sz="2000" spc="254" dirty="0">
                <a:latin typeface="Times New Roman" panose="02020603050405020304"/>
                <a:cs typeface="Times New Roman" panose="02020603050405020304"/>
              </a:rPr>
              <a:t> </a:t>
            </a:r>
            <a:r>
              <a:rPr sz="2000" dirty="0">
                <a:latin typeface="Times New Roman" panose="02020603050405020304"/>
                <a:cs typeface="Times New Roman" panose="02020603050405020304"/>
              </a:rPr>
              <a:t>good</a:t>
            </a:r>
            <a:r>
              <a:rPr sz="2000" spc="265" dirty="0">
                <a:latin typeface="Times New Roman" panose="02020603050405020304"/>
                <a:cs typeface="Times New Roman" panose="02020603050405020304"/>
              </a:rPr>
              <a:t> </a:t>
            </a:r>
            <a:r>
              <a:rPr sz="2000" dirty="0">
                <a:latin typeface="Times New Roman" panose="02020603050405020304"/>
                <a:cs typeface="Times New Roman" panose="02020603050405020304"/>
              </a:rPr>
              <a:t>action,</a:t>
            </a:r>
            <a:r>
              <a:rPr sz="2000" spc="26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65" dirty="0">
                <a:latin typeface="Times New Roman" panose="02020603050405020304"/>
                <a:cs typeface="Times New Roman" panose="02020603050405020304"/>
              </a:rPr>
              <a:t> </a:t>
            </a:r>
            <a:r>
              <a:rPr sz="2000" dirty="0">
                <a:latin typeface="Times New Roman" panose="02020603050405020304"/>
                <a:cs typeface="Times New Roman" panose="02020603050405020304"/>
              </a:rPr>
              <a:t>agent</a:t>
            </a:r>
            <a:r>
              <a:rPr sz="2000" spc="270" dirty="0">
                <a:latin typeface="Times New Roman" panose="02020603050405020304"/>
                <a:cs typeface="Times New Roman" panose="02020603050405020304"/>
              </a:rPr>
              <a:t> </a:t>
            </a:r>
            <a:r>
              <a:rPr sz="2000" dirty="0">
                <a:latin typeface="Times New Roman" panose="02020603050405020304"/>
                <a:cs typeface="Times New Roman" panose="02020603050405020304"/>
              </a:rPr>
              <a:t>gets</a:t>
            </a:r>
            <a:r>
              <a:rPr sz="2000" spc="260" dirty="0">
                <a:latin typeface="Times New Roman" panose="02020603050405020304"/>
                <a:cs typeface="Times New Roman" panose="02020603050405020304"/>
              </a:rPr>
              <a:t> </a:t>
            </a:r>
            <a:r>
              <a:rPr sz="2000" dirty="0">
                <a:latin typeface="Times New Roman" panose="02020603050405020304"/>
                <a:cs typeface="Times New Roman" panose="02020603050405020304"/>
              </a:rPr>
              <a:t>positive</a:t>
            </a:r>
            <a:r>
              <a:rPr sz="2000" spc="265" dirty="0">
                <a:latin typeface="Times New Roman" panose="02020603050405020304"/>
                <a:cs typeface="Times New Roman" panose="02020603050405020304"/>
              </a:rPr>
              <a:t> </a:t>
            </a:r>
            <a:r>
              <a:rPr sz="2000" dirty="0">
                <a:latin typeface="Times New Roman" panose="02020603050405020304"/>
                <a:cs typeface="Times New Roman" panose="02020603050405020304"/>
              </a:rPr>
              <a:t>feedback,</a:t>
            </a:r>
            <a:r>
              <a:rPr sz="2000" spc="27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265" dirty="0">
                <a:latin typeface="Times New Roman" panose="02020603050405020304"/>
                <a:cs typeface="Times New Roman" panose="02020603050405020304"/>
              </a:rPr>
              <a:t> </a:t>
            </a:r>
            <a:r>
              <a:rPr sz="2000" dirty="0">
                <a:latin typeface="Times New Roman" panose="02020603050405020304"/>
                <a:cs typeface="Times New Roman" panose="02020603050405020304"/>
              </a:rPr>
              <a:t>for</a:t>
            </a:r>
            <a:r>
              <a:rPr sz="2000" spc="275" dirty="0">
                <a:latin typeface="Times New Roman" panose="02020603050405020304"/>
                <a:cs typeface="Times New Roman" panose="02020603050405020304"/>
              </a:rPr>
              <a:t> </a:t>
            </a:r>
            <a:r>
              <a:rPr sz="2000" dirty="0">
                <a:latin typeface="Times New Roman" panose="02020603050405020304"/>
                <a:cs typeface="Times New Roman" panose="02020603050405020304"/>
              </a:rPr>
              <a:t>each</a:t>
            </a:r>
            <a:r>
              <a:rPr sz="2000" spc="27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bad </a:t>
            </a:r>
            <a:r>
              <a:rPr sz="2000" dirty="0">
                <a:latin typeface="Times New Roman" panose="02020603050405020304"/>
                <a:cs typeface="Times New Roman" panose="02020603050405020304"/>
              </a:rPr>
              <a:t>action,</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agent</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gets</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negative</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feedback</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or</a:t>
            </a:r>
            <a:r>
              <a:rPr sz="2000" spc="-2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penalty.</a:t>
            </a:r>
            <a:endParaRPr sz="2000">
              <a:latin typeface="Times New Roman" panose="02020603050405020304"/>
              <a:cs typeface="Times New Roman" panose="02020603050405020304"/>
            </a:endParaRPr>
          </a:p>
          <a:p>
            <a:pPr marL="354965" indent="-342265">
              <a:lnSpc>
                <a:spcPct val="100000"/>
              </a:lnSpc>
              <a:spcBef>
                <a:spcPts val="1200"/>
              </a:spcBef>
              <a:buFont typeface="Microsoft Sans Serif" panose="020B0604020202020204"/>
              <a:buChar char="•"/>
              <a:tabLst>
                <a:tab pos="354965" algn="l"/>
              </a:tabLst>
            </a:pPr>
            <a:r>
              <a:rPr sz="2000" dirty="0">
                <a:latin typeface="Times New Roman" panose="02020603050405020304"/>
                <a:cs typeface="Times New Roman" panose="02020603050405020304"/>
              </a:rPr>
              <a:t>In</a:t>
            </a:r>
            <a:r>
              <a:rPr sz="2000" spc="100" dirty="0">
                <a:latin typeface="Times New Roman" panose="02020603050405020304"/>
                <a:cs typeface="Times New Roman" panose="02020603050405020304"/>
              </a:rPr>
              <a:t> </a:t>
            </a:r>
            <a:r>
              <a:rPr sz="2000" dirty="0">
                <a:latin typeface="Times New Roman" panose="02020603050405020304"/>
                <a:cs typeface="Times New Roman" panose="02020603050405020304"/>
              </a:rPr>
              <a:t>Reinforcement</a:t>
            </a:r>
            <a:r>
              <a:rPr sz="2000" spc="114"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10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agent</a:t>
            </a:r>
            <a:r>
              <a:rPr sz="2000" spc="100"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learns</a:t>
            </a:r>
            <a:r>
              <a:rPr sz="2000" spc="105" dirty="0">
                <a:latin typeface="Times New Roman" panose="02020603050405020304"/>
                <a:cs typeface="Times New Roman" panose="02020603050405020304"/>
              </a:rPr>
              <a:t> </a:t>
            </a:r>
            <a:r>
              <a:rPr sz="2000" dirty="0">
                <a:latin typeface="Times New Roman" panose="02020603050405020304"/>
                <a:cs typeface="Times New Roman" panose="02020603050405020304"/>
              </a:rPr>
              <a:t>automatically</a:t>
            </a:r>
            <a:r>
              <a:rPr sz="2000" spc="75" dirty="0">
                <a:latin typeface="Times New Roman" panose="02020603050405020304"/>
                <a:cs typeface="Times New Roman" panose="02020603050405020304"/>
              </a:rPr>
              <a:t> </a:t>
            </a:r>
            <a:r>
              <a:rPr sz="2000" dirty="0">
                <a:latin typeface="Times New Roman" panose="02020603050405020304"/>
                <a:cs typeface="Times New Roman" panose="02020603050405020304"/>
              </a:rPr>
              <a:t>using</a:t>
            </a:r>
            <a:r>
              <a:rPr sz="2000" spc="10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feedbacks</a:t>
            </a:r>
            <a:endParaRPr sz="2000">
              <a:latin typeface="Times New Roman" panose="02020603050405020304"/>
              <a:cs typeface="Times New Roman" panose="02020603050405020304"/>
            </a:endParaRPr>
          </a:p>
          <a:p>
            <a:pPr marL="355600">
              <a:lnSpc>
                <a:spcPct val="100000"/>
              </a:lnSpc>
            </a:pPr>
            <a:r>
              <a:rPr sz="2000" dirty="0">
                <a:latin typeface="Times New Roman" panose="02020603050405020304"/>
                <a:cs typeface="Times New Roman" panose="02020603050405020304"/>
              </a:rPr>
              <a:t>without</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any</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labeled</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unlike</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supervised</a:t>
            </a:r>
            <a:r>
              <a:rPr sz="2000" spc="-5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learning.</a:t>
            </a:r>
            <a:endParaRPr sz="2000">
              <a:latin typeface="Times New Roman" panose="02020603050405020304"/>
              <a:cs typeface="Times New Roman" panose="02020603050405020304"/>
            </a:endParaRPr>
          </a:p>
          <a:p>
            <a:pPr marL="355600" marR="6985" indent="-342900" algn="just">
              <a:lnSpc>
                <a:spcPct val="100000"/>
              </a:lnSpc>
              <a:spcBef>
                <a:spcPts val="1200"/>
              </a:spcBef>
              <a:buFont typeface="Microsoft Sans Serif" panose="020B0604020202020204"/>
              <a:buChar char="•"/>
              <a:tabLst>
                <a:tab pos="355600" algn="l"/>
                <a:tab pos="358140" algn="l"/>
              </a:tabLst>
            </a:pPr>
            <a:r>
              <a:rPr sz="2000" dirty="0">
                <a:latin typeface="Times New Roman" panose="02020603050405020304"/>
                <a:cs typeface="Times New Roman" panose="02020603050405020304"/>
              </a:rPr>
              <a:t>	Since</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there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no</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labeled</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so</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agent</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bound</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by</a:t>
            </a:r>
            <a:r>
              <a:rPr sz="2000" spc="4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its </a:t>
            </a:r>
            <a:r>
              <a:rPr sz="2000" dirty="0">
                <a:latin typeface="Times New Roman" panose="02020603050405020304"/>
                <a:cs typeface="Times New Roman" panose="02020603050405020304"/>
              </a:rPr>
              <a:t>experience</a:t>
            </a:r>
            <a:r>
              <a:rPr sz="2000" spc="-40"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only.</a:t>
            </a:r>
            <a:endParaRPr sz="2000">
              <a:latin typeface="Times New Roman" panose="02020603050405020304"/>
              <a:cs typeface="Times New Roman" panose="02020603050405020304"/>
            </a:endParaRPr>
          </a:p>
          <a:p>
            <a:pPr marL="354965" indent="-342265">
              <a:lnSpc>
                <a:spcPct val="100000"/>
              </a:lnSpc>
              <a:spcBef>
                <a:spcPts val="1200"/>
              </a:spcBef>
              <a:buFont typeface="Microsoft Sans Serif" panose="020B0604020202020204"/>
              <a:buChar char="•"/>
              <a:tabLst>
                <a:tab pos="354965" algn="l"/>
              </a:tabLst>
            </a:pPr>
            <a:r>
              <a:rPr sz="2000" dirty="0">
                <a:latin typeface="Times New Roman" panose="02020603050405020304"/>
                <a:cs typeface="Times New Roman" panose="02020603050405020304"/>
              </a:rPr>
              <a:t>RL</a:t>
            </a:r>
            <a:r>
              <a:rPr sz="2000" spc="65" dirty="0">
                <a:latin typeface="Times New Roman" panose="02020603050405020304"/>
                <a:cs typeface="Times New Roman" panose="02020603050405020304"/>
              </a:rPr>
              <a:t> </a:t>
            </a:r>
            <a:r>
              <a:rPr sz="2000" dirty="0">
                <a:latin typeface="Times New Roman" panose="02020603050405020304"/>
                <a:cs typeface="Times New Roman" panose="02020603050405020304"/>
              </a:rPr>
              <a:t>solves</a:t>
            </a:r>
            <a:r>
              <a:rPr sz="2000" spc="1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specific</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type</a:t>
            </a:r>
            <a:r>
              <a:rPr sz="2000" spc="13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130"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problem</a:t>
            </a:r>
            <a:r>
              <a:rPr sz="2000" spc="114" dirty="0">
                <a:latin typeface="Times New Roman" panose="02020603050405020304"/>
                <a:cs typeface="Times New Roman" panose="02020603050405020304"/>
              </a:rPr>
              <a:t> </a:t>
            </a:r>
            <a:r>
              <a:rPr sz="2000" dirty="0">
                <a:latin typeface="Times New Roman" panose="02020603050405020304"/>
                <a:cs typeface="Times New Roman" panose="02020603050405020304"/>
              </a:rPr>
              <a:t>where</a:t>
            </a:r>
            <a:r>
              <a:rPr sz="2000" spc="130" dirty="0">
                <a:latin typeface="Times New Roman" panose="02020603050405020304"/>
                <a:cs typeface="Times New Roman" panose="02020603050405020304"/>
              </a:rPr>
              <a:t> </a:t>
            </a:r>
            <a:r>
              <a:rPr sz="2000" dirty="0">
                <a:latin typeface="Times New Roman" panose="02020603050405020304"/>
                <a:cs typeface="Times New Roman" panose="02020603050405020304"/>
              </a:rPr>
              <a:t>decision</a:t>
            </a:r>
            <a:r>
              <a:rPr sz="2000" spc="130" dirty="0">
                <a:latin typeface="Times New Roman" panose="02020603050405020304"/>
                <a:cs typeface="Times New Roman" panose="02020603050405020304"/>
              </a:rPr>
              <a:t> </a:t>
            </a:r>
            <a:r>
              <a:rPr sz="2000" dirty="0">
                <a:latin typeface="Times New Roman" panose="02020603050405020304"/>
                <a:cs typeface="Times New Roman" panose="02020603050405020304"/>
              </a:rPr>
              <a:t>making</a:t>
            </a:r>
            <a:r>
              <a:rPr sz="2000" spc="13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1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sequential,</a:t>
            </a:r>
            <a:endParaRPr sz="2000">
              <a:latin typeface="Times New Roman" panose="02020603050405020304"/>
              <a:cs typeface="Times New Roman" panose="02020603050405020304"/>
            </a:endParaRPr>
          </a:p>
          <a:p>
            <a:pPr marL="355600">
              <a:lnSpc>
                <a:spcPct val="100000"/>
              </a:lnSpc>
              <a:spcBef>
                <a:spcPts val="5"/>
              </a:spcBef>
            </a:pPr>
            <a:r>
              <a:rPr sz="2000" dirty="0">
                <a:latin typeface="Times New Roman" panose="02020603050405020304"/>
                <a:cs typeface="Times New Roman" panose="02020603050405020304"/>
              </a:rPr>
              <a:t>and</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goal</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long-term,</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such</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1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game-</a:t>
            </a:r>
            <a:r>
              <a:rPr sz="2000" dirty="0">
                <a:latin typeface="Times New Roman" panose="02020603050405020304"/>
                <a:cs typeface="Times New Roman" panose="02020603050405020304"/>
              </a:rPr>
              <a:t>playing,</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robotics,</a:t>
            </a:r>
            <a:r>
              <a:rPr sz="2000" spc="-30"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etc.</a:t>
            </a:r>
            <a:endParaRPr sz="2000">
              <a:latin typeface="Times New Roman" panose="02020603050405020304"/>
              <a:cs typeface="Times New Roman" panose="02020603050405020304"/>
            </a:endParaRPr>
          </a:p>
          <a:p>
            <a:pPr marL="355600" marR="7620" indent="-342900" algn="just">
              <a:lnSpc>
                <a:spcPct val="100000"/>
              </a:lnSpc>
              <a:spcBef>
                <a:spcPts val="1200"/>
              </a:spcBef>
              <a:buFont typeface="Microsoft Sans Serif" panose="020B0604020202020204"/>
              <a:buChar char="•"/>
              <a:tabLst>
                <a:tab pos="355600" algn="l"/>
                <a:tab pos="358140" algn="l"/>
              </a:tabLst>
            </a:pPr>
            <a:r>
              <a:rPr sz="2000" dirty="0">
                <a:latin typeface="Times New Roman" panose="02020603050405020304"/>
                <a:cs typeface="Times New Roman" panose="02020603050405020304"/>
              </a:rPr>
              <a:t>	The</a:t>
            </a:r>
            <a:r>
              <a:rPr sz="2000" spc="430" dirty="0">
                <a:latin typeface="Times New Roman" panose="02020603050405020304"/>
                <a:cs typeface="Times New Roman" panose="02020603050405020304"/>
              </a:rPr>
              <a:t> </a:t>
            </a:r>
            <a:r>
              <a:rPr sz="2000" dirty="0">
                <a:latin typeface="Times New Roman" panose="02020603050405020304"/>
                <a:cs typeface="Times New Roman" panose="02020603050405020304"/>
              </a:rPr>
              <a:t>agent</a:t>
            </a:r>
            <a:r>
              <a:rPr sz="2000" spc="41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interacts</a:t>
            </a:r>
            <a:r>
              <a:rPr sz="2000" spc="425" dirty="0">
                <a:latin typeface="Times New Roman" panose="02020603050405020304"/>
                <a:cs typeface="Times New Roman" panose="02020603050405020304"/>
              </a:rPr>
              <a:t> </a:t>
            </a:r>
            <a:r>
              <a:rPr sz="2000" dirty="0">
                <a:latin typeface="Times New Roman" panose="02020603050405020304"/>
                <a:cs typeface="Times New Roman" panose="02020603050405020304"/>
              </a:rPr>
              <a:t>with</a:t>
            </a:r>
            <a:r>
              <a:rPr sz="2000" spc="4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425" dirty="0">
                <a:latin typeface="Times New Roman" panose="02020603050405020304"/>
                <a:cs typeface="Times New Roman" panose="02020603050405020304"/>
              </a:rPr>
              <a:t> </a:t>
            </a:r>
            <a:r>
              <a:rPr sz="2000" dirty="0">
                <a:latin typeface="Times New Roman" panose="02020603050405020304"/>
                <a:cs typeface="Times New Roman" panose="02020603050405020304"/>
              </a:rPr>
              <a:t>environment</a:t>
            </a:r>
            <a:r>
              <a:rPr sz="2000" spc="409"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430" dirty="0">
                <a:latin typeface="Times New Roman" panose="02020603050405020304"/>
                <a:cs typeface="Times New Roman" panose="02020603050405020304"/>
              </a:rPr>
              <a:t> </a:t>
            </a:r>
            <a:r>
              <a:rPr sz="2000" dirty="0">
                <a:latin typeface="Times New Roman" panose="02020603050405020304"/>
                <a:cs typeface="Times New Roman" panose="02020603050405020304"/>
              </a:rPr>
              <a:t>explores</a:t>
            </a:r>
            <a:r>
              <a:rPr sz="2000" spc="420" dirty="0">
                <a:latin typeface="Times New Roman" panose="02020603050405020304"/>
                <a:cs typeface="Times New Roman" panose="02020603050405020304"/>
              </a:rPr>
              <a:t> </a:t>
            </a:r>
            <a:r>
              <a:rPr sz="2000" dirty="0">
                <a:latin typeface="Times New Roman" panose="02020603050405020304"/>
                <a:cs typeface="Times New Roman" panose="02020603050405020304"/>
              </a:rPr>
              <a:t>it</a:t>
            </a:r>
            <a:r>
              <a:rPr sz="2000" spc="409" dirty="0">
                <a:latin typeface="Times New Roman" panose="02020603050405020304"/>
                <a:cs typeface="Times New Roman" panose="02020603050405020304"/>
              </a:rPr>
              <a:t> </a:t>
            </a:r>
            <a:r>
              <a:rPr sz="2000" dirty="0">
                <a:latin typeface="Times New Roman" panose="02020603050405020304"/>
                <a:cs typeface="Times New Roman" panose="02020603050405020304"/>
              </a:rPr>
              <a:t>by</a:t>
            </a:r>
            <a:r>
              <a:rPr sz="2000" spc="420" dirty="0">
                <a:latin typeface="Times New Roman" panose="02020603050405020304"/>
                <a:cs typeface="Times New Roman" panose="02020603050405020304"/>
              </a:rPr>
              <a:t> </a:t>
            </a:r>
            <a:r>
              <a:rPr sz="2000" dirty="0">
                <a:latin typeface="Times New Roman" panose="02020603050405020304"/>
                <a:cs typeface="Times New Roman" panose="02020603050405020304"/>
              </a:rPr>
              <a:t>itself.</a:t>
            </a:r>
            <a:r>
              <a:rPr sz="2000" spc="42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The </a:t>
            </a:r>
            <a:r>
              <a:rPr sz="2000" dirty="0">
                <a:latin typeface="Times New Roman" panose="02020603050405020304"/>
                <a:cs typeface="Times New Roman" panose="02020603050405020304"/>
              </a:rPr>
              <a:t>primary</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goal</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agent</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reinforcement</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improve</a:t>
            </a:r>
            <a:r>
              <a:rPr sz="2000" spc="4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the </a:t>
            </a:r>
            <a:r>
              <a:rPr sz="2000" dirty="0">
                <a:latin typeface="Times New Roman" panose="02020603050405020304"/>
                <a:cs typeface="Times New Roman" panose="02020603050405020304"/>
              </a:rPr>
              <a:t>performance</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by</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getting</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maximum</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positive</a:t>
            </a:r>
            <a:r>
              <a:rPr sz="2000" spc="-4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rewards.</a:t>
            </a:r>
            <a:endParaRPr sz="2000">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7" y="196977"/>
            <a:ext cx="3324013" cy="635635"/>
          </a:xfrm>
          <a:prstGeom prst="rect">
            <a:avLst/>
          </a:prstGeom>
        </p:spPr>
        <p:txBody>
          <a:bodyPr vert="horz" wrap="square" lIns="0" tIns="20320" rIns="0" bIns="0" rtlCol="0">
            <a:spAutoFit/>
          </a:bodyPr>
          <a:lstStyle/>
          <a:p>
            <a:pPr marL="12700">
              <a:lnSpc>
                <a:spcPct val="100000"/>
              </a:lnSpc>
              <a:spcBef>
                <a:spcPts val="120"/>
              </a:spcBef>
            </a:pPr>
            <a:r>
              <a:rPr dirty="0"/>
              <a:t>Deep</a:t>
            </a:r>
            <a:r>
              <a:rPr spc="-15" dirty="0"/>
              <a:t> </a:t>
            </a:r>
            <a:r>
              <a:rPr spc="-10" dirty="0"/>
              <a:t>Learning</a:t>
            </a:r>
            <a:endParaRPr spc="-10" dirty="0"/>
          </a:p>
        </p:txBody>
      </p:sp>
      <p:sp>
        <p:nvSpPr>
          <p:cNvPr id="3" name="object 3"/>
          <p:cNvSpPr txBox="1"/>
          <p:nvPr/>
        </p:nvSpPr>
        <p:spPr>
          <a:xfrm>
            <a:off x="512967" y="1218161"/>
            <a:ext cx="10700173" cy="1442085"/>
          </a:xfrm>
          <a:prstGeom prst="rect">
            <a:avLst/>
          </a:prstGeom>
        </p:spPr>
        <p:txBody>
          <a:bodyPr vert="horz" wrap="square" lIns="0" tIns="16933" rIns="0" bIns="0" rtlCol="0">
            <a:spAutoFit/>
          </a:bodyPr>
          <a:lstStyle/>
          <a:p>
            <a:pPr marL="298450" marR="350520" indent="-285750">
              <a:lnSpc>
                <a:spcPct val="115000"/>
              </a:lnSpc>
              <a:spcBef>
                <a:spcPts val="100"/>
              </a:spcBef>
              <a:buFont typeface="Arial" panose="020B0604020202020204" pitchFamily="34" charset="0"/>
              <a:buChar char="•"/>
            </a:pPr>
            <a:r>
              <a:rPr dirty="0">
                <a:solidFill>
                  <a:srgbClr val="595959"/>
                </a:solidFill>
                <a:latin typeface="Calibri" panose="020F0502020204030204" charset="0"/>
                <a:cs typeface="Calibri" panose="020F0502020204030204" charset="0"/>
              </a:rPr>
              <a:t>Neural</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networks</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are</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made</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up</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of</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several</a:t>
            </a:r>
            <a:r>
              <a:rPr spc="-6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connected</a:t>
            </a:r>
            <a:r>
              <a:rPr spc="-6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"neurons", which</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are</a:t>
            </a:r>
            <a:r>
              <a:rPr spc="-70"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individual</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models</a:t>
            </a:r>
            <a:r>
              <a:rPr spc="-6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that</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feed</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into</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each</a:t>
            </a:r>
            <a:r>
              <a:rPr spc="-6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other.</a:t>
            </a:r>
            <a:endParaRPr>
              <a:latin typeface="Calibri" panose="020F0502020204030204" charset="0"/>
              <a:cs typeface="Calibri" panose="020F0502020204030204" charset="0"/>
            </a:endParaRPr>
          </a:p>
          <a:p>
            <a:pPr marL="298450" marR="5080" indent="-285750">
              <a:lnSpc>
                <a:spcPct val="115000"/>
              </a:lnSpc>
              <a:spcBef>
                <a:spcPts val="1200"/>
              </a:spcBef>
              <a:buFont typeface="Arial" panose="020B0604020202020204" pitchFamily="34" charset="0"/>
              <a:buChar char="•"/>
            </a:pPr>
            <a:r>
              <a:rPr spc="55" dirty="0">
                <a:solidFill>
                  <a:srgbClr val="595959"/>
                </a:solidFill>
                <a:latin typeface="Calibri" panose="020F0502020204030204" charset="0"/>
                <a:cs typeface="Calibri" panose="020F0502020204030204" charset="0"/>
              </a:rPr>
              <a:t>A</a:t>
            </a:r>
            <a:r>
              <a:rPr spc="-4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lot</a:t>
            </a:r>
            <a:r>
              <a:rPr spc="-4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of</a:t>
            </a:r>
            <a:r>
              <a:rPr spc="-4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the</a:t>
            </a:r>
            <a:r>
              <a:rPr spc="-4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previously</a:t>
            </a:r>
            <a:r>
              <a:rPr spc="-4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mentioned</a:t>
            </a:r>
            <a:r>
              <a:rPr spc="-4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algorithms</a:t>
            </a:r>
            <a:r>
              <a:rPr spc="-4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can</a:t>
            </a:r>
            <a:r>
              <a:rPr spc="-4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be</a:t>
            </a:r>
            <a:r>
              <a:rPr spc="-4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represented </a:t>
            </a:r>
            <a:r>
              <a:rPr dirty="0">
                <a:solidFill>
                  <a:srgbClr val="595959"/>
                </a:solidFill>
                <a:latin typeface="Calibri" panose="020F0502020204030204" charset="0"/>
                <a:cs typeface="Calibri" panose="020F0502020204030204" charset="0"/>
              </a:rPr>
              <a:t>as</a:t>
            </a:r>
            <a:r>
              <a:rPr spc="-7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neural</a:t>
            </a:r>
            <a:r>
              <a:rPr spc="-7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networks,</a:t>
            </a:r>
            <a:r>
              <a:rPr spc="-7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but</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when</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you</a:t>
            </a:r>
            <a:r>
              <a:rPr spc="-7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start</a:t>
            </a:r>
            <a:r>
              <a:rPr spc="-7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layering</a:t>
            </a:r>
            <a:r>
              <a:rPr spc="-7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these</a:t>
            </a:r>
            <a:r>
              <a:rPr spc="-7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networks </a:t>
            </a:r>
            <a:r>
              <a:rPr dirty="0">
                <a:solidFill>
                  <a:srgbClr val="595959"/>
                </a:solidFill>
                <a:latin typeface="Calibri" panose="020F0502020204030204" charset="0"/>
                <a:cs typeface="Calibri" panose="020F0502020204030204" charset="0"/>
              </a:rPr>
              <a:t>together</a:t>
            </a:r>
            <a:r>
              <a:rPr spc="-8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you</a:t>
            </a:r>
            <a:r>
              <a:rPr spc="-8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get</a:t>
            </a:r>
            <a:r>
              <a:rPr spc="-80"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"deep</a:t>
            </a:r>
            <a:r>
              <a:rPr spc="-8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learning"</a:t>
            </a:r>
            <a:endParaRPr>
              <a:latin typeface="Calibri" panose="020F0502020204030204" charset="0"/>
              <a:cs typeface="Calibri" panose="020F0502020204030204" charset="0"/>
            </a:endParaRPr>
          </a:p>
        </p:txBody>
      </p:sp>
      <p:pic>
        <p:nvPicPr>
          <p:cNvPr id="4" name="object 4"/>
          <p:cNvPicPr/>
          <p:nvPr/>
        </p:nvPicPr>
        <p:blipFill>
          <a:blip r:embed="rId1" cstate="print"/>
          <a:stretch>
            <a:fillRect/>
          </a:stretch>
        </p:blipFill>
        <p:spPr>
          <a:xfrm>
            <a:off x="6804616" y="3658016"/>
            <a:ext cx="3205499" cy="3205499"/>
          </a:xfrm>
          <a:prstGeom prst="rect">
            <a:avLst/>
          </a:prstGeom>
        </p:spPr>
      </p:pic>
      <p:sp>
        <p:nvSpPr>
          <p:cNvPr id="5" name="object 5"/>
          <p:cNvSpPr txBox="1"/>
          <p:nvPr/>
        </p:nvSpPr>
        <p:spPr>
          <a:xfrm>
            <a:off x="7615767" y="4738784"/>
            <a:ext cx="363220" cy="303530"/>
          </a:xfrm>
          <a:prstGeom prst="rect">
            <a:avLst/>
          </a:prstGeom>
        </p:spPr>
        <p:txBody>
          <a:bodyPr vert="horz" wrap="square" lIns="0" tIns="16933" rIns="0" bIns="0" rtlCol="0">
            <a:spAutoFit/>
          </a:bodyPr>
          <a:lstStyle/>
          <a:p>
            <a:pPr marL="12700">
              <a:lnSpc>
                <a:spcPct val="100000"/>
              </a:lnSpc>
              <a:spcBef>
                <a:spcPts val="100"/>
              </a:spcBef>
            </a:pPr>
            <a:r>
              <a:rPr sz="1865" spc="-25" dirty="0">
                <a:latin typeface="Arial MT"/>
                <a:cs typeface="Arial MT"/>
              </a:rPr>
              <a:t>ML</a:t>
            </a:r>
            <a:endParaRPr sz="1865">
              <a:latin typeface="Arial MT"/>
              <a:cs typeface="Arial MT"/>
            </a:endParaRPr>
          </a:p>
        </p:txBody>
      </p:sp>
      <p:sp>
        <p:nvSpPr>
          <p:cNvPr id="6" name="object 6"/>
          <p:cNvSpPr txBox="1"/>
          <p:nvPr/>
        </p:nvSpPr>
        <p:spPr>
          <a:xfrm>
            <a:off x="7071065" y="4585051"/>
            <a:ext cx="258233" cy="303530"/>
          </a:xfrm>
          <a:prstGeom prst="rect">
            <a:avLst/>
          </a:prstGeom>
        </p:spPr>
        <p:txBody>
          <a:bodyPr vert="horz" wrap="square" lIns="0" tIns="16933" rIns="0" bIns="0" rtlCol="0">
            <a:spAutoFit/>
          </a:bodyPr>
          <a:lstStyle/>
          <a:p>
            <a:pPr marL="12700">
              <a:lnSpc>
                <a:spcPct val="100000"/>
              </a:lnSpc>
              <a:spcBef>
                <a:spcPts val="100"/>
              </a:spcBef>
            </a:pPr>
            <a:r>
              <a:rPr sz="1865" spc="-25" dirty="0">
                <a:latin typeface="Arial MT"/>
                <a:cs typeface="Arial MT"/>
              </a:rPr>
              <a:t>AI</a:t>
            </a:r>
            <a:endParaRPr sz="1865">
              <a:latin typeface="Arial MT"/>
              <a:cs typeface="Arial MT"/>
            </a:endParaRPr>
          </a:p>
        </p:txBody>
      </p:sp>
      <p:sp>
        <p:nvSpPr>
          <p:cNvPr id="7" name="object 7"/>
          <p:cNvSpPr txBox="1"/>
          <p:nvPr/>
        </p:nvSpPr>
        <p:spPr>
          <a:xfrm>
            <a:off x="8528167" y="4851716"/>
            <a:ext cx="956733" cy="453390"/>
          </a:xfrm>
          <a:prstGeom prst="rect">
            <a:avLst/>
          </a:prstGeom>
        </p:spPr>
        <p:txBody>
          <a:bodyPr vert="horz" wrap="square" lIns="0" tIns="30480" rIns="0" bIns="0" rtlCol="0">
            <a:spAutoFit/>
          </a:bodyPr>
          <a:lstStyle/>
          <a:p>
            <a:pPr marL="12700" marR="5080">
              <a:lnSpc>
                <a:spcPts val="1650"/>
              </a:lnSpc>
              <a:spcBef>
                <a:spcPts val="180"/>
              </a:spcBef>
            </a:pPr>
            <a:r>
              <a:rPr sz="1865" spc="-20" dirty="0">
                <a:latin typeface="Arial MT"/>
                <a:cs typeface="Arial MT"/>
              </a:rPr>
              <a:t>Deep </a:t>
            </a:r>
            <a:r>
              <a:rPr sz="1865" spc="-10" dirty="0">
                <a:latin typeface="Arial MT"/>
                <a:cs typeface="Arial MT"/>
              </a:rPr>
              <a:t>Learning</a:t>
            </a:r>
            <a:endParaRPr sz="1865">
              <a:latin typeface="Arial MT"/>
              <a:cs typeface="Arial M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02688" y="247650"/>
            <a:ext cx="7360284" cy="551180"/>
          </a:xfrm>
          <a:prstGeom prst="rect">
            <a:avLst/>
          </a:prstGeom>
        </p:spPr>
        <p:txBody>
          <a:bodyPr vert="horz" wrap="square" lIns="0" tIns="12700" rIns="0" bIns="0" rtlCol="0">
            <a:spAutoFit/>
          </a:bodyPr>
          <a:lstStyle/>
          <a:p>
            <a:pPr marL="12700">
              <a:lnSpc>
                <a:spcPct val="100000"/>
              </a:lnSpc>
              <a:spcBef>
                <a:spcPts val="100"/>
              </a:spcBef>
            </a:pPr>
            <a:r>
              <a:rPr sz="3500" dirty="0">
                <a:solidFill>
                  <a:srgbClr val="696363"/>
                </a:solidFill>
                <a:latin typeface="Times New Roman" panose="02020603050405020304"/>
                <a:cs typeface="Times New Roman" panose="02020603050405020304"/>
              </a:rPr>
              <a:t>Neural</a:t>
            </a:r>
            <a:r>
              <a:rPr sz="3500" spc="-30" dirty="0">
                <a:solidFill>
                  <a:srgbClr val="696363"/>
                </a:solidFill>
                <a:latin typeface="Times New Roman" panose="02020603050405020304"/>
                <a:cs typeface="Times New Roman" panose="02020603050405020304"/>
              </a:rPr>
              <a:t> </a:t>
            </a:r>
            <a:r>
              <a:rPr sz="3500" dirty="0">
                <a:solidFill>
                  <a:srgbClr val="696363"/>
                </a:solidFill>
                <a:latin typeface="Times New Roman" panose="02020603050405020304"/>
                <a:cs typeface="Times New Roman" panose="02020603050405020304"/>
              </a:rPr>
              <a:t>networks</a:t>
            </a:r>
            <a:r>
              <a:rPr sz="3500" spc="-25" dirty="0">
                <a:solidFill>
                  <a:srgbClr val="696363"/>
                </a:solidFill>
                <a:latin typeface="Times New Roman" panose="02020603050405020304"/>
                <a:cs typeface="Times New Roman" panose="02020603050405020304"/>
              </a:rPr>
              <a:t> </a:t>
            </a:r>
            <a:r>
              <a:rPr sz="3500" dirty="0">
                <a:solidFill>
                  <a:srgbClr val="696363"/>
                </a:solidFill>
                <a:latin typeface="Times New Roman" panose="02020603050405020304"/>
                <a:cs typeface="Times New Roman" panose="02020603050405020304"/>
              </a:rPr>
              <a:t>in</a:t>
            </a:r>
            <a:r>
              <a:rPr sz="3500" spc="-195" dirty="0">
                <a:solidFill>
                  <a:srgbClr val="696363"/>
                </a:solidFill>
                <a:latin typeface="Times New Roman" panose="02020603050405020304"/>
                <a:cs typeface="Times New Roman" panose="02020603050405020304"/>
              </a:rPr>
              <a:t> </a:t>
            </a:r>
            <a:r>
              <a:rPr sz="3500" dirty="0">
                <a:solidFill>
                  <a:srgbClr val="696363"/>
                </a:solidFill>
                <a:latin typeface="Times New Roman" panose="02020603050405020304"/>
                <a:cs typeface="Times New Roman" panose="02020603050405020304"/>
              </a:rPr>
              <a:t>Artificial</a:t>
            </a:r>
            <a:r>
              <a:rPr sz="3500" spc="5" dirty="0">
                <a:solidFill>
                  <a:srgbClr val="696363"/>
                </a:solidFill>
                <a:latin typeface="Times New Roman" panose="02020603050405020304"/>
                <a:cs typeface="Times New Roman" panose="02020603050405020304"/>
              </a:rPr>
              <a:t> </a:t>
            </a:r>
            <a:r>
              <a:rPr sz="3500" spc="-10" dirty="0">
                <a:solidFill>
                  <a:srgbClr val="696363"/>
                </a:solidFill>
                <a:latin typeface="Times New Roman" panose="02020603050405020304"/>
                <a:cs typeface="Times New Roman" panose="02020603050405020304"/>
              </a:rPr>
              <a:t>Intelligence</a:t>
            </a:r>
            <a:endParaRPr sz="3500">
              <a:latin typeface="Times New Roman" panose="02020603050405020304"/>
              <a:cs typeface="Times New Roman" panose="02020603050405020304"/>
            </a:endParaRPr>
          </a:p>
        </p:txBody>
      </p:sp>
      <p:sp>
        <p:nvSpPr>
          <p:cNvPr id="3" name="object 3"/>
          <p:cNvSpPr txBox="1"/>
          <p:nvPr/>
        </p:nvSpPr>
        <p:spPr>
          <a:xfrm>
            <a:off x="1990140" y="900124"/>
            <a:ext cx="5502275" cy="442595"/>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Neurons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human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brain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2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pathways</a:t>
            </a:r>
            <a:endParaRPr sz="28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2525267" y="1905000"/>
            <a:ext cx="7075931" cy="3974592"/>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24000" y="2958148"/>
            <a:ext cx="9144000" cy="551815"/>
          </a:xfrm>
          <a:prstGeom prst="rect">
            <a:avLst/>
          </a:prstGeom>
        </p:spPr>
        <p:txBody>
          <a:bodyPr vert="horz" wrap="square" lIns="0" tIns="13335" rIns="0" bIns="0" rtlCol="0">
            <a:spAutoFit/>
          </a:bodyPr>
          <a:lstStyle/>
          <a:p>
            <a:pPr marL="12700">
              <a:lnSpc>
                <a:spcPct val="100000"/>
              </a:lnSpc>
              <a:spcBef>
                <a:spcPts val="105"/>
              </a:spcBef>
            </a:pPr>
            <a:r>
              <a:rPr sz="3500" dirty="0">
                <a:latin typeface="Times New Roman" panose="02020603050405020304"/>
                <a:cs typeface="Times New Roman" panose="02020603050405020304"/>
              </a:rPr>
              <a:t>Neural</a:t>
            </a:r>
            <a:r>
              <a:rPr sz="3500" spc="-30" dirty="0">
                <a:latin typeface="Times New Roman" panose="02020603050405020304"/>
                <a:cs typeface="Times New Roman" panose="02020603050405020304"/>
              </a:rPr>
              <a:t> </a:t>
            </a:r>
            <a:r>
              <a:rPr sz="3500" dirty="0">
                <a:latin typeface="Times New Roman" panose="02020603050405020304"/>
                <a:cs typeface="Times New Roman" panose="02020603050405020304"/>
              </a:rPr>
              <a:t>networks</a:t>
            </a:r>
            <a:r>
              <a:rPr sz="3500" spc="-45" dirty="0">
                <a:latin typeface="Times New Roman" panose="02020603050405020304"/>
                <a:cs typeface="Times New Roman" panose="02020603050405020304"/>
              </a:rPr>
              <a:t> </a:t>
            </a:r>
            <a:r>
              <a:rPr sz="3500" dirty="0">
                <a:latin typeface="Times New Roman" panose="02020603050405020304"/>
                <a:cs typeface="Times New Roman" panose="02020603050405020304"/>
              </a:rPr>
              <a:t>in</a:t>
            </a:r>
            <a:r>
              <a:rPr sz="3500" spc="-200" dirty="0">
                <a:latin typeface="Times New Roman" panose="02020603050405020304"/>
                <a:cs typeface="Times New Roman" panose="02020603050405020304"/>
              </a:rPr>
              <a:t> </a:t>
            </a:r>
            <a:r>
              <a:rPr sz="3500" dirty="0">
                <a:latin typeface="Times New Roman" panose="02020603050405020304"/>
                <a:cs typeface="Times New Roman" panose="02020603050405020304"/>
              </a:rPr>
              <a:t>Artificial</a:t>
            </a:r>
            <a:r>
              <a:rPr sz="3500" spc="-15" dirty="0">
                <a:latin typeface="Times New Roman" panose="02020603050405020304"/>
                <a:cs typeface="Times New Roman" panose="02020603050405020304"/>
              </a:rPr>
              <a:t> </a:t>
            </a:r>
            <a:r>
              <a:rPr sz="3500" spc="-10" dirty="0">
                <a:latin typeface="Times New Roman" panose="02020603050405020304"/>
                <a:cs typeface="Times New Roman" panose="02020603050405020304"/>
              </a:rPr>
              <a:t>Intelligence</a:t>
            </a:r>
            <a:endParaRPr sz="3500">
              <a:latin typeface="Times New Roman" panose="02020603050405020304"/>
              <a:cs typeface="Times New Roman" panose="02020603050405020304"/>
            </a:endParaRPr>
          </a:p>
        </p:txBody>
      </p:sp>
      <p:sp>
        <p:nvSpPr>
          <p:cNvPr id="3" name="object 3"/>
          <p:cNvSpPr txBox="1"/>
          <p:nvPr/>
        </p:nvSpPr>
        <p:spPr>
          <a:xfrm>
            <a:off x="1907540" y="683133"/>
            <a:ext cx="5501640" cy="442595"/>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Neurons</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human</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brain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pathways</a:t>
            </a:r>
            <a:endParaRPr sz="28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1723644" y="1185672"/>
            <a:ext cx="8791956" cy="5519928"/>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511016"/>
            <a:ext cx="10515600" cy="627380"/>
          </a:xfrm>
          <a:prstGeom prst="rect">
            <a:avLst/>
          </a:prstGeom>
        </p:spPr>
        <p:txBody>
          <a:bodyPr vert="horz" wrap="square" lIns="0" tIns="12065" rIns="0" bIns="0" rtlCol="0">
            <a:spAutoFit/>
          </a:bodyPr>
          <a:lstStyle/>
          <a:p>
            <a:pPr marL="240030">
              <a:lnSpc>
                <a:spcPct val="100000"/>
              </a:lnSpc>
              <a:spcBef>
                <a:spcPts val="95"/>
              </a:spcBef>
            </a:pPr>
            <a:r>
              <a:rPr sz="4000" dirty="0">
                <a:latin typeface="Times New Roman" panose="02020603050405020304"/>
                <a:cs typeface="Times New Roman" panose="02020603050405020304"/>
              </a:rPr>
              <a:t>How</a:t>
            </a:r>
            <a:r>
              <a:rPr sz="4000" spc="-8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do</a:t>
            </a:r>
            <a:r>
              <a:rPr sz="4000" spc="-240" dirty="0">
                <a:latin typeface="Times New Roman" panose="02020603050405020304"/>
                <a:cs typeface="Times New Roman" panose="02020603050405020304"/>
              </a:rPr>
              <a:t> </a:t>
            </a:r>
            <a:r>
              <a:rPr sz="4000" dirty="0">
                <a:latin typeface="Times New Roman" panose="02020603050405020304"/>
                <a:cs typeface="Times New Roman" panose="02020603050405020304"/>
              </a:rPr>
              <a:t>ANNs</a:t>
            </a:r>
            <a:r>
              <a:rPr sz="4000" spc="-40"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work?</a:t>
            </a:r>
            <a:endParaRPr sz="4000">
              <a:latin typeface="Times New Roman" panose="02020603050405020304"/>
              <a:cs typeface="Times New Roman" panose="02020603050405020304"/>
            </a:endParaRPr>
          </a:p>
        </p:txBody>
      </p:sp>
      <p:sp>
        <p:nvSpPr>
          <p:cNvPr id="3" name="object 3"/>
          <p:cNvSpPr txBox="1"/>
          <p:nvPr/>
        </p:nvSpPr>
        <p:spPr>
          <a:xfrm>
            <a:off x="1829815" y="1012393"/>
            <a:ext cx="8407400" cy="3166745"/>
          </a:xfrm>
          <a:prstGeom prst="rect">
            <a:avLst/>
          </a:prstGeom>
        </p:spPr>
        <p:txBody>
          <a:bodyPr vert="horz" wrap="square" lIns="0" tIns="12065" rIns="0" bIns="0" rtlCol="0">
            <a:spAutoFit/>
          </a:bodyPr>
          <a:lstStyle/>
          <a:p>
            <a:pPr marL="283845" marR="296545" indent="-271780">
              <a:lnSpc>
                <a:spcPct val="100000"/>
              </a:lnSpc>
              <a:spcBef>
                <a:spcPts val="95"/>
              </a:spcBef>
              <a:buClr>
                <a:srgbClr val="D24717"/>
              </a:buClr>
              <a:buSzPct val="85000"/>
              <a:buFont typeface="Segoe UI Symbol" panose="020B0502040204020203"/>
              <a:buChar char="⚫"/>
              <a:tabLst>
                <a:tab pos="283845" algn="l"/>
              </a:tabLst>
            </a:pPr>
            <a:r>
              <a:rPr sz="2400" dirty="0">
                <a:latin typeface="Times New Roman" panose="02020603050405020304"/>
                <a:cs typeface="Times New Roman" panose="02020603050405020304"/>
              </a:rPr>
              <a:t>An</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artificial</a:t>
            </a:r>
            <a:r>
              <a:rPr sz="2400" spc="-60" dirty="0">
                <a:latin typeface="Times New Roman" panose="02020603050405020304"/>
                <a:cs typeface="Times New Roman" panose="02020603050405020304"/>
              </a:rPr>
              <a:t> </a:t>
            </a:r>
            <a:r>
              <a:rPr sz="2400" dirty="0">
                <a:latin typeface="Times New Roman" panose="02020603050405020304"/>
                <a:cs typeface="Times New Roman" panose="02020603050405020304"/>
              </a:rPr>
              <a:t>neural</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network</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(ANN)</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is</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either</a:t>
            </a:r>
            <a:r>
              <a:rPr sz="2400" spc="-40" dirty="0">
                <a:latin typeface="Times New Roman" panose="02020603050405020304"/>
                <a:cs typeface="Times New Roman" panose="02020603050405020304"/>
              </a:rPr>
              <a:t> </a:t>
            </a:r>
            <a:r>
              <a:rPr sz="2400" dirty="0">
                <a:latin typeface="Times New Roman" panose="02020603050405020304"/>
                <a:cs typeface="Times New Roman" panose="02020603050405020304"/>
              </a:rPr>
              <a:t>a </a:t>
            </a:r>
            <a:r>
              <a:rPr sz="2800" spc="-10" dirty="0">
                <a:solidFill>
                  <a:srgbClr val="006FC0"/>
                </a:solidFill>
                <a:latin typeface="Times New Roman" panose="02020603050405020304"/>
                <a:cs typeface="Times New Roman" panose="02020603050405020304"/>
              </a:rPr>
              <a:t>hardware </a:t>
            </a:r>
            <a:r>
              <a:rPr sz="2800" dirty="0">
                <a:solidFill>
                  <a:srgbClr val="006FC0"/>
                </a:solidFill>
                <a:latin typeface="Times New Roman" panose="02020603050405020304"/>
                <a:cs typeface="Times New Roman" panose="02020603050405020304"/>
              </a:rPr>
              <a:t>implementation</a:t>
            </a:r>
            <a:r>
              <a:rPr sz="2800" spc="-135" dirty="0">
                <a:solidFill>
                  <a:srgbClr val="006FC0"/>
                </a:solidFill>
                <a:latin typeface="Times New Roman" panose="02020603050405020304"/>
                <a:cs typeface="Times New Roman" panose="02020603050405020304"/>
              </a:rPr>
              <a:t> </a:t>
            </a:r>
            <a:r>
              <a:rPr sz="2400" dirty="0">
                <a:latin typeface="Times New Roman" panose="02020603050405020304"/>
                <a:cs typeface="Times New Roman" panose="02020603050405020304"/>
              </a:rPr>
              <a:t>or</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35" dirty="0">
                <a:latin typeface="Times New Roman" panose="02020603050405020304"/>
                <a:cs typeface="Times New Roman" panose="02020603050405020304"/>
              </a:rPr>
              <a:t> </a:t>
            </a:r>
            <a:r>
              <a:rPr sz="2800" dirty="0">
                <a:solidFill>
                  <a:srgbClr val="006FC0"/>
                </a:solidFill>
                <a:latin typeface="Times New Roman" panose="02020603050405020304"/>
                <a:cs typeface="Times New Roman" panose="02020603050405020304"/>
              </a:rPr>
              <a:t>computer</a:t>
            </a:r>
            <a:r>
              <a:rPr sz="2800" spc="-45" dirty="0">
                <a:solidFill>
                  <a:srgbClr val="006FC0"/>
                </a:solidFill>
                <a:latin typeface="Times New Roman" panose="02020603050405020304"/>
                <a:cs typeface="Times New Roman" panose="02020603050405020304"/>
              </a:rPr>
              <a:t> </a:t>
            </a:r>
            <a:r>
              <a:rPr sz="2800" dirty="0">
                <a:solidFill>
                  <a:srgbClr val="006FC0"/>
                </a:solidFill>
                <a:latin typeface="Times New Roman" panose="02020603050405020304"/>
                <a:cs typeface="Times New Roman" panose="02020603050405020304"/>
              </a:rPr>
              <a:t>program</a:t>
            </a:r>
            <a:r>
              <a:rPr sz="2800" spc="-35" dirty="0">
                <a:solidFill>
                  <a:srgbClr val="006FC0"/>
                </a:solidFill>
                <a:latin typeface="Times New Roman" panose="02020603050405020304"/>
                <a:cs typeface="Times New Roman" panose="02020603050405020304"/>
              </a:rPr>
              <a:t> </a:t>
            </a:r>
            <a:r>
              <a:rPr sz="2400" dirty="0">
                <a:latin typeface="Times New Roman" panose="02020603050405020304"/>
                <a:cs typeface="Times New Roman" panose="02020603050405020304"/>
              </a:rPr>
              <a:t>which</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strives</a:t>
            </a:r>
            <a:r>
              <a:rPr sz="2400" spc="-55"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to </a:t>
            </a:r>
            <a:r>
              <a:rPr sz="2400" dirty="0">
                <a:latin typeface="Times New Roman" panose="02020603050405020304"/>
                <a:cs typeface="Times New Roman" panose="02020603050405020304"/>
              </a:rPr>
              <a:t>simulate</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information</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processing</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capabilities</a:t>
            </a:r>
            <a:r>
              <a:rPr sz="2400" spc="-45"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its</a:t>
            </a:r>
            <a:r>
              <a:rPr sz="2400" spc="-2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biological </a:t>
            </a:r>
            <a:r>
              <a:rPr sz="2400" spc="-25" dirty="0">
                <a:latin typeface="Times New Roman" panose="02020603050405020304"/>
                <a:cs typeface="Times New Roman" panose="02020603050405020304"/>
              </a:rPr>
              <a:t>exemplar.</a:t>
            </a:r>
            <a:r>
              <a:rPr sz="2400" spc="-145" dirty="0">
                <a:latin typeface="Times New Roman" panose="02020603050405020304"/>
                <a:cs typeface="Times New Roman" panose="02020603050405020304"/>
              </a:rPr>
              <a:t> </a:t>
            </a:r>
            <a:r>
              <a:rPr sz="2400" dirty="0">
                <a:latin typeface="Times New Roman" panose="02020603050405020304"/>
                <a:cs typeface="Times New Roman" panose="02020603050405020304"/>
              </a:rPr>
              <a:t>ANNs</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are</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typically</a:t>
            </a:r>
            <a:r>
              <a:rPr sz="2400" spc="-55" dirty="0">
                <a:latin typeface="Times New Roman" panose="02020603050405020304"/>
                <a:cs typeface="Times New Roman" panose="02020603050405020304"/>
              </a:rPr>
              <a:t> </a:t>
            </a:r>
            <a:r>
              <a:rPr sz="2400" dirty="0">
                <a:latin typeface="Times New Roman" panose="02020603050405020304"/>
                <a:cs typeface="Times New Roman" panose="02020603050405020304"/>
              </a:rPr>
              <a:t>composed</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great</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number</a:t>
            </a:r>
            <a:r>
              <a:rPr sz="2400" spc="-5"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of </a:t>
            </a:r>
            <a:r>
              <a:rPr sz="2400" dirty="0">
                <a:latin typeface="Times New Roman" panose="02020603050405020304"/>
                <a:cs typeface="Times New Roman" panose="02020603050405020304"/>
              </a:rPr>
              <a:t>interconnected</a:t>
            </a:r>
            <a:r>
              <a:rPr sz="2400" spc="-45" dirty="0">
                <a:latin typeface="Times New Roman" panose="02020603050405020304"/>
                <a:cs typeface="Times New Roman" panose="02020603050405020304"/>
              </a:rPr>
              <a:t> </a:t>
            </a:r>
            <a:r>
              <a:rPr sz="2400" dirty="0">
                <a:latin typeface="Times New Roman" panose="02020603050405020304"/>
                <a:cs typeface="Times New Roman" panose="02020603050405020304"/>
              </a:rPr>
              <a:t>artificial</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neurons.</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artificial</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neurons</a:t>
            </a:r>
            <a:r>
              <a:rPr sz="2400" spc="-10"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are </a:t>
            </a:r>
            <a:r>
              <a:rPr sz="2400" dirty="0">
                <a:latin typeface="Times New Roman" panose="02020603050405020304"/>
                <a:cs typeface="Times New Roman" panose="02020603050405020304"/>
              </a:rPr>
              <a:t>simplified</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models</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their</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biological</a:t>
            </a:r>
            <a:r>
              <a:rPr sz="2400" spc="-4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counterparts.</a:t>
            </a:r>
            <a:endParaRPr sz="2400">
              <a:latin typeface="Times New Roman" panose="02020603050405020304"/>
              <a:cs typeface="Times New Roman" panose="02020603050405020304"/>
            </a:endParaRPr>
          </a:p>
          <a:p>
            <a:pPr marL="283845" marR="5080" indent="-271780">
              <a:lnSpc>
                <a:spcPct val="100000"/>
              </a:lnSpc>
              <a:spcBef>
                <a:spcPts val="600"/>
              </a:spcBef>
              <a:buClr>
                <a:srgbClr val="D24717"/>
              </a:buClr>
              <a:buSzPct val="85000"/>
              <a:buFont typeface="Segoe UI Symbol" panose="020B0502040204020203"/>
              <a:buChar char="⚫"/>
              <a:tabLst>
                <a:tab pos="283845" algn="l"/>
              </a:tabLst>
            </a:pPr>
            <a:r>
              <a:rPr sz="2400" dirty="0">
                <a:latin typeface="Times New Roman" panose="02020603050405020304"/>
                <a:cs typeface="Times New Roman" panose="02020603050405020304"/>
              </a:rPr>
              <a:t>ANN</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is</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technique</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for</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solving</a:t>
            </a:r>
            <a:r>
              <a:rPr sz="2400" spc="-40" dirty="0">
                <a:latin typeface="Times New Roman" panose="02020603050405020304"/>
                <a:cs typeface="Times New Roman" panose="02020603050405020304"/>
              </a:rPr>
              <a:t> </a:t>
            </a:r>
            <a:r>
              <a:rPr sz="2400" dirty="0">
                <a:latin typeface="Times New Roman" panose="02020603050405020304"/>
                <a:cs typeface="Times New Roman" panose="02020603050405020304"/>
              </a:rPr>
              <a:t>problems</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by</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constructing</a:t>
            </a:r>
            <a:r>
              <a:rPr sz="2400" spc="-5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software </a:t>
            </a:r>
            <a:r>
              <a:rPr sz="2400" dirty="0">
                <a:latin typeface="Times New Roman" panose="02020603050405020304"/>
                <a:cs typeface="Times New Roman" panose="02020603050405020304"/>
              </a:rPr>
              <a:t>that</a:t>
            </a:r>
            <a:r>
              <a:rPr sz="2400" spc="-40" dirty="0">
                <a:latin typeface="Times New Roman" panose="02020603050405020304"/>
                <a:cs typeface="Times New Roman" panose="02020603050405020304"/>
              </a:rPr>
              <a:t> </a:t>
            </a:r>
            <a:r>
              <a:rPr sz="2400" dirty="0">
                <a:latin typeface="Times New Roman" panose="02020603050405020304"/>
                <a:cs typeface="Times New Roman" panose="02020603050405020304"/>
              </a:rPr>
              <a:t>works</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like</a:t>
            </a:r>
            <a:r>
              <a:rPr sz="2400" spc="-45" dirty="0">
                <a:latin typeface="Times New Roman" panose="02020603050405020304"/>
                <a:cs typeface="Times New Roman" panose="02020603050405020304"/>
              </a:rPr>
              <a:t> </a:t>
            </a:r>
            <a:r>
              <a:rPr sz="2400" dirty="0">
                <a:latin typeface="Times New Roman" panose="02020603050405020304"/>
                <a:cs typeface="Times New Roman" panose="02020603050405020304"/>
              </a:rPr>
              <a:t>our</a:t>
            </a:r>
            <a:r>
              <a:rPr sz="2400" spc="-2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brains.</a:t>
            </a:r>
            <a:endParaRPr sz="24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5334000" y="4038600"/>
            <a:ext cx="4419600" cy="2514600"/>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0216"/>
            <a:ext cx="10515600" cy="627380"/>
          </a:xfrm>
          <a:prstGeom prst="rect">
            <a:avLst/>
          </a:prstGeom>
        </p:spPr>
        <p:txBody>
          <a:bodyPr vert="horz" wrap="square" lIns="0" tIns="12065" rIns="0" bIns="0" rtlCol="0">
            <a:spAutoFit/>
          </a:bodyPr>
          <a:lstStyle/>
          <a:p>
            <a:pPr marL="240030">
              <a:lnSpc>
                <a:spcPct val="100000"/>
              </a:lnSpc>
              <a:spcBef>
                <a:spcPts val="95"/>
              </a:spcBef>
            </a:pPr>
            <a:r>
              <a:rPr sz="4000" dirty="0">
                <a:latin typeface="Times New Roman" panose="02020603050405020304"/>
                <a:cs typeface="Times New Roman" panose="02020603050405020304"/>
              </a:rPr>
              <a:t>How</a:t>
            </a:r>
            <a:r>
              <a:rPr sz="4000" spc="-70" dirty="0">
                <a:latin typeface="Times New Roman" panose="02020603050405020304"/>
                <a:cs typeface="Times New Roman" panose="02020603050405020304"/>
              </a:rPr>
              <a:t> </a:t>
            </a:r>
            <a:r>
              <a:rPr sz="4000" dirty="0">
                <a:latin typeface="Times New Roman" panose="02020603050405020304"/>
                <a:cs typeface="Times New Roman" panose="02020603050405020304"/>
              </a:rPr>
              <a:t>do</a:t>
            </a:r>
            <a:r>
              <a:rPr sz="4000" spc="-70" dirty="0">
                <a:latin typeface="Times New Roman" panose="02020603050405020304"/>
                <a:cs typeface="Times New Roman" panose="02020603050405020304"/>
              </a:rPr>
              <a:t> </a:t>
            </a:r>
            <a:r>
              <a:rPr sz="4000" dirty="0">
                <a:latin typeface="Times New Roman" panose="02020603050405020304"/>
                <a:cs typeface="Times New Roman" panose="02020603050405020304"/>
              </a:rPr>
              <a:t>our</a:t>
            </a:r>
            <a:r>
              <a:rPr sz="4000" spc="-70" dirty="0">
                <a:latin typeface="Times New Roman" panose="02020603050405020304"/>
                <a:cs typeface="Times New Roman" panose="02020603050405020304"/>
              </a:rPr>
              <a:t> </a:t>
            </a:r>
            <a:r>
              <a:rPr sz="4000" dirty="0">
                <a:latin typeface="Times New Roman" panose="02020603050405020304"/>
                <a:cs typeface="Times New Roman" panose="02020603050405020304"/>
              </a:rPr>
              <a:t>brains</a:t>
            </a:r>
            <a:r>
              <a:rPr sz="4000" spc="-6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work?</a:t>
            </a:r>
            <a:endParaRPr sz="4000">
              <a:latin typeface="Times New Roman" panose="02020603050405020304"/>
              <a:cs typeface="Times New Roman" panose="02020603050405020304"/>
            </a:endParaRPr>
          </a:p>
        </p:txBody>
      </p:sp>
      <p:sp>
        <p:nvSpPr>
          <p:cNvPr id="3" name="object 3"/>
          <p:cNvSpPr txBox="1"/>
          <p:nvPr/>
        </p:nvSpPr>
        <p:spPr>
          <a:xfrm>
            <a:off x="2422956" y="965505"/>
            <a:ext cx="7341234" cy="1036955"/>
          </a:xfrm>
          <a:prstGeom prst="rect">
            <a:avLst/>
          </a:prstGeom>
        </p:spPr>
        <p:txBody>
          <a:bodyPr vert="horz" wrap="square" lIns="0" tIns="63500" rIns="0" bIns="0" rtlCol="0">
            <a:spAutoFit/>
          </a:bodyPr>
          <a:lstStyle/>
          <a:p>
            <a:pPr marL="240665" indent="-227965">
              <a:lnSpc>
                <a:spcPct val="100000"/>
              </a:lnSpc>
              <a:spcBef>
                <a:spcPts val="500"/>
              </a:spcBef>
              <a:buClr>
                <a:srgbClr val="E6B0AB"/>
              </a:buClr>
              <a:buSzPct val="85000"/>
              <a:buFont typeface="Wingdings" panose="05000000000000000000"/>
              <a:buChar char=""/>
              <a:tabLst>
                <a:tab pos="240665" algn="l"/>
              </a:tabLst>
            </a:pPr>
            <a:r>
              <a:rPr sz="2000" dirty="0">
                <a:latin typeface="Times New Roman" panose="02020603050405020304"/>
                <a:cs typeface="Times New Roman" panose="02020603050405020304"/>
              </a:rPr>
              <a:t>The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Brain</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120" dirty="0">
                <a:latin typeface="Times New Roman" panose="02020603050405020304"/>
                <a:cs typeface="Times New Roman" panose="02020603050405020304"/>
              </a:rPr>
              <a:t> </a:t>
            </a:r>
            <a:r>
              <a:rPr sz="2000" dirty="0">
                <a:latin typeface="Times New Roman" panose="02020603050405020304"/>
                <a:cs typeface="Times New Roman" panose="02020603050405020304"/>
              </a:rPr>
              <a:t>massively</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parallel</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information</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processing</a:t>
            </a:r>
            <a:r>
              <a:rPr sz="2000" spc="-5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system.</a:t>
            </a:r>
            <a:endParaRPr sz="2000">
              <a:latin typeface="Times New Roman" panose="02020603050405020304"/>
              <a:cs typeface="Times New Roman" panose="02020603050405020304"/>
            </a:endParaRPr>
          </a:p>
          <a:p>
            <a:pPr marL="241300" marR="5080" indent="-228600">
              <a:lnSpc>
                <a:spcPct val="100000"/>
              </a:lnSpc>
              <a:spcBef>
                <a:spcPts val="395"/>
              </a:spcBef>
              <a:buClr>
                <a:srgbClr val="E6B0AB"/>
              </a:buClr>
              <a:buSzPct val="85000"/>
              <a:buFont typeface="Wingdings" panose="05000000000000000000"/>
              <a:buChar char=""/>
              <a:tabLst>
                <a:tab pos="241300" algn="l"/>
              </a:tabLst>
            </a:pPr>
            <a:r>
              <a:rPr sz="2000" dirty="0">
                <a:latin typeface="Times New Roman" panose="02020603050405020304"/>
                <a:cs typeface="Times New Roman" panose="02020603050405020304"/>
              </a:rPr>
              <a:t>Our</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brains</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are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huge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network</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processing</a:t>
            </a:r>
            <a:r>
              <a:rPr sz="2000" spc="-4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elements.</a:t>
            </a:r>
            <a:r>
              <a:rPr sz="2000" spc="-114"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110" dirty="0">
                <a:latin typeface="Times New Roman" panose="02020603050405020304"/>
                <a:cs typeface="Times New Roman" panose="02020603050405020304"/>
              </a:rPr>
              <a:t> </a:t>
            </a:r>
            <a:r>
              <a:rPr sz="2000" dirty="0">
                <a:latin typeface="Times New Roman" panose="02020603050405020304"/>
                <a:cs typeface="Times New Roman" panose="02020603050405020304"/>
              </a:rPr>
              <a:t>typical</a:t>
            </a:r>
            <a:r>
              <a:rPr sz="2000" spc="-10" dirty="0">
                <a:latin typeface="Times New Roman" panose="02020603050405020304"/>
                <a:cs typeface="Times New Roman" panose="02020603050405020304"/>
              </a:rPr>
              <a:t> brain </a:t>
            </a:r>
            <a:r>
              <a:rPr sz="2000" dirty="0">
                <a:latin typeface="Times New Roman" panose="02020603050405020304"/>
                <a:cs typeface="Times New Roman" panose="02020603050405020304"/>
              </a:rPr>
              <a:t>contains</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network</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10 billion</a:t>
            </a:r>
            <a:r>
              <a:rPr sz="2000" spc="-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neurons.</a:t>
            </a:r>
            <a:endParaRPr sz="20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3124200" y="3505200"/>
            <a:ext cx="5562600" cy="2667000"/>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7320" y="187401"/>
            <a:ext cx="5217795" cy="627380"/>
          </a:xfrm>
          <a:prstGeom prst="rect">
            <a:avLst/>
          </a:prstGeom>
        </p:spPr>
        <p:txBody>
          <a:bodyPr vert="horz" wrap="square" lIns="0" tIns="12065" rIns="0" bIns="0" rtlCol="0">
            <a:spAutoFit/>
          </a:bodyPr>
          <a:lstStyle/>
          <a:p>
            <a:pPr marL="12700">
              <a:lnSpc>
                <a:spcPct val="100000"/>
              </a:lnSpc>
              <a:spcBef>
                <a:spcPts val="95"/>
              </a:spcBef>
            </a:pPr>
            <a:r>
              <a:rPr sz="4000" dirty="0">
                <a:latin typeface="Times New Roman" panose="02020603050405020304"/>
                <a:cs typeface="Times New Roman" panose="02020603050405020304"/>
              </a:rPr>
              <a:t>How</a:t>
            </a:r>
            <a:r>
              <a:rPr sz="4000" spc="-70" dirty="0">
                <a:latin typeface="Times New Roman" panose="02020603050405020304"/>
                <a:cs typeface="Times New Roman" panose="02020603050405020304"/>
              </a:rPr>
              <a:t> </a:t>
            </a:r>
            <a:r>
              <a:rPr sz="4000" dirty="0">
                <a:latin typeface="Times New Roman" panose="02020603050405020304"/>
                <a:cs typeface="Times New Roman" panose="02020603050405020304"/>
              </a:rPr>
              <a:t>do</a:t>
            </a:r>
            <a:r>
              <a:rPr sz="4000" spc="-70" dirty="0">
                <a:latin typeface="Times New Roman" panose="02020603050405020304"/>
                <a:cs typeface="Times New Roman" panose="02020603050405020304"/>
              </a:rPr>
              <a:t> </a:t>
            </a:r>
            <a:r>
              <a:rPr sz="4000" dirty="0">
                <a:latin typeface="Times New Roman" panose="02020603050405020304"/>
                <a:cs typeface="Times New Roman" panose="02020603050405020304"/>
              </a:rPr>
              <a:t>our</a:t>
            </a:r>
            <a:r>
              <a:rPr sz="4000" spc="-70" dirty="0">
                <a:latin typeface="Times New Roman" panose="02020603050405020304"/>
                <a:cs typeface="Times New Roman" panose="02020603050405020304"/>
              </a:rPr>
              <a:t> </a:t>
            </a:r>
            <a:r>
              <a:rPr sz="4000" dirty="0">
                <a:latin typeface="Times New Roman" panose="02020603050405020304"/>
                <a:cs typeface="Times New Roman" panose="02020603050405020304"/>
              </a:rPr>
              <a:t>brains</a:t>
            </a:r>
            <a:r>
              <a:rPr sz="4000" spc="-6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work?</a:t>
            </a:r>
            <a:endParaRPr sz="4000">
              <a:latin typeface="Times New Roman" panose="02020603050405020304"/>
              <a:cs typeface="Times New Roman" panose="02020603050405020304"/>
            </a:endParaRPr>
          </a:p>
        </p:txBody>
      </p:sp>
      <p:sp>
        <p:nvSpPr>
          <p:cNvPr id="3" name="object 3"/>
          <p:cNvSpPr txBox="1"/>
          <p:nvPr/>
        </p:nvSpPr>
        <p:spPr>
          <a:xfrm>
            <a:off x="102615" y="815543"/>
            <a:ext cx="3351529" cy="442595"/>
          </a:xfrm>
          <a:prstGeom prst="rect">
            <a:avLst/>
          </a:prstGeom>
        </p:spPr>
        <p:txBody>
          <a:bodyPr vert="horz" wrap="square" lIns="0" tIns="12065" rIns="0" bIns="0" rtlCol="0">
            <a:spAutoFit/>
          </a:bodyPr>
          <a:lstStyle/>
          <a:p>
            <a:pPr marL="283845" indent="-271145">
              <a:lnSpc>
                <a:spcPct val="100000"/>
              </a:lnSpc>
              <a:spcBef>
                <a:spcPts val="95"/>
              </a:spcBef>
              <a:buClr>
                <a:srgbClr val="D24717"/>
              </a:buClr>
              <a:buSzPct val="84000"/>
              <a:buFont typeface="Wingdings" panose="05000000000000000000"/>
              <a:buChar char=""/>
              <a:tabLst>
                <a:tab pos="283845" algn="l"/>
              </a:tabLst>
            </a:pPr>
            <a:r>
              <a:rPr sz="2800" spc="-30" dirty="0">
                <a:latin typeface="Times New Roman" panose="02020603050405020304"/>
                <a:cs typeface="Times New Roman" panose="02020603050405020304"/>
              </a:rPr>
              <a:t>A</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processing</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element</a:t>
            </a:r>
            <a:endParaRPr sz="28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312420" y="1486535"/>
            <a:ext cx="6324600" cy="3668248"/>
          </a:xfrm>
          <a:prstGeom prst="rect">
            <a:avLst/>
          </a:prstGeom>
        </p:spPr>
      </p:pic>
      <p:sp>
        <p:nvSpPr>
          <p:cNvPr id="5" name="object 5"/>
          <p:cNvSpPr txBox="1"/>
          <p:nvPr/>
        </p:nvSpPr>
        <p:spPr>
          <a:xfrm>
            <a:off x="2212593" y="5297550"/>
            <a:ext cx="2562860" cy="1489710"/>
          </a:xfrm>
          <a:prstGeom prst="rect">
            <a:avLst/>
          </a:prstGeom>
        </p:spPr>
        <p:txBody>
          <a:bodyPr vert="horz" wrap="square" lIns="0" tIns="12700" rIns="0" bIns="0" rtlCol="0">
            <a:spAutoFit/>
          </a:bodyPr>
          <a:lstStyle/>
          <a:p>
            <a:pPr marL="12700" marR="5080" indent="635" algn="ctr">
              <a:lnSpc>
                <a:spcPct val="100000"/>
              </a:lnSpc>
              <a:spcBef>
                <a:spcPts val="100"/>
              </a:spcBef>
            </a:pPr>
            <a:r>
              <a:rPr sz="2400" dirty="0">
                <a:latin typeface="Times New Roman" panose="02020603050405020304"/>
                <a:cs typeface="Times New Roman" panose="02020603050405020304"/>
              </a:rPr>
              <a:t>Dendrites:</a:t>
            </a:r>
            <a:r>
              <a:rPr sz="2400" spc="-3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Input</a:t>
            </a:r>
            <a:r>
              <a:rPr sz="2400" spc="600" dirty="0">
                <a:latin typeface="Times New Roman" panose="02020603050405020304"/>
                <a:cs typeface="Times New Roman" panose="02020603050405020304"/>
              </a:rPr>
              <a:t> </a:t>
            </a:r>
            <a:r>
              <a:rPr sz="2400" dirty="0">
                <a:latin typeface="Times New Roman" panose="02020603050405020304"/>
                <a:cs typeface="Times New Roman" panose="02020603050405020304"/>
              </a:rPr>
              <a:t>Cell</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body:</a:t>
            </a:r>
            <a:r>
              <a:rPr sz="2400" spc="-10" dirty="0">
                <a:latin typeface="Times New Roman" panose="02020603050405020304"/>
                <a:cs typeface="Times New Roman" panose="02020603050405020304"/>
              </a:rPr>
              <a:t> Processor </a:t>
            </a:r>
            <a:r>
              <a:rPr sz="2400" dirty="0">
                <a:latin typeface="Times New Roman" panose="02020603050405020304"/>
                <a:cs typeface="Times New Roman" panose="02020603050405020304"/>
              </a:rPr>
              <a:t>Synaptic:</a:t>
            </a:r>
            <a:r>
              <a:rPr sz="2400" spc="-45" dirty="0">
                <a:latin typeface="Times New Roman" panose="02020603050405020304"/>
                <a:cs typeface="Times New Roman" panose="02020603050405020304"/>
              </a:rPr>
              <a:t> </a:t>
            </a:r>
            <a:r>
              <a:rPr sz="2400" spc="-20" dirty="0">
                <a:latin typeface="Times New Roman" panose="02020603050405020304"/>
                <a:cs typeface="Times New Roman" panose="02020603050405020304"/>
              </a:rPr>
              <a:t>Link </a:t>
            </a:r>
            <a:r>
              <a:rPr sz="2400" dirty="0">
                <a:latin typeface="Times New Roman" panose="02020603050405020304"/>
                <a:cs typeface="Times New Roman" panose="02020603050405020304"/>
              </a:rPr>
              <a:t>Axon: </a:t>
            </a:r>
            <a:r>
              <a:rPr sz="2400" spc="-10" dirty="0">
                <a:latin typeface="Times New Roman" panose="02020603050405020304"/>
                <a:cs typeface="Times New Roman" panose="02020603050405020304"/>
              </a:rPr>
              <a:t>Output</a:t>
            </a:r>
            <a:endParaRPr sz="2400">
              <a:latin typeface="Times New Roman" panose="02020603050405020304"/>
              <a:cs typeface="Times New Roman" panose="02020603050405020304"/>
            </a:endParaRPr>
          </a:p>
        </p:txBody>
      </p:sp>
      <p:sp>
        <p:nvSpPr>
          <p:cNvPr id="6" name="Date Placeholder 5"/>
          <p:cNvSpPr>
            <a:spLocks noGrp="1"/>
          </p:cNvSpPr>
          <p:nvPr>
            <p:ph type="dt" sz="half" idx="10"/>
          </p:nvPr>
        </p:nvSpPr>
        <p:spPr/>
        <p:txBody>
          <a:bodyPr/>
          <a:p>
            <a:fld id="{63A1C593-65D0-4073-BCC9-577B9352EA97}" type="datetime1">
              <a:rPr lang="en-US" smtClean="0"/>
            </a:fld>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7320" y="187401"/>
            <a:ext cx="5217795" cy="627380"/>
          </a:xfrm>
          <a:prstGeom prst="rect">
            <a:avLst/>
          </a:prstGeom>
        </p:spPr>
        <p:txBody>
          <a:bodyPr vert="horz" wrap="square" lIns="0" tIns="12065" rIns="0" bIns="0" rtlCol="0">
            <a:spAutoFit/>
          </a:bodyPr>
          <a:lstStyle/>
          <a:p>
            <a:pPr marL="12700">
              <a:lnSpc>
                <a:spcPct val="100000"/>
              </a:lnSpc>
              <a:spcBef>
                <a:spcPts val="95"/>
              </a:spcBef>
            </a:pPr>
            <a:r>
              <a:rPr sz="4000" dirty="0">
                <a:latin typeface="Times New Roman" panose="02020603050405020304"/>
                <a:cs typeface="Times New Roman" panose="02020603050405020304"/>
              </a:rPr>
              <a:t>How</a:t>
            </a:r>
            <a:r>
              <a:rPr sz="4000" spc="-70" dirty="0">
                <a:latin typeface="Times New Roman" panose="02020603050405020304"/>
                <a:cs typeface="Times New Roman" panose="02020603050405020304"/>
              </a:rPr>
              <a:t> </a:t>
            </a:r>
            <a:r>
              <a:rPr sz="4000" dirty="0">
                <a:latin typeface="Times New Roman" panose="02020603050405020304"/>
                <a:cs typeface="Times New Roman" panose="02020603050405020304"/>
              </a:rPr>
              <a:t>do</a:t>
            </a:r>
            <a:r>
              <a:rPr sz="4000" spc="-70" dirty="0">
                <a:latin typeface="Times New Roman" panose="02020603050405020304"/>
                <a:cs typeface="Times New Roman" panose="02020603050405020304"/>
              </a:rPr>
              <a:t> </a:t>
            </a:r>
            <a:r>
              <a:rPr sz="4000" dirty="0">
                <a:latin typeface="Times New Roman" panose="02020603050405020304"/>
                <a:cs typeface="Times New Roman" panose="02020603050405020304"/>
              </a:rPr>
              <a:t>our</a:t>
            </a:r>
            <a:r>
              <a:rPr sz="4000" spc="-70" dirty="0">
                <a:latin typeface="Times New Roman" panose="02020603050405020304"/>
                <a:cs typeface="Times New Roman" panose="02020603050405020304"/>
              </a:rPr>
              <a:t> </a:t>
            </a:r>
            <a:r>
              <a:rPr sz="4000" dirty="0">
                <a:latin typeface="Times New Roman" panose="02020603050405020304"/>
                <a:cs typeface="Times New Roman" panose="02020603050405020304"/>
              </a:rPr>
              <a:t>brains</a:t>
            </a:r>
            <a:r>
              <a:rPr sz="4000" spc="-6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work?</a:t>
            </a:r>
            <a:endParaRPr sz="4000">
              <a:latin typeface="Times New Roman" panose="02020603050405020304"/>
              <a:cs typeface="Times New Roman" panose="02020603050405020304"/>
            </a:endParaRPr>
          </a:p>
        </p:txBody>
      </p:sp>
      <p:sp>
        <p:nvSpPr>
          <p:cNvPr id="3" name="object 3"/>
          <p:cNvSpPr txBox="1"/>
          <p:nvPr/>
        </p:nvSpPr>
        <p:spPr>
          <a:xfrm>
            <a:off x="609345" y="814908"/>
            <a:ext cx="3351529" cy="442595"/>
          </a:xfrm>
          <a:prstGeom prst="rect">
            <a:avLst/>
          </a:prstGeom>
        </p:spPr>
        <p:txBody>
          <a:bodyPr vert="horz" wrap="square" lIns="0" tIns="12065" rIns="0" bIns="0" rtlCol="0">
            <a:spAutoFit/>
          </a:bodyPr>
          <a:lstStyle/>
          <a:p>
            <a:pPr marL="283845" indent="-271145">
              <a:lnSpc>
                <a:spcPct val="100000"/>
              </a:lnSpc>
              <a:spcBef>
                <a:spcPts val="95"/>
              </a:spcBef>
              <a:buClr>
                <a:srgbClr val="D24717"/>
              </a:buClr>
              <a:buSzPct val="84000"/>
              <a:buFont typeface="Wingdings" panose="05000000000000000000"/>
              <a:buChar char=""/>
              <a:tabLst>
                <a:tab pos="283845" algn="l"/>
              </a:tabLst>
            </a:pPr>
            <a:r>
              <a:rPr sz="2800" spc="-30" dirty="0">
                <a:latin typeface="Times New Roman" panose="02020603050405020304"/>
                <a:cs typeface="Times New Roman" panose="02020603050405020304"/>
              </a:rPr>
              <a:t>A</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processing</a:t>
            </a:r>
            <a:r>
              <a:rPr sz="2800" spc="-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element</a:t>
            </a:r>
            <a:endParaRPr sz="2800">
              <a:latin typeface="Times New Roman" panose="02020603050405020304"/>
              <a:cs typeface="Times New Roman" panose="02020603050405020304"/>
            </a:endParaRPr>
          </a:p>
        </p:txBody>
      </p:sp>
      <p:sp>
        <p:nvSpPr>
          <p:cNvPr id="5" name="object 5"/>
          <p:cNvSpPr txBox="1"/>
          <p:nvPr/>
        </p:nvSpPr>
        <p:spPr>
          <a:xfrm>
            <a:off x="609600" y="1617980"/>
            <a:ext cx="10293985" cy="4286885"/>
          </a:xfrm>
          <a:prstGeom prst="rect">
            <a:avLst/>
          </a:prstGeom>
        </p:spPr>
        <p:txBody>
          <a:bodyPr vert="horz" wrap="square" lIns="0" tIns="12700" rIns="0" bIns="0" rtlCol="0">
            <a:noAutofit/>
          </a:bodyPr>
          <a:lstStyle/>
          <a:p>
            <a:pPr marL="469265" marR="5080" indent="-457200">
              <a:lnSpc>
                <a:spcPct val="100000"/>
              </a:lnSpc>
              <a:spcBef>
                <a:spcPts val="100"/>
              </a:spcBef>
              <a:buFont typeface="Arial" panose="020B0604020202020204" pitchFamily="34" charset="0"/>
              <a:buAutoNum type="arabicPeriod"/>
            </a:pPr>
            <a:r>
              <a:rPr sz="2400" dirty="0">
                <a:latin typeface="Times New Roman" panose="02020603050405020304"/>
                <a:cs typeface="Times New Roman" panose="02020603050405020304"/>
              </a:rPr>
              <a:t>A</a:t>
            </a:r>
            <a:r>
              <a:rPr sz="2400" spc="-145" dirty="0">
                <a:latin typeface="Times New Roman" panose="02020603050405020304"/>
                <a:cs typeface="Times New Roman" panose="02020603050405020304"/>
              </a:rPr>
              <a:t> </a:t>
            </a:r>
            <a:r>
              <a:rPr sz="2400" dirty="0">
                <a:latin typeface="Times New Roman" panose="02020603050405020304"/>
                <a:cs typeface="Times New Roman" panose="02020603050405020304"/>
              </a:rPr>
              <a:t>neuron</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is</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connected</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to</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other</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neurons</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through</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about </a:t>
            </a:r>
            <a:r>
              <a:rPr sz="2400" i="1" spc="-10" dirty="0">
                <a:latin typeface="Times New Roman" panose="02020603050405020304"/>
                <a:cs typeface="Times New Roman" panose="02020603050405020304"/>
              </a:rPr>
              <a:t>10,000 synapses</a:t>
            </a:r>
            <a:endParaRPr sz="2400" i="1" spc="-10" dirty="0">
              <a:latin typeface="Times New Roman" panose="02020603050405020304"/>
              <a:cs typeface="Times New Roman" panose="02020603050405020304"/>
            </a:endParaRPr>
          </a:p>
          <a:p>
            <a:pPr marL="469265" marR="5080" indent="-457200">
              <a:lnSpc>
                <a:spcPct val="100000"/>
              </a:lnSpc>
              <a:spcBef>
                <a:spcPts val="100"/>
              </a:spcBef>
              <a:buFont typeface="Arial" panose="020B0604020202020204" pitchFamily="34" charset="0"/>
              <a:buAutoNum type="arabicPeriod"/>
            </a:pPr>
            <a:r>
              <a:rPr sz="2400" dirty="0">
                <a:latin typeface="Times New Roman" panose="02020603050405020304"/>
                <a:cs typeface="Times New Roman" panose="02020603050405020304"/>
                <a:sym typeface="+mn-ea"/>
              </a:rPr>
              <a:t>A</a:t>
            </a:r>
            <a:r>
              <a:rPr sz="2400" spc="-1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neuron</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receives</a:t>
            </a:r>
            <a:r>
              <a:rPr sz="2400" spc="-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input</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from</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other</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neurons.</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Inputs</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are</a:t>
            </a:r>
            <a:r>
              <a:rPr sz="2400" spc="-15" dirty="0">
                <a:latin typeface="Times New Roman" panose="02020603050405020304"/>
                <a:cs typeface="Times New Roman" panose="02020603050405020304"/>
                <a:sym typeface="+mn-ea"/>
              </a:rPr>
              <a:t> </a:t>
            </a:r>
            <a:r>
              <a:rPr sz="2400" spc="-10" dirty="0">
                <a:latin typeface="Times New Roman" panose="02020603050405020304"/>
                <a:cs typeface="Times New Roman" panose="02020603050405020304"/>
                <a:sym typeface="+mn-ea"/>
              </a:rPr>
              <a:t>combined.</a:t>
            </a:r>
            <a:endParaRPr sz="2400" spc="-10" dirty="0">
              <a:latin typeface="Times New Roman" panose="02020603050405020304"/>
              <a:cs typeface="Times New Roman" panose="02020603050405020304"/>
              <a:sym typeface="+mn-ea"/>
            </a:endParaRPr>
          </a:p>
          <a:p>
            <a:pPr marL="469265" marR="5080" indent="-457200">
              <a:lnSpc>
                <a:spcPct val="100000"/>
              </a:lnSpc>
              <a:spcBef>
                <a:spcPts val="100"/>
              </a:spcBef>
              <a:buFont typeface="Arial" panose="020B0604020202020204" pitchFamily="34" charset="0"/>
              <a:buAutoNum type="arabicPeriod"/>
            </a:pPr>
            <a:r>
              <a:rPr sz="2400" dirty="0">
                <a:latin typeface="Times New Roman" panose="02020603050405020304"/>
                <a:cs typeface="Times New Roman" panose="02020603050405020304"/>
                <a:sym typeface="+mn-ea"/>
              </a:rPr>
              <a:t>Once</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input</a:t>
            </a:r>
            <a:r>
              <a:rPr sz="2400" spc="-3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exceeds</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critical</a:t>
            </a:r>
            <a:r>
              <a:rPr sz="2400" spc="-5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level,</a:t>
            </a:r>
            <a:r>
              <a:rPr sz="2400" spc="-3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neuron</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discharges</a:t>
            </a:r>
            <a:r>
              <a:rPr sz="2400" spc="-3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spike</a:t>
            </a:r>
            <a:r>
              <a:rPr sz="2400" spc="-15" dirty="0">
                <a:latin typeface="Times New Roman" panose="02020603050405020304"/>
                <a:cs typeface="Times New Roman" panose="02020603050405020304"/>
                <a:sym typeface="+mn-ea"/>
              </a:rPr>
              <a:t> </a:t>
            </a:r>
            <a:r>
              <a:rPr sz="2400" spc="-5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an</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electrical</a:t>
            </a:r>
            <a:r>
              <a:rPr sz="2400" spc="-5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pulse</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that</a:t>
            </a:r>
            <a:r>
              <a:rPr sz="2400" spc="-3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travels</a:t>
            </a:r>
            <a:r>
              <a:rPr sz="2400" spc="-5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from</a:t>
            </a:r>
            <a:r>
              <a:rPr sz="2400" spc="-3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5" dirty="0">
                <a:latin typeface="Times New Roman" panose="02020603050405020304"/>
                <a:cs typeface="Times New Roman" panose="02020603050405020304"/>
                <a:sym typeface="+mn-ea"/>
              </a:rPr>
              <a:t> </a:t>
            </a:r>
            <a:r>
              <a:rPr sz="2400" spc="-10" dirty="0">
                <a:latin typeface="Times New Roman" panose="02020603050405020304"/>
                <a:cs typeface="Times New Roman" panose="02020603050405020304"/>
                <a:sym typeface="+mn-ea"/>
              </a:rPr>
              <a:t>body,</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down</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axon,</a:t>
            </a:r>
            <a:r>
              <a:rPr sz="2400" spc="-25" dirty="0">
                <a:latin typeface="Times New Roman" panose="02020603050405020304"/>
                <a:cs typeface="Times New Roman" panose="02020603050405020304"/>
                <a:sym typeface="+mn-ea"/>
              </a:rPr>
              <a:t> to </a:t>
            </a:r>
            <a:r>
              <a:rPr sz="2400" dirty="0">
                <a:latin typeface="Times New Roman" panose="02020603050405020304"/>
                <a:cs typeface="Times New Roman" panose="02020603050405020304"/>
                <a:sym typeface="+mn-ea"/>
              </a:rPr>
              <a:t>the next</a:t>
            </a:r>
            <a:r>
              <a:rPr sz="2400" spc="-25" dirty="0">
                <a:latin typeface="Times New Roman" panose="02020603050405020304"/>
                <a:cs typeface="Times New Roman" panose="02020603050405020304"/>
                <a:sym typeface="+mn-ea"/>
              </a:rPr>
              <a:t> </a:t>
            </a:r>
            <a:r>
              <a:rPr sz="2400" spc="-10" dirty="0">
                <a:latin typeface="Times New Roman" panose="02020603050405020304"/>
                <a:cs typeface="Times New Roman" panose="02020603050405020304"/>
                <a:sym typeface="+mn-ea"/>
              </a:rPr>
              <a:t>neuron(s)</a:t>
            </a:r>
            <a:endParaRPr sz="2400" spc="-10" dirty="0">
              <a:latin typeface="Times New Roman" panose="02020603050405020304"/>
              <a:cs typeface="Times New Roman" panose="02020603050405020304"/>
              <a:sym typeface="+mn-ea"/>
            </a:endParaRPr>
          </a:p>
          <a:p>
            <a:pPr marL="469265" marR="5080" indent="-457200">
              <a:lnSpc>
                <a:spcPct val="100000"/>
              </a:lnSpc>
              <a:spcBef>
                <a:spcPts val="100"/>
              </a:spcBef>
              <a:buFont typeface="Arial" panose="020B0604020202020204" pitchFamily="34" charset="0"/>
              <a:buAutoNum type="arabicPeriod"/>
            </a:pPr>
            <a:r>
              <a:rPr sz="2400" dirty="0">
                <a:latin typeface="Times New Roman" panose="02020603050405020304"/>
                <a:cs typeface="Times New Roman" panose="02020603050405020304"/>
                <a:sym typeface="+mn-ea"/>
              </a:rPr>
              <a:t>The</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axon</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endings</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almost</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touch</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dendrites</a:t>
            </a:r>
            <a:r>
              <a:rPr sz="2400" spc="-3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or</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cell</a:t>
            </a:r>
            <a:r>
              <a:rPr sz="2400" spc="-3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body</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of</a:t>
            </a:r>
            <a:r>
              <a:rPr sz="2400" spc="-5" dirty="0">
                <a:latin typeface="Times New Roman" panose="02020603050405020304"/>
                <a:cs typeface="Times New Roman" panose="02020603050405020304"/>
                <a:sym typeface="+mn-ea"/>
              </a:rPr>
              <a:t> </a:t>
            </a:r>
            <a:r>
              <a:rPr sz="2400" spc="-25" dirty="0">
                <a:latin typeface="Times New Roman" panose="02020603050405020304"/>
                <a:cs typeface="Times New Roman" panose="02020603050405020304"/>
                <a:sym typeface="+mn-ea"/>
              </a:rPr>
              <a:t>the </a:t>
            </a:r>
            <a:r>
              <a:rPr sz="2400" dirty="0">
                <a:latin typeface="Times New Roman" panose="02020603050405020304"/>
                <a:cs typeface="Times New Roman" panose="02020603050405020304"/>
                <a:sym typeface="+mn-ea"/>
              </a:rPr>
              <a:t>next </a:t>
            </a:r>
            <a:r>
              <a:rPr sz="2400" spc="-10" dirty="0">
                <a:latin typeface="Times New Roman" panose="02020603050405020304"/>
                <a:cs typeface="Times New Roman" panose="02020603050405020304"/>
                <a:sym typeface="+mn-ea"/>
              </a:rPr>
              <a:t>neuron.</a:t>
            </a:r>
            <a:endParaRPr sz="2400" spc="-10" dirty="0">
              <a:latin typeface="Times New Roman" panose="02020603050405020304"/>
              <a:cs typeface="Times New Roman" panose="02020603050405020304"/>
              <a:sym typeface="+mn-ea"/>
            </a:endParaRPr>
          </a:p>
          <a:p>
            <a:pPr marL="469265" marR="5080" indent="-457200">
              <a:lnSpc>
                <a:spcPct val="100000"/>
              </a:lnSpc>
              <a:spcBef>
                <a:spcPts val="100"/>
              </a:spcBef>
              <a:buFont typeface="Arial" panose="020B0604020202020204" pitchFamily="34" charset="0"/>
              <a:buAutoNum type="arabicPeriod"/>
            </a:pPr>
            <a:r>
              <a:rPr sz="2400" dirty="0">
                <a:latin typeface="Times New Roman" panose="02020603050405020304"/>
                <a:cs typeface="Times New Roman" panose="02020603050405020304"/>
                <a:sym typeface="+mn-ea"/>
              </a:rPr>
              <a:t>Transmission</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of</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an</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electrical</a:t>
            </a:r>
            <a:r>
              <a:rPr sz="2400" spc="-6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signal</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from</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one</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neuron</a:t>
            </a:r>
            <a:r>
              <a:rPr sz="2400" spc="-3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to</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next</a:t>
            </a:r>
            <a:r>
              <a:rPr sz="2400" spc="-25" dirty="0">
                <a:latin typeface="Times New Roman" panose="02020603050405020304"/>
                <a:cs typeface="Times New Roman" panose="02020603050405020304"/>
                <a:sym typeface="+mn-ea"/>
              </a:rPr>
              <a:t> is </a:t>
            </a:r>
            <a:r>
              <a:rPr sz="2400" dirty="0">
                <a:latin typeface="Times New Roman" panose="02020603050405020304"/>
                <a:cs typeface="Times New Roman" panose="02020603050405020304"/>
                <a:sym typeface="+mn-ea"/>
              </a:rPr>
              <a:t>effected</a:t>
            </a:r>
            <a:r>
              <a:rPr sz="2400" spc="-5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by</a:t>
            </a:r>
            <a:r>
              <a:rPr sz="2400" spc="-25" dirty="0">
                <a:latin typeface="Times New Roman" panose="02020603050405020304"/>
                <a:cs typeface="Times New Roman" panose="02020603050405020304"/>
                <a:sym typeface="+mn-ea"/>
              </a:rPr>
              <a:t> </a:t>
            </a:r>
            <a:r>
              <a:rPr sz="2400" spc="-10" dirty="0">
                <a:latin typeface="Times New Roman" panose="02020603050405020304"/>
                <a:cs typeface="Times New Roman" panose="02020603050405020304"/>
                <a:sym typeface="+mn-ea"/>
              </a:rPr>
              <a:t>neurotransmitters.</a:t>
            </a:r>
            <a:r>
              <a:rPr lang="en-US" sz="2400" spc="-10" dirty="0">
                <a:latin typeface="Times New Roman" panose="02020603050405020304"/>
                <a:cs typeface="Times New Roman" panose="02020603050405020304"/>
                <a:sym typeface="+mn-ea"/>
              </a:rPr>
              <a:t> </a:t>
            </a:r>
            <a:endParaRPr lang="en-US" sz="2400" spc="-10" dirty="0">
              <a:latin typeface="Times New Roman" panose="02020603050405020304"/>
              <a:cs typeface="Times New Roman" panose="02020603050405020304"/>
              <a:sym typeface="+mn-ea"/>
            </a:endParaRPr>
          </a:p>
          <a:p>
            <a:pPr marL="469265" marR="5080" indent="-457200">
              <a:lnSpc>
                <a:spcPct val="100000"/>
              </a:lnSpc>
              <a:spcBef>
                <a:spcPts val="100"/>
              </a:spcBef>
              <a:buFont typeface="Arial" panose="020B0604020202020204" pitchFamily="34" charset="0"/>
              <a:buAutoNum type="arabicPeriod"/>
            </a:pPr>
            <a:r>
              <a:rPr sz="2400" dirty="0">
                <a:latin typeface="Times New Roman" panose="02020603050405020304"/>
                <a:cs typeface="Times New Roman" panose="02020603050405020304"/>
                <a:sym typeface="+mn-ea"/>
              </a:rPr>
              <a:t>Neurotransmitters</a:t>
            </a:r>
            <a:r>
              <a:rPr sz="2400" spc="-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are</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chemicals</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which are</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released</a:t>
            </a:r>
            <a:r>
              <a:rPr sz="2400" spc="-3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from</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 </a:t>
            </a:r>
            <a:r>
              <a:rPr sz="2400" spc="-10" dirty="0">
                <a:latin typeface="Times New Roman" panose="02020603050405020304"/>
                <a:cs typeface="Times New Roman" panose="02020603050405020304"/>
                <a:sym typeface="+mn-ea"/>
              </a:rPr>
              <a:t>first </a:t>
            </a:r>
            <a:r>
              <a:rPr sz="2400" dirty="0">
                <a:latin typeface="Times New Roman" panose="02020603050405020304"/>
                <a:cs typeface="Times New Roman" panose="02020603050405020304"/>
                <a:sym typeface="+mn-ea"/>
              </a:rPr>
              <a:t>neuron</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and which bind to</a:t>
            </a:r>
            <a:r>
              <a:rPr sz="2400" spc="-10" dirty="0">
                <a:latin typeface="Times New Roman" panose="02020603050405020304"/>
                <a:cs typeface="Times New Roman" panose="02020603050405020304"/>
                <a:sym typeface="+mn-ea"/>
              </a:rPr>
              <a:t> </a:t>
            </a:r>
            <a:r>
              <a:rPr sz="2400" spc="-25" dirty="0">
                <a:latin typeface="Times New Roman" panose="02020603050405020304"/>
                <a:cs typeface="Times New Roman" panose="02020603050405020304"/>
                <a:sym typeface="+mn-ea"/>
              </a:rPr>
              <a:t>the</a:t>
            </a:r>
            <a:r>
              <a:rPr lang="en-US" sz="2400" spc="-25" dirty="0">
                <a:latin typeface="Times New Roman" panose="02020603050405020304"/>
                <a:cs typeface="Times New Roman" panose="02020603050405020304"/>
                <a:sym typeface="+mn-ea"/>
              </a:rPr>
              <a:t> second</a:t>
            </a:r>
            <a:r>
              <a:rPr sz="2400" spc="-10" dirty="0">
                <a:latin typeface="Times New Roman" panose="02020603050405020304"/>
                <a:cs typeface="Times New Roman" panose="02020603050405020304"/>
                <a:sym typeface="+mn-ea"/>
              </a:rPr>
              <a:t>.</a:t>
            </a:r>
            <a:endParaRPr sz="2400" spc="-10" dirty="0">
              <a:latin typeface="Times New Roman" panose="02020603050405020304"/>
              <a:cs typeface="Times New Roman" panose="02020603050405020304"/>
              <a:sym typeface="+mn-ea"/>
            </a:endParaRPr>
          </a:p>
          <a:p>
            <a:pPr marL="469265" marR="5080" indent="-457200">
              <a:lnSpc>
                <a:spcPct val="100000"/>
              </a:lnSpc>
              <a:spcBef>
                <a:spcPts val="100"/>
              </a:spcBef>
              <a:buFont typeface="Arial" panose="020B0604020202020204" pitchFamily="34" charset="0"/>
              <a:buAutoNum type="arabicPeriod"/>
            </a:pPr>
            <a:r>
              <a:rPr sz="2400" dirty="0">
                <a:latin typeface="Times New Roman" panose="02020603050405020304"/>
                <a:cs typeface="Times New Roman" panose="02020603050405020304"/>
                <a:sym typeface="+mn-ea"/>
              </a:rPr>
              <a:t>This</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link</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is</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called</a:t>
            </a:r>
            <a:r>
              <a:rPr sz="2400" spc="-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synapse.</a:t>
            </a:r>
            <a:r>
              <a:rPr sz="2400" spc="-6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strength</a:t>
            </a:r>
            <a:r>
              <a:rPr sz="2400" spc="-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of</a:t>
            </a:r>
            <a:r>
              <a:rPr sz="2400" spc="-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signal</a:t>
            </a:r>
            <a:r>
              <a:rPr sz="2400" spc="-30" dirty="0">
                <a:latin typeface="Times New Roman" panose="02020603050405020304"/>
                <a:cs typeface="Times New Roman" panose="02020603050405020304"/>
                <a:sym typeface="+mn-ea"/>
              </a:rPr>
              <a:t> </a:t>
            </a:r>
            <a:r>
              <a:rPr sz="2400" spc="-20" dirty="0">
                <a:latin typeface="Times New Roman" panose="02020603050405020304"/>
                <a:cs typeface="Times New Roman" panose="02020603050405020304"/>
                <a:sym typeface="+mn-ea"/>
              </a:rPr>
              <a:t>that </a:t>
            </a:r>
            <a:r>
              <a:rPr sz="2400" dirty="0">
                <a:latin typeface="Times New Roman" panose="02020603050405020304"/>
                <a:cs typeface="Times New Roman" panose="02020603050405020304"/>
                <a:sym typeface="+mn-ea"/>
              </a:rPr>
              <a:t>reaches</a:t>
            </a:r>
            <a:r>
              <a:rPr sz="2400" spc="-3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next</a:t>
            </a:r>
            <a:r>
              <a:rPr sz="2400" spc="-3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neuron</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depends</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on</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factors</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such</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as</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amount</a:t>
            </a:r>
            <a:r>
              <a:rPr sz="2400" spc="-10" dirty="0">
                <a:latin typeface="Times New Roman" panose="02020603050405020304"/>
                <a:cs typeface="Times New Roman" panose="02020603050405020304"/>
                <a:sym typeface="+mn-ea"/>
              </a:rPr>
              <a:t> </a:t>
            </a:r>
            <a:r>
              <a:rPr sz="2400" spc="-25" dirty="0">
                <a:latin typeface="Times New Roman" panose="02020603050405020304"/>
                <a:cs typeface="Times New Roman" panose="02020603050405020304"/>
                <a:sym typeface="+mn-ea"/>
              </a:rPr>
              <a:t>of </a:t>
            </a:r>
            <a:r>
              <a:rPr sz="2400" dirty="0">
                <a:latin typeface="Times New Roman" panose="02020603050405020304"/>
                <a:cs typeface="Times New Roman" panose="02020603050405020304"/>
                <a:sym typeface="+mn-ea"/>
              </a:rPr>
              <a:t>neurotransmitter</a:t>
            </a:r>
            <a:r>
              <a:rPr sz="2400" spc="-45" dirty="0">
                <a:latin typeface="Times New Roman" panose="02020603050405020304"/>
                <a:cs typeface="Times New Roman" panose="02020603050405020304"/>
                <a:sym typeface="+mn-ea"/>
              </a:rPr>
              <a:t> </a:t>
            </a:r>
            <a:r>
              <a:rPr sz="2400" spc="-10" dirty="0">
                <a:latin typeface="Times New Roman" panose="02020603050405020304"/>
                <a:cs typeface="Times New Roman" panose="02020603050405020304"/>
                <a:sym typeface="+mn-ea"/>
              </a:rPr>
              <a:t>available.</a:t>
            </a:r>
            <a:endParaRPr sz="2400">
              <a:latin typeface="Times New Roman" panose="02020603050405020304"/>
              <a:cs typeface="Times New Roman" panose="02020603050405020304"/>
            </a:endParaRPr>
          </a:p>
          <a:p>
            <a:pPr marL="469265" marR="5080" indent="-457200">
              <a:lnSpc>
                <a:spcPct val="100000"/>
              </a:lnSpc>
              <a:spcBef>
                <a:spcPts val="100"/>
              </a:spcBef>
              <a:buFont typeface="Arial" panose="020B0604020202020204" pitchFamily="34" charset="0"/>
              <a:buAutoNum type="arabicPeriod"/>
            </a:pPr>
            <a:endParaRPr sz="2400">
              <a:latin typeface="Times New Roman" panose="02020603050405020304"/>
              <a:cs typeface="Times New Roman" panose="02020603050405020304"/>
            </a:endParaRPr>
          </a:p>
          <a:p>
            <a:pPr marL="469265" marR="5080" indent="-457200">
              <a:lnSpc>
                <a:spcPct val="100000"/>
              </a:lnSpc>
              <a:spcBef>
                <a:spcPts val="100"/>
              </a:spcBef>
              <a:buFont typeface="Arial" panose="020B0604020202020204" pitchFamily="34" charset="0"/>
              <a:buAutoNum type="arabicPeriod"/>
            </a:pPr>
            <a:endParaRPr sz="2400">
              <a:latin typeface="Times New Roman" panose="02020603050405020304"/>
              <a:cs typeface="Times New Roman" panose="02020603050405020304"/>
            </a:endParaRPr>
          </a:p>
          <a:p>
            <a:pPr marL="469265" marR="5080" indent="-457200">
              <a:lnSpc>
                <a:spcPct val="100000"/>
              </a:lnSpc>
              <a:spcBef>
                <a:spcPts val="100"/>
              </a:spcBef>
              <a:buFont typeface="Arial" panose="020B0604020202020204" pitchFamily="34" charset="0"/>
              <a:buAutoNum type="arabicPeriod"/>
            </a:pPr>
            <a:endParaRPr sz="2400">
              <a:latin typeface="Times New Roman" panose="02020603050405020304"/>
              <a:cs typeface="Times New Roman" panose="02020603050405020304"/>
            </a:endParaRPr>
          </a:p>
          <a:p>
            <a:pPr marL="469265" marR="5080" indent="-457200">
              <a:lnSpc>
                <a:spcPct val="100000"/>
              </a:lnSpc>
              <a:spcBef>
                <a:spcPts val="100"/>
              </a:spcBef>
              <a:buFont typeface="Arial" panose="020B0604020202020204" pitchFamily="34" charset="0"/>
              <a:buAutoNum type="arabicPeriod"/>
            </a:pPr>
            <a:endParaRPr sz="2400">
              <a:latin typeface="Times New Roman" panose="02020603050405020304"/>
              <a:cs typeface="Times New Roman" panose="02020603050405020304"/>
            </a:endParaRPr>
          </a:p>
          <a:p>
            <a:pPr marL="469265" marR="5080" indent="-457200">
              <a:lnSpc>
                <a:spcPct val="100000"/>
              </a:lnSpc>
              <a:spcBef>
                <a:spcPts val="100"/>
              </a:spcBef>
              <a:buFont typeface="Arial" panose="020B0604020202020204" pitchFamily="34" charset="0"/>
              <a:buAutoNum type="arabicPeriod"/>
            </a:pPr>
            <a:endParaRPr sz="2400">
              <a:latin typeface="Times New Roman" panose="02020603050405020304"/>
              <a:cs typeface="Times New Roman" panose="02020603050405020304"/>
            </a:endParaRPr>
          </a:p>
          <a:p>
            <a:pPr marL="469265" marR="5080" indent="-457200">
              <a:lnSpc>
                <a:spcPct val="100000"/>
              </a:lnSpc>
              <a:spcBef>
                <a:spcPts val="100"/>
              </a:spcBef>
              <a:buFont typeface="Arial" panose="020B0604020202020204" pitchFamily="34" charset="0"/>
              <a:buAutoNum type="arabicPeriod"/>
            </a:pPr>
            <a:endParaRPr sz="2400" i="1" spc="-10" dirty="0">
              <a:latin typeface="Times New Roman" panose="02020603050405020304"/>
              <a:cs typeface="Times New Roman" panose="02020603050405020304"/>
            </a:endParaRPr>
          </a:p>
          <a:p>
            <a:pPr marL="469265" marR="5080" indent="-457200">
              <a:lnSpc>
                <a:spcPct val="100000"/>
              </a:lnSpc>
              <a:spcBef>
                <a:spcPts val="100"/>
              </a:spcBef>
              <a:buFont typeface="Arial" panose="020B0604020202020204" pitchFamily="34" charset="0"/>
              <a:buAutoNum type="arabicPeriod"/>
            </a:pPr>
            <a:endParaRPr sz="2400">
              <a:latin typeface="Times New Roman" panose="02020603050405020304"/>
              <a:cs typeface="Times New Roman" panose="02020603050405020304"/>
            </a:endParaRPr>
          </a:p>
        </p:txBody>
      </p:sp>
      <p:sp>
        <p:nvSpPr>
          <p:cNvPr id="6" name="Date Placeholder 5"/>
          <p:cNvSpPr>
            <a:spLocks noGrp="1"/>
          </p:cNvSpPr>
          <p:nvPr>
            <p:ph type="dt" sz="half" idx="10"/>
          </p:nvPr>
        </p:nvSpPr>
        <p:spPr/>
        <p:txBody>
          <a:bodyPr/>
          <a:p>
            <a:fld id="{63A1C593-65D0-4073-BCC9-577B9352EA97}" type="datetime1">
              <a:rPr lang="en-US" smtClean="0"/>
            </a:fld>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60216"/>
            <a:ext cx="10515600" cy="627380"/>
          </a:xfrm>
          <a:prstGeom prst="rect">
            <a:avLst/>
          </a:prstGeom>
        </p:spPr>
        <p:txBody>
          <a:bodyPr vert="horz" wrap="square" lIns="0" tIns="12065" rIns="0" bIns="0" rtlCol="0">
            <a:spAutoFit/>
          </a:bodyPr>
          <a:lstStyle/>
          <a:p>
            <a:pPr marL="240030">
              <a:lnSpc>
                <a:spcPct val="100000"/>
              </a:lnSpc>
              <a:spcBef>
                <a:spcPts val="95"/>
              </a:spcBef>
            </a:pPr>
            <a:r>
              <a:rPr sz="4000" dirty="0">
                <a:latin typeface="Times New Roman" panose="02020603050405020304"/>
                <a:cs typeface="Times New Roman" panose="02020603050405020304"/>
              </a:rPr>
              <a:t>How</a:t>
            </a:r>
            <a:r>
              <a:rPr sz="4000" spc="-8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do</a:t>
            </a:r>
            <a:r>
              <a:rPr sz="4000" spc="-240" dirty="0">
                <a:latin typeface="Times New Roman" panose="02020603050405020304"/>
                <a:cs typeface="Times New Roman" panose="02020603050405020304"/>
              </a:rPr>
              <a:t> </a:t>
            </a:r>
            <a:r>
              <a:rPr sz="4000" dirty="0">
                <a:latin typeface="Times New Roman" panose="02020603050405020304"/>
                <a:cs typeface="Times New Roman" panose="02020603050405020304"/>
              </a:rPr>
              <a:t>ANNs</a:t>
            </a:r>
            <a:r>
              <a:rPr sz="4000" spc="-40"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work?</a:t>
            </a:r>
            <a:endParaRPr sz="4000">
              <a:latin typeface="Times New Roman" panose="02020603050405020304"/>
              <a:cs typeface="Times New Roman" panose="02020603050405020304"/>
            </a:endParaRPr>
          </a:p>
        </p:txBody>
      </p:sp>
      <p:pic>
        <p:nvPicPr>
          <p:cNvPr id="3" name="object 3"/>
          <p:cNvPicPr/>
          <p:nvPr/>
        </p:nvPicPr>
        <p:blipFill>
          <a:blip r:embed="rId1" cstate="print"/>
          <a:stretch>
            <a:fillRect/>
          </a:stretch>
        </p:blipFill>
        <p:spPr>
          <a:xfrm>
            <a:off x="2625969" y="1069427"/>
            <a:ext cx="6834553" cy="4279211"/>
          </a:xfrm>
          <a:prstGeom prst="rect">
            <a:avLst/>
          </a:prstGeom>
        </p:spPr>
      </p:pic>
      <p:sp>
        <p:nvSpPr>
          <p:cNvPr id="4" name="object 4"/>
          <p:cNvSpPr txBox="1"/>
          <p:nvPr/>
        </p:nvSpPr>
        <p:spPr>
          <a:xfrm>
            <a:off x="2751226" y="5968390"/>
            <a:ext cx="6609080" cy="381635"/>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panose="02020603050405020304"/>
                <a:cs typeface="Times New Roman" panose="02020603050405020304"/>
              </a:rPr>
              <a:t>An</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artificial</a:t>
            </a:r>
            <a:r>
              <a:rPr sz="2400" spc="-55" dirty="0">
                <a:latin typeface="Times New Roman" panose="02020603050405020304"/>
                <a:cs typeface="Times New Roman" panose="02020603050405020304"/>
              </a:rPr>
              <a:t> </a:t>
            </a:r>
            <a:r>
              <a:rPr sz="2400" dirty="0">
                <a:latin typeface="Times New Roman" panose="02020603050405020304"/>
                <a:cs typeface="Times New Roman" panose="02020603050405020304"/>
              </a:rPr>
              <a:t>neuron</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is</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an</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imitation</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human</a:t>
            </a:r>
            <a:r>
              <a:rPr sz="2400" spc="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neuron</a:t>
            </a:r>
            <a:endParaRPr sz="2400">
              <a:latin typeface="Times New Roman" panose="02020603050405020304"/>
              <a:cs typeface="Times New Roman" panose="02020603050405020304"/>
            </a:endParaRPr>
          </a:p>
        </p:txBody>
      </p:sp>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4216"/>
            <a:ext cx="10515600" cy="627380"/>
          </a:xfrm>
          <a:prstGeom prst="rect">
            <a:avLst/>
          </a:prstGeom>
        </p:spPr>
        <p:txBody>
          <a:bodyPr vert="horz" wrap="square" lIns="0" tIns="12065" rIns="0" bIns="0" rtlCol="0">
            <a:spAutoFit/>
          </a:bodyPr>
          <a:lstStyle/>
          <a:p>
            <a:pPr marL="240030">
              <a:lnSpc>
                <a:spcPct val="100000"/>
              </a:lnSpc>
              <a:spcBef>
                <a:spcPts val="95"/>
              </a:spcBef>
            </a:pPr>
            <a:r>
              <a:rPr sz="4000" dirty="0">
                <a:latin typeface="Times New Roman" panose="02020603050405020304"/>
                <a:cs typeface="Times New Roman" panose="02020603050405020304"/>
              </a:rPr>
              <a:t>How</a:t>
            </a:r>
            <a:r>
              <a:rPr sz="4000" spc="-8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do</a:t>
            </a:r>
            <a:r>
              <a:rPr sz="4000" spc="-240" dirty="0">
                <a:latin typeface="Times New Roman" panose="02020603050405020304"/>
                <a:cs typeface="Times New Roman" panose="02020603050405020304"/>
              </a:rPr>
              <a:t> </a:t>
            </a:r>
            <a:r>
              <a:rPr sz="4000" dirty="0">
                <a:latin typeface="Times New Roman" panose="02020603050405020304"/>
                <a:cs typeface="Times New Roman" panose="02020603050405020304"/>
              </a:rPr>
              <a:t>ANNs</a:t>
            </a:r>
            <a:r>
              <a:rPr sz="4000" spc="-40"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work?</a:t>
            </a:r>
            <a:endParaRPr sz="4000">
              <a:latin typeface="Times New Roman" panose="02020603050405020304"/>
              <a:cs typeface="Times New Roman" panose="02020603050405020304"/>
            </a:endParaRPr>
          </a:p>
        </p:txBody>
      </p:sp>
      <p:sp>
        <p:nvSpPr>
          <p:cNvPr id="3" name="object 3"/>
          <p:cNvSpPr txBox="1"/>
          <p:nvPr/>
        </p:nvSpPr>
        <p:spPr>
          <a:xfrm>
            <a:off x="1829815" y="1344116"/>
            <a:ext cx="7458075" cy="381635"/>
          </a:xfrm>
          <a:prstGeom prst="rect">
            <a:avLst/>
          </a:prstGeom>
        </p:spPr>
        <p:txBody>
          <a:bodyPr vert="horz" wrap="square" lIns="0" tIns="12700" rIns="0" bIns="0" rtlCol="0">
            <a:spAutoFit/>
          </a:bodyPr>
          <a:lstStyle/>
          <a:p>
            <a:pPr marL="195580" indent="-182880">
              <a:lnSpc>
                <a:spcPct val="100000"/>
              </a:lnSpc>
              <a:spcBef>
                <a:spcPts val="100"/>
              </a:spcBef>
              <a:buChar char="•"/>
              <a:tabLst>
                <a:tab pos="195580" algn="l"/>
              </a:tabLst>
            </a:pPr>
            <a:r>
              <a:rPr sz="2400" spc="-25" dirty="0">
                <a:latin typeface="Times New Roman" panose="02020603050405020304"/>
                <a:cs typeface="Times New Roman" panose="02020603050405020304"/>
              </a:rPr>
              <a:t>Now,</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let</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us</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have</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look</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at</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model</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artificial</a:t>
            </a:r>
            <a:r>
              <a:rPr sz="2400" spc="-5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neuron.</a:t>
            </a:r>
            <a:endParaRPr sz="24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2133600" y="1899920"/>
            <a:ext cx="6969815" cy="4294995"/>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4216"/>
            <a:ext cx="10515600" cy="627380"/>
          </a:xfrm>
          <a:prstGeom prst="rect">
            <a:avLst/>
          </a:prstGeom>
        </p:spPr>
        <p:txBody>
          <a:bodyPr vert="horz" wrap="square" lIns="0" tIns="12065" rIns="0" bIns="0" rtlCol="0">
            <a:spAutoFit/>
          </a:bodyPr>
          <a:lstStyle/>
          <a:p>
            <a:pPr marL="240030">
              <a:lnSpc>
                <a:spcPct val="100000"/>
              </a:lnSpc>
              <a:spcBef>
                <a:spcPts val="95"/>
              </a:spcBef>
            </a:pPr>
            <a:r>
              <a:rPr sz="4000" dirty="0">
                <a:latin typeface="Times New Roman" panose="02020603050405020304"/>
                <a:cs typeface="Times New Roman" panose="02020603050405020304"/>
              </a:rPr>
              <a:t>How</a:t>
            </a:r>
            <a:r>
              <a:rPr sz="4000" spc="-8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do</a:t>
            </a:r>
            <a:r>
              <a:rPr sz="4000" spc="-240" dirty="0">
                <a:latin typeface="Times New Roman" panose="02020603050405020304"/>
                <a:cs typeface="Times New Roman" panose="02020603050405020304"/>
              </a:rPr>
              <a:t> </a:t>
            </a:r>
            <a:r>
              <a:rPr sz="4000" dirty="0">
                <a:latin typeface="Times New Roman" panose="02020603050405020304"/>
                <a:cs typeface="Times New Roman" panose="02020603050405020304"/>
              </a:rPr>
              <a:t>ANNs</a:t>
            </a:r>
            <a:r>
              <a:rPr sz="4000" spc="-40"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work?</a:t>
            </a:r>
            <a:endParaRPr sz="4000">
              <a:latin typeface="Times New Roman" panose="02020603050405020304"/>
              <a:cs typeface="Times New Roman" panose="02020603050405020304"/>
            </a:endParaRPr>
          </a:p>
        </p:txBody>
      </p:sp>
      <p:sp>
        <p:nvSpPr>
          <p:cNvPr id="3" name="object 3"/>
          <p:cNvSpPr txBox="1"/>
          <p:nvPr/>
        </p:nvSpPr>
        <p:spPr>
          <a:xfrm>
            <a:off x="2087981" y="4593463"/>
            <a:ext cx="1156970" cy="504825"/>
          </a:xfrm>
          <a:prstGeom prst="rect">
            <a:avLst/>
          </a:prstGeom>
        </p:spPr>
        <p:txBody>
          <a:bodyPr vert="horz" wrap="square" lIns="0" tIns="12700" rIns="0" bIns="0" rtlCol="0">
            <a:spAutoFit/>
          </a:bodyPr>
          <a:lstStyle/>
          <a:p>
            <a:pPr marL="12700">
              <a:lnSpc>
                <a:spcPct val="100000"/>
              </a:lnSpc>
              <a:spcBef>
                <a:spcPts val="100"/>
              </a:spcBef>
            </a:pPr>
            <a:r>
              <a:rPr sz="3200" spc="-10" dirty="0">
                <a:latin typeface="Times New Roman" panose="02020603050405020304"/>
                <a:cs typeface="Times New Roman" panose="02020603050405020304"/>
              </a:rPr>
              <a:t>Output</a:t>
            </a:r>
            <a:endParaRPr sz="3200">
              <a:latin typeface="Times New Roman" panose="02020603050405020304"/>
              <a:cs typeface="Times New Roman" panose="02020603050405020304"/>
            </a:endParaRPr>
          </a:p>
        </p:txBody>
      </p:sp>
      <p:grpSp>
        <p:nvGrpSpPr>
          <p:cNvPr id="4" name="object 4"/>
          <p:cNvGrpSpPr/>
          <p:nvPr/>
        </p:nvGrpSpPr>
        <p:grpSpPr>
          <a:xfrm>
            <a:off x="8070850" y="1365250"/>
            <a:ext cx="698500" cy="698500"/>
            <a:chOff x="6546850" y="1365250"/>
            <a:chExt cx="698500" cy="698500"/>
          </a:xfrm>
        </p:grpSpPr>
        <p:sp>
          <p:nvSpPr>
            <p:cNvPr id="5" name="object 5"/>
            <p:cNvSpPr/>
            <p:nvPr/>
          </p:nvSpPr>
          <p:spPr>
            <a:xfrm>
              <a:off x="6553200" y="13716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9230C"/>
            </a:solidFill>
          </p:spPr>
          <p:txBody>
            <a:bodyPr wrap="square" lIns="0" tIns="0" rIns="0" bIns="0" rtlCol="0"/>
            <a:lstStyle/>
            <a:p/>
          </p:txBody>
        </p:sp>
        <p:sp>
          <p:nvSpPr>
            <p:cNvPr id="6" name="object 6"/>
            <p:cNvSpPr/>
            <p:nvPr/>
          </p:nvSpPr>
          <p:spPr>
            <a:xfrm>
              <a:off x="6553200" y="13716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9B310D"/>
              </a:solidFill>
            </a:ln>
          </p:spPr>
          <p:txBody>
            <a:bodyPr wrap="square" lIns="0" tIns="0" rIns="0" bIns="0" rtlCol="0"/>
            <a:lstStyle/>
            <a:p/>
          </p:txBody>
        </p:sp>
      </p:grpSp>
      <p:sp>
        <p:nvSpPr>
          <p:cNvPr id="7" name="object 7"/>
          <p:cNvSpPr txBox="1"/>
          <p:nvPr/>
        </p:nvSpPr>
        <p:spPr>
          <a:xfrm>
            <a:off x="8286368" y="1508505"/>
            <a:ext cx="267335" cy="381635"/>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Times New Roman" panose="02020603050405020304"/>
                <a:cs typeface="Times New Roman" panose="02020603050405020304"/>
              </a:rPr>
              <a:t>x</a:t>
            </a:r>
            <a:r>
              <a:rPr sz="1400" spc="-25" dirty="0">
                <a:solidFill>
                  <a:srgbClr val="FFFFFF"/>
                </a:solidFill>
                <a:latin typeface="Times New Roman" panose="02020603050405020304"/>
                <a:cs typeface="Times New Roman" panose="02020603050405020304"/>
              </a:rPr>
              <a:t>1</a:t>
            </a:r>
            <a:endParaRPr sz="1400">
              <a:latin typeface="Times New Roman" panose="02020603050405020304"/>
              <a:cs typeface="Times New Roman" panose="02020603050405020304"/>
            </a:endParaRPr>
          </a:p>
        </p:txBody>
      </p:sp>
      <p:grpSp>
        <p:nvGrpSpPr>
          <p:cNvPr id="8" name="object 8"/>
          <p:cNvGrpSpPr/>
          <p:nvPr/>
        </p:nvGrpSpPr>
        <p:grpSpPr>
          <a:xfrm>
            <a:off x="5708650" y="1365250"/>
            <a:ext cx="698500" cy="698500"/>
            <a:chOff x="4184650" y="1365250"/>
            <a:chExt cx="698500" cy="698500"/>
          </a:xfrm>
        </p:grpSpPr>
        <p:sp>
          <p:nvSpPr>
            <p:cNvPr id="9" name="object 9"/>
            <p:cNvSpPr/>
            <p:nvPr/>
          </p:nvSpPr>
          <p:spPr>
            <a:xfrm>
              <a:off x="4191000" y="13716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9230C"/>
            </a:solidFill>
          </p:spPr>
          <p:txBody>
            <a:bodyPr wrap="square" lIns="0" tIns="0" rIns="0" bIns="0" rtlCol="0"/>
            <a:lstStyle/>
            <a:p/>
          </p:txBody>
        </p:sp>
        <p:sp>
          <p:nvSpPr>
            <p:cNvPr id="10" name="object 10"/>
            <p:cNvSpPr/>
            <p:nvPr/>
          </p:nvSpPr>
          <p:spPr>
            <a:xfrm>
              <a:off x="4191000" y="13716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69230C"/>
              </a:solidFill>
            </a:ln>
          </p:spPr>
          <p:txBody>
            <a:bodyPr wrap="square" lIns="0" tIns="0" rIns="0" bIns="0" rtlCol="0"/>
            <a:lstStyle/>
            <a:p/>
          </p:txBody>
        </p:sp>
      </p:grpSp>
      <p:sp>
        <p:nvSpPr>
          <p:cNvPr id="11" name="object 11"/>
          <p:cNvSpPr txBox="1"/>
          <p:nvPr/>
        </p:nvSpPr>
        <p:spPr>
          <a:xfrm>
            <a:off x="5923915" y="1508505"/>
            <a:ext cx="267335" cy="381635"/>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Times New Roman" panose="02020603050405020304"/>
                <a:cs typeface="Times New Roman" panose="02020603050405020304"/>
              </a:rPr>
              <a:t>x</a:t>
            </a:r>
            <a:r>
              <a:rPr sz="1400" spc="-25" dirty="0">
                <a:solidFill>
                  <a:srgbClr val="FFFFFF"/>
                </a:solidFill>
                <a:latin typeface="Times New Roman" panose="02020603050405020304"/>
                <a:cs typeface="Times New Roman" panose="02020603050405020304"/>
              </a:rPr>
              <a:t>2</a:t>
            </a:r>
            <a:endParaRPr sz="1400">
              <a:latin typeface="Times New Roman" panose="02020603050405020304"/>
              <a:cs typeface="Times New Roman" panose="02020603050405020304"/>
            </a:endParaRPr>
          </a:p>
        </p:txBody>
      </p:sp>
      <p:grpSp>
        <p:nvGrpSpPr>
          <p:cNvPr id="12" name="object 12"/>
          <p:cNvGrpSpPr/>
          <p:nvPr/>
        </p:nvGrpSpPr>
        <p:grpSpPr>
          <a:xfrm>
            <a:off x="3346450" y="1365250"/>
            <a:ext cx="698500" cy="698500"/>
            <a:chOff x="1822450" y="1365250"/>
            <a:chExt cx="698500" cy="698500"/>
          </a:xfrm>
        </p:grpSpPr>
        <p:sp>
          <p:nvSpPr>
            <p:cNvPr id="13" name="object 13"/>
            <p:cNvSpPr/>
            <p:nvPr/>
          </p:nvSpPr>
          <p:spPr>
            <a:xfrm>
              <a:off x="1828800" y="13716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9230C"/>
            </a:solidFill>
          </p:spPr>
          <p:txBody>
            <a:bodyPr wrap="square" lIns="0" tIns="0" rIns="0" bIns="0" rtlCol="0"/>
            <a:lstStyle/>
            <a:p/>
          </p:txBody>
        </p:sp>
        <p:sp>
          <p:nvSpPr>
            <p:cNvPr id="14" name="object 14"/>
            <p:cNvSpPr/>
            <p:nvPr/>
          </p:nvSpPr>
          <p:spPr>
            <a:xfrm>
              <a:off x="1828800" y="13716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69230C"/>
              </a:solidFill>
            </a:ln>
          </p:spPr>
          <p:txBody>
            <a:bodyPr wrap="square" lIns="0" tIns="0" rIns="0" bIns="0" rtlCol="0"/>
            <a:lstStyle/>
            <a:p/>
          </p:txBody>
        </p:sp>
      </p:grpSp>
      <p:sp>
        <p:nvSpPr>
          <p:cNvPr id="15" name="object 15"/>
          <p:cNvSpPr txBox="1"/>
          <p:nvPr/>
        </p:nvSpPr>
        <p:spPr>
          <a:xfrm>
            <a:off x="3538473" y="1508505"/>
            <a:ext cx="316865" cy="381635"/>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Times New Roman" panose="02020603050405020304"/>
                <a:cs typeface="Times New Roman" panose="02020603050405020304"/>
              </a:rPr>
              <a:t>x</a:t>
            </a:r>
            <a:r>
              <a:rPr sz="1400" spc="-25" dirty="0">
                <a:solidFill>
                  <a:srgbClr val="FFFFFF"/>
                </a:solidFill>
                <a:latin typeface="Times New Roman" panose="02020603050405020304"/>
                <a:cs typeface="Times New Roman" panose="02020603050405020304"/>
              </a:rPr>
              <a:t>m</a:t>
            </a:r>
            <a:endParaRPr sz="1400">
              <a:latin typeface="Times New Roman" panose="02020603050405020304"/>
              <a:cs typeface="Times New Roman" panose="02020603050405020304"/>
            </a:endParaRPr>
          </a:p>
        </p:txBody>
      </p:sp>
      <p:grpSp>
        <p:nvGrpSpPr>
          <p:cNvPr id="16" name="object 16"/>
          <p:cNvGrpSpPr/>
          <p:nvPr/>
        </p:nvGrpSpPr>
        <p:grpSpPr>
          <a:xfrm>
            <a:off x="5708650" y="2736850"/>
            <a:ext cx="698500" cy="698500"/>
            <a:chOff x="4184650" y="2736850"/>
            <a:chExt cx="698500" cy="698500"/>
          </a:xfrm>
        </p:grpSpPr>
        <p:sp>
          <p:nvSpPr>
            <p:cNvPr id="17" name="object 17"/>
            <p:cNvSpPr/>
            <p:nvPr/>
          </p:nvSpPr>
          <p:spPr>
            <a:xfrm>
              <a:off x="4191000" y="27432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742117"/>
            </a:solidFill>
          </p:spPr>
          <p:txBody>
            <a:bodyPr wrap="square" lIns="0" tIns="0" rIns="0" bIns="0" rtlCol="0"/>
            <a:lstStyle/>
            <a:p/>
          </p:txBody>
        </p:sp>
        <p:sp>
          <p:nvSpPr>
            <p:cNvPr id="18" name="object 18"/>
            <p:cNvSpPr/>
            <p:nvPr/>
          </p:nvSpPr>
          <p:spPr>
            <a:xfrm>
              <a:off x="4191000" y="27432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4E160F"/>
              </a:solidFill>
            </a:ln>
          </p:spPr>
          <p:txBody>
            <a:bodyPr wrap="square" lIns="0" tIns="0" rIns="0" bIns="0" rtlCol="0"/>
            <a:lstStyle/>
            <a:p/>
          </p:txBody>
        </p:sp>
      </p:grpSp>
      <p:sp>
        <p:nvSpPr>
          <p:cNvPr id="19" name="object 19"/>
          <p:cNvSpPr txBox="1"/>
          <p:nvPr/>
        </p:nvSpPr>
        <p:spPr>
          <a:xfrm>
            <a:off x="5901054" y="2816479"/>
            <a:ext cx="315595" cy="505460"/>
          </a:xfrm>
          <a:prstGeom prst="rect">
            <a:avLst/>
          </a:prstGeom>
        </p:spPr>
        <p:txBody>
          <a:bodyPr vert="horz" wrap="square" lIns="0" tIns="13335" rIns="0" bIns="0" rtlCol="0">
            <a:spAutoFit/>
          </a:bodyPr>
          <a:lstStyle/>
          <a:p>
            <a:pPr marL="12700">
              <a:lnSpc>
                <a:spcPct val="100000"/>
              </a:lnSpc>
              <a:spcBef>
                <a:spcPts val="105"/>
              </a:spcBef>
            </a:pPr>
            <a:r>
              <a:rPr sz="3200" spc="-50" dirty="0">
                <a:solidFill>
                  <a:srgbClr val="FFFFFF"/>
                </a:solidFill>
                <a:latin typeface="Times New Roman" panose="02020603050405020304"/>
                <a:cs typeface="Times New Roman" panose="02020603050405020304"/>
              </a:rPr>
              <a:t>∑</a:t>
            </a:r>
            <a:endParaRPr sz="3200">
              <a:latin typeface="Times New Roman" panose="02020603050405020304"/>
              <a:cs typeface="Times New Roman" panose="02020603050405020304"/>
            </a:endParaRPr>
          </a:p>
        </p:txBody>
      </p:sp>
      <p:grpSp>
        <p:nvGrpSpPr>
          <p:cNvPr id="20" name="object 20"/>
          <p:cNvGrpSpPr/>
          <p:nvPr/>
        </p:nvGrpSpPr>
        <p:grpSpPr>
          <a:xfrm>
            <a:off x="5708650" y="4565650"/>
            <a:ext cx="698500" cy="698500"/>
            <a:chOff x="4184650" y="4565650"/>
            <a:chExt cx="698500" cy="698500"/>
          </a:xfrm>
        </p:grpSpPr>
        <p:sp>
          <p:nvSpPr>
            <p:cNvPr id="21" name="object 21"/>
            <p:cNvSpPr/>
            <p:nvPr/>
          </p:nvSpPr>
          <p:spPr>
            <a:xfrm>
              <a:off x="4191000" y="45720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7B6B4D"/>
            </a:solidFill>
          </p:spPr>
          <p:txBody>
            <a:bodyPr wrap="square" lIns="0" tIns="0" rIns="0" bIns="0" rtlCol="0"/>
            <a:lstStyle/>
            <a:p/>
          </p:txBody>
        </p:sp>
        <p:sp>
          <p:nvSpPr>
            <p:cNvPr id="22" name="object 22"/>
            <p:cNvSpPr/>
            <p:nvPr/>
          </p:nvSpPr>
          <p:spPr>
            <a:xfrm>
              <a:off x="4191000" y="45720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524633"/>
              </a:solidFill>
            </a:ln>
          </p:spPr>
          <p:txBody>
            <a:bodyPr wrap="square" lIns="0" tIns="0" rIns="0" bIns="0" rtlCol="0"/>
            <a:lstStyle/>
            <a:p/>
          </p:txBody>
        </p:sp>
      </p:grpSp>
      <p:sp>
        <p:nvSpPr>
          <p:cNvPr id="23" name="object 23"/>
          <p:cNvSpPr txBox="1"/>
          <p:nvPr/>
        </p:nvSpPr>
        <p:spPr>
          <a:xfrm>
            <a:off x="5931534" y="4613224"/>
            <a:ext cx="254635" cy="566420"/>
          </a:xfrm>
          <a:prstGeom prst="rect">
            <a:avLst/>
          </a:prstGeom>
        </p:spPr>
        <p:txBody>
          <a:bodyPr vert="horz" wrap="square" lIns="0" tIns="12700" rIns="0" bIns="0" rtlCol="0">
            <a:spAutoFit/>
          </a:bodyPr>
          <a:lstStyle/>
          <a:p>
            <a:pPr marL="12700">
              <a:lnSpc>
                <a:spcPct val="100000"/>
              </a:lnSpc>
              <a:spcBef>
                <a:spcPts val="100"/>
              </a:spcBef>
            </a:pPr>
            <a:r>
              <a:rPr sz="3600" spc="-50" dirty="0">
                <a:solidFill>
                  <a:srgbClr val="FFFFFF"/>
                </a:solidFill>
                <a:latin typeface="Times New Roman" panose="02020603050405020304"/>
                <a:cs typeface="Times New Roman" panose="02020603050405020304"/>
              </a:rPr>
              <a:t>y</a:t>
            </a:r>
            <a:endParaRPr sz="3600">
              <a:latin typeface="Times New Roman" panose="02020603050405020304"/>
              <a:cs typeface="Times New Roman" panose="02020603050405020304"/>
            </a:endParaRPr>
          </a:p>
        </p:txBody>
      </p:sp>
      <p:sp>
        <p:nvSpPr>
          <p:cNvPr id="24" name="object 24"/>
          <p:cNvSpPr txBox="1"/>
          <p:nvPr/>
        </p:nvSpPr>
        <p:spPr>
          <a:xfrm>
            <a:off x="1809089" y="2764282"/>
            <a:ext cx="1790064" cy="505460"/>
          </a:xfrm>
          <a:prstGeom prst="rect">
            <a:avLst/>
          </a:prstGeom>
        </p:spPr>
        <p:txBody>
          <a:bodyPr vert="horz" wrap="square" lIns="0" tIns="13335" rIns="0" bIns="0" rtlCol="0">
            <a:spAutoFit/>
          </a:bodyPr>
          <a:lstStyle/>
          <a:p>
            <a:pPr marL="12700">
              <a:lnSpc>
                <a:spcPct val="100000"/>
              </a:lnSpc>
              <a:spcBef>
                <a:spcPts val="105"/>
              </a:spcBef>
            </a:pPr>
            <a:r>
              <a:rPr sz="3200" spc="-10" dirty="0">
                <a:latin typeface="Times New Roman" panose="02020603050405020304"/>
                <a:cs typeface="Times New Roman" panose="02020603050405020304"/>
              </a:rPr>
              <a:t>Processing</a:t>
            </a:r>
            <a:endParaRPr sz="3200">
              <a:latin typeface="Times New Roman" panose="02020603050405020304"/>
              <a:cs typeface="Times New Roman" panose="02020603050405020304"/>
            </a:endParaRPr>
          </a:p>
        </p:txBody>
      </p:sp>
      <p:sp>
        <p:nvSpPr>
          <p:cNvPr id="25" name="object 25"/>
          <p:cNvSpPr txBox="1"/>
          <p:nvPr/>
        </p:nvSpPr>
        <p:spPr>
          <a:xfrm>
            <a:off x="2071217" y="1468627"/>
            <a:ext cx="885825" cy="505460"/>
          </a:xfrm>
          <a:prstGeom prst="rect">
            <a:avLst/>
          </a:prstGeom>
        </p:spPr>
        <p:txBody>
          <a:bodyPr vert="horz" wrap="square" lIns="0" tIns="13335" rIns="0" bIns="0" rtlCol="0">
            <a:spAutoFit/>
          </a:bodyPr>
          <a:lstStyle/>
          <a:p>
            <a:pPr marL="12700">
              <a:lnSpc>
                <a:spcPct val="100000"/>
              </a:lnSpc>
              <a:spcBef>
                <a:spcPts val="105"/>
              </a:spcBef>
            </a:pPr>
            <a:r>
              <a:rPr sz="3200" spc="-10" dirty="0">
                <a:latin typeface="Times New Roman" panose="02020603050405020304"/>
                <a:cs typeface="Times New Roman" panose="02020603050405020304"/>
              </a:rPr>
              <a:t>Input</a:t>
            </a:r>
            <a:endParaRPr sz="3200">
              <a:latin typeface="Times New Roman" panose="02020603050405020304"/>
              <a:cs typeface="Times New Roman" panose="02020603050405020304"/>
            </a:endParaRPr>
          </a:p>
        </p:txBody>
      </p:sp>
      <p:sp>
        <p:nvSpPr>
          <p:cNvPr id="26" name="object 26"/>
          <p:cNvSpPr txBox="1"/>
          <p:nvPr/>
        </p:nvSpPr>
        <p:spPr>
          <a:xfrm>
            <a:off x="6629400" y="3073907"/>
            <a:ext cx="4038600" cy="525780"/>
          </a:xfrm>
          <a:prstGeom prst="rect">
            <a:avLst/>
          </a:prstGeom>
          <a:solidFill>
            <a:srgbClr val="EE8B6A"/>
          </a:solidFill>
        </p:spPr>
        <p:txBody>
          <a:bodyPr vert="horz" wrap="square" lIns="0" tIns="33655" rIns="0" bIns="0" rtlCol="0">
            <a:spAutoFit/>
          </a:bodyPr>
          <a:lstStyle/>
          <a:p>
            <a:pPr marL="90170">
              <a:lnSpc>
                <a:spcPct val="100000"/>
              </a:lnSpc>
              <a:spcBef>
                <a:spcPts val="265"/>
              </a:spcBef>
            </a:pPr>
            <a:r>
              <a:rPr sz="3200" dirty="0">
                <a:latin typeface="Times New Roman" panose="02020603050405020304"/>
                <a:cs typeface="Times New Roman" panose="02020603050405020304"/>
              </a:rPr>
              <a:t>∑=</a:t>
            </a:r>
            <a:r>
              <a:rPr sz="3200" spc="-5" dirty="0">
                <a:latin typeface="Times New Roman" panose="02020603050405020304"/>
                <a:cs typeface="Times New Roman" panose="02020603050405020304"/>
              </a:rPr>
              <a:t> </a:t>
            </a:r>
            <a:r>
              <a:rPr sz="3200" dirty="0">
                <a:latin typeface="Times New Roman" panose="02020603050405020304"/>
                <a:cs typeface="Times New Roman" panose="02020603050405020304"/>
              </a:rPr>
              <a:t>X</a:t>
            </a:r>
            <a:r>
              <a:rPr sz="3150" baseline="-21000" dirty="0">
                <a:latin typeface="Times New Roman" panose="02020603050405020304"/>
                <a:cs typeface="Times New Roman" panose="02020603050405020304"/>
              </a:rPr>
              <a:t>1</a:t>
            </a:r>
            <a:r>
              <a:rPr sz="3200" dirty="0">
                <a:latin typeface="Times New Roman" panose="02020603050405020304"/>
                <a:cs typeface="Times New Roman" panose="02020603050405020304"/>
              </a:rPr>
              <a:t>+X</a:t>
            </a:r>
            <a:r>
              <a:rPr sz="3150" baseline="-21000" dirty="0">
                <a:latin typeface="Times New Roman" panose="02020603050405020304"/>
                <a:cs typeface="Times New Roman" panose="02020603050405020304"/>
              </a:rPr>
              <a:t>2</a:t>
            </a:r>
            <a:r>
              <a:rPr sz="3150" spc="375" baseline="-21000" dirty="0">
                <a:latin typeface="Times New Roman" panose="02020603050405020304"/>
                <a:cs typeface="Times New Roman" panose="02020603050405020304"/>
              </a:rPr>
              <a:t> </a:t>
            </a:r>
            <a:r>
              <a:rPr sz="3200" dirty="0">
                <a:latin typeface="Times New Roman" panose="02020603050405020304"/>
                <a:cs typeface="Times New Roman" panose="02020603050405020304"/>
              </a:rPr>
              <a:t>+</a:t>
            </a:r>
            <a:r>
              <a:rPr sz="3200" spc="5" dirty="0">
                <a:latin typeface="Times New Roman" panose="02020603050405020304"/>
                <a:cs typeface="Times New Roman" panose="02020603050405020304"/>
              </a:rPr>
              <a:t> </a:t>
            </a:r>
            <a:r>
              <a:rPr sz="3200" dirty="0">
                <a:latin typeface="Times New Roman" panose="02020603050405020304"/>
                <a:cs typeface="Times New Roman" panose="02020603050405020304"/>
              </a:rPr>
              <a:t>….+X</a:t>
            </a:r>
            <a:r>
              <a:rPr sz="3150" baseline="-21000" dirty="0">
                <a:latin typeface="Times New Roman" panose="02020603050405020304"/>
                <a:cs typeface="Times New Roman" panose="02020603050405020304"/>
              </a:rPr>
              <a:t>m</a:t>
            </a:r>
            <a:r>
              <a:rPr sz="3150" spc="390" baseline="-21000" dirty="0">
                <a:latin typeface="Times New Roman" panose="02020603050405020304"/>
                <a:cs typeface="Times New Roman" panose="02020603050405020304"/>
              </a:rPr>
              <a:t> </a:t>
            </a:r>
            <a:r>
              <a:rPr sz="3200" spc="-25" dirty="0">
                <a:latin typeface="Times New Roman" panose="02020603050405020304"/>
                <a:cs typeface="Times New Roman" panose="02020603050405020304"/>
              </a:rPr>
              <a:t>=y</a:t>
            </a:r>
            <a:endParaRPr sz="3200">
              <a:latin typeface="Times New Roman" panose="02020603050405020304"/>
              <a:cs typeface="Times New Roman" panose="02020603050405020304"/>
            </a:endParaRPr>
          </a:p>
        </p:txBody>
      </p:sp>
      <p:grpSp>
        <p:nvGrpSpPr>
          <p:cNvPr id="27" name="object 27"/>
          <p:cNvGrpSpPr/>
          <p:nvPr/>
        </p:nvGrpSpPr>
        <p:grpSpPr>
          <a:xfrm>
            <a:off x="4034027" y="1824227"/>
            <a:ext cx="4150360" cy="2748280"/>
            <a:chOff x="2510027" y="1824227"/>
            <a:chExt cx="4150360" cy="2748280"/>
          </a:xfrm>
        </p:grpSpPr>
        <p:sp>
          <p:nvSpPr>
            <p:cNvPr id="28" name="object 28"/>
            <p:cNvSpPr/>
            <p:nvPr/>
          </p:nvSpPr>
          <p:spPr>
            <a:xfrm>
              <a:off x="4497323" y="3429000"/>
              <a:ext cx="76200" cy="1143000"/>
            </a:xfrm>
            <a:custGeom>
              <a:avLst/>
              <a:gdLst/>
              <a:ahLst/>
              <a:cxnLst/>
              <a:rect l="l" t="t" r="r" b="b"/>
              <a:pathLst>
                <a:path w="76200" h="1143000">
                  <a:moveTo>
                    <a:pt x="31732" y="1066800"/>
                  </a:moveTo>
                  <a:lnTo>
                    <a:pt x="0" y="1066800"/>
                  </a:lnTo>
                  <a:lnTo>
                    <a:pt x="38100" y="1143000"/>
                  </a:lnTo>
                  <a:lnTo>
                    <a:pt x="69850" y="1079500"/>
                  </a:lnTo>
                  <a:lnTo>
                    <a:pt x="31750" y="1079500"/>
                  </a:lnTo>
                  <a:lnTo>
                    <a:pt x="31732" y="1066800"/>
                  </a:lnTo>
                  <a:close/>
                </a:path>
                <a:path w="76200" h="1143000">
                  <a:moveTo>
                    <a:pt x="42925" y="0"/>
                  </a:moveTo>
                  <a:lnTo>
                    <a:pt x="30225" y="0"/>
                  </a:lnTo>
                  <a:lnTo>
                    <a:pt x="31732" y="1066800"/>
                  </a:lnTo>
                  <a:lnTo>
                    <a:pt x="31750" y="1079500"/>
                  </a:lnTo>
                  <a:lnTo>
                    <a:pt x="44450" y="1079500"/>
                  </a:lnTo>
                  <a:lnTo>
                    <a:pt x="42925" y="0"/>
                  </a:lnTo>
                  <a:close/>
                </a:path>
                <a:path w="76200" h="1143000">
                  <a:moveTo>
                    <a:pt x="76200" y="1066800"/>
                  </a:moveTo>
                  <a:lnTo>
                    <a:pt x="44432" y="1066800"/>
                  </a:lnTo>
                  <a:lnTo>
                    <a:pt x="44450" y="1079500"/>
                  </a:lnTo>
                  <a:lnTo>
                    <a:pt x="69850" y="1079500"/>
                  </a:lnTo>
                  <a:lnTo>
                    <a:pt x="76200" y="1066800"/>
                  </a:lnTo>
                  <a:close/>
                </a:path>
              </a:pathLst>
            </a:custGeom>
            <a:solidFill>
              <a:srgbClr val="AE3408"/>
            </a:solidFill>
          </p:spPr>
          <p:txBody>
            <a:bodyPr wrap="square" lIns="0" tIns="0" rIns="0" bIns="0" rtlCol="0"/>
            <a:lstStyle/>
            <a:p/>
          </p:txBody>
        </p:sp>
        <p:sp>
          <p:nvSpPr>
            <p:cNvPr id="29" name="object 29"/>
            <p:cNvSpPr/>
            <p:nvPr/>
          </p:nvSpPr>
          <p:spPr>
            <a:xfrm>
              <a:off x="2514599" y="1828799"/>
              <a:ext cx="4140835" cy="1257300"/>
            </a:xfrm>
            <a:custGeom>
              <a:avLst/>
              <a:gdLst/>
              <a:ahLst/>
              <a:cxnLst/>
              <a:rect l="l" t="t" r="r" b="b"/>
              <a:pathLst>
                <a:path w="4140834" h="1257300">
                  <a:moveTo>
                    <a:pt x="4140707" y="128015"/>
                  </a:moveTo>
                  <a:lnTo>
                    <a:pt x="2360676" y="1257300"/>
                  </a:lnTo>
                </a:path>
                <a:path w="4140834" h="1257300">
                  <a:moveTo>
                    <a:pt x="2022348" y="230124"/>
                  </a:moveTo>
                  <a:lnTo>
                    <a:pt x="2016252" y="915924"/>
                  </a:lnTo>
                </a:path>
                <a:path w="4140834" h="1257300">
                  <a:moveTo>
                    <a:pt x="0" y="0"/>
                  </a:moveTo>
                  <a:lnTo>
                    <a:pt x="1676400" y="1257300"/>
                  </a:lnTo>
                </a:path>
              </a:pathLst>
            </a:custGeom>
            <a:ln w="9144">
              <a:solidFill>
                <a:srgbClr val="AE3408"/>
              </a:solidFill>
            </a:ln>
          </p:spPr>
          <p:txBody>
            <a:bodyPr wrap="square" lIns="0" tIns="0" rIns="0" bIns="0" rtlCol="0"/>
            <a:lstStyle/>
            <a:p/>
          </p:txBody>
        </p:sp>
      </p:grpSp>
      <p:sp>
        <p:nvSpPr>
          <p:cNvPr id="30" name="object 30"/>
          <p:cNvSpPr txBox="1"/>
          <p:nvPr/>
        </p:nvSpPr>
        <p:spPr>
          <a:xfrm>
            <a:off x="4268851" y="1481073"/>
            <a:ext cx="1180465" cy="873760"/>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a:p>
            <a:pPr marL="12700">
              <a:lnSpc>
                <a:spcPct val="100000"/>
              </a:lnSpc>
            </a:pP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0" dirty="0">
                <a:latin typeface="Times New Roman" panose="02020603050405020304"/>
                <a:cs typeface="Times New Roman" panose="02020603050405020304"/>
              </a:rPr>
              <a:t> </a:t>
            </a:r>
            <a:r>
              <a:rPr sz="2800" spc="-6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p:txBody>
      </p:sp>
      <p:sp>
        <p:nvSpPr>
          <p:cNvPr id="31" name="Date Placeholder 30"/>
          <p:cNvSpPr>
            <a:spLocks noGrp="1"/>
          </p:cNvSpPr>
          <p:nvPr>
            <p:ph type="dt" sz="half" idx="10"/>
          </p:nvPr>
        </p:nvSpPr>
        <p:spPr/>
        <p:txBody>
          <a:bodyPr/>
          <a:p>
            <a:fld id="{63A1C593-65D0-4073-BCC9-577B9352EA97}" type="datetime1">
              <a:rPr lang="en-US" smtClean="0"/>
            </a:fld>
            <a:endParaRPr lang="en-US"/>
          </a:p>
        </p:txBody>
      </p:sp>
      <p:sp>
        <p:nvSpPr>
          <p:cNvPr id="32" name="Slide Number Placeholder 31"/>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29736"/>
            <a:ext cx="10515600" cy="627380"/>
          </a:xfrm>
          <a:prstGeom prst="rect">
            <a:avLst/>
          </a:prstGeom>
        </p:spPr>
        <p:txBody>
          <a:bodyPr vert="horz" wrap="square" lIns="0" tIns="12065" rIns="0" bIns="0" rtlCol="0">
            <a:spAutoFit/>
          </a:bodyPr>
          <a:lstStyle/>
          <a:p>
            <a:pPr marL="240030">
              <a:lnSpc>
                <a:spcPct val="100000"/>
              </a:lnSpc>
              <a:spcBef>
                <a:spcPts val="95"/>
              </a:spcBef>
            </a:pPr>
            <a:r>
              <a:rPr sz="4000" dirty="0">
                <a:latin typeface="Times New Roman" panose="02020603050405020304"/>
                <a:cs typeface="Times New Roman" panose="02020603050405020304"/>
              </a:rPr>
              <a:t>How</a:t>
            </a:r>
            <a:r>
              <a:rPr sz="4000" spc="-8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do</a:t>
            </a:r>
            <a:r>
              <a:rPr sz="4000" spc="-240" dirty="0">
                <a:latin typeface="Times New Roman" panose="02020603050405020304"/>
                <a:cs typeface="Times New Roman" panose="02020603050405020304"/>
              </a:rPr>
              <a:t> </a:t>
            </a:r>
            <a:r>
              <a:rPr sz="4000" dirty="0">
                <a:latin typeface="Times New Roman" panose="02020603050405020304"/>
                <a:cs typeface="Times New Roman" panose="02020603050405020304"/>
              </a:rPr>
              <a:t>ANNs</a:t>
            </a:r>
            <a:r>
              <a:rPr sz="4000" spc="-40"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work?</a:t>
            </a:r>
            <a:endParaRPr sz="4000">
              <a:latin typeface="Times New Roman" panose="02020603050405020304"/>
              <a:cs typeface="Times New Roman" panose="02020603050405020304"/>
            </a:endParaRPr>
          </a:p>
        </p:txBody>
      </p:sp>
      <p:sp>
        <p:nvSpPr>
          <p:cNvPr id="3" name="object 3"/>
          <p:cNvSpPr txBox="1"/>
          <p:nvPr/>
        </p:nvSpPr>
        <p:spPr>
          <a:xfrm>
            <a:off x="4070985" y="884301"/>
            <a:ext cx="3820160" cy="505460"/>
          </a:xfrm>
          <a:prstGeom prst="rect">
            <a:avLst/>
          </a:prstGeom>
        </p:spPr>
        <p:txBody>
          <a:bodyPr vert="horz" wrap="square" lIns="0" tIns="13335" rIns="0" bIns="0" rtlCol="0">
            <a:spAutoFit/>
          </a:bodyPr>
          <a:lstStyle/>
          <a:p>
            <a:pPr marL="12700">
              <a:lnSpc>
                <a:spcPct val="100000"/>
              </a:lnSpc>
              <a:spcBef>
                <a:spcPts val="105"/>
              </a:spcBef>
            </a:pPr>
            <a:r>
              <a:rPr sz="3200" dirty="0">
                <a:latin typeface="Times New Roman" panose="02020603050405020304"/>
                <a:cs typeface="Times New Roman" panose="02020603050405020304"/>
              </a:rPr>
              <a:t>Not</a:t>
            </a:r>
            <a:r>
              <a:rPr sz="3200" spc="-15" dirty="0">
                <a:latin typeface="Times New Roman" panose="02020603050405020304"/>
                <a:cs typeface="Times New Roman" panose="02020603050405020304"/>
              </a:rPr>
              <a:t> </a:t>
            </a:r>
            <a:r>
              <a:rPr sz="3200" dirty="0">
                <a:latin typeface="Times New Roman" panose="02020603050405020304"/>
                <a:cs typeface="Times New Roman" panose="02020603050405020304"/>
              </a:rPr>
              <a:t>all</a:t>
            </a:r>
            <a:r>
              <a:rPr sz="3200" spc="-30" dirty="0">
                <a:latin typeface="Times New Roman" panose="02020603050405020304"/>
                <a:cs typeface="Times New Roman" panose="02020603050405020304"/>
              </a:rPr>
              <a:t> </a:t>
            </a:r>
            <a:r>
              <a:rPr sz="3200" dirty="0">
                <a:latin typeface="Times New Roman" panose="02020603050405020304"/>
                <a:cs typeface="Times New Roman" panose="02020603050405020304"/>
              </a:rPr>
              <a:t>inputs</a:t>
            </a:r>
            <a:r>
              <a:rPr sz="3200" spc="-35" dirty="0">
                <a:latin typeface="Times New Roman" panose="02020603050405020304"/>
                <a:cs typeface="Times New Roman" panose="02020603050405020304"/>
              </a:rPr>
              <a:t> </a:t>
            </a:r>
            <a:r>
              <a:rPr sz="3200" dirty="0">
                <a:latin typeface="Times New Roman" panose="02020603050405020304"/>
                <a:cs typeface="Times New Roman" panose="02020603050405020304"/>
              </a:rPr>
              <a:t>are</a:t>
            </a:r>
            <a:r>
              <a:rPr sz="3200" spc="-30" dirty="0">
                <a:latin typeface="Times New Roman" panose="02020603050405020304"/>
                <a:cs typeface="Times New Roman" panose="02020603050405020304"/>
              </a:rPr>
              <a:t> </a:t>
            </a:r>
            <a:r>
              <a:rPr sz="3200" spc="-10" dirty="0">
                <a:latin typeface="Times New Roman" panose="02020603050405020304"/>
                <a:cs typeface="Times New Roman" panose="02020603050405020304"/>
              </a:rPr>
              <a:t>equal</a:t>
            </a:r>
            <a:endParaRPr sz="3200">
              <a:latin typeface="Times New Roman" panose="02020603050405020304"/>
              <a:cs typeface="Times New Roman" panose="02020603050405020304"/>
            </a:endParaRPr>
          </a:p>
        </p:txBody>
      </p:sp>
      <p:sp>
        <p:nvSpPr>
          <p:cNvPr id="4" name="object 4"/>
          <p:cNvSpPr txBox="1"/>
          <p:nvPr/>
        </p:nvSpPr>
        <p:spPr>
          <a:xfrm>
            <a:off x="2011781" y="5327091"/>
            <a:ext cx="1156970" cy="504825"/>
          </a:xfrm>
          <a:prstGeom prst="rect">
            <a:avLst/>
          </a:prstGeom>
        </p:spPr>
        <p:txBody>
          <a:bodyPr vert="horz" wrap="square" lIns="0" tIns="12700" rIns="0" bIns="0" rtlCol="0">
            <a:spAutoFit/>
          </a:bodyPr>
          <a:lstStyle/>
          <a:p>
            <a:pPr marL="12700">
              <a:lnSpc>
                <a:spcPct val="100000"/>
              </a:lnSpc>
              <a:spcBef>
                <a:spcPts val="100"/>
              </a:spcBef>
            </a:pPr>
            <a:r>
              <a:rPr sz="3200" spc="-10" dirty="0">
                <a:latin typeface="Times New Roman" panose="02020603050405020304"/>
                <a:cs typeface="Times New Roman" panose="02020603050405020304"/>
              </a:rPr>
              <a:t>Output</a:t>
            </a:r>
            <a:endParaRPr sz="3200">
              <a:latin typeface="Times New Roman" panose="02020603050405020304"/>
              <a:cs typeface="Times New Roman" panose="02020603050405020304"/>
            </a:endParaRPr>
          </a:p>
        </p:txBody>
      </p:sp>
      <p:grpSp>
        <p:nvGrpSpPr>
          <p:cNvPr id="5" name="object 5"/>
          <p:cNvGrpSpPr/>
          <p:nvPr/>
        </p:nvGrpSpPr>
        <p:grpSpPr>
          <a:xfrm>
            <a:off x="7994650" y="1441450"/>
            <a:ext cx="698500" cy="698500"/>
            <a:chOff x="6470650" y="1441450"/>
            <a:chExt cx="698500" cy="698500"/>
          </a:xfrm>
        </p:grpSpPr>
        <p:sp>
          <p:nvSpPr>
            <p:cNvPr id="6" name="object 6"/>
            <p:cNvSpPr/>
            <p:nvPr/>
          </p:nvSpPr>
          <p:spPr>
            <a:xfrm>
              <a:off x="6477000" y="14478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9230C"/>
            </a:solidFill>
          </p:spPr>
          <p:txBody>
            <a:bodyPr wrap="square" lIns="0" tIns="0" rIns="0" bIns="0" rtlCol="0"/>
            <a:lstStyle/>
            <a:p/>
          </p:txBody>
        </p:sp>
        <p:sp>
          <p:nvSpPr>
            <p:cNvPr id="7" name="object 7"/>
            <p:cNvSpPr/>
            <p:nvPr/>
          </p:nvSpPr>
          <p:spPr>
            <a:xfrm>
              <a:off x="6477000" y="14478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9B310D"/>
              </a:solidFill>
            </a:ln>
          </p:spPr>
          <p:txBody>
            <a:bodyPr wrap="square" lIns="0" tIns="0" rIns="0" bIns="0" rtlCol="0"/>
            <a:lstStyle/>
            <a:p/>
          </p:txBody>
        </p:sp>
      </p:grpSp>
      <p:sp>
        <p:nvSpPr>
          <p:cNvPr id="8" name="object 8"/>
          <p:cNvSpPr txBox="1"/>
          <p:nvPr/>
        </p:nvSpPr>
        <p:spPr>
          <a:xfrm>
            <a:off x="8210168" y="1584705"/>
            <a:ext cx="267335" cy="381635"/>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Times New Roman" panose="02020603050405020304"/>
                <a:cs typeface="Times New Roman" panose="02020603050405020304"/>
              </a:rPr>
              <a:t>x</a:t>
            </a:r>
            <a:r>
              <a:rPr sz="1400" spc="-25" dirty="0">
                <a:solidFill>
                  <a:srgbClr val="FFFFFF"/>
                </a:solidFill>
                <a:latin typeface="Times New Roman" panose="02020603050405020304"/>
                <a:cs typeface="Times New Roman" panose="02020603050405020304"/>
              </a:rPr>
              <a:t>1</a:t>
            </a:r>
            <a:endParaRPr sz="1400">
              <a:latin typeface="Times New Roman" panose="02020603050405020304"/>
              <a:cs typeface="Times New Roman" panose="02020603050405020304"/>
            </a:endParaRPr>
          </a:p>
        </p:txBody>
      </p:sp>
      <p:grpSp>
        <p:nvGrpSpPr>
          <p:cNvPr id="9" name="object 9"/>
          <p:cNvGrpSpPr/>
          <p:nvPr/>
        </p:nvGrpSpPr>
        <p:grpSpPr>
          <a:xfrm>
            <a:off x="5632450" y="1441450"/>
            <a:ext cx="698500" cy="698500"/>
            <a:chOff x="4108450" y="1441450"/>
            <a:chExt cx="698500" cy="698500"/>
          </a:xfrm>
        </p:grpSpPr>
        <p:sp>
          <p:nvSpPr>
            <p:cNvPr id="10" name="object 10"/>
            <p:cNvSpPr/>
            <p:nvPr/>
          </p:nvSpPr>
          <p:spPr>
            <a:xfrm>
              <a:off x="4114800" y="14478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9230C"/>
            </a:solidFill>
          </p:spPr>
          <p:txBody>
            <a:bodyPr wrap="square" lIns="0" tIns="0" rIns="0" bIns="0" rtlCol="0"/>
            <a:lstStyle/>
            <a:p/>
          </p:txBody>
        </p:sp>
        <p:sp>
          <p:nvSpPr>
            <p:cNvPr id="11" name="object 11"/>
            <p:cNvSpPr/>
            <p:nvPr/>
          </p:nvSpPr>
          <p:spPr>
            <a:xfrm>
              <a:off x="4114800" y="14478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69230C"/>
              </a:solidFill>
            </a:ln>
          </p:spPr>
          <p:txBody>
            <a:bodyPr wrap="square" lIns="0" tIns="0" rIns="0" bIns="0" rtlCol="0"/>
            <a:lstStyle/>
            <a:p/>
          </p:txBody>
        </p:sp>
      </p:grpSp>
      <p:sp>
        <p:nvSpPr>
          <p:cNvPr id="12" name="object 12"/>
          <p:cNvSpPr txBox="1"/>
          <p:nvPr/>
        </p:nvSpPr>
        <p:spPr>
          <a:xfrm>
            <a:off x="5847715" y="1584705"/>
            <a:ext cx="267335" cy="381635"/>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Times New Roman" panose="02020603050405020304"/>
                <a:cs typeface="Times New Roman" panose="02020603050405020304"/>
              </a:rPr>
              <a:t>x</a:t>
            </a:r>
            <a:r>
              <a:rPr sz="1400" spc="-25" dirty="0">
                <a:solidFill>
                  <a:srgbClr val="FFFFFF"/>
                </a:solidFill>
                <a:latin typeface="Times New Roman" panose="02020603050405020304"/>
                <a:cs typeface="Times New Roman" panose="02020603050405020304"/>
              </a:rPr>
              <a:t>2</a:t>
            </a:r>
            <a:endParaRPr sz="1400">
              <a:latin typeface="Times New Roman" panose="02020603050405020304"/>
              <a:cs typeface="Times New Roman" panose="02020603050405020304"/>
            </a:endParaRPr>
          </a:p>
        </p:txBody>
      </p:sp>
      <p:grpSp>
        <p:nvGrpSpPr>
          <p:cNvPr id="13" name="object 13"/>
          <p:cNvGrpSpPr/>
          <p:nvPr/>
        </p:nvGrpSpPr>
        <p:grpSpPr>
          <a:xfrm>
            <a:off x="3270250" y="1441450"/>
            <a:ext cx="698500" cy="698500"/>
            <a:chOff x="1746250" y="1441450"/>
            <a:chExt cx="698500" cy="698500"/>
          </a:xfrm>
        </p:grpSpPr>
        <p:sp>
          <p:nvSpPr>
            <p:cNvPr id="14" name="object 14"/>
            <p:cNvSpPr/>
            <p:nvPr/>
          </p:nvSpPr>
          <p:spPr>
            <a:xfrm>
              <a:off x="1752600" y="14478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9230C"/>
            </a:solidFill>
          </p:spPr>
          <p:txBody>
            <a:bodyPr wrap="square" lIns="0" tIns="0" rIns="0" bIns="0" rtlCol="0"/>
            <a:lstStyle/>
            <a:p/>
          </p:txBody>
        </p:sp>
        <p:sp>
          <p:nvSpPr>
            <p:cNvPr id="15" name="object 15"/>
            <p:cNvSpPr/>
            <p:nvPr/>
          </p:nvSpPr>
          <p:spPr>
            <a:xfrm>
              <a:off x="1752600" y="14478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69230C"/>
              </a:solidFill>
            </a:ln>
          </p:spPr>
          <p:txBody>
            <a:bodyPr wrap="square" lIns="0" tIns="0" rIns="0" bIns="0" rtlCol="0"/>
            <a:lstStyle/>
            <a:p/>
          </p:txBody>
        </p:sp>
      </p:grpSp>
      <p:sp>
        <p:nvSpPr>
          <p:cNvPr id="16" name="object 16"/>
          <p:cNvSpPr txBox="1"/>
          <p:nvPr/>
        </p:nvSpPr>
        <p:spPr>
          <a:xfrm>
            <a:off x="3462273" y="1584705"/>
            <a:ext cx="316865" cy="381635"/>
          </a:xfrm>
          <a:prstGeom prst="rect">
            <a:avLst/>
          </a:prstGeom>
        </p:spPr>
        <p:txBody>
          <a:bodyPr vert="horz" wrap="square" lIns="0" tIns="12700" rIns="0" bIns="0" rtlCol="0">
            <a:spAutoFit/>
          </a:bodyPr>
          <a:lstStyle/>
          <a:p>
            <a:pPr marL="12700">
              <a:lnSpc>
                <a:spcPct val="100000"/>
              </a:lnSpc>
              <a:spcBef>
                <a:spcPts val="100"/>
              </a:spcBef>
            </a:pPr>
            <a:r>
              <a:rPr sz="2400" spc="-25" dirty="0">
                <a:solidFill>
                  <a:srgbClr val="FFFFFF"/>
                </a:solidFill>
                <a:latin typeface="Times New Roman" panose="02020603050405020304"/>
                <a:cs typeface="Times New Roman" panose="02020603050405020304"/>
              </a:rPr>
              <a:t>x</a:t>
            </a:r>
            <a:r>
              <a:rPr sz="1400" spc="-25" dirty="0">
                <a:solidFill>
                  <a:srgbClr val="FFFFFF"/>
                </a:solidFill>
                <a:latin typeface="Times New Roman" panose="02020603050405020304"/>
                <a:cs typeface="Times New Roman" panose="02020603050405020304"/>
              </a:rPr>
              <a:t>m</a:t>
            </a:r>
            <a:endParaRPr sz="1400">
              <a:latin typeface="Times New Roman" panose="02020603050405020304"/>
              <a:cs typeface="Times New Roman" panose="02020603050405020304"/>
            </a:endParaRPr>
          </a:p>
        </p:txBody>
      </p:sp>
      <p:grpSp>
        <p:nvGrpSpPr>
          <p:cNvPr id="17" name="object 17"/>
          <p:cNvGrpSpPr/>
          <p:nvPr/>
        </p:nvGrpSpPr>
        <p:grpSpPr>
          <a:xfrm>
            <a:off x="5632450" y="3469894"/>
            <a:ext cx="698500" cy="698500"/>
            <a:chOff x="4108450" y="3469894"/>
            <a:chExt cx="698500" cy="698500"/>
          </a:xfrm>
        </p:grpSpPr>
        <p:sp>
          <p:nvSpPr>
            <p:cNvPr id="18" name="object 18"/>
            <p:cNvSpPr/>
            <p:nvPr/>
          </p:nvSpPr>
          <p:spPr>
            <a:xfrm>
              <a:off x="4114800" y="3476244"/>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899"/>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799"/>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899"/>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742117"/>
            </a:solidFill>
          </p:spPr>
          <p:txBody>
            <a:bodyPr wrap="square" lIns="0" tIns="0" rIns="0" bIns="0" rtlCol="0"/>
            <a:lstStyle/>
            <a:p/>
          </p:txBody>
        </p:sp>
        <p:sp>
          <p:nvSpPr>
            <p:cNvPr id="19" name="object 19"/>
            <p:cNvSpPr/>
            <p:nvPr/>
          </p:nvSpPr>
          <p:spPr>
            <a:xfrm>
              <a:off x="4114800" y="3476244"/>
              <a:ext cx="685800" cy="685800"/>
            </a:xfrm>
            <a:custGeom>
              <a:avLst/>
              <a:gdLst/>
              <a:ahLst/>
              <a:cxnLst/>
              <a:rect l="l" t="t" r="r" b="b"/>
              <a:pathLst>
                <a:path w="685800" h="685800">
                  <a:moveTo>
                    <a:pt x="0" y="342899"/>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899"/>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799"/>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899"/>
                  </a:lnTo>
                  <a:close/>
                </a:path>
              </a:pathLst>
            </a:custGeom>
            <a:ln w="12192">
              <a:solidFill>
                <a:srgbClr val="4E160F"/>
              </a:solidFill>
            </a:ln>
          </p:spPr>
          <p:txBody>
            <a:bodyPr wrap="square" lIns="0" tIns="0" rIns="0" bIns="0" rtlCol="0"/>
            <a:lstStyle/>
            <a:p/>
          </p:txBody>
        </p:sp>
      </p:grpSp>
      <p:sp>
        <p:nvSpPr>
          <p:cNvPr id="20" name="object 20"/>
          <p:cNvSpPr txBox="1"/>
          <p:nvPr/>
        </p:nvSpPr>
        <p:spPr>
          <a:xfrm>
            <a:off x="5824854" y="3550158"/>
            <a:ext cx="315595" cy="505460"/>
          </a:xfrm>
          <a:prstGeom prst="rect">
            <a:avLst/>
          </a:prstGeom>
        </p:spPr>
        <p:txBody>
          <a:bodyPr vert="horz" wrap="square" lIns="0" tIns="13335" rIns="0" bIns="0" rtlCol="0">
            <a:spAutoFit/>
          </a:bodyPr>
          <a:lstStyle/>
          <a:p>
            <a:pPr marL="12700">
              <a:lnSpc>
                <a:spcPct val="100000"/>
              </a:lnSpc>
              <a:spcBef>
                <a:spcPts val="105"/>
              </a:spcBef>
            </a:pPr>
            <a:r>
              <a:rPr sz="3200" spc="-50" dirty="0">
                <a:solidFill>
                  <a:srgbClr val="FFFFFF"/>
                </a:solidFill>
                <a:latin typeface="Times New Roman" panose="02020603050405020304"/>
                <a:cs typeface="Times New Roman" panose="02020603050405020304"/>
              </a:rPr>
              <a:t>∑</a:t>
            </a:r>
            <a:endParaRPr sz="3200">
              <a:latin typeface="Times New Roman" panose="02020603050405020304"/>
              <a:cs typeface="Times New Roman" panose="02020603050405020304"/>
            </a:endParaRPr>
          </a:p>
        </p:txBody>
      </p:sp>
      <p:grpSp>
        <p:nvGrpSpPr>
          <p:cNvPr id="21" name="object 21"/>
          <p:cNvGrpSpPr/>
          <p:nvPr/>
        </p:nvGrpSpPr>
        <p:grpSpPr>
          <a:xfrm>
            <a:off x="5632450" y="5298694"/>
            <a:ext cx="698500" cy="698500"/>
            <a:chOff x="4108450" y="5298694"/>
            <a:chExt cx="698500" cy="698500"/>
          </a:xfrm>
        </p:grpSpPr>
        <p:sp>
          <p:nvSpPr>
            <p:cNvPr id="22" name="object 22"/>
            <p:cNvSpPr/>
            <p:nvPr/>
          </p:nvSpPr>
          <p:spPr>
            <a:xfrm>
              <a:off x="4114800" y="5305044"/>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899"/>
                  </a:lnTo>
                  <a:lnTo>
                    <a:pt x="3130" y="389430"/>
                  </a:lnTo>
                  <a:lnTo>
                    <a:pt x="12250" y="434057"/>
                  </a:lnTo>
                  <a:lnTo>
                    <a:pt x="26949" y="476373"/>
                  </a:lnTo>
                  <a:lnTo>
                    <a:pt x="46820" y="515969"/>
                  </a:lnTo>
                  <a:lnTo>
                    <a:pt x="71454" y="552437"/>
                  </a:lnTo>
                  <a:lnTo>
                    <a:pt x="100441" y="585368"/>
                  </a:lnTo>
                  <a:lnTo>
                    <a:pt x="133373" y="614353"/>
                  </a:lnTo>
                  <a:lnTo>
                    <a:pt x="169841" y="638984"/>
                  </a:lnTo>
                  <a:lnTo>
                    <a:pt x="209436" y="658853"/>
                  </a:lnTo>
                  <a:lnTo>
                    <a:pt x="251751" y="673551"/>
                  </a:lnTo>
                  <a:lnTo>
                    <a:pt x="296375" y="682669"/>
                  </a:lnTo>
                  <a:lnTo>
                    <a:pt x="342900" y="685799"/>
                  </a:lnTo>
                  <a:lnTo>
                    <a:pt x="389424" y="682669"/>
                  </a:lnTo>
                  <a:lnTo>
                    <a:pt x="434048" y="673551"/>
                  </a:lnTo>
                  <a:lnTo>
                    <a:pt x="476363" y="658853"/>
                  </a:lnTo>
                  <a:lnTo>
                    <a:pt x="515958" y="638984"/>
                  </a:lnTo>
                  <a:lnTo>
                    <a:pt x="552426" y="614353"/>
                  </a:lnTo>
                  <a:lnTo>
                    <a:pt x="585358" y="585368"/>
                  </a:lnTo>
                  <a:lnTo>
                    <a:pt x="614345" y="552437"/>
                  </a:lnTo>
                  <a:lnTo>
                    <a:pt x="638979" y="515969"/>
                  </a:lnTo>
                  <a:lnTo>
                    <a:pt x="658850" y="476373"/>
                  </a:lnTo>
                  <a:lnTo>
                    <a:pt x="673549" y="434057"/>
                  </a:lnTo>
                  <a:lnTo>
                    <a:pt x="682669" y="389430"/>
                  </a:lnTo>
                  <a:lnTo>
                    <a:pt x="685800" y="342899"/>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7B6B4D"/>
            </a:solidFill>
          </p:spPr>
          <p:txBody>
            <a:bodyPr wrap="square" lIns="0" tIns="0" rIns="0" bIns="0" rtlCol="0"/>
            <a:lstStyle/>
            <a:p/>
          </p:txBody>
        </p:sp>
        <p:sp>
          <p:nvSpPr>
            <p:cNvPr id="23" name="object 23"/>
            <p:cNvSpPr/>
            <p:nvPr/>
          </p:nvSpPr>
          <p:spPr>
            <a:xfrm>
              <a:off x="4114800" y="5305044"/>
              <a:ext cx="685800" cy="685800"/>
            </a:xfrm>
            <a:custGeom>
              <a:avLst/>
              <a:gdLst/>
              <a:ahLst/>
              <a:cxnLst/>
              <a:rect l="l" t="t" r="r" b="b"/>
              <a:pathLst>
                <a:path w="685800" h="685800">
                  <a:moveTo>
                    <a:pt x="0" y="342899"/>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899"/>
                  </a:lnTo>
                  <a:lnTo>
                    <a:pt x="682669" y="389430"/>
                  </a:lnTo>
                  <a:lnTo>
                    <a:pt x="673549" y="434057"/>
                  </a:lnTo>
                  <a:lnTo>
                    <a:pt x="658850" y="476373"/>
                  </a:lnTo>
                  <a:lnTo>
                    <a:pt x="638979" y="515969"/>
                  </a:lnTo>
                  <a:lnTo>
                    <a:pt x="614345" y="552437"/>
                  </a:lnTo>
                  <a:lnTo>
                    <a:pt x="585358" y="585368"/>
                  </a:lnTo>
                  <a:lnTo>
                    <a:pt x="552426" y="614353"/>
                  </a:lnTo>
                  <a:lnTo>
                    <a:pt x="515958" y="638984"/>
                  </a:lnTo>
                  <a:lnTo>
                    <a:pt x="476363" y="658853"/>
                  </a:lnTo>
                  <a:lnTo>
                    <a:pt x="434048" y="673551"/>
                  </a:lnTo>
                  <a:lnTo>
                    <a:pt x="389424" y="682669"/>
                  </a:lnTo>
                  <a:lnTo>
                    <a:pt x="342900" y="685799"/>
                  </a:lnTo>
                  <a:lnTo>
                    <a:pt x="296375" y="682669"/>
                  </a:lnTo>
                  <a:lnTo>
                    <a:pt x="251751" y="673551"/>
                  </a:lnTo>
                  <a:lnTo>
                    <a:pt x="209436" y="658853"/>
                  </a:lnTo>
                  <a:lnTo>
                    <a:pt x="169841" y="638984"/>
                  </a:lnTo>
                  <a:lnTo>
                    <a:pt x="133373" y="614353"/>
                  </a:lnTo>
                  <a:lnTo>
                    <a:pt x="100441" y="585368"/>
                  </a:lnTo>
                  <a:lnTo>
                    <a:pt x="71454" y="552437"/>
                  </a:lnTo>
                  <a:lnTo>
                    <a:pt x="46820" y="515969"/>
                  </a:lnTo>
                  <a:lnTo>
                    <a:pt x="26949" y="476373"/>
                  </a:lnTo>
                  <a:lnTo>
                    <a:pt x="12250" y="434057"/>
                  </a:lnTo>
                  <a:lnTo>
                    <a:pt x="3130" y="389430"/>
                  </a:lnTo>
                  <a:lnTo>
                    <a:pt x="0" y="342899"/>
                  </a:lnTo>
                  <a:close/>
                </a:path>
              </a:pathLst>
            </a:custGeom>
            <a:ln w="12192">
              <a:solidFill>
                <a:srgbClr val="524633"/>
              </a:solidFill>
            </a:ln>
          </p:spPr>
          <p:txBody>
            <a:bodyPr wrap="square" lIns="0" tIns="0" rIns="0" bIns="0" rtlCol="0"/>
            <a:lstStyle/>
            <a:p/>
          </p:txBody>
        </p:sp>
      </p:grpSp>
      <p:sp>
        <p:nvSpPr>
          <p:cNvPr id="24" name="object 24"/>
          <p:cNvSpPr txBox="1"/>
          <p:nvPr/>
        </p:nvSpPr>
        <p:spPr>
          <a:xfrm>
            <a:off x="5855334" y="5347208"/>
            <a:ext cx="254000" cy="566420"/>
          </a:xfrm>
          <a:prstGeom prst="rect">
            <a:avLst/>
          </a:prstGeom>
        </p:spPr>
        <p:txBody>
          <a:bodyPr vert="horz" wrap="square" lIns="0" tIns="12700" rIns="0" bIns="0" rtlCol="0">
            <a:spAutoFit/>
          </a:bodyPr>
          <a:lstStyle/>
          <a:p>
            <a:pPr marL="12700">
              <a:lnSpc>
                <a:spcPct val="100000"/>
              </a:lnSpc>
              <a:spcBef>
                <a:spcPts val="100"/>
              </a:spcBef>
            </a:pPr>
            <a:r>
              <a:rPr sz="3600" spc="-50" dirty="0">
                <a:solidFill>
                  <a:srgbClr val="FFFFFF"/>
                </a:solidFill>
                <a:latin typeface="Times New Roman" panose="02020603050405020304"/>
                <a:cs typeface="Times New Roman" panose="02020603050405020304"/>
              </a:rPr>
              <a:t>y</a:t>
            </a:r>
            <a:endParaRPr sz="3600">
              <a:latin typeface="Times New Roman" panose="02020603050405020304"/>
              <a:cs typeface="Times New Roman" panose="02020603050405020304"/>
            </a:endParaRPr>
          </a:p>
        </p:txBody>
      </p:sp>
      <p:sp>
        <p:nvSpPr>
          <p:cNvPr id="25" name="object 25"/>
          <p:cNvSpPr txBox="1"/>
          <p:nvPr/>
        </p:nvSpPr>
        <p:spPr>
          <a:xfrm>
            <a:off x="1995017" y="1820621"/>
            <a:ext cx="885825" cy="505460"/>
          </a:xfrm>
          <a:prstGeom prst="rect">
            <a:avLst/>
          </a:prstGeom>
        </p:spPr>
        <p:txBody>
          <a:bodyPr vert="horz" wrap="square" lIns="0" tIns="13335" rIns="0" bIns="0" rtlCol="0">
            <a:spAutoFit/>
          </a:bodyPr>
          <a:lstStyle/>
          <a:p>
            <a:pPr marL="12700">
              <a:lnSpc>
                <a:spcPct val="100000"/>
              </a:lnSpc>
              <a:spcBef>
                <a:spcPts val="105"/>
              </a:spcBef>
            </a:pPr>
            <a:r>
              <a:rPr sz="3200" spc="-10" dirty="0">
                <a:latin typeface="Times New Roman" panose="02020603050405020304"/>
                <a:cs typeface="Times New Roman" panose="02020603050405020304"/>
              </a:rPr>
              <a:t>Input</a:t>
            </a:r>
            <a:endParaRPr sz="3200">
              <a:latin typeface="Times New Roman" panose="02020603050405020304"/>
              <a:cs typeface="Times New Roman" panose="02020603050405020304"/>
            </a:endParaRPr>
          </a:p>
        </p:txBody>
      </p:sp>
      <p:sp>
        <p:nvSpPr>
          <p:cNvPr id="26" name="object 26"/>
          <p:cNvSpPr txBox="1"/>
          <p:nvPr/>
        </p:nvSpPr>
        <p:spPr>
          <a:xfrm>
            <a:off x="6553200" y="3806952"/>
            <a:ext cx="3886200" cy="775335"/>
          </a:xfrm>
          <a:prstGeom prst="rect">
            <a:avLst/>
          </a:prstGeom>
          <a:solidFill>
            <a:srgbClr val="EE8B6A"/>
          </a:solidFill>
        </p:spPr>
        <p:txBody>
          <a:bodyPr vert="horz" wrap="square" lIns="0" tIns="36830" rIns="0" bIns="0" rtlCol="0">
            <a:spAutoFit/>
          </a:bodyPr>
          <a:lstStyle/>
          <a:p>
            <a:pPr marL="90170">
              <a:lnSpc>
                <a:spcPct val="100000"/>
              </a:lnSpc>
              <a:spcBef>
                <a:spcPts val="290"/>
              </a:spcBef>
            </a:pPr>
            <a:r>
              <a:rPr sz="2400" dirty="0">
                <a:latin typeface="Times New Roman" panose="02020603050405020304"/>
                <a:cs typeface="Times New Roman" panose="02020603050405020304"/>
              </a:rPr>
              <a:t>∑=</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X</a:t>
            </a:r>
            <a:r>
              <a:rPr sz="2400" baseline="-21000" dirty="0">
                <a:latin typeface="Times New Roman" panose="02020603050405020304"/>
                <a:cs typeface="Times New Roman" panose="02020603050405020304"/>
              </a:rPr>
              <a:t>1</a:t>
            </a:r>
            <a:r>
              <a:rPr sz="2400" dirty="0">
                <a:latin typeface="Times New Roman" panose="02020603050405020304"/>
                <a:cs typeface="Times New Roman" panose="02020603050405020304"/>
              </a:rPr>
              <a:t>w</a:t>
            </a:r>
            <a:r>
              <a:rPr sz="2400" baseline="-21000" dirty="0">
                <a:latin typeface="Times New Roman" panose="02020603050405020304"/>
                <a:cs typeface="Times New Roman" panose="02020603050405020304"/>
              </a:rPr>
              <a:t>1</a:t>
            </a:r>
            <a:r>
              <a:rPr sz="2400" dirty="0">
                <a:latin typeface="Times New Roman" panose="02020603050405020304"/>
                <a:cs typeface="Times New Roman" panose="02020603050405020304"/>
              </a:rPr>
              <a:t>+X</a:t>
            </a:r>
            <a:r>
              <a:rPr sz="2400" baseline="-21000" dirty="0">
                <a:latin typeface="Times New Roman" panose="02020603050405020304"/>
                <a:cs typeface="Times New Roman" panose="02020603050405020304"/>
              </a:rPr>
              <a:t>2</a:t>
            </a:r>
            <a:r>
              <a:rPr sz="2400" dirty="0">
                <a:latin typeface="Times New Roman" panose="02020603050405020304"/>
                <a:cs typeface="Times New Roman" panose="02020603050405020304"/>
              </a:rPr>
              <a:t>w</a:t>
            </a:r>
            <a:r>
              <a:rPr sz="2400" baseline="-21000" dirty="0">
                <a:latin typeface="Times New Roman" panose="02020603050405020304"/>
                <a:cs typeface="Times New Roman" panose="02020603050405020304"/>
              </a:rPr>
              <a:t>2</a:t>
            </a:r>
            <a:r>
              <a:rPr sz="2400" spc="270" baseline="-21000" dirty="0">
                <a:latin typeface="Times New Roman" panose="02020603050405020304"/>
                <a:cs typeface="Times New Roman" panose="02020603050405020304"/>
              </a:rPr>
              <a:t> </a:t>
            </a:r>
            <a:r>
              <a:rPr sz="2400" dirty="0">
                <a:latin typeface="Times New Roman" panose="02020603050405020304"/>
                <a:cs typeface="Times New Roman" panose="02020603050405020304"/>
              </a:rPr>
              <a:t>+</a:t>
            </a:r>
            <a:r>
              <a:rPr sz="2400" spc="-5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….+X</a:t>
            </a:r>
            <a:r>
              <a:rPr sz="2400" spc="-15" baseline="-21000" dirty="0">
                <a:latin typeface="Times New Roman" panose="02020603050405020304"/>
                <a:cs typeface="Times New Roman" panose="02020603050405020304"/>
              </a:rPr>
              <a:t>m</a:t>
            </a:r>
            <a:r>
              <a:rPr sz="2400" spc="-10" dirty="0">
                <a:latin typeface="Times New Roman" panose="02020603050405020304"/>
                <a:cs typeface="Times New Roman" panose="02020603050405020304"/>
              </a:rPr>
              <a:t>w</a:t>
            </a:r>
            <a:r>
              <a:rPr sz="2400" spc="-15" baseline="-21000" dirty="0">
                <a:latin typeface="Times New Roman" panose="02020603050405020304"/>
                <a:cs typeface="Times New Roman" panose="02020603050405020304"/>
              </a:rPr>
              <a:t>m</a:t>
            </a:r>
            <a:endParaRPr sz="2400" baseline="-21000">
              <a:latin typeface="Times New Roman" panose="02020603050405020304"/>
              <a:cs typeface="Times New Roman" panose="02020603050405020304"/>
            </a:endParaRPr>
          </a:p>
          <a:p>
            <a:pPr marL="90170">
              <a:lnSpc>
                <a:spcPct val="100000"/>
              </a:lnSpc>
            </a:pPr>
            <a:r>
              <a:rPr sz="2400" spc="-25" dirty="0">
                <a:latin typeface="Times New Roman" panose="02020603050405020304"/>
                <a:cs typeface="Times New Roman" panose="02020603050405020304"/>
              </a:rPr>
              <a:t>=y</a:t>
            </a:r>
            <a:endParaRPr sz="2400">
              <a:latin typeface="Times New Roman" panose="02020603050405020304"/>
              <a:cs typeface="Times New Roman" panose="02020603050405020304"/>
            </a:endParaRPr>
          </a:p>
        </p:txBody>
      </p:sp>
      <p:grpSp>
        <p:nvGrpSpPr>
          <p:cNvPr id="27" name="object 27"/>
          <p:cNvGrpSpPr/>
          <p:nvPr/>
        </p:nvGrpSpPr>
        <p:grpSpPr>
          <a:xfrm>
            <a:off x="5945123" y="2555494"/>
            <a:ext cx="1757680" cy="2749550"/>
            <a:chOff x="4421123" y="2555494"/>
            <a:chExt cx="1757680" cy="2749550"/>
          </a:xfrm>
        </p:grpSpPr>
        <p:sp>
          <p:nvSpPr>
            <p:cNvPr id="28" name="object 28"/>
            <p:cNvSpPr/>
            <p:nvPr/>
          </p:nvSpPr>
          <p:spPr>
            <a:xfrm>
              <a:off x="4421123" y="4162044"/>
              <a:ext cx="76200" cy="1143000"/>
            </a:xfrm>
            <a:custGeom>
              <a:avLst/>
              <a:gdLst/>
              <a:ahLst/>
              <a:cxnLst/>
              <a:rect l="l" t="t" r="r" b="b"/>
              <a:pathLst>
                <a:path w="76200" h="1143000">
                  <a:moveTo>
                    <a:pt x="31732" y="1066799"/>
                  </a:moveTo>
                  <a:lnTo>
                    <a:pt x="0" y="1066799"/>
                  </a:lnTo>
                  <a:lnTo>
                    <a:pt x="38100" y="1142999"/>
                  </a:lnTo>
                  <a:lnTo>
                    <a:pt x="69850" y="1079499"/>
                  </a:lnTo>
                  <a:lnTo>
                    <a:pt x="31750" y="1079499"/>
                  </a:lnTo>
                  <a:lnTo>
                    <a:pt x="31732" y="1066799"/>
                  </a:lnTo>
                  <a:close/>
                </a:path>
                <a:path w="76200" h="1143000">
                  <a:moveTo>
                    <a:pt x="42925" y="0"/>
                  </a:moveTo>
                  <a:lnTo>
                    <a:pt x="30225" y="0"/>
                  </a:lnTo>
                  <a:lnTo>
                    <a:pt x="31732" y="1066799"/>
                  </a:lnTo>
                  <a:lnTo>
                    <a:pt x="31750" y="1079499"/>
                  </a:lnTo>
                  <a:lnTo>
                    <a:pt x="44450" y="1079499"/>
                  </a:lnTo>
                  <a:lnTo>
                    <a:pt x="42925" y="0"/>
                  </a:lnTo>
                  <a:close/>
                </a:path>
                <a:path w="76200" h="1143000">
                  <a:moveTo>
                    <a:pt x="76200" y="1066799"/>
                  </a:moveTo>
                  <a:lnTo>
                    <a:pt x="44432" y="1066799"/>
                  </a:lnTo>
                  <a:lnTo>
                    <a:pt x="44450" y="1079499"/>
                  </a:lnTo>
                  <a:lnTo>
                    <a:pt x="69850" y="1079499"/>
                  </a:lnTo>
                  <a:lnTo>
                    <a:pt x="76200" y="1066799"/>
                  </a:lnTo>
                  <a:close/>
                </a:path>
              </a:pathLst>
            </a:custGeom>
            <a:solidFill>
              <a:srgbClr val="AE3408"/>
            </a:solidFill>
          </p:spPr>
          <p:txBody>
            <a:bodyPr wrap="square" lIns="0" tIns="0" rIns="0" bIns="0" rtlCol="0"/>
            <a:lstStyle/>
            <a:p/>
          </p:txBody>
        </p:sp>
        <p:sp>
          <p:nvSpPr>
            <p:cNvPr id="29" name="object 29"/>
            <p:cNvSpPr/>
            <p:nvPr/>
          </p:nvSpPr>
          <p:spPr>
            <a:xfrm>
              <a:off x="5486399" y="2561844"/>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D6162"/>
            </a:solidFill>
          </p:spPr>
          <p:txBody>
            <a:bodyPr wrap="square" lIns="0" tIns="0" rIns="0" bIns="0" rtlCol="0"/>
            <a:lstStyle/>
            <a:p/>
          </p:txBody>
        </p:sp>
        <p:sp>
          <p:nvSpPr>
            <p:cNvPr id="30" name="object 30"/>
            <p:cNvSpPr/>
            <p:nvPr/>
          </p:nvSpPr>
          <p:spPr>
            <a:xfrm>
              <a:off x="5486399" y="2561844"/>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9B310D"/>
              </a:solidFill>
            </a:ln>
          </p:spPr>
          <p:txBody>
            <a:bodyPr wrap="square" lIns="0" tIns="0" rIns="0" bIns="0" rtlCol="0"/>
            <a:lstStyle/>
            <a:p/>
          </p:txBody>
        </p:sp>
      </p:grpSp>
      <p:sp>
        <p:nvSpPr>
          <p:cNvPr id="31" name="object 31"/>
          <p:cNvSpPr txBox="1"/>
          <p:nvPr/>
        </p:nvSpPr>
        <p:spPr>
          <a:xfrm>
            <a:off x="7189596" y="2731388"/>
            <a:ext cx="328930" cy="320675"/>
          </a:xfrm>
          <a:prstGeom prst="rect">
            <a:avLst/>
          </a:prstGeom>
        </p:spPr>
        <p:txBody>
          <a:bodyPr vert="horz" wrap="square" lIns="0" tIns="13335" rIns="0" bIns="0" rtlCol="0">
            <a:spAutoFit/>
          </a:bodyPr>
          <a:lstStyle/>
          <a:p>
            <a:pPr marL="38100">
              <a:lnSpc>
                <a:spcPct val="100000"/>
              </a:lnSpc>
              <a:spcBef>
                <a:spcPts val="105"/>
              </a:spcBef>
            </a:pPr>
            <a:r>
              <a:rPr sz="2000" spc="-25" dirty="0">
                <a:solidFill>
                  <a:srgbClr val="FFFFFF"/>
                </a:solidFill>
                <a:latin typeface="Times New Roman" panose="02020603050405020304"/>
                <a:cs typeface="Times New Roman" panose="02020603050405020304"/>
              </a:rPr>
              <a:t>w</a:t>
            </a:r>
            <a:r>
              <a:rPr sz="1575" spc="-37" baseline="-21000" dirty="0">
                <a:solidFill>
                  <a:srgbClr val="FFFFFF"/>
                </a:solidFill>
                <a:latin typeface="Times New Roman" panose="02020603050405020304"/>
                <a:cs typeface="Times New Roman" panose="02020603050405020304"/>
              </a:rPr>
              <a:t>1</a:t>
            </a:r>
            <a:endParaRPr sz="1575" baseline="-21000">
              <a:latin typeface="Times New Roman" panose="02020603050405020304"/>
              <a:cs typeface="Times New Roman" panose="02020603050405020304"/>
            </a:endParaRPr>
          </a:p>
        </p:txBody>
      </p:sp>
      <p:grpSp>
        <p:nvGrpSpPr>
          <p:cNvPr id="32" name="object 32"/>
          <p:cNvGrpSpPr/>
          <p:nvPr/>
        </p:nvGrpSpPr>
        <p:grpSpPr>
          <a:xfrm>
            <a:off x="5632450" y="2555494"/>
            <a:ext cx="698500" cy="698500"/>
            <a:chOff x="4108450" y="2555494"/>
            <a:chExt cx="698500" cy="698500"/>
          </a:xfrm>
        </p:grpSpPr>
        <p:sp>
          <p:nvSpPr>
            <p:cNvPr id="33" name="object 33"/>
            <p:cNvSpPr/>
            <p:nvPr/>
          </p:nvSpPr>
          <p:spPr>
            <a:xfrm>
              <a:off x="4114800" y="2561844"/>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D6162"/>
            </a:solidFill>
          </p:spPr>
          <p:txBody>
            <a:bodyPr wrap="square" lIns="0" tIns="0" rIns="0" bIns="0" rtlCol="0"/>
            <a:lstStyle/>
            <a:p/>
          </p:txBody>
        </p:sp>
        <p:sp>
          <p:nvSpPr>
            <p:cNvPr id="34" name="object 34"/>
            <p:cNvSpPr/>
            <p:nvPr/>
          </p:nvSpPr>
          <p:spPr>
            <a:xfrm>
              <a:off x="4114800" y="2561844"/>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69230C"/>
              </a:solidFill>
            </a:ln>
          </p:spPr>
          <p:txBody>
            <a:bodyPr wrap="square" lIns="0" tIns="0" rIns="0" bIns="0" rtlCol="0"/>
            <a:lstStyle/>
            <a:p/>
          </p:txBody>
        </p:sp>
      </p:grpSp>
      <p:sp>
        <p:nvSpPr>
          <p:cNvPr id="35" name="object 35"/>
          <p:cNvSpPr txBox="1"/>
          <p:nvPr/>
        </p:nvSpPr>
        <p:spPr>
          <a:xfrm>
            <a:off x="5817742" y="2731388"/>
            <a:ext cx="328930" cy="320675"/>
          </a:xfrm>
          <a:prstGeom prst="rect">
            <a:avLst/>
          </a:prstGeom>
        </p:spPr>
        <p:txBody>
          <a:bodyPr vert="horz" wrap="square" lIns="0" tIns="13335" rIns="0" bIns="0" rtlCol="0">
            <a:spAutoFit/>
          </a:bodyPr>
          <a:lstStyle/>
          <a:p>
            <a:pPr marL="38100">
              <a:lnSpc>
                <a:spcPct val="100000"/>
              </a:lnSpc>
              <a:spcBef>
                <a:spcPts val="105"/>
              </a:spcBef>
            </a:pPr>
            <a:r>
              <a:rPr sz="2000" spc="-25" dirty="0">
                <a:solidFill>
                  <a:srgbClr val="FFFFFF"/>
                </a:solidFill>
                <a:latin typeface="Times New Roman" panose="02020603050405020304"/>
                <a:cs typeface="Times New Roman" panose="02020603050405020304"/>
              </a:rPr>
              <a:t>w</a:t>
            </a:r>
            <a:r>
              <a:rPr sz="1575" spc="-37" baseline="-21000" dirty="0">
                <a:solidFill>
                  <a:srgbClr val="FFFFFF"/>
                </a:solidFill>
                <a:latin typeface="Times New Roman" panose="02020603050405020304"/>
                <a:cs typeface="Times New Roman" panose="02020603050405020304"/>
              </a:rPr>
              <a:t>2</a:t>
            </a:r>
            <a:endParaRPr sz="1575" baseline="-21000">
              <a:latin typeface="Times New Roman" panose="02020603050405020304"/>
              <a:cs typeface="Times New Roman" panose="02020603050405020304"/>
            </a:endParaRPr>
          </a:p>
        </p:txBody>
      </p:sp>
      <p:grpSp>
        <p:nvGrpSpPr>
          <p:cNvPr id="36" name="object 36"/>
          <p:cNvGrpSpPr/>
          <p:nvPr/>
        </p:nvGrpSpPr>
        <p:grpSpPr>
          <a:xfrm>
            <a:off x="4260850" y="2508250"/>
            <a:ext cx="698500" cy="698500"/>
            <a:chOff x="2736850" y="2508250"/>
            <a:chExt cx="698500" cy="698500"/>
          </a:xfrm>
        </p:grpSpPr>
        <p:sp>
          <p:nvSpPr>
            <p:cNvPr id="37" name="object 37"/>
            <p:cNvSpPr/>
            <p:nvPr/>
          </p:nvSpPr>
          <p:spPr>
            <a:xfrm>
              <a:off x="2743200" y="25146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D6162"/>
            </a:solidFill>
          </p:spPr>
          <p:txBody>
            <a:bodyPr wrap="square" lIns="0" tIns="0" rIns="0" bIns="0" rtlCol="0"/>
            <a:lstStyle/>
            <a:p/>
          </p:txBody>
        </p:sp>
        <p:sp>
          <p:nvSpPr>
            <p:cNvPr id="38" name="object 38"/>
            <p:cNvSpPr/>
            <p:nvPr/>
          </p:nvSpPr>
          <p:spPr>
            <a:xfrm>
              <a:off x="2743200" y="25146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69230C"/>
              </a:solidFill>
            </a:ln>
          </p:spPr>
          <p:txBody>
            <a:bodyPr wrap="square" lIns="0" tIns="0" rIns="0" bIns="0" rtlCol="0"/>
            <a:lstStyle/>
            <a:p/>
          </p:txBody>
        </p:sp>
      </p:grpSp>
      <p:sp>
        <p:nvSpPr>
          <p:cNvPr id="39" name="object 39"/>
          <p:cNvSpPr txBox="1"/>
          <p:nvPr/>
        </p:nvSpPr>
        <p:spPr>
          <a:xfrm>
            <a:off x="4427473" y="2683891"/>
            <a:ext cx="367030" cy="320675"/>
          </a:xfrm>
          <a:prstGeom prst="rect">
            <a:avLst/>
          </a:prstGeom>
        </p:spPr>
        <p:txBody>
          <a:bodyPr vert="horz" wrap="square" lIns="0" tIns="13335" rIns="0" bIns="0" rtlCol="0">
            <a:spAutoFit/>
          </a:bodyPr>
          <a:lstStyle/>
          <a:p>
            <a:pPr marL="38100">
              <a:lnSpc>
                <a:spcPct val="100000"/>
              </a:lnSpc>
              <a:spcBef>
                <a:spcPts val="105"/>
              </a:spcBef>
            </a:pPr>
            <a:r>
              <a:rPr sz="2000" spc="-25" dirty="0">
                <a:solidFill>
                  <a:srgbClr val="FFFFFF"/>
                </a:solidFill>
                <a:latin typeface="Times New Roman" panose="02020603050405020304"/>
                <a:cs typeface="Times New Roman" panose="02020603050405020304"/>
              </a:rPr>
              <a:t>w</a:t>
            </a:r>
            <a:r>
              <a:rPr sz="1575" spc="-37" baseline="-21000" dirty="0">
                <a:solidFill>
                  <a:srgbClr val="FFFFFF"/>
                </a:solidFill>
                <a:latin typeface="Times New Roman" panose="02020603050405020304"/>
                <a:cs typeface="Times New Roman" panose="02020603050405020304"/>
              </a:rPr>
              <a:t>m</a:t>
            </a:r>
            <a:endParaRPr sz="1575" baseline="-21000">
              <a:latin typeface="Times New Roman" panose="02020603050405020304"/>
              <a:cs typeface="Times New Roman" panose="02020603050405020304"/>
            </a:endParaRPr>
          </a:p>
        </p:txBody>
      </p:sp>
      <p:sp>
        <p:nvSpPr>
          <p:cNvPr id="40" name="object 40"/>
          <p:cNvSpPr txBox="1"/>
          <p:nvPr/>
        </p:nvSpPr>
        <p:spPr>
          <a:xfrm>
            <a:off x="1732889" y="2684780"/>
            <a:ext cx="1790700" cy="1326515"/>
          </a:xfrm>
          <a:prstGeom prst="rect">
            <a:avLst/>
          </a:prstGeom>
        </p:spPr>
        <p:txBody>
          <a:bodyPr vert="horz" wrap="square" lIns="0" tIns="13335" rIns="0" bIns="0" rtlCol="0">
            <a:spAutoFit/>
          </a:bodyPr>
          <a:lstStyle/>
          <a:p>
            <a:pPr marL="70485">
              <a:lnSpc>
                <a:spcPct val="100000"/>
              </a:lnSpc>
              <a:spcBef>
                <a:spcPts val="105"/>
              </a:spcBef>
            </a:pPr>
            <a:r>
              <a:rPr sz="3200" spc="-10" dirty="0">
                <a:latin typeface="Times New Roman" panose="02020603050405020304"/>
                <a:cs typeface="Times New Roman" panose="02020603050405020304"/>
              </a:rPr>
              <a:t>weights</a:t>
            </a:r>
            <a:endParaRPr sz="3200">
              <a:latin typeface="Times New Roman" panose="02020603050405020304"/>
              <a:cs typeface="Times New Roman" panose="02020603050405020304"/>
            </a:endParaRPr>
          </a:p>
          <a:p>
            <a:pPr marL="12700">
              <a:lnSpc>
                <a:spcPct val="100000"/>
              </a:lnSpc>
              <a:spcBef>
                <a:spcPts val="2560"/>
              </a:spcBef>
            </a:pPr>
            <a:r>
              <a:rPr sz="3200" spc="-10" dirty="0">
                <a:latin typeface="Times New Roman" panose="02020603050405020304"/>
                <a:cs typeface="Times New Roman" panose="02020603050405020304"/>
              </a:rPr>
              <a:t>Processing</a:t>
            </a:r>
            <a:endParaRPr sz="3200">
              <a:latin typeface="Times New Roman" panose="02020603050405020304"/>
              <a:cs typeface="Times New Roman" panose="02020603050405020304"/>
            </a:endParaRPr>
          </a:p>
        </p:txBody>
      </p:sp>
      <p:pic>
        <p:nvPicPr>
          <p:cNvPr id="41" name="object 41"/>
          <p:cNvPicPr/>
          <p:nvPr/>
        </p:nvPicPr>
        <p:blipFill>
          <a:blip r:embed="rId1" cstate="print"/>
          <a:stretch>
            <a:fillRect/>
          </a:stretch>
        </p:blipFill>
        <p:spPr>
          <a:xfrm>
            <a:off x="6705600" y="5533644"/>
            <a:ext cx="1143000" cy="609600"/>
          </a:xfrm>
          <a:prstGeom prst="rect">
            <a:avLst/>
          </a:prstGeom>
        </p:spPr>
      </p:pic>
      <p:sp>
        <p:nvSpPr>
          <p:cNvPr id="42" name="object 42"/>
          <p:cNvSpPr txBox="1"/>
          <p:nvPr/>
        </p:nvSpPr>
        <p:spPr>
          <a:xfrm>
            <a:off x="4116451" y="1546352"/>
            <a:ext cx="1180465" cy="873760"/>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a:p>
            <a:pPr marL="12700">
              <a:lnSpc>
                <a:spcPct val="100000"/>
              </a:lnSpc>
            </a:pP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p:txBody>
      </p:sp>
      <p:grpSp>
        <p:nvGrpSpPr>
          <p:cNvPr id="43" name="object 43"/>
          <p:cNvGrpSpPr/>
          <p:nvPr/>
        </p:nvGrpSpPr>
        <p:grpSpPr>
          <a:xfrm>
            <a:off x="3856989" y="2028825"/>
            <a:ext cx="4377690" cy="1791335"/>
            <a:chOff x="2332989" y="2028825"/>
            <a:chExt cx="4377690" cy="1791335"/>
          </a:xfrm>
        </p:grpSpPr>
        <p:sp>
          <p:nvSpPr>
            <p:cNvPr id="44" name="object 44"/>
            <p:cNvSpPr/>
            <p:nvPr/>
          </p:nvSpPr>
          <p:spPr>
            <a:xfrm>
              <a:off x="2332990" y="2028824"/>
              <a:ext cx="4377690" cy="1791335"/>
            </a:xfrm>
            <a:custGeom>
              <a:avLst/>
              <a:gdLst/>
              <a:ahLst/>
              <a:cxnLst/>
              <a:rect l="l" t="t" r="r" b="b"/>
              <a:pathLst>
                <a:path w="4377690" h="1791335">
                  <a:moveTo>
                    <a:pt x="509651" y="585216"/>
                  </a:moveTo>
                  <a:lnTo>
                    <a:pt x="498386" y="541401"/>
                  </a:lnTo>
                  <a:lnTo>
                    <a:pt x="488442" y="502666"/>
                  </a:lnTo>
                  <a:lnTo>
                    <a:pt x="464451" y="523532"/>
                  </a:lnTo>
                  <a:lnTo>
                    <a:pt x="9652" y="0"/>
                  </a:lnTo>
                  <a:lnTo>
                    <a:pt x="0" y="8382"/>
                  </a:lnTo>
                  <a:lnTo>
                    <a:pt x="454875" y="531863"/>
                  </a:lnTo>
                  <a:lnTo>
                    <a:pt x="430911" y="552704"/>
                  </a:lnTo>
                  <a:lnTo>
                    <a:pt x="509651" y="585216"/>
                  </a:lnTo>
                  <a:close/>
                </a:path>
                <a:path w="4377690" h="1791335">
                  <a:moveTo>
                    <a:pt x="2163953" y="457327"/>
                  </a:moveTo>
                  <a:lnTo>
                    <a:pt x="2132406" y="457327"/>
                  </a:lnTo>
                  <a:lnTo>
                    <a:pt x="2131060" y="104775"/>
                  </a:lnTo>
                  <a:lnTo>
                    <a:pt x="2118360" y="104775"/>
                  </a:lnTo>
                  <a:lnTo>
                    <a:pt x="2119706" y="457327"/>
                  </a:lnTo>
                  <a:lnTo>
                    <a:pt x="2087880" y="457327"/>
                  </a:lnTo>
                  <a:lnTo>
                    <a:pt x="2126234" y="533400"/>
                  </a:lnTo>
                  <a:lnTo>
                    <a:pt x="2157717" y="469900"/>
                  </a:lnTo>
                  <a:lnTo>
                    <a:pt x="2163953" y="457327"/>
                  </a:lnTo>
                  <a:close/>
                </a:path>
                <a:path w="4377690" h="1791335">
                  <a:moveTo>
                    <a:pt x="3257550" y="1124585"/>
                  </a:moveTo>
                  <a:lnTo>
                    <a:pt x="3249295" y="1114933"/>
                  </a:lnTo>
                  <a:lnTo>
                    <a:pt x="2521420" y="1737017"/>
                  </a:lnTo>
                  <a:lnTo>
                    <a:pt x="2500757" y="1712849"/>
                  </a:lnTo>
                  <a:lnTo>
                    <a:pt x="2467610" y="1791208"/>
                  </a:lnTo>
                  <a:lnTo>
                    <a:pt x="2550287" y="1770761"/>
                  </a:lnTo>
                  <a:lnTo>
                    <a:pt x="2536698" y="1754886"/>
                  </a:lnTo>
                  <a:lnTo>
                    <a:pt x="2529675" y="1746669"/>
                  </a:lnTo>
                  <a:lnTo>
                    <a:pt x="3257550" y="1124585"/>
                  </a:lnTo>
                  <a:close/>
                </a:path>
                <a:path w="4377690" h="1791335">
                  <a:moveTo>
                    <a:pt x="4377436" y="108966"/>
                  </a:moveTo>
                  <a:lnTo>
                    <a:pt x="4367784" y="100584"/>
                  </a:lnTo>
                  <a:lnTo>
                    <a:pt x="3884625" y="652894"/>
                  </a:lnTo>
                  <a:lnTo>
                    <a:pt x="3860673" y="631952"/>
                  </a:lnTo>
                  <a:lnTo>
                    <a:pt x="3839210" y="714375"/>
                  </a:lnTo>
                  <a:lnTo>
                    <a:pt x="3918077" y="682117"/>
                  </a:lnTo>
                  <a:lnTo>
                    <a:pt x="3905135" y="670814"/>
                  </a:lnTo>
                  <a:lnTo>
                    <a:pt x="3894188" y="661250"/>
                  </a:lnTo>
                  <a:lnTo>
                    <a:pt x="4377436" y="108966"/>
                  </a:lnTo>
                  <a:close/>
                </a:path>
              </a:pathLst>
            </a:custGeom>
            <a:solidFill>
              <a:srgbClr val="AE3408"/>
            </a:solidFill>
          </p:spPr>
          <p:txBody>
            <a:bodyPr wrap="square" lIns="0" tIns="0" rIns="0" bIns="0" rtlCol="0"/>
            <a:lstStyle/>
            <a:p/>
          </p:txBody>
        </p:sp>
        <p:pic>
          <p:nvPicPr>
            <p:cNvPr id="45" name="object 45"/>
            <p:cNvPicPr/>
            <p:nvPr/>
          </p:nvPicPr>
          <p:blipFill>
            <a:blip r:embed="rId2" cstate="print"/>
            <a:stretch>
              <a:fillRect/>
            </a:stretch>
          </p:blipFill>
          <p:spPr>
            <a:xfrm>
              <a:off x="4420616" y="3247644"/>
              <a:ext cx="76200" cy="228600"/>
            </a:xfrm>
            <a:prstGeom prst="rect">
              <a:avLst/>
            </a:prstGeom>
          </p:spPr>
        </p:pic>
        <p:sp>
          <p:nvSpPr>
            <p:cNvPr id="46" name="object 46"/>
            <p:cNvSpPr/>
            <p:nvPr/>
          </p:nvSpPr>
          <p:spPr>
            <a:xfrm>
              <a:off x="3324097" y="3095116"/>
              <a:ext cx="790575" cy="723900"/>
            </a:xfrm>
            <a:custGeom>
              <a:avLst/>
              <a:gdLst/>
              <a:ahLst/>
              <a:cxnLst/>
              <a:rect l="l" t="t" r="r" b="b"/>
              <a:pathLst>
                <a:path w="790575" h="723900">
                  <a:moveTo>
                    <a:pt x="729606" y="677064"/>
                  </a:moveTo>
                  <a:lnTo>
                    <a:pt x="708151" y="700532"/>
                  </a:lnTo>
                  <a:lnTo>
                    <a:pt x="790066" y="723773"/>
                  </a:lnTo>
                  <a:lnTo>
                    <a:pt x="775459" y="685673"/>
                  </a:lnTo>
                  <a:lnTo>
                    <a:pt x="739013" y="685673"/>
                  </a:lnTo>
                  <a:lnTo>
                    <a:pt x="729606" y="677064"/>
                  </a:lnTo>
                  <a:close/>
                </a:path>
                <a:path w="790575" h="723900">
                  <a:moveTo>
                    <a:pt x="738161" y="667707"/>
                  </a:moveTo>
                  <a:lnTo>
                    <a:pt x="729606" y="677064"/>
                  </a:lnTo>
                  <a:lnTo>
                    <a:pt x="739013" y="685673"/>
                  </a:lnTo>
                  <a:lnTo>
                    <a:pt x="747522" y="676275"/>
                  </a:lnTo>
                  <a:lnTo>
                    <a:pt x="738161" y="667707"/>
                  </a:lnTo>
                  <a:close/>
                </a:path>
                <a:path w="790575" h="723900">
                  <a:moveTo>
                    <a:pt x="759587" y="644271"/>
                  </a:moveTo>
                  <a:lnTo>
                    <a:pt x="738161" y="667707"/>
                  </a:lnTo>
                  <a:lnTo>
                    <a:pt x="747522" y="676275"/>
                  </a:lnTo>
                  <a:lnTo>
                    <a:pt x="739013" y="685673"/>
                  </a:lnTo>
                  <a:lnTo>
                    <a:pt x="775459" y="685673"/>
                  </a:lnTo>
                  <a:lnTo>
                    <a:pt x="759587" y="644271"/>
                  </a:lnTo>
                  <a:close/>
                </a:path>
                <a:path w="790575" h="723900">
                  <a:moveTo>
                    <a:pt x="8636" y="0"/>
                  </a:moveTo>
                  <a:lnTo>
                    <a:pt x="0" y="9398"/>
                  </a:lnTo>
                  <a:lnTo>
                    <a:pt x="729606" y="677064"/>
                  </a:lnTo>
                  <a:lnTo>
                    <a:pt x="738161" y="667707"/>
                  </a:lnTo>
                  <a:lnTo>
                    <a:pt x="8636" y="0"/>
                  </a:lnTo>
                  <a:close/>
                </a:path>
              </a:pathLst>
            </a:custGeom>
            <a:solidFill>
              <a:srgbClr val="AE3408"/>
            </a:solidFill>
          </p:spPr>
          <p:txBody>
            <a:bodyPr wrap="square" lIns="0" tIns="0" rIns="0" bIns="0" rtlCol="0"/>
            <a:lstStyle/>
            <a:p/>
          </p:txBody>
        </p:sp>
      </p:grpSp>
      <p:sp>
        <p:nvSpPr>
          <p:cNvPr id="47" name="object 47"/>
          <p:cNvSpPr txBox="1"/>
          <p:nvPr/>
        </p:nvSpPr>
        <p:spPr>
          <a:xfrm>
            <a:off x="5030851" y="2689605"/>
            <a:ext cx="469265" cy="873760"/>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0"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a:p>
            <a:pPr marL="12700">
              <a:lnSpc>
                <a:spcPct val="100000"/>
              </a:lnSpc>
            </a:pP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p:txBody>
      </p:sp>
      <p:sp>
        <p:nvSpPr>
          <p:cNvPr id="48" name="Date Placeholder 47"/>
          <p:cNvSpPr>
            <a:spLocks noGrp="1"/>
          </p:cNvSpPr>
          <p:nvPr>
            <p:ph type="dt" sz="half" idx="10"/>
          </p:nvPr>
        </p:nvSpPr>
        <p:spPr/>
        <p:txBody>
          <a:bodyPr/>
          <a:p>
            <a:fld id="{63A1C593-65D0-4073-BCC9-577B9352EA97}" type="datetime1">
              <a:rPr lang="en-US" smtClean="0"/>
            </a:fld>
            <a:endParaRPr lang="en-US"/>
          </a:p>
        </p:txBody>
      </p:sp>
      <p:sp>
        <p:nvSpPr>
          <p:cNvPr id="49" name="Slide Number Placeholder 4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7320" y="187401"/>
            <a:ext cx="4441825" cy="627380"/>
          </a:xfrm>
          <a:prstGeom prst="rect">
            <a:avLst/>
          </a:prstGeom>
        </p:spPr>
        <p:txBody>
          <a:bodyPr vert="horz" wrap="square" lIns="0" tIns="12065" rIns="0" bIns="0" rtlCol="0">
            <a:spAutoFit/>
          </a:bodyPr>
          <a:lstStyle/>
          <a:p>
            <a:pPr marL="12700">
              <a:lnSpc>
                <a:spcPct val="100000"/>
              </a:lnSpc>
              <a:spcBef>
                <a:spcPts val="95"/>
              </a:spcBef>
            </a:pPr>
            <a:r>
              <a:rPr sz="4000" dirty="0">
                <a:latin typeface="Times New Roman" panose="02020603050405020304"/>
                <a:cs typeface="Times New Roman" panose="02020603050405020304"/>
              </a:rPr>
              <a:t>How</a:t>
            </a:r>
            <a:r>
              <a:rPr sz="4000" spc="-85"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do</a:t>
            </a:r>
            <a:r>
              <a:rPr sz="4000" spc="-240" dirty="0">
                <a:latin typeface="Times New Roman" panose="02020603050405020304"/>
                <a:cs typeface="Times New Roman" panose="02020603050405020304"/>
              </a:rPr>
              <a:t> </a:t>
            </a:r>
            <a:r>
              <a:rPr sz="4000" dirty="0">
                <a:latin typeface="Times New Roman" panose="02020603050405020304"/>
                <a:cs typeface="Times New Roman" panose="02020603050405020304"/>
              </a:rPr>
              <a:t>ANNs</a:t>
            </a:r>
            <a:r>
              <a:rPr sz="4000" spc="-40"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work?</a:t>
            </a:r>
            <a:endParaRPr sz="4000">
              <a:latin typeface="Times New Roman" panose="02020603050405020304"/>
              <a:cs typeface="Times New Roman" panose="02020603050405020304"/>
            </a:endParaRPr>
          </a:p>
        </p:txBody>
      </p:sp>
      <p:sp>
        <p:nvSpPr>
          <p:cNvPr id="3" name="object 3"/>
          <p:cNvSpPr txBox="1"/>
          <p:nvPr/>
        </p:nvSpPr>
        <p:spPr>
          <a:xfrm>
            <a:off x="3167252" y="706069"/>
            <a:ext cx="5931535" cy="998220"/>
          </a:xfrm>
          <a:prstGeom prst="rect">
            <a:avLst/>
          </a:prstGeom>
        </p:spPr>
        <p:txBody>
          <a:bodyPr vert="horz" wrap="square" lIns="0" tIns="13335" rIns="0" bIns="0" rtlCol="0">
            <a:spAutoFit/>
          </a:bodyPr>
          <a:lstStyle/>
          <a:p>
            <a:pPr marL="1225550" marR="5080" indent="-1213485">
              <a:lnSpc>
                <a:spcPct val="100000"/>
              </a:lnSpc>
              <a:spcBef>
                <a:spcPts val="105"/>
              </a:spcBef>
            </a:pPr>
            <a:r>
              <a:rPr sz="3200" dirty="0">
                <a:latin typeface="Times New Roman" panose="02020603050405020304"/>
                <a:cs typeface="Times New Roman" panose="02020603050405020304"/>
              </a:rPr>
              <a:t>The</a:t>
            </a:r>
            <a:r>
              <a:rPr sz="3200" spc="-25" dirty="0">
                <a:latin typeface="Times New Roman" panose="02020603050405020304"/>
                <a:cs typeface="Times New Roman" panose="02020603050405020304"/>
              </a:rPr>
              <a:t> </a:t>
            </a:r>
            <a:r>
              <a:rPr sz="3200" dirty="0">
                <a:latin typeface="Times New Roman" panose="02020603050405020304"/>
                <a:cs typeface="Times New Roman" panose="02020603050405020304"/>
              </a:rPr>
              <a:t>signal</a:t>
            </a:r>
            <a:r>
              <a:rPr sz="3200" spc="-35" dirty="0">
                <a:latin typeface="Times New Roman" panose="02020603050405020304"/>
                <a:cs typeface="Times New Roman" panose="02020603050405020304"/>
              </a:rPr>
              <a:t> </a:t>
            </a:r>
            <a:r>
              <a:rPr sz="3200" dirty="0">
                <a:latin typeface="Times New Roman" panose="02020603050405020304"/>
                <a:cs typeface="Times New Roman" panose="02020603050405020304"/>
              </a:rPr>
              <a:t>is</a:t>
            </a:r>
            <a:r>
              <a:rPr sz="3200" spc="-5" dirty="0">
                <a:latin typeface="Times New Roman" panose="02020603050405020304"/>
                <a:cs typeface="Times New Roman" panose="02020603050405020304"/>
              </a:rPr>
              <a:t> </a:t>
            </a:r>
            <a:r>
              <a:rPr sz="3200" dirty="0">
                <a:latin typeface="Times New Roman" panose="02020603050405020304"/>
                <a:cs typeface="Times New Roman" panose="02020603050405020304"/>
              </a:rPr>
              <a:t>not</a:t>
            </a:r>
            <a:r>
              <a:rPr sz="3200" spc="-10" dirty="0">
                <a:latin typeface="Times New Roman" panose="02020603050405020304"/>
                <a:cs typeface="Times New Roman" panose="02020603050405020304"/>
              </a:rPr>
              <a:t> </a:t>
            </a:r>
            <a:r>
              <a:rPr sz="3200" dirty="0">
                <a:latin typeface="Times New Roman" panose="02020603050405020304"/>
                <a:cs typeface="Times New Roman" panose="02020603050405020304"/>
              </a:rPr>
              <a:t>passed</a:t>
            </a:r>
            <a:r>
              <a:rPr sz="3200" spc="-20" dirty="0">
                <a:latin typeface="Times New Roman" panose="02020603050405020304"/>
                <a:cs typeface="Times New Roman" panose="02020603050405020304"/>
              </a:rPr>
              <a:t> </a:t>
            </a:r>
            <a:r>
              <a:rPr sz="3200" dirty="0">
                <a:latin typeface="Times New Roman" panose="02020603050405020304"/>
                <a:cs typeface="Times New Roman" panose="02020603050405020304"/>
              </a:rPr>
              <a:t>down</a:t>
            </a:r>
            <a:r>
              <a:rPr sz="3200" spc="-40" dirty="0">
                <a:latin typeface="Times New Roman" panose="02020603050405020304"/>
                <a:cs typeface="Times New Roman" panose="02020603050405020304"/>
              </a:rPr>
              <a:t> </a:t>
            </a:r>
            <a:r>
              <a:rPr sz="3200" dirty="0">
                <a:latin typeface="Times New Roman" panose="02020603050405020304"/>
                <a:cs typeface="Times New Roman" panose="02020603050405020304"/>
              </a:rPr>
              <a:t>to</a:t>
            </a:r>
            <a:r>
              <a:rPr sz="3200" spc="-5" dirty="0">
                <a:latin typeface="Times New Roman" panose="02020603050405020304"/>
                <a:cs typeface="Times New Roman" panose="02020603050405020304"/>
              </a:rPr>
              <a:t> </a:t>
            </a:r>
            <a:r>
              <a:rPr sz="3200" spc="-25" dirty="0">
                <a:latin typeface="Times New Roman" panose="02020603050405020304"/>
                <a:cs typeface="Times New Roman" panose="02020603050405020304"/>
              </a:rPr>
              <a:t>the </a:t>
            </a:r>
            <a:r>
              <a:rPr sz="3200" dirty="0">
                <a:latin typeface="Times New Roman" panose="02020603050405020304"/>
                <a:cs typeface="Times New Roman" panose="02020603050405020304"/>
              </a:rPr>
              <a:t>next</a:t>
            </a:r>
            <a:r>
              <a:rPr sz="3200" spc="-35" dirty="0">
                <a:latin typeface="Times New Roman" panose="02020603050405020304"/>
                <a:cs typeface="Times New Roman" panose="02020603050405020304"/>
              </a:rPr>
              <a:t> </a:t>
            </a:r>
            <a:r>
              <a:rPr sz="3200" dirty="0">
                <a:latin typeface="Times New Roman" panose="02020603050405020304"/>
                <a:cs typeface="Times New Roman" panose="02020603050405020304"/>
              </a:rPr>
              <a:t>neuron</a:t>
            </a:r>
            <a:r>
              <a:rPr sz="3200" spc="-55" dirty="0">
                <a:latin typeface="Times New Roman" panose="02020603050405020304"/>
                <a:cs typeface="Times New Roman" panose="02020603050405020304"/>
              </a:rPr>
              <a:t> </a:t>
            </a:r>
            <a:r>
              <a:rPr sz="3200" spc="-10" dirty="0">
                <a:latin typeface="Times New Roman" panose="02020603050405020304"/>
                <a:cs typeface="Times New Roman" panose="02020603050405020304"/>
              </a:rPr>
              <a:t>verbatim</a:t>
            </a:r>
            <a:endParaRPr sz="3200">
              <a:latin typeface="Times New Roman" panose="02020603050405020304"/>
              <a:cs typeface="Times New Roman" panose="02020603050405020304"/>
            </a:endParaRPr>
          </a:p>
        </p:txBody>
      </p:sp>
      <p:sp>
        <p:nvSpPr>
          <p:cNvPr id="4" name="object 4"/>
          <p:cNvSpPr/>
          <p:nvPr/>
        </p:nvSpPr>
        <p:spPr>
          <a:xfrm>
            <a:off x="4565776" y="4986782"/>
            <a:ext cx="988060" cy="83185"/>
          </a:xfrm>
          <a:custGeom>
            <a:avLst/>
            <a:gdLst/>
            <a:ahLst/>
            <a:cxnLst/>
            <a:rect l="l" t="t" r="r" b="b"/>
            <a:pathLst>
              <a:path w="988060" h="83185">
                <a:moveTo>
                  <a:pt x="0" y="82931"/>
                </a:moveTo>
                <a:lnTo>
                  <a:pt x="988060" y="0"/>
                </a:lnTo>
              </a:path>
            </a:pathLst>
          </a:custGeom>
          <a:ln w="12191">
            <a:solidFill>
              <a:srgbClr val="69230C"/>
            </a:solidFill>
          </a:ln>
        </p:spPr>
        <p:txBody>
          <a:bodyPr wrap="square" lIns="0" tIns="0" rIns="0" bIns="0" rtlCol="0"/>
          <a:lstStyle/>
          <a:p/>
        </p:txBody>
      </p:sp>
      <p:sp>
        <p:nvSpPr>
          <p:cNvPr id="5" name="object 5"/>
          <p:cNvSpPr txBox="1"/>
          <p:nvPr/>
        </p:nvSpPr>
        <p:spPr>
          <a:xfrm>
            <a:off x="2133600" y="4648200"/>
            <a:ext cx="2438400" cy="735965"/>
          </a:xfrm>
          <a:prstGeom prst="rect">
            <a:avLst/>
          </a:prstGeom>
          <a:solidFill>
            <a:srgbClr val="D9D9D9"/>
          </a:solidFill>
          <a:ln w="12191">
            <a:solidFill>
              <a:srgbClr val="69230C"/>
            </a:solidFill>
          </a:ln>
        </p:spPr>
        <p:txBody>
          <a:bodyPr vert="horz" wrap="square" lIns="0" tIns="120650" rIns="0" bIns="0" rtlCol="0">
            <a:spAutoFit/>
          </a:bodyPr>
          <a:lstStyle/>
          <a:p>
            <a:pPr algn="ctr">
              <a:lnSpc>
                <a:spcPct val="100000"/>
              </a:lnSpc>
              <a:spcBef>
                <a:spcPts val="950"/>
              </a:spcBef>
            </a:pPr>
            <a:r>
              <a:rPr sz="2000" dirty="0">
                <a:solidFill>
                  <a:srgbClr val="0D0D0D"/>
                </a:solidFill>
                <a:latin typeface="Times New Roman" panose="02020603050405020304"/>
                <a:cs typeface="Times New Roman" panose="02020603050405020304"/>
              </a:rPr>
              <a:t>Transfer</a:t>
            </a:r>
            <a:r>
              <a:rPr sz="2000" spc="-125" dirty="0">
                <a:solidFill>
                  <a:srgbClr val="0D0D0D"/>
                </a:solidFill>
                <a:latin typeface="Times New Roman" panose="02020603050405020304"/>
                <a:cs typeface="Times New Roman" panose="02020603050405020304"/>
              </a:rPr>
              <a:t> </a:t>
            </a:r>
            <a:r>
              <a:rPr sz="2000" spc="-10" dirty="0">
                <a:solidFill>
                  <a:srgbClr val="0D0D0D"/>
                </a:solidFill>
                <a:latin typeface="Times New Roman" panose="02020603050405020304"/>
                <a:cs typeface="Times New Roman" panose="02020603050405020304"/>
              </a:rPr>
              <a:t>Function</a:t>
            </a:r>
            <a:endParaRPr sz="2000">
              <a:latin typeface="Times New Roman" panose="02020603050405020304"/>
              <a:cs typeface="Times New Roman" panose="02020603050405020304"/>
            </a:endParaRPr>
          </a:p>
          <a:p>
            <a:pPr algn="ctr">
              <a:lnSpc>
                <a:spcPct val="100000"/>
              </a:lnSpc>
            </a:pPr>
            <a:r>
              <a:rPr sz="2000" dirty="0">
                <a:solidFill>
                  <a:srgbClr val="0D0D0D"/>
                </a:solidFill>
                <a:latin typeface="Times New Roman" panose="02020603050405020304"/>
                <a:cs typeface="Times New Roman" panose="02020603050405020304"/>
              </a:rPr>
              <a:t>(Activation</a:t>
            </a:r>
            <a:r>
              <a:rPr sz="2000" spc="-60" dirty="0">
                <a:solidFill>
                  <a:srgbClr val="0D0D0D"/>
                </a:solidFill>
                <a:latin typeface="Times New Roman" panose="02020603050405020304"/>
                <a:cs typeface="Times New Roman" panose="02020603050405020304"/>
              </a:rPr>
              <a:t> </a:t>
            </a:r>
            <a:r>
              <a:rPr sz="2000" spc="-10" dirty="0">
                <a:solidFill>
                  <a:srgbClr val="0D0D0D"/>
                </a:solidFill>
                <a:latin typeface="Times New Roman" panose="02020603050405020304"/>
                <a:cs typeface="Times New Roman" panose="02020603050405020304"/>
              </a:rPr>
              <a:t>Function)</a:t>
            </a:r>
            <a:endParaRPr sz="2000">
              <a:latin typeface="Times New Roman" panose="02020603050405020304"/>
              <a:cs typeface="Times New Roman" panose="02020603050405020304"/>
            </a:endParaRPr>
          </a:p>
        </p:txBody>
      </p:sp>
      <p:sp>
        <p:nvSpPr>
          <p:cNvPr id="6" name="object 6"/>
          <p:cNvSpPr txBox="1"/>
          <p:nvPr/>
        </p:nvSpPr>
        <p:spPr>
          <a:xfrm>
            <a:off x="2011781" y="5736742"/>
            <a:ext cx="1156970" cy="504825"/>
          </a:xfrm>
          <a:prstGeom prst="rect">
            <a:avLst/>
          </a:prstGeom>
        </p:spPr>
        <p:txBody>
          <a:bodyPr vert="horz" wrap="square" lIns="0" tIns="12700" rIns="0" bIns="0" rtlCol="0">
            <a:spAutoFit/>
          </a:bodyPr>
          <a:lstStyle/>
          <a:p>
            <a:pPr marL="12700">
              <a:lnSpc>
                <a:spcPct val="100000"/>
              </a:lnSpc>
              <a:spcBef>
                <a:spcPts val="100"/>
              </a:spcBef>
            </a:pPr>
            <a:r>
              <a:rPr sz="3200" spc="-10" dirty="0">
                <a:latin typeface="Times New Roman" panose="02020603050405020304"/>
                <a:cs typeface="Times New Roman" panose="02020603050405020304"/>
              </a:rPr>
              <a:t>Output</a:t>
            </a:r>
            <a:endParaRPr sz="3200">
              <a:latin typeface="Times New Roman" panose="02020603050405020304"/>
              <a:cs typeface="Times New Roman" panose="02020603050405020304"/>
            </a:endParaRPr>
          </a:p>
        </p:txBody>
      </p:sp>
      <p:grpSp>
        <p:nvGrpSpPr>
          <p:cNvPr id="7" name="object 7"/>
          <p:cNvGrpSpPr/>
          <p:nvPr/>
        </p:nvGrpSpPr>
        <p:grpSpPr>
          <a:xfrm>
            <a:off x="5632450" y="1851405"/>
            <a:ext cx="3060700" cy="698500"/>
            <a:chOff x="4108450" y="1851405"/>
            <a:chExt cx="3060700" cy="698500"/>
          </a:xfrm>
        </p:grpSpPr>
        <p:sp>
          <p:nvSpPr>
            <p:cNvPr id="8" name="object 8"/>
            <p:cNvSpPr/>
            <p:nvPr/>
          </p:nvSpPr>
          <p:spPr>
            <a:xfrm>
              <a:off x="6477000" y="1857755"/>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9230C"/>
            </a:solidFill>
          </p:spPr>
          <p:txBody>
            <a:bodyPr wrap="square" lIns="0" tIns="0" rIns="0" bIns="0" rtlCol="0"/>
            <a:lstStyle/>
            <a:p/>
          </p:txBody>
        </p:sp>
        <p:sp>
          <p:nvSpPr>
            <p:cNvPr id="9" name="object 9"/>
            <p:cNvSpPr/>
            <p:nvPr/>
          </p:nvSpPr>
          <p:spPr>
            <a:xfrm>
              <a:off x="6477000" y="1857755"/>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9B310D"/>
              </a:solidFill>
            </a:ln>
          </p:spPr>
          <p:txBody>
            <a:bodyPr wrap="square" lIns="0" tIns="0" rIns="0" bIns="0" rtlCol="0"/>
            <a:lstStyle/>
            <a:p/>
          </p:txBody>
        </p:sp>
        <p:sp>
          <p:nvSpPr>
            <p:cNvPr id="10" name="object 10"/>
            <p:cNvSpPr/>
            <p:nvPr/>
          </p:nvSpPr>
          <p:spPr>
            <a:xfrm>
              <a:off x="4114800" y="1857755"/>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9230C"/>
            </a:solidFill>
          </p:spPr>
          <p:txBody>
            <a:bodyPr wrap="square" lIns="0" tIns="0" rIns="0" bIns="0" rtlCol="0"/>
            <a:lstStyle/>
            <a:p/>
          </p:txBody>
        </p:sp>
        <p:sp>
          <p:nvSpPr>
            <p:cNvPr id="11" name="object 11"/>
            <p:cNvSpPr/>
            <p:nvPr/>
          </p:nvSpPr>
          <p:spPr>
            <a:xfrm>
              <a:off x="4114800" y="1857755"/>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69230C"/>
              </a:solidFill>
            </a:ln>
          </p:spPr>
          <p:txBody>
            <a:bodyPr wrap="square" lIns="0" tIns="0" rIns="0" bIns="0" rtlCol="0"/>
            <a:lstStyle/>
            <a:p/>
          </p:txBody>
        </p:sp>
      </p:grpSp>
      <p:sp>
        <p:nvSpPr>
          <p:cNvPr id="12" name="object 12"/>
          <p:cNvSpPr txBox="1"/>
          <p:nvPr/>
        </p:nvSpPr>
        <p:spPr>
          <a:xfrm>
            <a:off x="5847715" y="1994408"/>
            <a:ext cx="2629535" cy="381635"/>
          </a:xfrm>
          <a:prstGeom prst="rect">
            <a:avLst/>
          </a:prstGeom>
        </p:spPr>
        <p:txBody>
          <a:bodyPr vert="horz" wrap="square" lIns="0" tIns="12700" rIns="0" bIns="0" rtlCol="0">
            <a:spAutoFit/>
          </a:bodyPr>
          <a:lstStyle/>
          <a:p>
            <a:pPr marL="12700">
              <a:lnSpc>
                <a:spcPct val="100000"/>
              </a:lnSpc>
              <a:spcBef>
                <a:spcPts val="100"/>
              </a:spcBef>
              <a:tabLst>
                <a:tab pos="2374900" algn="l"/>
              </a:tabLst>
            </a:pPr>
            <a:r>
              <a:rPr sz="2400" spc="-25" dirty="0">
                <a:solidFill>
                  <a:srgbClr val="FFFFFF"/>
                </a:solidFill>
                <a:latin typeface="Times New Roman" panose="02020603050405020304"/>
                <a:cs typeface="Times New Roman" panose="02020603050405020304"/>
              </a:rPr>
              <a:t>x</a:t>
            </a:r>
            <a:r>
              <a:rPr sz="1400" spc="-25" dirty="0">
                <a:solidFill>
                  <a:srgbClr val="FFFFFF"/>
                </a:solidFill>
                <a:latin typeface="Times New Roman" panose="02020603050405020304"/>
                <a:cs typeface="Times New Roman" panose="02020603050405020304"/>
              </a:rPr>
              <a:t>2</a:t>
            </a:r>
            <a:r>
              <a:rPr sz="1400" dirty="0">
                <a:solidFill>
                  <a:srgbClr val="FFFFFF"/>
                </a:solidFill>
                <a:latin typeface="Times New Roman" panose="02020603050405020304"/>
                <a:cs typeface="Times New Roman" panose="02020603050405020304"/>
              </a:rPr>
              <a:t>	</a:t>
            </a:r>
            <a:r>
              <a:rPr sz="2400" spc="-25" dirty="0">
                <a:solidFill>
                  <a:srgbClr val="FFFFFF"/>
                </a:solidFill>
                <a:latin typeface="Times New Roman" panose="02020603050405020304"/>
                <a:cs typeface="Times New Roman" panose="02020603050405020304"/>
              </a:rPr>
              <a:t>x</a:t>
            </a:r>
            <a:r>
              <a:rPr sz="1400" spc="-25" dirty="0">
                <a:solidFill>
                  <a:srgbClr val="FFFFFF"/>
                </a:solidFill>
                <a:latin typeface="Times New Roman" panose="02020603050405020304"/>
                <a:cs typeface="Times New Roman" panose="02020603050405020304"/>
              </a:rPr>
              <a:t>1</a:t>
            </a:r>
            <a:endParaRPr sz="1400">
              <a:latin typeface="Times New Roman" panose="02020603050405020304"/>
              <a:cs typeface="Times New Roman" panose="02020603050405020304"/>
            </a:endParaRPr>
          </a:p>
        </p:txBody>
      </p:sp>
      <p:grpSp>
        <p:nvGrpSpPr>
          <p:cNvPr id="13" name="object 13"/>
          <p:cNvGrpSpPr/>
          <p:nvPr/>
        </p:nvGrpSpPr>
        <p:grpSpPr>
          <a:xfrm>
            <a:off x="3270250" y="1851405"/>
            <a:ext cx="3060700" cy="2727325"/>
            <a:chOff x="1746250" y="1851405"/>
            <a:chExt cx="3060700" cy="2727325"/>
          </a:xfrm>
        </p:grpSpPr>
        <p:sp>
          <p:nvSpPr>
            <p:cNvPr id="14" name="object 14"/>
            <p:cNvSpPr/>
            <p:nvPr/>
          </p:nvSpPr>
          <p:spPr>
            <a:xfrm>
              <a:off x="1752600" y="1857755"/>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9230C"/>
            </a:solidFill>
          </p:spPr>
          <p:txBody>
            <a:bodyPr wrap="square" lIns="0" tIns="0" rIns="0" bIns="0" rtlCol="0"/>
            <a:lstStyle/>
            <a:p/>
          </p:txBody>
        </p:sp>
        <p:sp>
          <p:nvSpPr>
            <p:cNvPr id="15" name="object 15"/>
            <p:cNvSpPr/>
            <p:nvPr/>
          </p:nvSpPr>
          <p:spPr>
            <a:xfrm>
              <a:off x="1752600" y="1857755"/>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69230C"/>
              </a:solidFill>
            </a:ln>
          </p:spPr>
          <p:txBody>
            <a:bodyPr wrap="square" lIns="0" tIns="0" rIns="0" bIns="0" rtlCol="0"/>
            <a:lstStyle/>
            <a:p/>
          </p:txBody>
        </p:sp>
        <p:sp>
          <p:nvSpPr>
            <p:cNvPr id="16" name="object 16"/>
            <p:cNvSpPr/>
            <p:nvPr/>
          </p:nvSpPr>
          <p:spPr>
            <a:xfrm>
              <a:off x="4114800" y="38862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742117"/>
            </a:solidFill>
          </p:spPr>
          <p:txBody>
            <a:bodyPr wrap="square" lIns="0" tIns="0" rIns="0" bIns="0" rtlCol="0"/>
            <a:lstStyle/>
            <a:p/>
          </p:txBody>
        </p:sp>
        <p:sp>
          <p:nvSpPr>
            <p:cNvPr id="17" name="object 17"/>
            <p:cNvSpPr/>
            <p:nvPr/>
          </p:nvSpPr>
          <p:spPr>
            <a:xfrm>
              <a:off x="4114800" y="38862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4E160F"/>
              </a:solidFill>
            </a:ln>
          </p:spPr>
          <p:txBody>
            <a:bodyPr wrap="square" lIns="0" tIns="0" rIns="0" bIns="0" rtlCol="0"/>
            <a:lstStyle/>
            <a:p/>
          </p:txBody>
        </p:sp>
      </p:grpSp>
      <p:sp>
        <p:nvSpPr>
          <p:cNvPr id="18" name="object 18"/>
          <p:cNvSpPr txBox="1"/>
          <p:nvPr/>
        </p:nvSpPr>
        <p:spPr>
          <a:xfrm>
            <a:off x="5824854" y="3959733"/>
            <a:ext cx="315595" cy="504825"/>
          </a:xfrm>
          <a:prstGeom prst="rect">
            <a:avLst/>
          </a:prstGeom>
        </p:spPr>
        <p:txBody>
          <a:bodyPr vert="horz" wrap="square" lIns="0" tIns="12700" rIns="0" bIns="0" rtlCol="0">
            <a:spAutoFit/>
          </a:bodyPr>
          <a:lstStyle/>
          <a:p>
            <a:pPr marL="12700">
              <a:lnSpc>
                <a:spcPct val="100000"/>
              </a:lnSpc>
              <a:spcBef>
                <a:spcPts val="100"/>
              </a:spcBef>
            </a:pPr>
            <a:r>
              <a:rPr sz="3200" spc="-50" dirty="0">
                <a:solidFill>
                  <a:srgbClr val="FFFFFF"/>
                </a:solidFill>
                <a:latin typeface="Times New Roman" panose="02020603050405020304"/>
                <a:cs typeface="Times New Roman" panose="02020603050405020304"/>
              </a:rPr>
              <a:t>∑</a:t>
            </a:r>
            <a:endParaRPr sz="3200">
              <a:latin typeface="Times New Roman" panose="02020603050405020304"/>
              <a:cs typeface="Times New Roman" panose="02020603050405020304"/>
            </a:endParaRPr>
          </a:p>
        </p:txBody>
      </p:sp>
      <p:grpSp>
        <p:nvGrpSpPr>
          <p:cNvPr id="19" name="object 19"/>
          <p:cNvGrpSpPr/>
          <p:nvPr/>
        </p:nvGrpSpPr>
        <p:grpSpPr>
          <a:xfrm>
            <a:off x="5632450" y="5708650"/>
            <a:ext cx="698500" cy="698500"/>
            <a:chOff x="4108450" y="5708650"/>
            <a:chExt cx="698500" cy="698500"/>
          </a:xfrm>
        </p:grpSpPr>
        <p:sp>
          <p:nvSpPr>
            <p:cNvPr id="20" name="object 20"/>
            <p:cNvSpPr/>
            <p:nvPr/>
          </p:nvSpPr>
          <p:spPr>
            <a:xfrm>
              <a:off x="4114800" y="5715000"/>
              <a:ext cx="685800" cy="685800"/>
            </a:xfrm>
            <a:custGeom>
              <a:avLst/>
              <a:gdLst/>
              <a:ahLst/>
              <a:cxnLst/>
              <a:rect l="l" t="t" r="r" b="b"/>
              <a:pathLst>
                <a:path w="685800" h="685800">
                  <a:moveTo>
                    <a:pt x="342900" y="0"/>
                  </a:moveTo>
                  <a:lnTo>
                    <a:pt x="296375" y="3130"/>
                  </a:lnTo>
                  <a:lnTo>
                    <a:pt x="251751" y="12248"/>
                  </a:lnTo>
                  <a:lnTo>
                    <a:pt x="209436" y="26946"/>
                  </a:lnTo>
                  <a:lnTo>
                    <a:pt x="169841" y="46815"/>
                  </a:lnTo>
                  <a:lnTo>
                    <a:pt x="133373" y="71446"/>
                  </a:lnTo>
                  <a:lnTo>
                    <a:pt x="100441" y="100431"/>
                  </a:lnTo>
                  <a:lnTo>
                    <a:pt x="71454" y="133362"/>
                  </a:lnTo>
                  <a:lnTo>
                    <a:pt x="46820" y="169830"/>
                  </a:lnTo>
                  <a:lnTo>
                    <a:pt x="26949" y="209426"/>
                  </a:lnTo>
                  <a:lnTo>
                    <a:pt x="12250" y="251742"/>
                  </a:lnTo>
                  <a:lnTo>
                    <a:pt x="3130" y="296369"/>
                  </a:lnTo>
                  <a:lnTo>
                    <a:pt x="0" y="342900"/>
                  </a:lnTo>
                  <a:lnTo>
                    <a:pt x="3130" y="389430"/>
                  </a:lnTo>
                  <a:lnTo>
                    <a:pt x="12250" y="434057"/>
                  </a:lnTo>
                  <a:lnTo>
                    <a:pt x="26949" y="476373"/>
                  </a:lnTo>
                  <a:lnTo>
                    <a:pt x="46820" y="515969"/>
                  </a:lnTo>
                  <a:lnTo>
                    <a:pt x="71454" y="552437"/>
                  </a:lnTo>
                  <a:lnTo>
                    <a:pt x="100441" y="585368"/>
                  </a:lnTo>
                  <a:lnTo>
                    <a:pt x="133373" y="614353"/>
                  </a:lnTo>
                  <a:lnTo>
                    <a:pt x="169841" y="638984"/>
                  </a:lnTo>
                  <a:lnTo>
                    <a:pt x="209436" y="658853"/>
                  </a:lnTo>
                  <a:lnTo>
                    <a:pt x="251751" y="673551"/>
                  </a:lnTo>
                  <a:lnTo>
                    <a:pt x="296375" y="682669"/>
                  </a:lnTo>
                  <a:lnTo>
                    <a:pt x="342900" y="685800"/>
                  </a:lnTo>
                  <a:lnTo>
                    <a:pt x="389424" y="682669"/>
                  </a:lnTo>
                  <a:lnTo>
                    <a:pt x="434048" y="673551"/>
                  </a:lnTo>
                  <a:lnTo>
                    <a:pt x="476363" y="658853"/>
                  </a:lnTo>
                  <a:lnTo>
                    <a:pt x="515958" y="638984"/>
                  </a:lnTo>
                  <a:lnTo>
                    <a:pt x="552426" y="614353"/>
                  </a:lnTo>
                  <a:lnTo>
                    <a:pt x="585358" y="585368"/>
                  </a:lnTo>
                  <a:lnTo>
                    <a:pt x="614345" y="552437"/>
                  </a:lnTo>
                  <a:lnTo>
                    <a:pt x="638979" y="515969"/>
                  </a:lnTo>
                  <a:lnTo>
                    <a:pt x="658850" y="476373"/>
                  </a:lnTo>
                  <a:lnTo>
                    <a:pt x="673549" y="434057"/>
                  </a:lnTo>
                  <a:lnTo>
                    <a:pt x="682669" y="389430"/>
                  </a:lnTo>
                  <a:lnTo>
                    <a:pt x="685800" y="342900"/>
                  </a:lnTo>
                  <a:lnTo>
                    <a:pt x="682669" y="296369"/>
                  </a:lnTo>
                  <a:lnTo>
                    <a:pt x="673549" y="251742"/>
                  </a:lnTo>
                  <a:lnTo>
                    <a:pt x="658850" y="209426"/>
                  </a:lnTo>
                  <a:lnTo>
                    <a:pt x="638979" y="169830"/>
                  </a:lnTo>
                  <a:lnTo>
                    <a:pt x="614345" y="133362"/>
                  </a:lnTo>
                  <a:lnTo>
                    <a:pt x="585358" y="100431"/>
                  </a:lnTo>
                  <a:lnTo>
                    <a:pt x="552426" y="71446"/>
                  </a:lnTo>
                  <a:lnTo>
                    <a:pt x="515958" y="46815"/>
                  </a:lnTo>
                  <a:lnTo>
                    <a:pt x="476363" y="26946"/>
                  </a:lnTo>
                  <a:lnTo>
                    <a:pt x="434048" y="12248"/>
                  </a:lnTo>
                  <a:lnTo>
                    <a:pt x="389424" y="3130"/>
                  </a:lnTo>
                  <a:lnTo>
                    <a:pt x="342900" y="0"/>
                  </a:lnTo>
                  <a:close/>
                </a:path>
              </a:pathLst>
            </a:custGeom>
            <a:solidFill>
              <a:srgbClr val="7B6B4D"/>
            </a:solidFill>
          </p:spPr>
          <p:txBody>
            <a:bodyPr wrap="square" lIns="0" tIns="0" rIns="0" bIns="0" rtlCol="0"/>
            <a:lstStyle/>
            <a:p/>
          </p:txBody>
        </p:sp>
        <p:sp>
          <p:nvSpPr>
            <p:cNvPr id="21" name="object 21"/>
            <p:cNvSpPr/>
            <p:nvPr/>
          </p:nvSpPr>
          <p:spPr>
            <a:xfrm>
              <a:off x="4114800" y="5715000"/>
              <a:ext cx="685800" cy="685800"/>
            </a:xfrm>
            <a:custGeom>
              <a:avLst/>
              <a:gdLst/>
              <a:ahLst/>
              <a:cxnLst/>
              <a:rect l="l" t="t" r="r" b="b"/>
              <a:pathLst>
                <a:path w="685800" h="685800">
                  <a:moveTo>
                    <a:pt x="0" y="342900"/>
                  </a:moveTo>
                  <a:lnTo>
                    <a:pt x="3130" y="296369"/>
                  </a:lnTo>
                  <a:lnTo>
                    <a:pt x="12250" y="251742"/>
                  </a:lnTo>
                  <a:lnTo>
                    <a:pt x="26949" y="209426"/>
                  </a:lnTo>
                  <a:lnTo>
                    <a:pt x="46820" y="169830"/>
                  </a:lnTo>
                  <a:lnTo>
                    <a:pt x="71454" y="133362"/>
                  </a:lnTo>
                  <a:lnTo>
                    <a:pt x="100441" y="100431"/>
                  </a:lnTo>
                  <a:lnTo>
                    <a:pt x="133373" y="71446"/>
                  </a:lnTo>
                  <a:lnTo>
                    <a:pt x="169841" y="46815"/>
                  </a:lnTo>
                  <a:lnTo>
                    <a:pt x="209436" y="26946"/>
                  </a:lnTo>
                  <a:lnTo>
                    <a:pt x="251751" y="12248"/>
                  </a:lnTo>
                  <a:lnTo>
                    <a:pt x="296375" y="3130"/>
                  </a:lnTo>
                  <a:lnTo>
                    <a:pt x="342900" y="0"/>
                  </a:lnTo>
                  <a:lnTo>
                    <a:pt x="389424" y="3130"/>
                  </a:lnTo>
                  <a:lnTo>
                    <a:pt x="434048" y="12248"/>
                  </a:lnTo>
                  <a:lnTo>
                    <a:pt x="476363" y="26946"/>
                  </a:lnTo>
                  <a:lnTo>
                    <a:pt x="515958" y="46815"/>
                  </a:lnTo>
                  <a:lnTo>
                    <a:pt x="552426" y="71446"/>
                  </a:lnTo>
                  <a:lnTo>
                    <a:pt x="585358" y="100431"/>
                  </a:lnTo>
                  <a:lnTo>
                    <a:pt x="614345" y="133362"/>
                  </a:lnTo>
                  <a:lnTo>
                    <a:pt x="638979" y="169830"/>
                  </a:lnTo>
                  <a:lnTo>
                    <a:pt x="658850" y="209426"/>
                  </a:lnTo>
                  <a:lnTo>
                    <a:pt x="673549" y="251742"/>
                  </a:lnTo>
                  <a:lnTo>
                    <a:pt x="682669" y="296369"/>
                  </a:lnTo>
                  <a:lnTo>
                    <a:pt x="685800" y="342900"/>
                  </a:lnTo>
                  <a:lnTo>
                    <a:pt x="682669" y="389430"/>
                  </a:lnTo>
                  <a:lnTo>
                    <a:pt x="673549" y="434057"/>
                  </a:lnTo>
                  <a:lnTo>
                    <a:pt x="658850" y="476373"/>
                  </a:lnTo>
                  <a:lnTo>
                    <a:pt x="638979" y="515969"/>
                  </a:lnTo>
                  <a:lnTo>
                    <a:pt x="614345" y="552437"/>
                  </a:lnTo>
                  <a:lnTo>
                    <a:pt x="585358" y="585368"/>
                  </a:lnTo>
                  <a:lnTo>
                    <a:pt x="552426" y="614353"/>
                  </a:lnTo>
                  <a:lnTo>
                    <a:pt x="515958" y="638984"/>
                  </a:lnTo>
                  <a:lnTo>
                    <a:pt x="476363" y="658853"/>
                  </a:lnTo>
                  <a:lnTo>
                    <a:pt x="434048" y="673551"/>
                  </a:lnTo>
                  <a:lnTo>
                    <a:pt x="389424" y="682669"/>
                  </a:lnTo>
                  <a:lnTo>
                    <a:pt x="342900" y="685800"/>
                  </a:lnTo>
                  <a:lnTo>
                    <a:pt x="296375" y="682669"/>
                  </a:lnTo>
                  <a:lnTo>
                    <a:pt x="251751" y="673551"/>
                  </a:lnTo>
                  <a:lnTo>
                    <a:pt x="209436" y="658853"/>
                  </a:lnTo>
                  <a:lnTo>
                    <a:pt x="169841" y="638984"/>
                  </a:lnTo>
                  <a:lnTo>
                    <a:pt x="133373" y="614353"/>
                  </a:lnTo>
                  <a:lnTo>
                    <a:pt x="100441" y="585368"/>
                  </a:lnTo>
                  <a:lnTo>
                    <a:pt x="71454" y="552437"/>
                  </a:lnTo>
                  <a:lnTo>
                    <a:pt x="46820" y="515969"/>
                  </a:lnTo>
                  <a:lnTo>
                    <a:pt x="26949" y="476373"/>
                  </a:lnTo>
                  <a:lnTo>
                    <a:pt x="12250" y="434057"/>
                  </a:lnTo>
                  <a:lnTo>
                    <a:pt x="3130" y="389430"/>
                  </a:lnTo>
                  <a:lnTo>
                    <a:pt x="0" y="342900"/>
                  </a:lnTo>
                  <a:close/>
                </a:path>
              </a:pathLst>
            </a:custGeom>
            <a:ln w="12192">
              <a:solidFill>
                <a:srgbClr val="524633"/>
              </a:solidFill>
            </a:ln>
          </p:spPr>
          <p:txBody>
            <a:bodyPr wrap="square" lIns="0" tIns="0" rIns="0" bIns="0" rtlCol="0"/>
            <a:lstStyle/>
            <a:p/>
          </p:txBody>
        </p:sp>
      </p:grpSp>
      <p:sp>
        <p:nvSpPr>
          <p:cNvPr id="22" name="object 22"/>
          <p:cNvSpPr txBox="1"/>
          <p:nvPr/>
        </p:nvSpPr>
        <p:spPr>
          <a:xfrm>
            <a:off x="5855334" y="5756859"/>
            <a:ext cx="254000" cy="566420"/>
          </a:xfrm>
          <a:prstGeom prst="rect">
            <a:avLst/>
          </a:prstGeom>
        </p:spPr>
        <p:txBody>
          <a:bodyPr vert="horz" wrap="square" lIns="0" tIns="12700" rIns="0" bIns="0" rtlCol="0">
            <a:spAutoFit/>
          </a:bodyPr>
          <a:lstStyle/>
          <a:p>
            <a:pPr marL="12700">
              <a:lnSpc>
                <a:spcPct val="100000"/>
              </a:lnSpc>
              <a:spcBef>
                <a:spcPts val="100"/>
              </a:spcBef>
            </a:pPr>
            <a:r>
              <a:rPr sz="3600" spc="-50" dirty="0">
                <a:solidFill>
                  <a:srgbClr val="FFFFFF"/>
                </a:solidFill>
                <a:latin typeface="Times New Roman" panose="02020603050405020304"/>
                <a:cs typeface="Times New Roman" panose="02020603050405020304"/>
              </a:rPr>
              <a:t>y</a:t>
            </a:r>
            <a:endParaRPr sz="3600">
              <a:latin typeface="Times New Roman" panose="02020603050405020304"/>
              <a:cs typeface="Times New Roman" panose="02020603050405020304"/>
            </a:endParaRPr>
          </a:p>
        </p:txBody>
      </p:sp>
      <p:sp>
        <p:nvSpPr>
          <p:cNvPr id="23" name="object 23"/>
          <p:cNvSpPr txBox="1"/>
          <p:nvPr/>
        </p:nvSpPr>
        <p:spPr>
          <a:xfrm>
            <a:off x="1995017" y="2230323"/>
            <a:ext cx="885825" cy="505460"/>
          </a:xfrm>
          <a:prstGeom prst="rect">
            <a:avLst/>
          </a:prstGeom>
        </p:spPr>
        <p:txBody>
          <a:bodyPr vert="horz" wrap="square" lIns="0" tIns="13335" rIns="0" bIns="0" rtlCol="0">
            <a:spAutoFit/>
          </a:bodyPr>
          <a:lstStyle/>
          <a:p>
            <a:pPr marL="12700">
              <a:lnSpc>
                <a:spcPct val="100000"/>
              </a:lnSpc>
              <a:spcBef>
                <a:spcPts val="105"/>
              </a:spcBef>
            </a:pPr>
            <a:r>
              <a:rPr sz="3200" spc="-10" dirty="0">
                <a:latin typeface="Times New Roman" panose="02020603050405020304"/>
                <a:cs typeface="Times New Roman" panose="02020603050405020304"/>
              </a:rPr>
              <a:t>Input</a:t>
            </a:r>
            <a:endParaRPr sz="3200">
              <a:latin typeface="Times New Roman" panose="02020603050405020304"/>
              <a:cs typeface="Times New Roman" panose="02020603050405020304"/>
            </a:endParaRPr>
          </a:p>
        </p:txBody>
      </p:sp>
      <p:grpSp>
        <p:nvGrpSpPr>
          <p:cNvPr id="24" name="object 24"/>
          <p:cNvGrpSpPr/>
          <p:nvPr/>
        </p:nvGrpSpPr>
        <p:grpSpPr>
          <a:xfrm>
            <a:off x="5944870" y="2965450"/>
            <a:ext cx="1757680" cy="1939925"/>
            <a:chOff x="4420870" y="2965450"/>
            <a:chExt cx="1757680" cy="1939925"/>
          </a:xfrm>
        </p:grpSpPr>
        <p:sp>
          <p:nvSpPr>
            <p:cNvPr id="25" name="object 25"/>
            <p:cNvSpPr/>
            <p:nvPr/>
          </p:nvSpPr>
          <p:spPr>
            <a:xfrm>
              <a:off x="4420870" y="4572000"/>
              <a:ext cx="76200" cy="333375"/>
            </a:xfrm>
            <a:custGeom>
              <a:avLst/>
              <a:gdLst/>
              <a:ahLst/>
              <a:cxnLst/>
              <a:rect l="l" t="t" r="r" b="b"/>
              <a:pathLst>
                <a:path w="76200" h="333375">
                  <a:moveTo>
                    <a:pt x="31690" y="257301"/>
                  </a:moveTo>
                  <a:lnTo>
                    <a:pt x="0" y="257301"/>
                  </a:lnTo>
                  <a:lnTo>
                    <a:pt x="38353" y="333375"/>
                  </a:lnTo>
                  <a:lnTo>
                    <a:pt x="69839" y="269875"/>
                  </a:lnTo>
                  <a:lnTo>
                    <a:pt x="31750" y="269875"/>
                  </a:lnTo>
                  <a:lnTo>
                    <a:pt x="31690" y="257301"/>
                  </a:lnTo>
                  <a:close/>
                </a:path>
                <a:path w="76200" h="333375">
                  <a:moveTo>
                    <a:pt x="43179" y="0"/>
                  </a:moveTo>
                  <a:lnTo>
                    <a:pt x="30479" y="0"/>
                  </a:lnTo>
                  <a:lnTo>
                    <a:pt x="31690" y="257301"/>
                  </a:lnTo>
                  <a:lnTo>
                    <a:pt x="31750" y="269875"/>
                  </a:lnTo>
                  <a:lnTo>
                    <a:pt x="44450" y="269875"/>
                  </a:lnTo>
                  <a:lnTo>
                    <a:pt x="43179" y="0"/>
                  </a:lnTo>
                  <a:close/>
                </a:path>
                <a:path w="76200" h="333375">
                  <a:moveTo>
                    <a:pt x="76074" y="257301"/>
                  </a:moveTo>
                  <a:lnTo>
                    <a:pt x="44390" y="257301"/>
                  </a:lnTo>
                  <a:lnTo>
                    <a:pt x="44450" y="269875"/>
                  </a:lnTo>
                  <a:lnTo>
                    <a:pt x="69839" y="269875"/>
                  </a:lnTo>
                  <a:lnTo>
                    <a:pt x="76074" y="257301"/>
                  </a:lnTo>
                  <a:close/>
                </a:path>
              </a:pathLst>
            </a:custGeom>
            <a:solidFill>
              <a:srgbClr val="AE3408"/>
            </a:solidFill>
          </p:spPr>
          <p:txBody>
            <a:bodyPr wrap="square" lIns="0" tIns="0" rIns="0" bIns="0" rtlCol="0"/>
            <a:lstStyle/>
            <a:p/>
          </p:txBody>
        </p:sp>
        <p:sp>
          <p:nvSpPr>
            <p:cNvPr id="26" name="object 26"/>
            <p:cNvSpPr/>
            <p:nvPr/>
          </p:nvSpPr>
          <p:spPr>
            <a:xfrm>
              <a:off x="5486400" y="29718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D6162"/>
            </a:solidFill>
          </p:spPr>
          <p:txBody>
            <a:bodyPr wrap="square" lIns="0" tIns="0" rIns="0" bIns="0" rtlCol="0"/>
            <a:lstStyle/>
            <a:p/>
          </p:txBody>
        </p:sp>
        <p:sp>
          <p:nvSpPr>
            <p:cNvPr id="27" name="object 27"/>
            <p:cNvSpPr/>
            <p:nvPr/>
          </p:nvSpPr>
          <p:spPr>
            <a:xfrm>
              <a:off x="5486400" y="29718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9B310D"/>
              </a:solidFill>
            </a:ln>
          </p:spPr>
          <p:txBody>
            <a:bodyPr wrap="square" lIns="0" tIns="0" rIns="0" bIns="0" rtlCol="0"/>
            <a:lstStyle/>
            <a:p/>
          </p:txBody>
        </p:sp>
      </p:grpSp>
      <p:sp>
        <p:nvSpPr>
          <p:cNvPr id="28" name="object 28"/>
          <p:cNvSpPr txBox="1"/>
          <p:nvPr/>
        </p:nvSpPr>
        <p:spPr>
          <a:xfrm>
            <a:off x="7172833" y="3141091"/>
            <a:ext cx="361950" cy="320675"/>
          </a:xfrm>
          <a:prstGeom prst="rect">
            <a:avLst/>
          </a:prstGeom>
        </p:spPr>
        <p:txBody>
          <a:bodyPr vert="horz" wrap="square" lIns="0" tIns="13335" rIns="0" bIns="0" rtlCol="0">
            <a:spAutoFit/>
          </a:bodyPr>
          <a:lstStyle/>
          <a:p>
            <a:pPr marL="38100">
              <a:lnSpc>
                <a:spcPct val="100000"/>
              </a:lnSpc>
              <a:spcBef>
                <a:spcPts val="105"/>
              </a:spcBef>
            </a:pPr>
            <a:r>
              <a:rPr sz="2000" spc="-25" dirty="0">
                <a:solidFill>
                  <a:srgbClr val="FFFFFF"/>
                </a:solidFill>
                <a:latin typeface="Times New Roman" panose="02020603050405020304"/>
                <a:cs typeface="Times New Roman" panose="02020603050405020304"/>
              </a:rPr>
              <a:t>w</a:t>
            </a:r>
            <a:r>
              <a:rPr sz="2400" spc="-37" baseline="-21000" dirty="0">
                <a:solidFill>
                  <a:srgbClr val="FFFFFF"/>
                </a:solidFill>
                <a:latin typeface="Times New Roman" panose="02020603050405020304"/>
                <a:cs typeface="Times New Roman" panose="02020603050405020304"/>
              </a:rPr>
              <a:t>1</a:t>
            </a:r>
            <a:endParaRPr sz="2400" baseline="-21000">
              <a:latin typeface="Times New Roman" panose="02020603050405020304"/>
              <a:cs typeface="Times New Roman" panose="02020603050405020304"/>
            </a:endParaRPr>
          </a:p>
        </p:txBody>
      </p:sp>
      <p:grpSp>
        <p:nvGrpSpPr>
          <p:cNvPr id="29" name="object 29"/>
          <p:cNvGrpSpPr/>
          <p:nvPr/>
        </p:nvGrpSpPr>
        <p:grpSpPr>
          <a:xfrm>
            <a:off x="5632450" y="2965450"/>
            <a:ext cx="698500" cy="698500"/>
            <a:chOff x="4108450" y="2965450"/>
            <a:chExt cx="698500" cy="698500"/>
          </a:xfrm>
        </p:grpSpPr>
        <p:sp>
          <p:nvSpPr>
            <p:cNvPr id="30" name="object 30"/>
            <p:cNvSpPr/>
            <p:nvPr/>
          </p:nvSpPr>
          <p:spPr>
            <a:xfrm>
              <a:off x="4114800" y="2971800"/>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D6162"/>
            </a:solidFill>
          </p:spPr>
          <p:txBody>
            <a:bodyPr wrap="square" lIns="0" tIns="0" rIns="0" bIns="0" rtlCol="0"/>
            <a:lstStyle/>
            <a:p/>
          </p:txBody>
        </p:sp>
        <p:sp>
          <p:nvSpPr>
            <p:cNvPr id="31" name="object 31"/>
            <p:cNvSpPr/>
            <p:nvPr/>
          </p:nvSpPr>
          <p:spPr>
            <a:xfrm>
              <a:off x="4114800" y="297180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2">
              <a:solidFill>
                <a:srgbClr val="69230C"/>
              </a:solidFill>
            </a:ln>
          </p:spPr>
          <p:txBody>
            <a:bodyPr wrap="square" lIns="0" tIns="0" rIns="0" bIns="0" rtlCol="0"/>
            <a:lstStyle/>
            <a:p/>
          </p:txBody>
        </p:sp>
      </p:grpSp>
      <p:sp>
        <p:nvSpPr>
          <p:cNvPr id="32" name="object 32"/>
          <p:cNvSpPr txBox="1"/>
          <p:nvPr/>
        </p:nvSpPr>
        <p:spPr>
          <a:xfrm>
            <a:off x="5800978" y="3019170"/>
            <a:ext cx="361950" cy="320675"/>
          </a:xfrm>
          <a:prstGeom prst="rect">
            <a:avLst/>
          </a:prstGeom>
        </p:spPr>
        <p:txBody>
          <a:bodyPr vert="horz" wrap="square" lIns="0" tIns="13335" rIns="0" bIns="0" rtlCol="0">
            <a:spAutoFit/>
          </a:bodyPr>
          <a:lstStyle/>
          <a:p>
            <a:pPr marL="38100">
              <a:lnSpc>
                <a:spcPct val="100000"/>
              </a:lnSpc>
              <a:spcBef>
                <a:spcPts val="105"/>
              </a:spcBef>
            </a:pPr>
            <a:r>
              <a:rPr sz="2000" spc="-25" dirty="0">
                <a:solidFill>
                  <a:srgbClr val="FFFFFF"/>
                </a:solidFill>
                <a:latin typeface="Times New Roman" panose="02020603050405020304"/>
                <a:cs typeface="Times New Roman" panose="02020603050405020304"/>
              </a:rPr>
              <a:t>w</a:t>
            </a:r>
            <a:r>
              <a:rPr sz="2400" spc="-37" baseline="-21000" dirty="0">
                <a:solidFill>
                  <a:srgbClr val="FFFFFF"/>
                </a:solidFill>
                <a:latin typeface="Times New Roman" panose="02020603050405020304"/>
                <a:cs typeface="Times New Roman" panose="02020603050405020304"/>
              </a:rPr>
              <a:t>2</a:t>
            </a:r>
            <a:endParaRPr sz="2400" baseline="-21000">
              <a:latin typeface="Times New Roman" panose="02020603050405020304"/>
              <a:cs typeface="Times New Roman" panose="02020603050405020304"/>
            </a:endParaRPr>
          </a:p>
        </p:txBody>
      </p:sp>
      <p:grpSp>
        <p:nvGrpSpPr>
          <p:cNvPr id="33" name="object 33"/>
          <p:cNvGrpSpPr/>
          <p:nvPr/>
        </p:nvGrpSpPr>
        <p:grpSpPr>
          <a:xfrm>
            <a:off x="4260850" y="2918205"/>
            <a:ext cx="698500" cy="698500"/>
            <a:chOff x="2736850" y="2918205"/>
            <a:chExt cx="698500" cy="698500"/>
          </a:xfrm>
        </p:grpSpPr>
        <p:sp>
          <p:nvSpPr>
            <p:cNvPr id="34" name="object 34"/>
            <p:cNvSpPr/>
            <p:nvPr/>
          </p:nvSpPr>
          <p:spPr>
            <a:xfrm>
              <a:off x="2743200" y="2924555"/>
              <a:ext cx="685800" cy="685800"/>
            </a:xfrm>
            <a:custGeom>
              <a:avLst/>
              <a:gdLst/>
              <a:ahLst/>
              <a:cxnLst/>
              <a:rect l="l" t="t" r="r" b="b"/>
              <a:pathLst>
                <a:path w="685800" h="685800">
                  <a:moveTo>
                    <a:pt x="342900" y="0"/>
                  </a:moveTo>
                  <a:lnTo>
                    <a:pt x="296375" y="3130"/>
                  </a:lnTo>
                  <a:lnTo>
                    <a:pt x="251751" y="12250"/>
                  </a:lnTo>
                  <a:lnTo>
                    <a:pt x="209436" y="26949"/>
                  </a:lnTo>
                  <a:lnTo>
                    <a:pt x="169841" y="46820"/>
                  </a:lnTo>
                  <a:lnTo>
                    <a:pt x="133373" y="71454"/>
                  </a:lnTo>
                  <a:lnTo>
                    <a:pt x="100441" y="100441"/>
                  </a:lnTo>
                  <a:lnTo>
                    <a:pt x="71454" y="133373"/>
                  </a:lnTo>
                  <a:lnTo>
                    <a:pt x="46820" y="169841"/>
                  </a:lnTo>
                  <a:lnTo>
                    <a:pt x="26949" y="209436"/>
                  </a:lnTo>
                  <a:lnTo>
                    <a:pt x="12250" y="251751"/>
                  </a:lnTo>
                  <a:lnTo>
                    <a:pt x="3130" y="296375"/>
                  </a:lnTo>
                  <a:lnTo>
                    <a:pt x="0" y="342900"/>
                  </a:lnTo>
                  <a:lnTo>
                    <a:pt x="3130" y="389424"/>
                  </a:lnTo>
                  <a:lnTo>
                    <a:pt x="12250" y="434048"/>
                  </a:lnTo>
                  <a:lnTo>
                    <a:pt x="26949" y="476363"/>
                  </a:lnTo>
                  <a:lnTo>
                    <a:pt x="46820" y="515958"/>
                  </a:lnTo>
                  <a:lnTo>
                    <a:pt x="71454" y="552426"/>
                  </a:lnTo>
                  <a:lnTo>
                    <a:pt x="100441" y="585358"/>
                  </a:lnTo>
                  <a:lnTo>
                    <a:pt x="133373" y="614345"/>
                  </a:lnTo>
                  <a:lnTo>
                    <a:pt x="169841" y="638979"/>
                  </a:lnTo>
                  <a:lnTo>
                    <a:pt x="209436" y="658850"/>
                  </a:lnTo>
                  <a:lnTo>
                    <a:pt x="251751" y="673549"/>
                  </a:lnTo>
                  <a:lnTo>
                    <a:pt x="296375" y="682669"/>
                  </a:lnTo>
                  <a:lnTo>
                    <a:pt x="342900" y="685800"/>
                  </a:lnTo>
                  <a:lnTo>
                    <a:pt x="389424" y="682669"/>
                  </a:lnTo>
                  <a:lnTo>
                    <a:pt x="434048" y="673549"/>
                  </a:lnTo>
                  <a:lnTo>
                    <a:pt x="476363" y="658850"/>
                  </a:lnTo>
                  <a:lnTo>
                    <a:pt x="515958" y="638979"/>
                  </a:lnTo>
                  <a:lnTo>
                    <a:pt x="552426" y="614345"/>
                  </a:lnTo>
                  <a:lnTo>
                    <a:pt x="585358" y="585358"/>
                  </a:lnTo>
                  <a:lnTo>
                    <a:pt x="614345" y="552426"/>
                  </a:lnTo>
                  <a:lnTo>
                    <a:pt x="638979" y="515958"/>
                  </a:lnTo>
                  <a:lnTo>
                    <a:pt x="658850" y="476363"/>
                  </a:lnTo>
                  <a:lnTo>
                    <a:pt x="673549" y="434048"/>
                  </a:lnTo>
                  <a:lnTo>
                    <a:pt x="682669" y="389424"/>
                  </a:lnTo>
                  <a:lnTo>
                    <a:pt x="685800" y="342900"/>
                  </a:lnTo>
                  <a:lnTo>
                    <a:pt x="682669" y="296375"/>
                  </a:lnTo>
                  <a:lnTo>
                    <a:pt x="673549" y="251751"/>
                  </a:lnTo>
                  <a:lnTo>
                    <a:pt x="658850" y="209436"/>
                  </a:lnTo>
                  <a:lnTo>
                    <a:pt x="638979" y="169841"/>
                  </a:lnTo>
                  <a:lnTo>
                    <a:pt x="614345" y="133373"/>
                  </a:lnTo>
                  <a:lnTo>
                    <a:pt x="585358" y="100441"/>
                  </a:lnTo>
                  <a:lnTo>
                    <a:pt x="552426" y="71454"/>
                  </a:lnTo>
                  <a:lnTo>
                    <a:pt x="515958" y="46820"/>
                  </a:lnTo>
                  <a:lnTo>
                    <a:pt x="476363" y="26949"/>
                  </a:lnTo>
                  <a:lnTo>
                    <a:pt x="434048" y="12250"/>
                  </a:lnTo>
                  <a:lnTo>
                    <a:pt x="389424" y="3130"/>
                  </a:lnTo>
                  <a:lnTo>
                    <a:pt x="342900" y="0"/>
                  </a:lnTo>
                  <a:close/>
                </a:path>
              </a:pathLst>
            </a:custGeom>
            <a:solidFill>
              <a:srgbClr val="6D6162"/>
            </a:solidFill>
          </p:spPr>
          <p:txBody>
            <a:bodyPr wrap="square" lIns="0" tIns="0" rIns="0" bIns="0" rtlCol="0"/>
            <a:lstStyle/>
            <a:p/>
          </p:txBody>
        </p:sp>
        <p:sp>
          <p:nvSpPr>
            <p:cNvPr id="35" name="object 35"/>
            <p:cNvSpPr/>
            <p:nvPr/>
          </p:nvSpPr>
          <p:spPr>
            <a:xfrm>
              <a:off x="2743200" y="2924555"/>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12191">
              <a:solidFill>
                <a:srgbClr val="69230C"/>
              </a:solidFill>
            </a:ln>
          </p:spPr>
          <p:txBody>
            <a:bodyPr wrap="square" lIns="0" tIns="0" rIns="0" bIns="0" rtlCol="0"/>
            <a:lstStyle/>
            <a:p/>
          </p:txBody>
        </p:sp>
      </p:grpSp>
      <p:sp>
        <p:nvSpPr>
          <p:cNvPr id="36" name="object 36"/>
          <p:cNvSpPr txBox="1"/>
          <p:nvPr/>
        </p:nvSpPr>
        <p:spPr>
          <a:xfrm>
            <a:off x="4445254" y="3093466"/>
            <a:ext cx="209550" cy="320675"/>
          </a:xfrm>
          <a:prstGeom prst="rect">
            <a:avLst/>
          </a:prstGeom>
        </p:spPr>
        <p:txBody>
          <a:bodyPr vert="horz" wrap="square" lIns="0" tIns="13335" rIns="0" bIns="0" rtlCol="0">
            <a:spAutoFit/>
          </a:bodyPr>
          <a:lstStyle/>
          <a:p>
            <a:pPr marL="12700">
              <a:lnSpc>
                <a:spcPct val="100000"/>
              </a:lnSpc>
              <a:spcBef>
                <a:spcPts val="105"/>
              </a:spcBef>
            </a:pPr>
            <a:r>
              <a:rPr sz="2000" spc="-50" dirty="0">
                <a:solidFill>
                  <a:srgbClr val="FFFFFF"/>
                </a:solidFill>
                <a:latin typeface="Times New Roman" panose="02020603050405020304"/>
                <a:cs typeface="Times New Roman" panose="02020603050405020304"/>
              </a:rPr>
              <a:t>w</a:t>
            </a:r>
            <a:endParaRPr sz="2000">
              <a:latin typeface="Times New Roman" panose="02020603050405020304"/>
              <a:cs typeface="Times New Roman" panose="02020603050405020304"/>
            </a:endParaRPr>
          </a:p>
        </p:txBody>
      </p:sp>
      <p:sp>
        <p:nvSpPr>
          <p:cNvPr id="37" name="object 37"/>
          <p:cNvSpPr txBox="1"/>
          <p:nvPr/>
        </p:nvSpPr>
        <p:spPr>
          <a:xfrm>
            <a:off x="4629657" y="3271774"/>
            <a:ext cx="118110" cy="155575"/>
          </a:xfrm>
          <a:prstGeom prst="rect">
            <a:avLst/>
          </a:prstGeom>
        </p:spPr>
        <p:txBody>
          <a:bodyPr vert="horz" wrap="square" lIns="0" tIns="17145" rIns="0" bIns="0" rtlCol="0">
            <a:spAutoFit/>
          </a:bodyPr>
          <a:lstStyle/>
          <a:p>
            <a:pPr marL="12700">
              <a:lnSpc>
                <a:spcPct val="100000"/>
              </a:lnSpc>
              <a:spcBef>
                <a:spcPts val="135"/>
              </a:spcBef>
            </a:pPr>
            <a:r>
              <a:rPr sz="900" spc="-50" dirty="0">
                <a:solidFill>
                  <a:srgbClr val="FFFFFF"/>
                </a:solidFill>
                <a:latin typeface="Times New Roman" panose="02020603050405020304"/>
                <a:cs typeface="Times New Roman" panose="02020603050405020304"/>
              </a:rPr>
              <a:t>m</a:t>
            </a:r>
            <a:endParaRPr sz="900">
              <a:latin typeface="Times New Roman" panose="02020603050405020304"/>
              <a:cs typeface="Times New Roman" panose="02020603050405020304"/>
            </a:endParaRPr>
          </a:p>
        </p:txBody>
      </p:sp>
      <p:sp>
        <p:nvSpPr>
          <p:cNvPr id="38" name="object 38"/>
          <p:cNvSpPr txBox="1"/>
          <p:nvPr/>
        </p:nvSpPr>
        <p:spPr>
          <a:xfrm>
            <a:off x="1732889" y="3094482"/>
            <a:ext cx="1790700" cy="1325880"/>
          </a:xfrm>
          <a:prstGeom prst="rect">
            <a:avLst/>
          </a:prstGeom>
        </p:spPr>
        <p:txBody>
          <a:bodyPr vert="horz" wrap="square" lIns="0" tIns="13335" rIns="0" bIns="0" rtlCol="0">
            <a:spAutoFit/>
          </a:bodyPr>
          <a:lstStyle/>
          <a:p>
            <a:pPr marL="70485">
              <a:lnSpc>
                <a:spcPct val="100000"/>
              </a:lnSpc>
              <a:spcBef>
                <a:spcPts val="105"/>
              </a:spcBef>
            </a:pPr>
            <a:r>
              <a:rPr sz="3200" spc="-10" dirty="0">
                <a:latin typeface="Times New Roman" panose="02020603050405020304"/>
                <a:cs typeface="Times New Roman" panose="02020603050405020304"/>
              </a:rPr>
              <a:t>weights</a:t>
            </a:r>
            <a:endParaRPr sz="3200">
              <a:latin typeface="Times New Roman" panose="02020603050405020304"/>
              <a:cs typeface="Times New Roman" panose="02020603050405020304"/>
            </a:endParaRPr>
          </a:p>
          <a:p>
            <a:pPr marL="12700">
              <a:lnSpc>
                <a:spcPct val="100000"/>
              </a:lnSpc>
              <a:spcBef>
                <a:spcPts val="2555"/>
              </a:spcBef>
            </a:pPr>
            <a:r>
              <a:rPr sz="3200" spc="-10" dirty="0">
                <a:latin typeface="Times New Roman" panose="02020603050405020304"/>
                <a:cs typeface="Times New Roman" panose="02020603050405020304"/>
              </a:rPr>
              <a:t>Processing</a:t>
            </a:r>
            <a:endParaRPr sz="3200">
              <a:latin typeface="Times New Roman" panose="02020603050405020304"/>
              <a:cs typeface="Times New Roman" panose="02020603050405020304"/>
            </a:endParaRPr>
          </a:p>
        </p:txBody>
      </p:sp>
      <p:sp>
        <p:nvSpPr>
          <p:cNvPr id="39" name="object 39"/>
          <p:cNvSpPr txBox="1"/>
          <p:nvPr/>
        </p:nvSpPr>
        <p:spPr>
          <a:xfrm>
            <a:off x="3462273" y="1956054"/>
            <a:ext cx="1834514" cy="873760"/>
          </a:xfrm>
          <a:prstGeom prst="rect">
            <a:avLst/>
          </a:prstGeom>
        </p:spPr>
        <p:txBody>
          <a:bodyPr vert="horz" wrap="square" lIns="0" tIns="12065" rIns="0" bIns="0" rtlCol="0">
            <a:spAutoFit/>
          </a:bodyPr>
          <a:lstStyle/>
          <a:p>
            <a:pPr marL="12700">
              <a:lnSpc>
                <a:spcPct val="100000"/>
              </a:lnSpc>
              <a:spcBef>
                <a:spcPts val="95"/>
              </a:spcBef>
              <a:tabLst>
                <a:tab pos="666750" algn="l"/>
              </a:tabLst>
            </a:pPr>
            <a:r>
              <a:rPr sz="3600" spc="-37" baseline="2000" dirty="0">
                <a:solidFill>
                  <a:srgbClr val="FFFFFF"/>
                </a:solidFill>
                <a:latin typeface="Times New Roman" panose="02020603050405020304"/>
                <a:cs typeface="Times New Roman" panose="02020603050405020304"/>
              </a:rPr>
              <a:t>x</a:t>
            </a:r>
            <a:r>
              <a:rPr sz="2100" spc="-37" baseline="4000" dirty="0">
                <a:solidFill>
                  <a:srgbClr val="FFFFFF"/>
                </a:solidFill>
                <a:latin typeface="Times New Roman" panose="02020603050405020304"/>
                <a:cs typeface="Times New Roman" panose="02020603050405020304"/>
              </a:rPr>
              <a:t>m</a:t>
            </a:r>
            <a:r>
              <a:rPr sz="2100" baseline="4000" dirty="0">
                <a:solidFill>
                  <a:srgbClr val="FFFFFF"/>
                </a:solidFill>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a:p>
            <a:pPr marL="666750">
              <a:lnSpc>
                <a:spcPct val="100000"/>
              </a:lnSpc>
            </a:pP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p:txBody>
      </p:sp>
      <p:pic>
        <p:nvPicPr>
          <p:cNvPr id="40" name="object 40"/>
          <p:cNvPicPr/>
          <p:nvPr/>
        </p:nvPicPr>
        <p:blipFill>
          <a:blip r:embed="rId1" cstate="print"/>
          <a:stretch>
            <a:fillRect/>
          </a:stretch>
        </p:blipFill>
        <p:spPr>
          <a:xfrm>
            <a:off x="6934200" y="5515355"/>
            <a:ext cx="1447800" cy="457200"/>
          </a:xfrm>
          <a:prstGeom prst="rect">
            <a:avLst/>
          </a:prstGeom>
        </p:spPr>
      </p:pic>
      <p:grpSp>
        <p:nvGrpSpPr>
          <p:cNvPr id="41" name="object 41"/>
          <p:cNvGrpSpPr/>
          <p:nvPr/>
        </p:nvGrpSpPr>
        <p:grpSpPr>
          <a:xfrm>
            <a:off x="3856989" y="2438780"/>
            <a:ext cx="4377690" cy="2930525"/>
            <a:chOff x="2332989" y="2438780"/>
            <a:chExt cx="4377690" cy="2930525"/>
          </a:xfrm>
        </p:grpSpPr>
        <p:sp>
          <p:nvSpPr>
            <p:cNvPr id="42" name="object 42"/>
            <p:cNvSpPr/>
            <p:nvPr/>
          </p:nvSpPr>
          <p:spPr>
            <a:xfrm>
              <a:off x="2332990" y="2438780"/>
              <a:ext cx="4377690" cy="1790064"/>
            </a:xfrm>
            <a:custGeom>
              <a:avLst/>
              <a:gdLst/>
              <a:ahLst/>
              <a:cxnLst/>
              <a:rect l="l" t="t" r="r" b="b"/>
              <a:pathLst>
                <a:path w="4377690" h="1790064">
                  <a:moveTo>
                    <a:pt x="509651" y="585216"/>
                  </a:moveTo>
                  <a:lnTo>
                    <a:pt x="498386" y="541401"/>
                  </a:lnTo>
                  <a:lnTo>
                    <a:pt x="488442" y="502666"/>
                  </a:lnTo>
                  <a:lnTo>
                    <a:pt x="464451" y="523532"/>
                  </a:lnTo>
                  <a:lnTo>
                    <a:pt x="9652" y="0"/>
                  </a:lnTo>
                  <a:lnTo>
                    <a:pt x="0" y="8382"/>
                  </a:lnTo>
                  <a:lnTo>
                    <a:pt x="454875" y="531863"/>
                  </a:lnTo>
                  <a:lnTo>
                    <a:pt x="430911" y="552704"/>
                  </a:lnTo>
                  <a:lnTo>
                    <a:pt x="509651" y="585216"/>
                  </a:lnTo>
                  <a:close/>
                </a:path>
                <a:path w="4377690" h="1790064">
                  <a:moveTo>
                    <a:pt x="2163953" y="457327"/>
                  </a:moveTo>
                  <a:lnTo>
                    <a:pt x="2132406" y="457327"/>
                  </a:lnTo>
                  <a:lnTo>
                    <a:pt x="2131060" y="104775"/>
                  </a:lnTo>
                  <a:lnTo>
                    <a:pt x="2118360" y="104775"/>
                  </a:lnTo>
                  <a:lnTo>
                    <a:pt x="2119706" y="457327"/>
                  </a:lnTo>
                  <a:lnTo>
                    <a:pt x="2087880" y="457327"/>
                  </a:lnTo>
                  <a:lnTo>
                    <a:pt x="2126234" y="533400"/>
                  </a:lnTo>
                  <a:lnTo>
                    <a:pt x="2157717" y="469900"/>
                  </a:lnTo>
                  <a:lnTo>
                    <a:pt x="2163953" y="457327"/>
                  </a:lnTo>
                  <a:close/>
                </a:path>
                <a:path w="4377690" h="1790064">
                  <a:moveTo>
                    <a:pt x="3257550" y="1123061"/>
                  </a:moveTo>
                  <a:lnTo>
                    <a:pt x="3249295" y="1113409"/>
                  </a:lnTo>
                  <a:lnTo>
                    <a:pt x="2521420" y="1735493"/>
                  </a:lnTo>
                  <a:lnTo>
                    <a:pt x="2500757" y="1711325"/>
                  </a:lnTo>
                  <a:lnTo>
                    <a:pt x="2467610" y="1789684"/>
                  </a:lnTo>
                  <a:lnTo>
                    <a:pt x="2550287" y="1769237"/>
                  </a:lnTo>
                  <a:lnTo>
                    <a:pt x="2536698" y="1753362"/>
                  </a:lnTo>
                  <a:lnTo>
                    <a:pt x="2529675" y="1745145"/>
                  </a:lnTo>
                  <a:lnTo>
                    <a:pt x="3257550" y="1123061"/>
                  </a:lnTo>
                  <a:close/>
                </a:path>
                <a:path w="4377690" h="1790064">
                  <a:moveTo>
                    <a:pt x="4377436" y="108966"/>
                  </a:moveTo>
                  <a:lnTo>
                    <a:pt x="4367784" y="100584"/>
                  </a:lnTo>
                  <a:lnTo>
                    <a:pt x="3884625" y="652894"/>
                  </a:lnTo>
                  <a:lnTo>
                    <a:pt x="3860673" y="631952"/>
                  </a:lnTo>
                  <a:lnTo>
                    <a:pt x="3839210" y="714375"/>
                  </a:lnTo>
                  <a:lnTo>
                    <a:pt x="3918077" y="682117"/>
                  </a:lnTo>
                  <a:lnTo>
                    <a:pt x="3905135" y="670814"/>
                  </a:lnTo>
                  <a:lnTo>
                    <a:pt x="3894188" y="661250"/>
                  </a:lnTo>
                  <a:lnTo>
                    <a:pt x="4377436" y="108966"/>
                  </a:lnTo>
                  <a:close/>
                </a:path>
              </a:pathLst>
            </a:custGeom>
            <a:solidFill>
              <a:srgbClr val="AE3408"/>
            </a:solidFill>
          </p:spPr>
          <p:txBody>
            <a:bodyPr wrap="square" lIns="0" tIns="0" rIns="0" bIns="0" rtlCol="0"/>
            <a:lstStyle/>
            <a:p/>
          </p:txBody>
        </p:sp>
        <p:pic>
          <p:nvPicPr>
            <p:cNvPr id="43" name="object 43"/>
            <p:cNvPicPr/>
            <p:nvPr/>
          </p:nvPicPr>
          <p:blipFill>
            <a:blip r:embed="rId2" cstate="print"/>
            <a:stretch>
              <a:fillRect/>
            </a:stretch>
          </p:blipFill>
          <p:spPr>
            <a:xfrm>
              <a:off x="4420616" y="3657600"/>
              <a:ext cx="76200" cy="228600"/>
            </a:xfrm>
            <a:prstGeom prst="rect">
              <a:avLst/>
            </a:prstGeom>
          </p:spPr>
        </p:pic>
        <p:sp>
          <p:nvSpPr>
            <p:cNvPr id="44" name="object 44"/>
            <p:cNvSpPr/>
            <p:nvPr/>
          </p:nvSpPr>
          <p:spPr>
            <a:xfrm>
              <a:off x="3324097" y="3505072"/>
              <a:ext cx="790575" cy="723900"/>
            </a:xfrm>
            <a:custGeom>
              <a:avLst/>
              <a:gdLst/>
              <a:ahLst/>
              <a:cxnLst/>
              <a:rect l="l" t="t" r="r" b="b"/>
              <a:pathLst>
                <a:path w="790575" h="723900">
                  <a:moveTo>
                    <a:pt x="729606" y="677064"/>
                  </a:moveTo>
                  <a:lnTo>
                    <a:pt x="708151" y="700532"/>
                  </a:lnTo>
                  <a:lnTo>
                    <a:pt x="790066" y="723772"/>
                  </a:lnTo>
                  <a:lnTo>
                    <a:pt x="775459" y="685672"/>
                  </a:lnTo>
                  <a:lnTo>
                    <a:pt x="739013" y="685672"/>
                  </a:lnTo>
                  <a:lnTo>
                    <a:pt x="729606" y="677064"/>
                  </a:lnTo>
                  <a:close/>
                </a:path>
                <a:path w="790575" h="723900">
                  <a:moveTo>
                    <a:pt x="738161" y="667707"/>
                  </a:moveTo>
                  <a:lnTo>
                    <a:pt x="729606" y="677064"/>
                  </a:lnTo>
                  <a:lnTo>
                    <a:pt x="739013" y="685672"/>
                  </a:lnTo>
                  <a:lnTo>
                    <a:pt x="747522" y="676275"/>
                  </a:lnTo>
                  <a:lnTo>
                    <a:pt x="738161" y="667707"/>
                  </a:lnTo>
                  <a:close/>
                </a:path>
                <a:path w="790575" h="723900">
                  <a:moveTo>
                    <a:pt x="759587" y="644270"/>
                  </a:moveTo>
                  <a:lnTo>
                    <a:pt x="738161" y="667707"/>
                  </a:lnTo>
                  <a:lnTo>
                    <a:pt x="747522" y="676275"/>
                  </a:lnTo>
                  <a:lnTo>
                    <a:pt x="739013" y="685672"/>
                  </a:lnTo>
                  <a:lnTo>
                    <a:pt x="775459" y="685672"/>
                  </a:lnTo>
                  <a:lnTo>
                    <a:pt x="759587" y="644270"/>
                  </a:lnTo>
                  <a:close/>
                </a:path>
                <a:path w="790575" h="723900">
                  <a:moveTo>
                    <a:pt x="8636" y="0"/>
                  </a:moveTo>
                  <a:lnTo>
                    <a:pt x="0" y="9398"/>
                  </a:lnTo>
                  <a:lnTo>
                    <a:pt x="729606" y="677064"/>
                  </a:lnTo>
                  <a:lnTo>
                    <a:pt x="738161" y="667707"/>
                  </a:lnTo>
                  <a:lnTo>
                    <a:pt x="8636" y="0"/>
                  </a:lnTo>
                  <a:close/>
                </a:path>
              </a:pathLst>
            </a:custGeom>
            <a:solidFill>
              <a:srgbClr val="AE3408"/>
            </a:solidFill>
          </p:spPr>
          <p:txBody>
            <a:bodyPr wrap="square" lIns="0" tIns="0" rIns="0" bIns="0" rtlCol="0"/>
            <a:lstStyle/>
            <a:p/>
          </p:txBody>
        </p:sp>
        <p:pic>
          <p:nvPicPr>
            <p:cNvPr id="45" name="object 45"/>
            <p:cNvPicPr/>
            <p:nvPr/>
          </p:nvPicPr>
          <p:blipFill>
            <a:blip r:embed="rId3" cstate="print"/>
            <a:stretch>
              <a:fillRect/>
            </a:stretch>
          </p:blipFill>
          <p:spPr>
            <a:xfrm>
              <a:off x="5410200" y="4372355"/>
              <a:ext cx="1295400" cy="714756"/>
            </a:xfrm>
            <a:prstGeom prst="rect">
              <a:avLst/>
            </a:prstGeom>
          </p:spPr>
        </p:pic>
        <p:sp>
          <p:nvSpPr>
            <p:cNvPr id="46" name="object 46"/>
            <p:cNvSpPr/>
            <p:nvPr/>
          </p:nvSpPr>
          <p:spPr>
            <a:xfrm>
              <a:off x="3962400" y="4905755"/>
              <a:ext cx="990600" cy="457200"/>
            </a:xfrm>
            <a:custGeom>
              <a:avLst/>
              <a:gdLst/>
              <a:ahLst/>
              <a:cxnLst/>
              <a:rect l="l" t="t" r="r" b="b"/>
              <a:pathLst>
                <a:path w="990600" h="457200">
                  <a:moveTo>
                    <a:pt x="990600" y="0"/>
                  </a:moveTo>
                  <a:lnTo>
                    <a:pt x="0" y="0"/>
                  </a:lnTo>
                  <a:lnTo>
                    <a:pt x="0" y="457200"/>
                  </a:lnTo>
                  <a:lnTo>
                    <a:pt x="990600" y="457200"/>
                  </a:lnTo>
                  <a:lnTo>
                    <a:pt x="990600" y="0"/>
                  </a:lnTo>
                  <a:close/>
                </a:path>
              </a:pathLst>
            </a:custGeom>
            <a:solidFill>
              <a:srgbClr val="6D6162"/>
            </a:solidFill>
          </p:spPr>
          <p:txBody>
            <a:bodyPr wrap="square" lIns="0" tIns="0" rIns="0" bIns="0" rtlCol="0"/>
            <a:lstStyle/>
            <a:p/>
          </p:txBody>
        </p:sp>
        <p:sp>
          <p:nvSpPr>
            <p:cNvPr id="47" name="object 47"/>
            <p:cNvSpPr/>
            <p:nvPr/>
          </p:nvSpPr>
          <p:spPr>
            <a:xfrm>
              <a:off x="3962400" y="4905755"/>
              <a:ext cx="990600" cy="457200"/>
            </a:xfrm>
            <a:custGeom>
              <a:avLst/>
              <a:gdLst/>
              <a:ahLst/>
              <a:cxnLst/>
              <a:rect l="l" t="t" r="r" b="b"/>
              <a:pathLst>
                <a:path w="990600" h="457200">
                  <a:moveTo>
                    <a:pt x="0" y="457200"/>
                  </a:moveTo>
                  <a:lnTo>
                    <a:pt x="990600" y="457200"/>
                  </a:lnTo>
                  <a:lnTo>
                    <a:pt x="990600" y="0"/>
                  </a:lnTo>
                  <a:lnTo>
                    <a:pt x="0" y="0"/>
                  </a:lnTo>
                  <a:lnTo>
                    <a:pt x="0" y="457200"/>
                  </a:lnTo>
                  <a:close/>
                </a:path>
              </a:pathLst>
            </a:custGeom>
            <a:ln w="12192">
              <a:solidFill>
                <a:srgbClr val="9B310D"/>
              </a:solidFill>
            </a:ln>
          </p:spPr>
          <p:txBody>
            <a:bodyPr wrap="square" lIns="0" tIns="0" rIns="0" bIns="0" rtlCol="0"/>
            <a:lstStyle/>
            <a:p/>
          </p:txBody>
        </p:sp>
      </p:grpSp>
      <p:sp>
        <p:nvSpPr>
          <p:cNvPr id="48" name="object 48"/>
          <p:cNvSpPr txBox="1"/>
          <p:nvPr/>
        </p:nvSpPr>
        <p:spPr>
          <a:xfrm>
            <a:off x="5617209" y="4896739"/>
            <a:ext cx="729615" cy="442595"/>
          </a:xfrm>
          <a:prstGeom prst="rect">
            <a:avLst/>
          </a:prstGeom>
        </p:spPr>
        <p:txBody>
          <a:bodyPr vert="horz" wrap="square" lIns="0" tIns="12065" rIns="0" bIns="0" rtlCol="0">
            <a:spAutoFit/>
          </a:bodyPr>
          <a:lstStyle/>
          <a:p>
            <a:pPr marL="38100">
              <a:lnSpc>
                <a:spcPct val="100000"/>
              </a:lnSpc>
              <a:spcBef>
                <a:spcPts val="95"/>
              </a:spcBef>
            </a:pPr>
            <a:r>
              <a:rPr sz="2800" spc="-10" dirty="0">
                <a:latin typeface="Times New Roman" panose="02020603050405020304"/>
                <a:cs typeface="Times New Roman" panose="02020603050405020304"/>
              </a:rPr>
              <a:t>f(v</a:t>
            </a:r>
            <a:r>
              <a:rPr sz="2775" spc="-15" baseline="-21000" dirty="0">
                <a:latin typeface="Times New Roman" panose="02020603050405020304"/>
                <a:cs typeface="Times New Roman" panose="02020603050405020304"/>
              </a:rPr>
              <a:t>k</a:t>
            </a:r>
            <a:r>
              <a:rPr sz="2800" spc="-1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p:txBody>
      </p:sp>
      <p:sp>
        <p:nvSpPr>
          <p:cNvPr id="49" name="object 49"/>
          <p:cNvSpPr txBox="1"/>
          <p:nvPr/>
        </p:nvSpPr>
        <p:spPr>
          <a:xfrm>
            <a:off x="5030851" y="3099307"/>
            <a:ext cx="469265" cy="873760"/>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t>
            </a:r>
            <a:r>
              <a:rPr sz="2800" spc="-10"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a:p>
            <a:pPr marL="12700">
              <a:lnSpc>
                <a:spcPct val="100000"/>
              </a:lnSpc>
            </a:pPr>
            <a:r>
              <a:rPr sz="2800" dirty="0">
                <a:latin typeface="Times New Roman" panose="02020603050405020304"/>
                <a:cs typeface="Times New Roman" panose="02020603050405020304"/>
              </a:rPr>
              <a:t>.</a:t>
            </a:r>
            <a:r>
              <a:rPr sz="2800" spc="-15"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p:txBody>
      </p:sp>
      <p:sp>
        <p:nvSpPr>
          <p:cNvPr id="50" name="object 50"/>
          <p:cNvSpPr/>
          <p:nvPr/>
        </p:nvSpPr>
        <p:spPr>
          <a:xfrm>
            <a:off x="5944870" y="5362955"/>
            <a:ext cx="76200" cy="352425"/>
          </a:xfrm>
          <a:custGeom>
            <a:avLst/>
            <a:gdLst/>
            <a:ahLst/>
            <a:cxnLst/>
            <a:rect l="l" t="t" r="r" b="b"/>
            <a:pathLst>
              <a:path w="76200" h="352425">
                <a:moveTo>
                  <a:pt x="31694" y="276247"/>
                </a:moveTo>
                <a:lnTo>
                  <a:pt x="0" y="276390"/>
                </a:lnTo>
                <a:lnTo>
                  <a:pt x="38353" y="352425"/>
                </a:lnTo>
                <a:lnTo>
                  <a:pt x="69806" y="288950"/>
                </a:lnTo>
                <a:lnTo>
                  <a:pt x="31750" y="288950"/>
                </a:lnTo>
                <a:lnTo>
                  <a:pt x="31694" y="276247"/>
                </a:lnTo>
                <a:close/>
              </a:path>
              <a:path w="76200" h="352425">
                <a:moveTo>
                  <a:pt x="43179" y="0"/>
                </a:moveTo>
                <a:lnTo>
                  <a:pt x="30479" y="0"/>
                </a:lnTo>
                <a:lnTo>
                  <a:pt x="31693" y="276047"/>
                </a:lnTo>
                <a:lnTo>
                  <a:pt x="31750" y="288950"/>
                </a:lnTo>
                <a:lnTo>
                  <a:pt x="44450" y="288950"/>
                </a:lnTo>
                <a:lnTo>
                  <a:pt x="43179" y="0"/>
                </a:lnTo>
                <a:close/>
              </a:path>
              <a:path w="76200" h="352425">
                <a:moveTo>
                  <a:pt x="76100" y="276247"/>
                </a:moveTo>
                <a:lnTo>
                  <a:pt x="44394" y="276247"/>
                </a:lnTo>
                <a:lnTo>
                  <a:pt x="44450" y="288950"/>
                </a:lnTo>
                <a:lnTo>
                  <a:pt x="69806" y="288950"/>
                </a:lnTo>
                <a:lnTo>
                  <a:pt x="76030" y="276390"/>
                </a:lnTo>
                <a:lnTo>
                  <a:pt x="76100" y="276247"/>
                </a:lnTo>
                <a:close/>
              </a:path>
              <a:path w="76200" h="352425">
                <a:moveTo>
                  <a:pt x="76200" y="276047"/>
                </a:moveTo>
                <a:lnTo>
                  <a:pt x="31694" y="276247"/>
                </a:lnTo>
                <a:lnTo>
                  <a:pt x="76100" y="276247"/>
                </a:lnTo>
                <a:lnTo>
                  <a:pt x="76200" y="276047"/>
                </a:lnTo>
                <a:close/>
              </a:path>
            </a:pathLst>
          </a:custGeom>
          <a:solidFill>
            <a:srgbClr val="AE3408"/>
          </a:solidFill>
        </p:spPr>
        <p:txBody>
          <a:bodyPr wrap="square" lIns="0" tIns="0" rIns="0" bIns="0" rtlCol="0"/>
          <a:lstStyle/>
          <a:p/>
        </p:txBody>
      </p:sp>
      <p:sp>
        <p:nvSpPr>
          <p:cNvPr id="51" name="Date Placeholder 50"/>
          <p:cNvSpPr>
            <a:spLocks noGrp="1"/>
          </p:cNvSpPr>
          <p:nvPr>
            <p:ph type="dt" sz="half" idx="10"/>
          </p:nvPr>
        </p:nvSpPr>
        <p:spPr/>
        <p:txBody>
          <a:bodyPr/>
          <a:p>
            <a:fld id="{63A1C593-65D0-4073-BCC9-577B9352EA97}" type="datetime1">
              <a:rPr lang="en-US" smtClean="0"/>
            </a:fld>
            <a:endParaRPr lang="en-US"/>
          </a:p>
        </p:txBody>
      </p:sp>
      <p:sp>
        <p:nvSpPr>
          <p:cNvPr id="52" name="Slide Number Placeholder 51"/>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676400" y="762000"/>
            <a:ext cx="8763000" cy="5287994"/>
          </a:xfrm>
          <a:prstGeom prst="rect">
            <a:avLst/>
          </a:prstGeom>
        </p:spPr>
      </p:pic>
      <p:sp>
        <p:nvSpPr>
          <p:cNvPr id="3" name="object 3"/>
          <p:cNvSpPr txBox="1">
            <a:spLocks noGrp="1"/>
          </p:cNvSpPr>
          <p:nvPr>
            <p:ph type="title"/>
          </p:nvPr>
        </p:nvSpPr>
        <p:spPr>
          <a:xfrm>
            <a:off x="2439720" y="18681"/>
            <a:ext cx="7068184" cy="1490345"/>
          </a:xfrm>
          <a:prstGeom prst="rect">
            <a:avLst/>
          </a:prstGeom>
        </p:spPr>
        <p:txBody>
          <a:bodyPr vert="horz" wrap="square" lIns="0" tIns="13335" rIns="0" bIns="0" rtlCol="0">
            <a:spAutoFit/>
          </a:bodyPr>
          <a:lstStyle/>
          <a:p>
            <a:pPr marL="12700" marR="5080">
              <a:lnSpc>
                <a:spcPct val="100000"/>
              </a:lnSpc>
              <a:spcBef>
                <a:spcPts val="105"/>
              </a:spcBef>
            </a:pPr>
            <a:r>
              <a:rPr sz="3200" dirty="0">
                <a:latin typeface="Times New Roman" panose="02020603050405020304"/>
                <a:cs typeface="Times New Roman" panose="02020603050405020304"/>
              </a:rPr>
              <a:t>The</a:t>
            </a:r>
            <a:r>
              <a:rPr sz="3200" spc="-20" dirty="0">
                <a:latin typeface="Times New Roman" panose="02020603050405020304"/>
                <a:cs typeface="Times New Roman" panose="02020603050405020304"/>
              </a:rPr>
              <a:t> </a:t>
            </a:r>
            <a:r>
              <a:rPr sz="3200" dirty="0">
                <a:latin typeface="Times New Roman" panose="02020603050405020304"/>
                <a:cs typeface="Times New Roman" panose="02020603050405020304"/>
              </a:rPr>
              <a:t>output</a:t>
            </a:r>
            <a:r>
              <a:rPr sz="3200" spc="-35" dirty="0">
                <a:latin typeface="Times New Roman" panose="02020603050405020304"/>
                <a:cs typeface="Times New Roman" panose="02020603050405020304"/>
              </a:rPr>
              <a:t> </a:t>
            </a:r>
            <a:r>
              <a:rPr sz="3200" dirty="0">
                <a:latin typeface="Times New Roman" panose="02020603050405020304"/>
                <a:cs typeface="Times New Roman" panose="02020603050405020304"/>
              </a:rPr>
              <a:t>is a function</a:t>
            </a:r>
            <a:r>
              <a:rPr sz="3200" spc="-30" dirty="0">
                <a:latin typeface="Times New Roman" panose="02020603050405020304"/>
                <a:cs typeface="Times New Roman" panose="02020603050405020304"/>
              </a:rPr>
              <a:t> </a:t>
            </a:r>
            <a:r>
              <a:rPr sz="3200" dirty="0">
                <a:latin typeface="Times New Roman" panose="02020603050405020304"/>
                <a:cs typeface="Times New Roman" panose="02020603050405020304"/>
              </a:rPr>
              <a:t>of</a:t>
            </a:r>
            <a:r>
              <a:rPr sz="3200" spc="-15" dirty="0">
                <a:latin typeface="Times New Roman" panose="02020603050405020304"/>
                <a:cs typeface="Times New Roman" panose="02020603050405020304"/>
              </a:rPr>
              <a:t> </a:t>
            </a:r>
            <a:r>
              <a:rPr sz="3200" dirty="0">
                <a:latin typeface="Times New Roman" panose="02020603050405020304"/>
                <a:cs typeface="Times New Roman" panose="02020603050405020304"/>
              </a:rPr>
              <a:t>the input,</a:t>
            </a:r>
            <a:r>
              <a:rPr sz="3200" spc="-30" dirty="0">
                <a:latin typeface="Times New Roman" panose="02020603050405020304"/>
                <a:cs typeface="Times New Roman" panose="02020603050405020304"/>
              </a:rPr>
              <a:t> </a:t>
            </a:r>
            <a:r>
              <a:rPr sz="3200" dirty="0">
                <a:latin typeface="Times New Roman" panose="02020603050405020304"/>
                <a:cs typeface="Times New Roman" panose="02020603050405020304"/>
              </a:rPr>
              <a:t>that </a:t>
            </a:r>
            <a:r>
              <a:rPr sz="3200" spc="-25" dirty="0">
                <a:latin typeface="Times New Roman" panose="02020603050405020304"/>
                <a:cs typeface="Times New Roman" panose="02020603050405020304"/>
              </a:rPr>
              <a:t>is </a:t>
            </a:r>
            <a:r>
              <a:rPr sz="3200" dirty="0">
                <a:latin typeface="Times New Roman" panose="02020603050405020304"/>
                <a:cs typeface="Times New Roman" panose="02020603050405020304"/>
              </a:rPr>
              <a:t>affected</a:t>
            </a:r>
            <a:r>
              <a:rPr sz="3200" spc="-55" dirty="0">
                <a:latin typeface="Times New Roman" panose="02020603050405020304"/>
                <a:cs typeface="Times New Roman" panose="02020603050405020304"/>
              </a:rPr>
              <a:t> </a:t>
            </a:r>
            <a:r>
              <a:rPr sz="3200" dirty="0">
                <a:latin typeface="Times New Roman" panose="02020603050405020304"/>
                <a:cs typeface="Times New Roman" panose="02020603050405020304"/>
              </a:rPr>
              <a:t>by</a:t>
            </a:r>
            <a:r>
              <a:rPr sz="3200" spc="-15" dirty="0">
                <a:latin typeface="Times New Roman" panose="02020603050405020304"/>
                <a:cs typeface="Times New Roman" panose="02020603050405020304"/>
              </a:rPr>
              <a:t> </a:t>
            </a:r>
            <a:r>
              <a:rPr sz="3200" dirty="0">
                <a:latin typeface="Times New Roman" panose="02020603050405020304"/>
                <a:cs typeface="Times New Roman" panose="02020603050405020304"/>
              </a:rPr>
              <a:t>the</a:t>
            </a:r>
            <a:r>
              <a:rPr sz="3200" spc="-40" dirty="0">
                <a:latin typeface="Times New Roman" panose="02020603050405020304"/>
                <a:cs typeface="Times New Roman" panose="02020603050405020304"/>
              </a:rPr>
              <a:t> </a:t>
            </a:r>
            <a:r>
              <a:rPr sz="3200" dirty="0">
                <a:latin typeface="Times New Roman" panose="02020603050405020304"/>
                <a:cs typeface="Times New Roman" panose="02020603050405020304"/>
              </a:rPr>
              <a:t>weights,</a:t>
            </a:r>
            <a:r>
              <a:rPr sz="3200" spc="-40" dirty="0">
                <a:latin typeface="Times New Roman" panose="02020603050405020304"/>
                <a:cs typeface="Times New Roman" panose="02020603050405020304"/>
              </a:rPr>
              <a:t> </a:t>
            </a:r>
            <a:r>
              <a:rPr sz="3200" dirty="0">
                <a:latin typeface="Times New Roman" panose="02020603050405020304"/>
                <a:cs typeface="Times New Roman" panose="02020603050405020304"/>
              </a:rPr>
              <a:t>and</a:t>
            </a:r>
            <a:r>
              <a:rPr sz="3200" spc="-40" dirty="0">
                <a:latin typeface="Times New Roman" panose="02020603050405020304"/>
                <a:cs typeface="Times New Roman" panose="02020603050405020304"/>
              </a:rPr>
              <a:t> </a:t>
            </a:r>
            <a:r>
              <a:rPr sz="3200" dirty="0">
                <a:latin typeface="Times New Roman" panose="02020603050405020304"/>
                <a:cs typeface="Times New Roman" panose="02020603050405020304"/>
              </a:rPr>
              <a:t>the</a:t>
            </a:r>
            <a:r>
              <a:rPr sz="3200" spc="-25" dirty="0">
                <a:latin typeface="Times New Roman" panose="02020603050405020304"/>
                <a:cs typeface="Times New Roman" panose="02020603050405020304"/>
              </a:rPr>
              <a:t> </a:t>
            </a:r>
            <a:r>
              <a:rPr sz="3200" spc="-10" dirty="0">
                <a:latin typeface="Times New Roman" panose="02020603050405020304"/>
                <a:cs typeface="Times New Roman" panose="02020603050405020304"/>
              </a:rPr>
              <a:t>transfer functions</a:t>
            </a:r>
            <a:endParaRPr sz="3200">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5920" y="691260"/>
            <a:ext cx="5497195" cy="627380"/>
          </a:xfrm>
          <a:prstGeom prst="rect">
            <a:avLst/>
          </a:prstGeom>
        </p:spPr>
        <p:txBody>
          <a:bodyPr vert="horz" wrap="square" lIns="0" tIns="12065" rIns="0" bIns="0" rtlCol="0">
            <a:spAutoFit/>
          </a:bodyPr>
          <a:lstStyle/>
          <a:p>
            <a:pPr marL="12700">
              <a:lnSpc>
                <a:spcPct val="100000"/>
              </a:lnSpc>
              <a:spcBef>
                <a:spcPts val="95"/>
              </a:spcBef>
            </a:pPr>
            <a:r>
              <a:rPr sz="4000" dirty="0">
                <a:latin typeface="Times New Roman" panose="02020603050405020304"/>
                <a:cs typeface="Times New Roman" panose="02020603050405020304"/>
              </a:rPr>
              <a:t>Artificial</a:t>
            </a:r>
            <a:r>
              <a:rPr sz="4000" spc="-120" dirty="0">
                <a:latin typeface="Times New Roman" panose="02020603050405020304"/>
                <a:cs typeface="Times New Roman" panose="02020603050405020304"/>
              </a:rPr>
              <a:t> </a:t>
            </a:r>
            <a:r>
              <a:rPr sz="4000" dirty="0">
                <a:latin typeface="Times New Roman" panose="02020603050405020304"/>
                <a:cs typeface="Times New Roman" panose="02020603050405020304"/>
              </a:rPr>
              <a:t>Neural</a:t>
            </a:r>
            <a:r>
              <a:rPr sz="4000" spc="-120" dirty="0">
                <a:latin typeface="Times New Roman" panose="02020603050405020304"/>
                <a:cs typeface="Times New Roman" panose="02020603050405020304"/>
              </a:rPr>
              <a:t> </a:t>
            </a:r>
            <a:r>
              <a:rPr sz="4000" spc="-10" dirty="0">
                <a:latin typeface="Times New Roman" panose="02020603050405020304"/>
                <a:cs typeface="Times New Roman" panose="02020603050405020304"/>
              </a:rPr>
              <a:t>Networks</a:t>
            </a:r>
            <a:endParaRPr sz="4000">
              <a:latin typeface="Times New Roman" panose="02020603050405020304"/>
              <a:cs typeface="Times New Roman" panose="02020603050405020304"/>
            </a:endParaRPr>
          </a:p>
        </p:txBody>
      </p:sp>
      <p:sp>
        <p:nvSpPr>
          <p:cNvPr id="3" name="object 3"/>
          <p:cNvSpPr txBox="1"/>
          <p:nvPr/>
        </p:nvSpPr>
        <p:spPr>
          <a:xfrm>
            <a:off x="2058720" y="1485276"/>
            <a:ext cx="7503159" cy="2137410"/>
          </a:xfrm>
          <a:prstGeom prst="rect">
            <a:avLst/>
          </a:prstGeom>
        </p:spPr>
        <p:txBody>
          <a:bodyPr vert="horz" wrap="square" lIns="0" tIns="73025" rIns="0" bIns="0" rtlCol="0">
            <a:spAutoFit/>
          </a:bodyPr>
          <a:lstStyle/>
          <a:p>
            <a:pPr marL="282575" indent="-269875">
              <a:lnSpc>
                <a:spcPct val="100000"/>
              </a:lnSpc>
              <a:spcBef>
                <a:spcPts val="575"/>
              </a:spcBef>
              <a:buClr>
                <a:srgbClr val="D24717"/>
              </a:buClr>
              <a:buSzPct val="84000"/>
              <a:buFont typeface="Segoe UI Symbol" panose="020B0502040204020203"/>
              <a:buChar char="⚫"/>
              <a:tabLst>
                <a:tab pos="282575" algn="l"/>
              </a:tabLst>
            </a:pPr>
            <a:r>
              <a:rPr sz="2800" spc="-10" dirty="0">
                <a:latin typeface="Times New Roman" panose="02020603050405020304"/>
                <a:cs typeface="Times New Roman" panose="02020603050405020304"/>
              </a:rPr>
              <a:t>An</a:t>
            </a:r>
            <a:r>
              <a:rPr sz="2800" spc="-17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ANN</a:t>
            </a:r>
            <a:r>
              <a:rPr sz="2800" spc="-45"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can:</a:t>
            </a:r>
            <a:endParaRPr sz="2800">
              <a:latin typeface="Times New Roman" panose="02020603050405020304"/>
              <a:cs typeface="Times New Roman" panose="02020603050405020304"/>
            </a:endParaRPr>
          </a:p>
          <a:p>
            <a:pPr marL="926465" marR="5080" lvl="1" indent="-457200">
              <a:lnSpc>
                <a:spcPct val="100000"/>
              </a:lnSpc>
              <a:spcBef>
                <a:spcPts val="410"/>
              </a:spcBef>
              <a:buClr>
                <a:srgbClr val="9B2C1F"/>
              </a:buClr>
              <a:buSzPct val="85000"/>
              <a:buAutoNum type="arabicPeriod"/>
              <a:tabLst>
                <a:tab pos="926465" algn="l"/>
              </a:tabLst>
            </a:pPr>
            <a:r>
              <a:rPr sz="2400" dirty="0">
                <a:latin typeface="Times New Roman" panose="02020603050405020304"/>
                <a:cs typeface="Times New Roman" panose="02020603050405020304"/>
              </a:rPr>
              <a:t>compute</a:t>
            </a:r>
            <a:r>
              <a:rPr sz="2400" spc="-10" dirty="0">
                <a:latin typeface="Times New Roman" panose="02020603050405020304"/>
                <a:cs typeface="Times New Roman" panose="02020603050405020304"/>
              </a:rPr>
              <a:t> </a:t>
            </a:r>
            <a:r>
              <a:rPr sz="2400" i="1" dirty="0">
                <a:latin typeface="Times New Roman" panose="02020603050405020304"/>
                <a:cs typeface="Times New Roman" panose="02020603050405020304"/>
              </a:rPr>
              <a:t>any computable</a:t>
            </a:r>
            <a:r>
              <a:rPr sz="2400" i="1"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function, by</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1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appropriate </a:t>
            </a:r>
            <a:r>
              <a:rPr sz="2400" dirty="0">
                <a:latin typeface="Times New Roman" panose="02020603050405020304"/>
                <a:cs typeface="Times New Roman" panose="02020603050405020304"/>
              </a:rPr>
              <a:t>selection</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15" dirty="0">
                <a:latin typeface="Times New Roman" panose="02020603050405020304"/>
                <a:cs typeface="Times New Roman" panose="02020603050405020304"/>
              </a:rPr>
              <a:t> </a:t>
            </a:r>
            <a:r>
              <a:rPr sz="2400" dirty="0">
                <a:latin typeface="Times New Roman" panose="02020603050405020304"/>
                <a:cs typeface="Times New Roman" panose="02020603050405020304"/>
              </a:rPr>
              <a:t>network</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topology</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weights</a:t>
            </a:r>
            <a:r>
              <a:rPr sz="2400" spc="-10" dirty="0">
                <a:latin typeface="Times New Roman" panose="02020603050405020304"/>
                <a:cs typeface="Times New Roman" panose="02020603050405020304"/>
              </a:rPr>
              <a:t> values.</a:t>
            </a:r>
            <a:endParaRPr sz="2400">
              <a:latin typeface="Times New Roman" panose="02020603050405020304"/>
              <a:cs typeface="Times New Roman" panose="02020603050405020304"/>
            </a:endParaRPr>
          </a:p>
          <a:p>
            <a:pPr marL="926465" lvl="1" indent="-456565">
              <a:lnSpc>
                <a:spcPct val="100000"/>
              </a:lnSpc>
              <a:spcBef>
                <a:spcPts val="410"/>
              </a:spcBef>
              <a:buClr>
                <a:srgbClr val="9B2C1F"/>
              </a:buClr>
              <a:buSzPct val="85000"/>
              <a:buAutoNum type="arabicPeriod"/>
              <a:tabLst>
                <a:tab pos="926465" algn="l"/>
              </a:tabLst>
            </a:pPr>
            <a:r>
              <a:rPr sz="2400" dirty="0">
                <a:latin typeface="Times New Roman" panose="02020603050405020304"/>
                <a:cs typeface="Times New Roman" panose="02020603050405020304"/>
              </a:rPr>
              <a:t>learn</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from</a:t>
            </a:r>
            <a:r>
              <a:rPr sz="2400" spc="-2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experience!</a:t>
            </a:r>
            <a:endParaRPr sz="2400">
              <a:latin typeface="Times New Roman" panose="02020603050405020304"/>
              <a:cs typeface="Times New Roman" panose="02020603050405020304"/>
            </a:endParaRPr>
          </a:p>
          <a:p>
            <a:pPr marL="1002665" lvl="2" indent="-532765">
              <a:lnSpc>
                <a:spcPct val="100000"/>
              </a:lnSpc>
              <a:spcBef>
                <a:spcPts val="400"/>
              </a:spcBef>
              <a:buClr>
                <a:srgbClr val="9B2C1F"/>
              </a:buClr>
              <a:buSzPct val="85000"/>
              <a:buFont typeface="Wingdings" panose="05000000000000000000"/>
              <a:buChar char=""/>
              <a:tabLst>
                <a:tab pos="1002665" algn="l"/>
              </a:tabLst>
            </a:pPr>
            <a:r>
              <a:rPr sz="2400" spc="-10" dirty="0">
                <a:latin typeface="Times New Roman" panose="02020603050405020304"/>
                <a:cs typeface="Times New Roman" panose="02020603050405020304"/>
              </a:rPr>
              <a:t>Specifically,</a:t>
            </a:r>
            <a:r>
              <a:rPr sz="2400" spc="-65" dirty="0">
                <a:latin typeface="Times New Roman" panose="02020603050405020304"/>
                <a:cs typeface="Times New Roman" panose="02020603050405020304"/>
              </a:rPr>
              <a:t> </a:t>
            </a:r>
            <a:r>
              <a:rPr sz="2400" dirty="0">
                <a:latin typeface="Times New Roman" panose="02020603050405020304"/>
                <a:cs typeface="Times New Roman" panose="02020603050405020304"/>
              </a:rPr>
              <a:t>by</a:t>
            </a:r>
            <a:r>
              <a:rPr sz="2400" spc="-10" dirty="0">
                <a:latin typeface="Times New Roman" panose="02020603050405020304"/>
                <a:cs typeface="Times New Roman" panose="02020603050405020304"/>
              </a:rPr>
              <a:t> trial‐and‐error</a:t>
            </a:r>
            <a:endParaRPr sz="2400">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24000" y="2958148"/>
            <a:ext cx="9144000" cy="551815"/>
          </a:xfrm>
          <a:prstGeom prst="rect">
            <a:avLst/>
          </a:prstGeom>
        </p:spPr>
        <p:txBody>
          <a:bodyPr vert="horz" wrap="square" lIns="0" tIns="13335" rIns="0" bIns="0" rtlCol="0">
            <a:spAutoFit/>
          </a:bodyPr>
          <a:lstStyle/>
          <a:p>
            <a:pPr marL="12700">
              <a:lnSpc>
                <a:spcPct val="100000"/>
              </a:lnSpc>
              <a:spcBef>
                <a:spcPts val="105"/>
              </a:spcBef>
            </a:pPr>
            <a:r>
              <a:rPr sz="3500" dirty="0">
                <a:latin typeface="Times New Roman" panose="02020603050405020304"/>
                <a:cs typeface="Times New Roman" panose="02020603050405020304"/>
              </a:rPr>
              <a:t>Neural</a:t>
            </a:r>
            <a:r>
              <a:rPr sz="3500" spc="-30" dirty="0">
                <a:latin typeface="Times New Roman" panose="02020603050405020304"/>
                <a:cs typeface="Times New Roman" panose="02020603050405020304"/>
              </a:rPr>
              <a:t> </a:t>
            </a:r>
            <a:r>
              <a:rPr sz="3500" dirty="0">
                <a:latin typeface="Times New Roman" panose="02020603050405020304"/>
                <a:cs typeface="Times New Roman" panose="02020603050405020304"/>
              </a:rPr>
              <a:t>networks</a:t>
            </a:r>
            <a:r>
              <a:rPr sz="3500" spc="-45" dirty="0">
                <a:latin typeface="Times New Roman" panose="02020603050405020304"/>
                <a:cs typeface="Times New Roman" panose="02020603050405020304"/>
              </a:rPr>
              <a:t> </a:t>
            </a:r>
            <a:r>
              <a:rPr sz="3500" dirty="0">
                <a:latin typeface="Times New Roman" panose="02020603050405020304"/>
                <a:cs typeface="Times New Roman" panose="02020603050405020304"/>
              </a:rPr>
              <a:t>in</a:t>
            </a:r>
            <a:r>
              <a:rPr sz="3500" spc="-200" dirty="0">
                <a:latin typeface="Times New Roman" panose="02020603050405020304"/>
                <a:cs typeface="Times New Roman" panose="02020603050405020304"/>
              </a:rPr>
              <a:t> </a:t>
            </a:r>
            <a:r>
              <a:rPr sz="3500" dirty="0">
                <a:latin typeface="Times New Roman" panose="02020603050405020304"/>
                <a:cs typeface="Times New Roman" panose="02020603050405020304"/>
              </a:rPr>
              <a:t>Artificial</a:t>
            </a:r>
            <a:r>
              <a:rPr sz="3500" spc="-15" dirty="0">
                <a:latin typeface="Times New Roman" panose="02020603050405020304"/>
                <a:cs typeface="Times New Roman" panose="02020603050405020304"/>
              </a:rPr>
              <a:t> </a:t>
            </a:r>
            <a:r>
              <a:rPr sz="3500" spc="-10" dirty="0">
                <a:latin typeface="Times New Roman" panose="02020603050405020304"/>
                <a:cs typeface="Times New Roman" panose="02020603050405020304"/>
              </a:rPr>
              <a:t>Intelligence</a:t>
            </a:r>
            <a:endParaRPr sz="3500">
              <a:latin typeface="Times New Roman" panose="02020603050405020304"/>
              <a:cs typeface="Times New Roman" panose="02020603050405020304"/>
            </a:endParaRPr>
          </a:p>
        </p:txBody>
      </p:sp>
      <p:sp>
        <p:nvSpPr>
          <p:cNvPr id="3" name="object 3"/>
          <p:cNvSpPr txBox="1"/>
          <p:nvPr/>
        </p:nvSpPr>
        <p:spPr>
          <a:xfrm>
            <a:off x="1907540" y="683133"/>
            <a:ext cx="5501640" cy="442595"/>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Neurons</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human</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brain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pathways</a:t>
            </a:r>
            <a:endParaRPr sz="28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1949169" y="1524000"/>
            <a:ext cx="8586242" cy="4953000"/>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24000" y="2958148"/>
            <a:ext cx="9144000" cy="551815"/>
          </a:xfrm>
          <a:prstGeom prst="rect">
            <a:avLst/>
          </a:prstGeom>
        </p:spPr>
        <p:txBody>
          <a:bodyPr vert="horz" wrap="square" lIns="0" tIns="13335" rIns="0" bIns="0" rtlCol="0">
            <a:spAutoFit/>
          </a:bodyPr>
          <a:lstStyle/>
          <a:p>
            <a:pPr marL="12700">
              <a:lnSpc>
                <a:spcPct val="100000"/>
              </a:lnSpc>
              <a:spcBef>
                <a:spcPts val="105"/>
              </a:spcBef>
            </a:pPr>
            <a:r>
              <a:rPr sz="3500" dirty="0">
                <a:latin typeface="Times New Roman" panose="02020603050405020304"/>
                <a:cs typeface="Times New Roman" panose="02020603050405020304"/>
              </a:rPr>
              <a:t>Neural</a:t>
            </a:r>
            <a:r>
              <a:rPr sz="3500" spc="-30" dirty="0">
                <a:latin typeface="Times New Roman" panose="02020603050405020304"/>
                <a:cs typeface="Times New Roman" panose="02020603050405020304"/>
              </a:rPr>
              <a:t> </a:t>
            </a:r>
            <a:r>
              <a:rPr sz="3500" dirty="0">
                <a:latin typeface="Times New Roman" panose="02020603050405020304"/>
                <a:cs typeface="Times New Roman" panose="02020603050405020304"/>
              </a:rPr>
              <a:t>networks</a:t>
            </a:r>
            <a:r>
              <a:rPr sz="3500" spc="-45" dirty="0">
                <a:latin typeface="Times New Roman" panose="02020603050405020304"/>
                <a:cs typeface="Times New Roman" panose="02020603050405020304"/>
              </a:rPr>
              <a:t> </a:t>
            </a:r>
            <a:r>
              <a:rPr sz="3500" dirty="0">
                <a:latin typeface="Times New Roman" panose="02020603050405020304"/>
                <a:cs typeface="Times New Roman" panose="02020603050405020304"/>
              </a:rPr>
              <a:t>in</a:t>
            </a:r>
            <a:r>
              <a:rPr sz="3500" spc="-200" dirty="0">
                <a:latin typeface="Times New Roman" panose="02020603050405020304"/>
                <a:cs typeface="Times New Roman" panose="02020603050405020304"/>
              </a:rPr>
              <a:t> </a:t>
            </a:r>
            <a:r>
              <a:rPr sz="3500" dirty="0">
                <a:latin typeface="Times New Roman" panose="02020603050405020304"/>
                <a:cs typeface="Times New Roman" panose="02020603050405020304"/>
              </a:rPr>
              <a:t>Artificial</a:t>
            </a:r>
            <a:r>
              <a:rPr sz="3500" spc="-15" dirty="0">
                <a:latin typeface="Times New Roman" panose="02020603050405020304"/>
                <a:cs typeface="Times New Roman" panose="02020603050405020304"/>
              </a:rPr>
              <a:t> </a:t>
            </a:r>
            <a:r>
              <a:rPr sz="3500" spc="-10" dirty="0">
                <a:latin typeface="Times New Roman" panose="02020603050405020304"/>
                <a:cs typeface="Times New Roman" panose="02020603050405020304"/>
              </a:rPr>
              <a:t>Intelligence</a:t>
            </a:r>
            <a:endParaRPr sz="3500">
              <a:latin typeface="Times New Roman" panose="02020603050405020304"/>
              <a:cs typeface="Times New Roman" panose="02020603050405020304"/>
            </a:endParaRPr>
          </a:p>
        </p:txBody>
      </p:sp>
      <p:sp>
        <p:nvSpPr>
          <p:cNvPr id="3" name="object 3"/>
          <p:cNvSpPr txBox="1"/>
          <p:nvPr/>
        </p:nvSpPr>
        <p:spPr>
          <a:xfrm>
            <a:off x="1907540" y="683133"/>
            <a:ext cx="5501640" cy="442595"/>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Neurons</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human</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brain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pathways</a:t>
            </a:r>
            <a:endParaRPr sz="28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1734311" y="1357883"/>
            <a:ext cx="8691372" cy="5119116"/>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02688" y="247650"/>
            <a:ext cx="7360284" cy="551180"/>
          </a:xfrm>
          <a:prstGeom prst="rect">
            <a:avLst/>
          </a:prstGeom>
        </p:spPr>
        <p:txBody>
          <a:bodyPr vert="horz" wrap="square" lIns="0" tIns="12700" rIns="0" bIns="0" rtlCol="0">
            <a:spAutoFit/>
          </a:bodyPr>
          <a:lstStyle/>
          <a:p>
            <a:pPr marL="12700">
              <a:lnSpc>
                <a:spcPct val="100000"/>
              </a:lnSpc>
              <a:spcBef>
                <a:spcPts val="100"/>
              </a:spcBef>
            </a:pPr>
            <a:r>
              <a:rPr sz="3500" dirty="0">
                <a:solidFill>
                  <a:srgbClr val="696363"/>
                </a:solidFill>
                <a:latin typeface="Times New Roman" panose="02020603050405020304"/>
                <a:cs typeface="Times New Roman" panose="02020603050405020304"/>
              </a:rPr>
              <a:t>Neural</a:t>
            </a:r>
            <a:r>
              <a:rPr sz="3500" spc="-30" dirty="0">
                <a:solidFill>
                  <a:srgbClr val="696363"/>
                </a:solidFill>
                <a:latin typeface="Times New Roman" panose="02020603050405020304"/>
                <a:cs typeface="Times New Roman" panose="02020603050405020304"/>
              </a:rPr>
              <a:t> </a:t>
            </a:r>
            <a:r>
              <a:rPr sz="3500" dirty="0">
                <a:solidFill>
                  <a:srgbClr val="696363"/>
                </a:solidFill>
                <a:latin typeface="Times New Roman" panose="02020603050405020304"/>
                <a:cs typeface="Times New Roman" panose="02020603050405020304"/>
              </a:rPr>
              <a:t>networks</a:t>
            </a:r>
            <a:r>
              <a:rPr sz="3500" spc="-25" dirty="0">
                <a:solidFill>
                  <a:srgbClr val="696363"/>
                </a:solidFill>
                <a:latin typeface="Times New Roman" panose="02020603050405020304"/>
                <a:cs typeface="Times New Roman" panose="02020603050405020304"/>
              </a:rPr>
              <a:t> </a:t>
            </a:r>
            <a:r>
              <a:rPr sz="3500" dirty="0">
                <a:solidFill>
                  <a:srgbClr val="696363"/>
                </a:solidFill>
                <a:latin typeface="Times New Roman" panose="02020603050405020304"/>
                <a:cs typeface="Times New Roman" panose="02020603050405020304"/>
              </a:rPr>
              <a:t>in</a:t>
            </a:r>
            <a:r>
              <a:rPr sz="3500" spc="-195" dirty="0">
                <a:solidFill>
                  <a:srgbClr val="696363"/>
                </a:solidFill>
                <a:latin typeface="Times New Roman" panose="02020603050405020304"/>
                <a:cs typeface="Times New Roman" panose="02020603050405020304"/>
              </a:rPr>
              <a:t> </a:t>
            </a:r>
            <a:r>
              <a:rPr sz="3500" dirty="0">
                <a:solidFill>
                  <a:srgbClr val="696363"/>
                </a:solidFill>
                <a:latin typeface="Times New Roman" panose="02020603050405020304"/>
                <a:cs typeface="Times New Roman" panose="02020603050405020304"/>
              </a:rPr>
              <a:t>Artificial</a:t>
            </a:r>
            <a:r>
              <a:rPr sz="3500" spc="5" dirty="0">
                <a:solidFill>
                  <a:srgbClr val="696363"/>
                </a:solidFill>
                <a:latin typeface="Times New Roman" panose="02020603050405020304"/>
                <a:cs typeface="Times New Roman" panose="02020603050405020304"/>
              </a:rPr>
              <a:t> </a:t>
            </a:r>
            <a:r>
              <a:rPr sz="3500" spc="-10" dirty="0">
                <a:solidFill>
                  <a:srgbClr val="696363"/>
                </a:solidFill>
                <a:latin typeface="Times New Roman" panose="02020603050405020304"/>
                <a:cs typeface="Times New Roman" panose="02020603050405020304"/>
              </a:rPr>
              <a:t>Intelligence</a:t>
            </a:r>
            <a:endParaRPr sz="3500">
              <a:latin typeface="Times New Roman" panose="02020603050405020304"/>
              <a:cs typeface="Times New Roman" panose="02020603050405020304"/>
            </a:endParaRPr>
          </a:p>
        </p:txBody>
      </p:sp>
      <p:sp>
        <p:nvSpPr>
          <p:cNvPr id="3" name="object 3"/>
          <p:cNvSpPr txBox="1"/>
          <p:nvPr/>
        </p:nvSpPr>
        <p:spPr>
          <a:xfrm>
            <a:off x="1990140" y="900124"/>
            <a:ext cx="4564380" cy="442595"/>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a:cs typeface="Times New Roman" panose="02020603050405020304"/>
              </a:rPr>
              <a:t>The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history</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Neural</a:t>
            </a:r>
            <a:r>
              <a:rPr sz="2800" spc="-2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Networks</a:t>
            </a:r>
            <a:endParaRPr sz="2800">
              <a:latin typeface="Times New Roman" panose="02020603050405020304"/>
              <a:cs typeface="Times New Roman" panose="02020603050405020304"/>
            </a:endParaRPr>
          </a:p>
        </p:txBody>
      </p:sp>
      <p:pic>
        <p:nvPicPr>
          <p:cNvPr id="4" name="object 4"/>
          <p:cNvPicPr/>
          <p:nvPr/>
        </p:nvPicPr>
        <p:blipFill>
          <a:blip r:embed="rId1" cstate="print"/>
          <a:stretch>
            <a:fillRect/>
          </a:stretch>
        </p:blipFill>
        <p:spPr>
          <a:xfrm>
            <a:off x="1723644" y="1828800"/>
            <a:ext cx="8868156" cy="4114800"/>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2688" y="251778"/>
            <a:ext cx="6297930" cy="551180"/>
          </a:xfrm>
          <a:prstGeom prst="rect">
            <a:avLst/>
          </a:prstGeom>
        </p:spPr>
        <p:txBody>
          <a:bodyPr vert="horz" wrap="square" lIns="0" tIns="12700" rIns="0" bIns="0" rtlCol="0">
            <a:spAutoFit/>
          </a:bodyPr>
          <a:lstStyle/>
          <a:p>
            <a:pPr marL="12700">
              <a:lnSpc>
                <a:spcPct val="100000"/>
              </a:lnSpc>
              <a:spcBef>
                <a:spcPts val="100"/>
              </a:spcBef>
            </a:pPr>
            <a:r>
              <a:rPr sz="3500" dirty="0">
                <a:latin typeface="Times New Roman" panose="02020603050405020304"/>
                <a:cs typeface="Times New Roman" panose="02020603050405020304"/>
              </a:rPr>
              <a:t>Deep</a:t>
            </a:r>
            <a:r>
              <a:rPr sz="3500" spc="-35" dirty="0">
                <a:latin typeface="Times New Roman" panose="02020603050405020304"/>
                <a:cs typeface="Times New Roman" panose="02020603050405020304"/>
              </a:rPr>
              <a:t> </a:t>
            </a:r>
            <a:r>
              <a:rPr sz="3500" dirty="0">
                <a:latin typeface="Times New Roman" panose="02020603050405020304"/>
                <a:cs typeface="Times New Roman" panose="02020603050405020304"/>
              </a:rPr>
              <a:t>Learning in Neural</a:t>
            </a:r>
            <a:r>
              <a:rPr sz="3500" spc="-35" dirty="0">
                <a:latin typeface="Times New Roman" panose="02020603050405020304"/>
                <a:cs typeface="Times New Roman" panose="02020603050405020304"/>
              </a:rPr>
              <a:t> </a:t>
            </a:r>
            <a:r>
              <a:rPr sz="3500" spc="-10" dirty="0">
                <a:latin typeface="Times New Roman" panose="02020603050405020304"/>
                <a:cs typeface="Times New Roman" panose="02020603050405020304"/>
              </a:rPr>
              <a:t>Networks</a:t>
            </a:r>
            <a:endParaRPr sz="3500">
              <a:latin typeface="Times New Roman" panose="02020603050405020304"/>
              <a:cs typeface="Times New Roman" panose="02020603050405020304"/>
            </a:endParaRPr>
          </a:p>
        </p:txBody>
      </p:sp>
      <p:pic>
        <p:nvPicPr>
          <p:cNvPr id="3" name="object 3"/>
          <p:cNvPicPr/>
          <p:nvPr/>
        </p:nvPicPr>
        <p:blipFill>
          <a:blip r:embed="rId1" cstate="print"/>
          <a:stretch>
            <a:fillRect/>
          </a:stretch>
        </p:blipFill>
        <p:spPr>
          <a:xfrm>
            <a:off x="1723644" y="1905000"/>
            <a:ext cx="8791956" cy="3505200"/>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2688" y="251778"/>
            <a:ext cx="5522595" cy="551180"/>
          </a:xfrm>
          <a:prstGeom prst="rect">
            <a:avLst/>
          </a:prstGeom>
        </p:spPr>
        <p:txBody>
          <a:bodyPr vert="horz" wrap="square" lIns="0" tIns="12700" rIns="0" bIns="0" rtlCol="0">
            <a:spAutoFit/>
          </a:bodyPr>
          <a:lstStyle/>
          <a:p>
            <a:pPr marL="12700">
              <a:lnSpc>
                <a:spcPct val="100000"/>
              </a:lnSpc>
              <a:spcBef>
                <a:spcPts val="100"/>
              </a:spcBef>
            </a:pPr>
            <a:r>
              <a:rPr sz="3500" dirty="0">
                <a:latin typeface="Times New Roman" panose="02020603050405020304"/>
                <a:cs typeface="Times New Roman" panose="02020603050405020304"/>
              </a:rPr>
              <a:t>Scope</a:t>
            </a:r>
            <a:r>
              <a:rPr sz="3500" spc="-20" dirty="0">
                <a:latin typeface="Times New Roman" panose="02020603050405020304"/>
                <a:cs typeface="Times New Roman" panose="02020603050405020304"/>
              </a:rPr>
              <a:t> </a:t>
            </a:r>
            <a:r>
              <a:rPr sz="3500" dirty="0">
                <a:latin typeface="Times New Roman" panose="02020603050405020304"/>
                <a:cs typeface="Times New Roman" panose="02020603050405020304"/>
              </a:rPr>
              <a:t>of</a:t>
            </a:r>
            <a:r>
              <a:rPr sz="3500" spc="-195" dirty="0">
                <a:latin typeface="Times New Roman" panose="02020603050405020304"/>
                <a:cs typeface="Times New Roman" panose="02020603050405020304"/>
              </a:rPr>
              <a:t> </a:t>
            </a:r>
            <a:r>
              <a:rPr sz="3500" dirty="0">
                <a:latin typeface="Times New Roman" panose="02020603050405020304"/>
                <a:cs typeface="Times New Roman" panose="02020603050405020304"/>
              </a:rPr>
              <a:t>Artificial </a:t>
            </a:r>
            <a:r>
              <a:rPr sz="3500" spc="-10" dirty="0">
                <a:latin typeface="Times New Roman" panose="02020603050405020304"/>
                <a:cs typeface="Times New Roman" panose="02020603050405020304"/>
              </a:rPr>
              <a:t>Intelligence</a:t>
            </a:r>
            <a:endParaRPr sz="3500">
              <a:latin typeface="Times New Roman" panose="02020603050405020304"/>
              <a:cs typeface="Times New Roman" panose="02020603050405020304"/>
            </a:endParaRPr>
          </a:p>
        </p:txBody>
      </p:sp>
      <p:pic>
        <p:nvPicPr>
          <p:cNvPr id="3" name="object 3"/>
          <p:cNvPicPr/>
          <p:nvPr/>
        </p:nvPicPr>
        <p:blipFill>
          <a:blip r:embed="rId1" cstate="print"/>
          <a:stretch>
            <a:fillRect/>
          </a:stretch>
        </p:blipFill>
        <p:spPr>
          <a:xfrm>
            <a:off x="1738884" y="1219200"/>
            <a:ext cx="8790432" cy="4343400"/>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2688" y="251778"/>
            <a:ext cx="5522595" cy="551180"/>
          </a:xfrm>
          <a:prstGeom prst="rect">
            <a:avLst/>
          </a:prstGeom>
        </p:spPr>
        <p:txBody>
          <a:bodyPr vert="horz" wrap="square" lIns="0" tIns="12700" rIns="0" bIns="0" rtlCol="0">
            <a:spAutoFit/>
          </a:bodyPr>
          <a:lstStyle/>
          <a:p>
            <a:pPr marL="12700">
              <a:lnSpc>
                <a:spcPct val="100000"/>
              </a:lnSpc>
              <a:spcBef>
                <a:spcPts val="100"/>
              </a:spcBef>
            </a:pPr>
            <a:r>
              <a:rPr sz="3500" dirty="0">
                <a:latin typeface="Times New Roman" panose="02020603050405020304"/>
                <a:cs typeface="Times New Roman" panose="02020603050405020304"/>
              </a:rPr>
              <a:t>Scope</a:t>
            </a:r>
            <a:r>
              <a:rPr sz="3500" spc="-20" dirty="0">
                <a:latin typeface="Times New Roman" panose="02020603050405020304"/>
                <a:cs typeface="Times New Roman" panose="02020603050405020304"/>
              </a:rPr>
              <a:t> </a:t>
            </a:r>
            <a:r>
              <a:rPr sz="3500" dirty="0">
                <a:latin typeface="Times New Roman" panose="02020603050405020304"/>
                <a:cs typeface="Times New Roman" panose="02020603050405020304"/>
              </a:rPr>
              <a:t>of</a:t>
            </a:r>
            <a:r>
              <a:rPr sz="3500" spc="-195" dirty="0">
                <a:latin typeface="Times New Roman" panose="02020603050405020304"/>
                <a:cs typeface="Times New Roman" panose="02020603050405020304"/>
              </a:rPr>
              <a:t> </a:t>
            </a:r>
            <a:r>
              <a:rPr sz="3500" dirty="0">
                <a:latin typeface="Times New Roman" panose="02020603050405020304"/>
                <a:cs typeface="Times New Roman" panose="02020603050405020304"/>
              </a:rPr>
              <a:t>Artificial </a:t>
            </a:r>
            <a:r>
              <a:rPr sz="3500" spc="-10" dirty="0">
                <a:latin typeface="Times New Roman" panose="02020603050405020304"/>
                <a:cs typeface="Times New Roman" panose="02020603050405020304"/>
              </a:rPr>
              <a:t>Intelligence</a:t>
            </a:r>
            <a:endParaRPr sz="3500">
              <a:latin typeface="Times New Roman" panose="02020603050405020304"/>
              <a:cs typeface="Times New Roman" panose="02020603050405020304"/>
            </a:endParaRPr>
          </a:p>
        </p:txBody>
      </p:sp>
      <p:pic>
        <p:nvPicPr>
          <p:cNvPr id="3" name="object 3"/>
          <p:cNvPicPr/>
          <p:nvPr/>
        </p:nvPicPr>
        <p:blipFill>
          <a:blip r:embed="rId1" cstate="print"/>
          <a:stretch>
            <a:fillRect/>
          </a:stretch>
        </p:blipFill>
        <p:spPr>
          <a:xfrm>
            <a:off x="1723644" y="1634400"/>
            <a:ext cx="8715756" cy="3215400"/>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60803" y="237997"/>
            <a:ext cx="4740910" cy="627380"/>
          </a:xfrm>
          <a:prstGeom prst="rect">
            <a:avLst/>
          </a:prstGeom>
        </p:spPr>
        <p:txBody>
          <a:bodyPr vert="horz" wrap="square" lIns="0" tIns="12065" rIns="0" bIns="0" rtlCol="0">
            <a:spAutoFit/>
          </a:bodyPr>
          <a:lstStyle/>
          <a:p>
            <a:pPr marL="12700">
              <a:lnSpc>
                <a:spcPct val="100000"/>
              </a:lnSpc>
              <a:spcBef>
                <a:spcPts val="95"/>
              </a:spcBef>
            </a:pPr>
            <a:r>
              <a:rPr sz="4000" dirty="0"/>
              <a:t>The</a:t>
            </a:r>
            <a:r>
              <a:rPr sz="4000" spc="-90" dirty="0"/>
              <a:t> </a:t>
            </a:r>
            <a:r>
              <a:rPr sz="4000" dirty="0"/>
              <a:t>main</a:t>
            </a:r>
            <a:r>
              <a:rPr sz="4000" spc="-75" dirty="0"/>
              <a:t> </a:t>
            </a:r>
            <a:r>
              <a:rPr sz="4000" dirty="0"/>
              <a:t>topics</a:t>
            </a:r>
            <a:r>
              <a:rPr sz="4000" spc="-75" dirty="0"/>
              <a:t> </a:t>
            </a:r>
            <a:r>
              <a:rPr sz="4000" dirty="0"/>
              <a:t>in</a:t>
            </a:r>
            <a:r>
              <a:rPr sz="4000" spc="-280" dirty="0"/>
              <a:t> </a:t>
            </a:r>
            <a:r>
              <a:rPr sz="4000" spc="-25" dirty="0"/>
              <a:t>AI</a:t>
            </a:r>
            <a:endParaRPr sz="4000"/>
          </a:p>
        </p:txBody>
      </p:sp>
      <p:sp>
        <p:nvSpPr>
          <p:cNvPr id="3" name="object 3"/>
          <p:cNvSpPr txBox="1">
            <a:spLocks noGrp="1"/>
          </p:cNvSpPr>
          <p:nvPr>
            <p:ph type="body" idx="1"/>
          </p:nvPr>
        </p:nvSpPr>
        <p:spPr>
          <a:xfrm>
            <a:off x="838200" y="1825625"/>
            <a:ext cx="10515600" cy="4398645"/>
          </a:xfrm>
          <a:prstGeom prst="rect">
            <a:avLst/>
          </a:prstGeom>
        </p:spPr>
        <p:txBody>
          <a:bodyPr vert="horz" wrap="square" lIns="0" tIns="53975" rIns="0" bIns="0" rtlCol="0">
            <a:spAutoFit/>
          </a:bodyPr>
          <a:lstStyle/>
          <a:p>
            <a:pPr marL="37465" marR="5080">
              <a:lnSpc>
                <a:spcPts val="2590"/>
              </a:lnSpc>
              <a:spcBef>
                <a:spcPts val="425"/>
              </a:spcBef>
            </a:pPr>
            <a:r>
              <a:rPr dirty="0"/>
              <a:t>Artificial</a:t>
            </a:r>
            <a:r>
              <a:rPr spc="-60" dirty="0"/>
              <a:t> </a:t>
            </a:r>
            <a:r>
              <a:rPr dirty="0"/>
              <a:t>intelligence</a:t>
            </a:r>
            <a:r>
              <a:rPr spc="-20" dirty="0"/>
              <a:t> </a:t>
            </a:r>
            <a:r>
              <a:rPr dirty="0"/>
              <a:t>can</a:t>
            </a:r>
            <a:r>
              <a:rPr spc="-70" dirty="0"/>
              <a:t> </a:t>
            </a:r>
            <a:r>
              <a:rPr dirty="0"/>
              <a:t>be</a:t>
            </a:r>
            <a:r>
              <a:rPr spc="-70" dirty="0"/>
              <a:t> </a:t>
            </a:r>
            <a:r>
              <a:rPr dirty="0"/>
              <a:t>considered</a:t>
            </a:r>
            <a:r>
              <a:rPr spc="-50" dirty="0"/>
              <a:t> </a:t>
            </a:r>
            <a:r>
              <a:rPr dirty="0"/>
              <a:t>under</a:t>
            </a:r>
            <a:r>
              <a:rPr spc="-55" dirty="0"/>
              <a:t> </a:t>
            </a:r>
            <a:r>
              <a:rPr dirty="0"/>
              <a:t>a</a:t>
            </a:r>
            <a:r>
              <a:rPr spc="-75" dirty="0"/>
              <a:t> </a:t>
            </a:r>
            <a:r>
              <a:rPr spc="-10" dirty="0"/>
              <a:t>number </a:t>
            </a:r>
            <a:r>
              <a:rPr dirty="0"/>
              <a:t>of</a:t>
            </a:r>
            <a:r>
              <a:rPr spc="5" dirty="0"/>
              <a:t> </a:t>
            </a:r>
            <a:r>
              <a:rPr spc="-10" dirty="0"/>
              <a:t>headings:</a:t>
            </a:r>
            <a:endParaRPr spc="-10" dirty="0"/>
          </a:p>
          <a:p>
            <a:pPr marL="312420" indent="-231775">
              <a:lnSpc>
                <a:spcPct val="100000"/>
              </a:lnSpc>
              <a:spcBef>
                <a:spcPts val="75"/>
              </a:spcBef>
              <a:buClr>
                <a:srgbClr val="9B2C1F"/>
              </a:buClr>
              <a:buSzPct val="85000"/>
              <a:buFont typeface="Segoe UI Symbol" panose="020B0502040204020203"/>
              <a:buChar char="⚫"/>
              <a:tabLst>
                <a:tab pos="312420" algn="l"/>
              </a:tabLst>
            </a:pPr>
            <a:r>
              <a:rPr dirty="0"/>
              <a:t>Search</a:t>
            </a:r>
            <a:r>
              <a:rPr spc="-70" dirty="0"/>
              <a:t> </a:t>
            </a:r>
            <a:r>
              <a:rPr dirty="0"/>
              <a:t>(includes</a:t>
            </a:r>
            <a:r>
              <a:rPr spc="-70" dirty="0"/>
              <a:t> </a:t>
            </a:r>
            <a:r>
              <a:rPr dirty="0"/>
              <a:t>Game</a:t>
            </a:r>
            <a:r>
              <a:rPr spc="-85" dirty="0"/>
              <a:t> </a:t>
            </a:r>
            <a:r>
              <a:rPr spc="-10" dirty="0"/>
              <a:t>Playing).</a:t>
            </a:r>
            <a:endParaRPr spc="-10" dirty="0"/>
          </a:p>
          <a:p>
            <a:pPr marL="312420" indent="-231775">
              <a:lnSpc>
                <a:spcPct val="100000"/>
              </a:lnSpc>
              <a:spcBef>
                <a:spcPts val="110"/>
              </a:spcBef>
              <a:buClr>
                <a:srgbClr val="9B2C1F"/>
              </a:buClr>
              <a:buSzPct val="85000"/>
              <a:buFont typeface="Segoe UI Symbol" panose="020B0502040204020203"/>
              <a:buChar char="⚫"/>
              <a:tabLst>
                <a:tab pos="312420" algn="l"/>
                <a:tab pos="2298065" algn="l"/>
              </a:tabLst>
            </a:pPr>
            <a:r>
              <a:rPr spc="-10" dirty="0"/>
              <a:t>Representing</a:t>
            </a:r>
            <a:r>
              <a:rPr dirty="0"/>
              <a:t>	Knowledge</a:t>
            </a:r>
            <a:r>
              <a:rPr spc="-70" dirty="0"/>
              <a:t> </a:t>
            </a:r>
            <a:r>
              <a:rPr dirty="0"/>
              <a:t>and</a:t>
            </a:r>
            <a:r>
              <a:rPr spc="-100" dirty="0"/>
              <a:t> </a:t>
            </a:r>
            <a:r>
              <a:rPr dirty="0"/>
              <a:t>Reasoning</a:t>
            </a:r>
            <a:r>
              <a:rPr spc="-80" dirty="0"/>
              <a:t> </a:t>
            </a:r>
            <a:r>
              <a:rPr dirty="0"/>
              <a:t>with</a:t>
            </a:r>
            <a:r>
              <a:rPr spc="-90" dirty="0"/>
              <a:t> </a:t>
            </a:r>
            <a:r>
              <a:rPr spc="-25" dirty="0"/>
              <a:t>it.</a:t>
            </a:r>
            <a:endParaRPr spc="-25" dirty="0"/>
          </a:p>
          <a:p>
            <a:pPr marL="312420" indent="-231775">
              <a:lnSpc>
                <a:spcPct val="100000"/>
              </a:lnSpc>
              <a:spcBef>
                <a:spcPts val="120"/>
              </a:spcBef>
              <a:buClr>
                <a:srgbClr val="9B2C1F"/>
              </a:buClr>
              <a:buSzPct val="85000"/>
              <a:buFont typeface="Segoe UI Symbol" panose="020B0502040204020203"/>
              <a:buChar char="⚫"/>
              <a:tabLst>
                <a:tab pos="312420" algn="l"/>
              </a:tabLst>
            </a:pPr>
            <a:r>
              <a:rPr spc="-10" dirty="0"/>
              <a:t>Planning.</a:t>
            </a:r>
            <a:endParaRPr spc="-10" dirty="0"/>
          </a:p>
          <a:p>
            <a:pPr marL="312420" indent="-231775">
              <a:lnSpc>
                <a:spcPct val="100000"/>
              </a:lnSpc>
              <a:spcBef>
                <a:spcPts val="105"/>
              </a:spcBef>
              <a:buClr>
                <a:srgbClr val="9B2C1F"/>
              </a:buClr>
              <a:buSzPct val="85000"/>
              <a:buFont typeface="Segoe UI Symbol" panose="020B0502040204020203"/>
              <a:buChar char="⚫"/>
              <a:tabLst>
                <a:tab pos="312420" algn="l"/>
              </a:tabLst>
            </a:pPr>
            <a:r>
              <a:rPr spc="-10" dirty="0"/>
              <a:t>Learning.</a:t>
            </a:r>
            <a:endParaRPr spc="-10" dirty="0"/>
          </a:p>
          <a:p>
            <a:pPr marL="312420" indent="-231775">
              <a:lnSpc>
                <a:spcPct val="100000"/>
              </a:lnSpc>
              <a:spcBef>
                <a:spcPts val="110"/>
              </a:spcBef>
              <a:buClr>
                <a:srgbClr val="9B2C1F"/>
              </a:buClr>
              <a:buSzPct val="85000"/>
              <a:buFont typeface="Segoe UI Symbol" panose="020B0502040204020203"/>
              <a:buChar char="⚫"/>
              <a:tabLst>
                <a:tab pos="312420" algn="l"/>
              </a:tabLst>
            </a:pPr>
            <a:r>
              <a:rPr dirty="0"/>
              <a:t>Natural</a:t>
            </a:r>
            <a:r>
              <a:rPr spc="-120" dirty="0"/>
              <a:t> </a:t>
            </a:r>
            <a:r>
              <a:rPr dirty="0"/>
              <a:t>language</a:t>
            </a:r>
            <a:r>
              <a:rPr spc="-105" dirty="0"/>
              <a:t> </a:t>
            </a:r>
            <a:r>
              <a:rPr spc="-10" dirty="0"/>
              <a:t>processing.</a:t>
            </a:r>
            <a:endParaRPr spc="-10" dirty="0"/>
          </a:p>
          <a:p>
            <a:pPr marL="312420" indent="-231775">
              <a:lnSpc>
                <a:spcPct val="100000"/>
              </a:lnSpc>
              <a:spcBef>
                <a:spcPts val="120"/>
              </a:spcBef>
              <a:buClr>
                <a:srgbClr val="9B2C1F"/>
              </a:buClr>
              <a:buSzPct val="85000"/>
              <a:buFont typeface="Segoe UI Symbol" panose="020B0502040204020203"/>
              <a:buChar char="⚫"/>
              <a:tabLst>
                <a:tab pos="312420" algn="l"/>
              </a:tabLst>
            </a:pPr>
            <a:r>
              <a:rPr dirty="0"/>
              <a:t>Expert</a:t>
            </a:r>
            <a:r>
              <a:rPr spc="-60" dirty="0"/>
              <a:t> </a:t>
            </a:r>
            <a:r>
              <a:rPr spc="-10" dirty="0"/>
              <a:t>Systems.</a:t>
            </a:r>
            <a:endParaRPr spc="-10" dirty="0"/>
          </a:p>
          <a:p>
            <a:pPr marL="312420" indent="-231775">
              <a:lnSpc>
                <a:spcPts val="2735"/>
              </a:lnSpc>
              <a:spcBef>
                <a:spcPts val="110"/>
              </a:spcBef>
              <a:buClr>
                <a:srgbClr val="9B2C1F"/>
              </a:buClr>
              <a:buSzPct val="85000"/>
              <a:buFont typeface="Segoe UI Symbol" panose="020B0502040204020203"/>
              <a:buChar char="⚫"/>
              <a:tabLst>
                <a:tab pos="312420" algn="l"/>
              </a:tabLst>
            </a:pPr>
            <a:r>
              <a:rPr dirty="0">
                <a:solidFill>
                  <a:srgbClr val="CC9900"/>
                </a:solidFill>
              </a:rPr>
              <a:t>Interacting</a:t>
            </a:r>
            <a:r>
              <a:rPr spc="-70" dirty="0">
                <a:solidFill>
                  <a:srgbClr val="CC9900"/>
                </a:solidFill>
              </a:rPr>
              <a:t> </a:t>
            </a:r>
            <a:r>
              <a:rPr dirty="0">
                <a:solidFill>
                  <a:srgbClr val="CC9900"/>
                </a:solidFill>
              </a:rPr>
              <a:t>with</a:t>
            </a:r>
            <a:r>
              <a:rPr spc="-65" dirty="0">
                <a:solidFill>
                  <a:srgbClr val="CC9900"/>
                </a:solidFill>
              </a:rPr>
              <a:t> </a:t>
            </a:r>
            <a:r>
              <a:rPr dirty="0">
                <a:solidFill>
                  <a:srgbClr val="CC9900"/>
                </a:solidFill>
              </a:rPr>
              <a:t>the</a:t>
            </a:r>
            <a:r>
              <a:rPr spc="-70" dirty="0">
                <a:solidFill>
                  <a:srgbClr val="CC9900"/>
                </a:solidFill>
              </a:rPr>
              <a:t> </a:t>
            </a:r>
            <a:r>
              <a:rPr spc="-10" dirty="0">
                <a:solidFill>
                  <a:srgbClr val="CC9900"/>
                </a:solidFill>
              </a:rPr>
              <a:t>Environment</a:t>
            </a:r>
            <a:endParaRPr spc="-10" dirty="0">
              <a:solidFill>
                <a:srgbClr val="CC9900"/>
              </a:solidFill>
            </a:endParaRPr>
          </a:p>
          <a:p>
            <a:pPr marL="1593215">
              <a:lnSpc>
                <a:spcPts val="2735"/>
              </a:lnSpc>
            </a:pPr>
            <a:r>
              <a:rPr dirty="0">
                <a:solidFill>
                  <a:srgbClr val="CC9900"/>
                </a:solidFill>
              </a:rPr>
              <a:t>(e.g.</a:t>
            </a:r>
            <a:r>
              <a:rPr spc="-114" dirty="0">
                <a:solidFill>
                  <a:srgbClr val="CC9900"/>
                </a:solidFill>
              </a:rPr>
              <a:t> </a:t>
            </a:r>
            <a:r>
              <a:rPr dirty="0">
                <a:solidFill>
                  <a:srgbClr val="CC9900"/>
                </a:solidFill>
              </a:rPr>
              <a:t>Vision,</a:t>
            </a:r>
            <a:r>
              <a:rPr spc="-80" dirty="0">
                <a:solidFill>
                  <a:srgbClr val="CC9900"/>
                </a:solidFill>
              </a:rPr>
              <a:t> </a:t>
            </a:r>
            <a:r>
              <a:rPr dirty="0">
                <a:solidFill>
                  <a:srgbClr val="CC9900"/>
                </a:solidFill>
              </a:rPr>
              <a:t>Speech</a:t>
            </a:r>
            <a:r>
              <a:rPr spc="-95" dirty="0">
                <a:solidFill>
                  <a:srgbClr val="CC9900"/>
                </a:solidFill>
              </a:rPr>
              <a:t> </a:t>
            </a:r>
            <a:r>
              <a:rPr dirty="0">
                <a:solidFill>
                  <a:srgbClr val="CC9900"/>
                </a:solidFill>
              </a:rPr>
              <a:t>recognition,</a:t>
            </a:r>
            <a:r>
              <a:rPr spc="-80" dirty="0">
                <a:solidFill>
                  <a:srgbClr val="CC9900"/>
                </a:solidFill>
              </a:rPr>
              <a:t> </a:t>
            </a:r>
            <a:r>
              <a:rPr spc="-10" dirty="0">
                <a:solidFill>
                  <a:srgbClr val="CC9900"/>
                </a:solidFill>
              </a:rPr>
              <a:t>Robotics)</a:t>
            </a:r>
            <a:endParaRPr spc="-10" dirty="0">
              <a:solidFill>
                <a:srgbClr val="CC9900"/>
              </a:solidFill>
            </a:endParaRPr>
          </a:p>
          <a:p>
            <a:pPr marL="37465">
              <a:lnSpc>
                <a:spcPct val="100000"/>
              </a:lnSpc>
              <a:spcBef>
                <a:spcPts val="1750"/>
              </a:spcBef>
            </a:pPr>
            <a:r>
              <a:rPr sz="1800" i="1" dirty="0">
                <a:latin typeface="Arial" panose="020B0604020202020204"/>
                <a:cs typeface="Arial" panose="020B0604020202020204"/>
              </a:rPr>
              <a:t>We</a:t>
            </a:r>
            <a:r>
              <a:rPr sz="1800" i="1" spc="-30" dirty="0">
                <a:latin typeface="Arial" panose="020B0604020202020204"/>
                <a:cs typeface="Arial" panose="020B0604020202020204"/>
              </a:rPr>
              <a:t> </a:t>
            </a:r>
            <a:r>
              <a:rPr sz="1800" i="1" dirty="0">
                <a:latin typeface="Arial" panose="020B0604020202020204"/>
                <a:cs typeface="Arial" panose="020B0604020202020204"/>
              </a:rPr>
              <a:t>won’t</a:t>
            </a:r>
            <a:r>
              <a:rPr sz="1800" i="1" spc="10" dirty="0">
                <a:latin typeface="Arial" panose="020B0604020202020204"/>
                <a:cs typeface="Arial" panose="020B0604020202020204"/>
              </a:rPr>
              <a:t> </a:t>
            </a:r>
            <a:r>
              <a:rPr sz="1800" i="1" dirty="0">
                <a:latin typeface="Arial" panose="020B0604020202020204"/>
                <a:cs typeface="Arial" panose="020B0604020202020204"/>
              </a:rPr>
              <a:t>have</a:t>
            </a:r>
            <a:r>
              <a:rPr sz="1800" i="1" spc="-15" dirty="0">
                <a:latin typeface="Arial" panose="020B0604020202020204"/>
                <a:cs typeface="Arial" panose="020B0604020202020204"/>
              </a:rPr>
              <a:t> </a:t>
            </a:r>
            <a:r>
              <a:rPr sz="1800" i="1" dirty="0">
                <a:latin typeface="Arial" panose="020B0604020202020204"/>
                <a:cs typeface="Arial" panose="020B0604020202020204"/>
              </a:rPr>
              <a:t>time</a:t>
            </a:r>
            <a:r>
              <a:rPr sz="1800" i="1" spc="-10" dirty="0">
                <a:latin typeface="Arial" panose="020B0604020202020204"/>
                <a:cs typeface="Arial" panose="020B0604020202020204"/>
              </a:rPr>
              <a:t> </a:t>
            </a:r>
            <a:r>
              <a:rPr sz="1800" i="1" dirty="0">
                <a:latin typeface="Arial" panose="020B0604020202020204"/>
                <a:cs typeface="Arial" panose="020B0604020202020204"/>
              </a:rPr>
              <a:t>in</a:t>
            </a:r>
            <a:r>
              <a:rPr sz="1800" i="1" spc="-15" dirty="0">
                <a:latin typeface="Arial" panose="020B0604020202020204"/>
                <a:cs typeface="Arial" panose="020B0604020202020204"/>
              </a:rPr>
              <a:t> </a:t>
            </a:r>
            <a:r>
              <a:rPr sz="1800" i="1" dirty="0">
                <a:latin typeface="Arial" panose="020B0604020202020204"/>
                <a:cs typeface="Arial" panose="020B0604020202020204"/>
              </a:rPr>
              <a:t>this</a:t>
            </a:r>
            <a:r>
              <a:rPr sz="1800" i="1" spc="-15" dirty="0">
                <a:latin typeface="Arial" panose="020B0604020202020204"/>
                <a:cs typeface="Arial" panose="020B0604020202020204"/>
              </a:rPr>
              <a:t> </a:t>
            </a:r>
            <a:r>
              <a:rPr sz="1800" i="1" dirty="0">
                <a:latin typeface="Arial" panose="020B0604020202020204"/>
                <a:cs typeface="Arial" panose="020B0604020202020204"/>
              </a:rPr>
              <a:t>course</a:t>
            </a:r>
            <a:r>
              <a:rPr sz="1800" i="1" spc="-20" dirty="0">
                <a:latin typeface="Arial" panose="020B0604020202020204"/>
                <a:cs typeface="Arial" panose="020B0604020202020204"/>
              </a:rPr>
              <a:t> </a:t>
            </a:r>
            <a:r>
              <a:rPr sz="1800" i="1" dirty="0">
                <a:latin typeface="Arial" panose="020B0604020202020204"/>
                <a:cs typeface="Arial" panose="020B0604020202020204"/>
              </a:rPr>
              <a:t>to</a:t>
            </a:r>
            <a:r>
              <a:rPr sz="1800" i="1" spc="-20" dirty="0">
                <a:latin typeface="Arial" panose="020B0604020202020204"/>
                <a:cs typeface="Arial" panose="020B0604020202020204"/>
              </a:rPr>
              <a:t> </a:t>
            </a:r>
            <a:r>
              <a:rPr sz="1800" i="1" dirty="0">
                <a:latin typeface="Arial" panose="020B0604020202020204"/>
                <a:cs typeface="Arial" panose="020B0604020202020204"/>
              </a:rPr>
              <a:t>consider all</a:t>
            </a:r>
            <a:r>
              <a:rPr sz="1800" i="1" spc="-10" dirty="0">
                <a:latin typeface="Arial" panose="020B0604020202020204"/>
                <a:cs typeface="Arial" panose="020B0604020202020204"/>
              </a:rPr>
              <a:t> </a:t>
            </a:r>
            <a:r>
              <a:rPr sz="1800" i="1" dirty="0">
                <a:latin typeface="Arial" panose="020B0604020202020204"/>
                <a:cs typeface="Arial" panose="020B0604020202020204"/>
              </a:rPr>
              <a:t>of</a:t>
            </a:r>
            <a:r>
              <a:rPr sz="1800" i="1" spc="-15" dirty="0">
                <a:latin typeface="Arial" panose="020B0604020202020204"/>
                <a:cs typeface="Arial" panose="020B0604020202020204"/>
              </a:rPr>
              <a:t> </a:t>
            </a:r>
            <a:r>
              <a:rPr sz="1800" i="1" spc="-10" dirty="0">
                <a:latin typeface="Arial" panose="020B0604020202020204"/>
                <a:cs typeface="Arial" panose="020B0604020202020204"/>
              </a:rPr>
              <a:t>these.</a:t>
            </a:r>
            <a:endParaRPr sz="1800">
              <a:latin typeface="Arial" panose="020B0604020202020204"/>
              <a:cs typeface="Arial" panose="020B06040202020202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8926"/>
            <a:ext cx="10972800" cy="1114425"/>
          </a:xfrm>
          <a:prstGeom prst="rect">
            <a:avLst/>
          </a:prstGeom>
        </p:spPr>
        <p:txBody>
          <a:bodyPr vert="horz" wrap="square" lIns="0" tIns="499653" rIns="0" bIns="0" rtlCol="0">
            <a:spAutoFit/>
          </a:bodyPr>
          <a:lstStyle/>
          <a:p>
            <a:pPr marL="12700">
              <a:lnSpc>
                <a:spcPct val="100000"/>
              </a:lnSpc>
              <a:spcBef>
                <a:spcPts val="120"/>
              </a:spcBef>
            </a:pPr>
            <a:r>
              <a:rPr dirty="0"/>
              <a:t>Computer</a:t>
            </a:r>
            <a:r>
              <a:rPr spc="-35" dirty="0"/>
              <a:t> </a:t>
            </a:r>
            <a:r>
              <a:rPr spc="-10" dirty="0"/>
              <a:t>Vision</a:t>
            </a:r>
            <a:endParaRPr spc="-10" dirty="0"/>
          </a:p>
        </p:txBody>
      </p:sp>
      <p:sp>
        <p:nvSpPr>
          <p:cNvPr id="3" name="object 3"/>
          <p:cNvSpPr txBox="1"/>
          <p:nvPr/>
        </p:nvSpPr>
        <p:spPr>
          <a:xfrm>
            <a:off x="512967" y="1621807"/>
            <a:ext cx="11159912" cy="765175"/>
          </a:xfrm>
          <a:prstGeom prst="rect">
            <a:avLst/>
          </a:prstGeom>
        </p:spPr>
        <p:txBody>
          <a:bodyPr vert="horz" wrap="square" lIns="0" tIns="16933" rIns="0" bIns="0" rtlCol="0">
            <a:spAutoFit/>
          </a:bodyPr>
          <a:lstStyle/>
          <a:p>
            <a:pPr marL="298450" indent="-285750">
              <a:lnSpc>
                <a:spcPct val="100000"/>
              </a:lnSpc>
              <a:spcBef>
                <a:spcPts val="100"/>
              </a:spcBef>
              <a:buFont typeface="Arial" panose="020B0604020202020204" pitchFamily="34" charset="0"/>
              <a:buChar char="•"/>
            </a:pPr>
            <a:r>
              <a:rPr dirty="0">
                <a:solidFill>
                  <a:srgbClr val="595959"/>
                </a:solidFill>
                <a:latin typeface="Calibri" panose="020F0502020204030204" charset="0"/>
                <a:cs typeface="Calibri" panose="020F0502020204030204" charset="0"/>
              </a:rPr>
              <a:t>Computer</a:t>
            </a:r>
            <a:r>
              <a:rPr spc="-4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Vision</a:t>
            </a:r>
            <a:r>
              <a:rPr spc="-4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is</a:t>
            </a:r>
            <a:r>
              <a:rPr spc="-4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the</a:t>
            </a:r>
            <a:r>
              <a:rPr spc="-4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application</a:t>
            </a:r>
            <a:r>
              <a:rPr spc="-4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of</a:t>
            </a:r>
            <a:r>
              <a:rPr spc="-4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algorithms</a:t>
            </a:r>
            <a:r>
              <a:rPr spc="-4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to</a:t>
            </a:r>
            <a:r>
              <a:rPr spc="-3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images.</a:t>
            </a:r>
            <a:endParaRPr>
              <a:latin typeface="Calibri" panose="020F0502020204030204" charset="0"/>
              <a:cs typeface="Calibri" panose="020F0502020204030204" charset="0"/>
            </a:endParaRPr>
          </a:p>
          <a:p>
            <a:pPr marL="298450" marR="5080" indent="-285750">
              <a:lnSpc>
                <a:spcPct val="115000"/>
              </a:lnSpc>
              <a:spcBef>
                <a:spcPts val="1200"/>
              </a:spcBef>
              <a:buFont typeface="Arial" panose="020B0604020202020204" pitchFamily="34" charset="0"/>
              <a:buChar char="•"/>
            </a:pPr>
            <a:r>
              <a:rPr dirty="0">
                <a:solidFill>
                  <a:srgbClr val="595959"/>
                </a:solidFill>
                <a:latin typeface="Calibri" panose="020F0502020204030204" charset="0"/>
                <a:cs typeface="Calibri" panose="020F0502020204030204" charset="0"/>
              </a:rPr>
              <a:t>The</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pixel</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values</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and</a:t>
            </a:r>
            <a:r>
              <a:rPr spc="-5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transformations</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of</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those</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values</a:t>
            </a:r>
            <a:r>
              <a:rPr spc="-5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produce</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the</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layers</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of</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a:t>
            </a:r>
            <a:r>
              <a:rPr spc="-50"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deep </a:t>
            </a:r>
            <a:r>
              <a:rPr dirty="0">
                <a:solidFill>
                  <a:srgbClr val="595959"/>
                </a:solidFill>
                <a:latin typeface="Calibri" panose="020F0502020204030204" charset="0"/>
                <a:cs typeface="Calibri" panose="020F0502020204030204" charset="0"/>
              </a:rPr>
              <a:t>learning</a:t>
            </a:r>
            <a:r>
              <a:rPr spc="-11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network.</a:t>
            </a:r>
            <a:endParaRPr>
              <a:latin typeface="Calibri" panose="020F0502020204030204" charset="0"/>
              <a:cs typeface="Calibri" panose="020F0502020204030204" charset="0"/>
            </a:endParaRPr>
          </a:p>
        </p:txBody>
      </p:sp>
      <p:pic>
        <p:nvPicPr>
          <p:cNvPr id="4" name="object 4"/>
          <p:cNvPicPr/>
          <p:nvPr/>
        </p:nvPicPr>
        <p:blipFill>
          <a:blip r:embed="rId1" cstate="print"/>
          <a:stretch>
            <a:fillRect/>
          </a:stretch>
        </p:blipFill>
        <p:spPr>
          <a:xfrm>
            <a:off x="3019996" y="3101833"/>
            <a:ext cx="6152000" cy="34924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Computer</a:t>
            </a:r>
            <a:r>
              <a:rPr spc="25" dirty="0"/>
              <a:t> </a:t>
            </a:r>
            <a:r>
              <a:rPr dirty="0"/>
              <a:t>Vision</a:t>
            </a:r>
            <a:r>
              <a:rPr spc="-45" dirty="0"/>
              <a:t> </a:t>
            </a:r>
            <a:r>
              <a:rPr spc="-10" dirty="0"/>
              <a:t>Tasks</a:t>
            </a:r>
            <a:endParaRPr spc="-10" dirty="0"/>
          </a:p>
        </p:txBody>
      </p:sp>
      <p:pic>
        <p:nvPicPr>
          <p:cNvPr id="3" name="object 3"/>
          <p:cNvPicPr/>
          <p:nvPr/>
        </p:nvPicPr>
        <p:blipFill>
          <a:blip r:embed="rId1" cstate="print"/>
          <a:stretch>
            <a:fillRect/>
          </a:stretch>
        </p:blipFill>
        <p:spPr>
          <a:xfrm>
            <a:off x="203200" y="1560165"/>
            <a:ext cx="11785599" cy="4363341"/>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Computer</a:t>
            </a:r>
            <a:r>
              <a:rPr spc="25" dirty="0"/>
              <a:t> </a:t>
            </a:r>
            <a:r>
              <a:rPr dirty="0"/>
              <a:t>Vision</a:t>
            </a:r>
            <a:r>
              <a:rPr spc="-45" dirty="0"/>
              <a:t> </a:t>
            </a:r>
            <a:r>
              <a:rPr spc="-10" dirty="0"/>
              <a:t>Tasks</a:t>
            </a:r>
            <a:endParaRPr spc="-10" dirty="0"/>
          </a:p>
        </p:txBody>
      </p:sp>
      <p:pic>
        <p:nvPicPr>
          <p:cNvPr id="3" name="object 3"/>
          <p:cNvPicPr/>
          <p:nvPr/>
        </p:nvPicPr>
        <p:blipFill>
          <a:blip r:embed="rId1" cstate="print"/>
          <a:stretch>
            <a:fillRect/>
          </a:stretch>
        </p:blipFill>
        <p:spPr>
          <a:xfrm>
            <a:off x="2564181" y="1356965"/>
            <a:ext cx="7063633" cy="529766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Natural</a:t>
            </a:r>
            <a:r>
              <a:rPr spc="-35" dirty="0"/>
              <a:t> </a:t>
            </a:r>
            <a:r>
              <a:rPr dirty="0"/>
              <a:t>Language</a:t>
            </a:r>
            <a:r>
              <a:rPr spc="-40" dirty="0"/>
              <a:t> </a:t>
            </a:r>
            <a:r>
              <a:rPr dirty="0"/>
              <a:t>Processing</a:t>
            </a:r>
            <a:r>
              <a:rPr spc="-35" dirty="0"/>
              <a:t> </a:t>
            </a:r>
            <a:r>
              <a:rPr dirty="0"/>
              <a:t>(NLP)</a:t>
            </a:r>
            <a:r>
              <a:rPr spc="-100" dirty="0"/>
              <a:t> </a:t>
            </a:r>
            <a:r>
              <a:rPr spc="-10" dirty="0"/>
              <a:t>Tasks</a:t>
            </a:r>
            <a:endParaRPr spc="-10" dirty="0"/>
          </a:p>
        </p:txBody>
      </p:sp>
      <p:sp>
        <p:nvSpPr>
          <p:cNvPr id="3" name="object 3"/>
          <p:cNvSpPr txBox="1"/>
          <p:nvPr/>
        </p:nvSpPr>
        <p:spPr>
          <a:xfrm>
            <a:off x="793050" y="2292749"/>
            <a:ext cx="5812367" cy="1858010"/>
          </a:xfrm>
          <a:prstGeom prst="rect">
            <a:avLst/>
          </a:prstGeom>
        </p:spPr>
        <p:txBody>
          <a:bodyPr vert="horz" wrap="square" lIns="0" tIns="71120" rIns="0" bIns="0" rtlCol="0">
            <a:spAutoFit/>
          </a:bodyPr>
          <a:lstStyle/>
          <a:p>
            <a:pPr marL="379095" indent="-366395">
              <a:lnSpc>
                <a:spcPct val="150000"/>
              </a:lnSpc>
              <a:spcBef>
                <a:spcPts val="420"/>
              </a:spcBef>
              <a:buFont typeface="Arial MT"/>
              <a:buChar char="●"/>
              <a:tabLst>
                <a:tab pos="379095" algn="l"/>
              </a:tabLst>
            </a:pPr>
            <a:r>
              <a:rPr spc="-10" dirty="0">
                <a:solidFill>
                  <a:srgbClr val="595959"/>
                </a:solidFill>
                <a:latin typeface="Calibri" panose="020F0502020204030204" charset="0"/>
                <a:cs typeface="Calibri" panose="020F0502020204030204" charset="0"/>
              </a:rPr>
              <a:t>Sentiment</a:t>
            </a:r>
            <a:r>
              <a:rPr spc="-3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Classification</a:t>
            </a:r>
            <a:r>
              <a:rPr spc="-3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or</a:t>
            </a:r>
            <a:r>
              <a:rPr spc="-3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Regression</a:t>
            </a:r>
            <a:endParaRPr>
              <a:latin typeface="Calibri" panose="020F0502020204030204" charset="0"/>
              <a:cs typeface="Calibri" panose="020F0502020204030204" charset="0"/>
            </a:endParaRPr>
          </a:p>
          <a:p>
            <a:pPr marL="379095" indent="-366395">
              <a:lnSpc>
                <a:spcPct val="150000"/>
              </a:lnSpc>
              <a:spcBef>
                <a:spcPts val="325"/>
              </a:spcBef>
              <a:buFont typeface="Arial MT"/>
              <a:buChar char="●"/>
              <a:tabLst>
                <a:tab pos="379095" algn="l"/>
              </a:tabLst>
            </a:pPr>
            <a:r>
              <a:rPr dirty="0">
                <a:solidFill>
                  <a:srgbClr val="595959"/>
                </a:solidFill>
                <a:latin typeface="Calibri" panose="020F0502020204030204" charset="0"/>
                <a:cs typeface="Calibri" panose="020F0502020204030204" charset="0"/>
              </a:rPr>
              <a:t>Named</a:t>
            </a:r>
            <a:r>
              <a:rPr spc="-4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Entity</a:t>
            </a:r>
            <a:r>
              <a:rPr spc="-4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Recognition</a:t>
            </a:r>
            <a:r>
              <a:rPr spc="-4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(NER)</a:t>
            </a:r>
            <a:endParaRPr>
              <a:latin typeface="Calibri" panose="020F0502020204030204" charset="0"/>
              <a:cs typeface="Calibri" panose="020F0502020204030204" charset="0"/>
            </a:endParaRPr>
          </a:p>
          <a:p>
            <a:pPr marL="379095" indent="-366395">
              <a:lnSpc>
                <a:spcPct val="150000"/>
              </a:lnSpc>
              <a:spcBef>
                <a:spcPts val="325"/>
              </a:spcBef>
              <a:buFont typeface="Arial MT"/>
              <a:buChar char="●"/>
              <a:tabLst>
                <a:tab pos="379095" algn="l"/>
              </a:tabLst>
            </a:pPr>
            <a:r>
              <a:rPr spc="-10" dirty="0">
                <a:solidFill>
                  <a:srgbClr val="595959"/>
                </a:solidFill>
                <a:latin typeface="Calibri" panose="020F0502020204030204" charset="0"/>
                <a:cs typeface="Calibri" panose="020F0502020204030204" charset="0"/>
              </a:rPr>
              <a:t>Language</a:t>
            </a:r>
            <a:r>
              <a:rPr spc="-9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Translation</a:t>
            </a:r>
            <a:endParaRPr>
              <a:latin typeface="Calibri" panose="020F0502020204030204" charset="0"/>
              <a:cs typeface="Calibri" panose="020F0502020204030204" charset="0"/>
            </a:endParaRPr>
          </a:p>
          <a:p>
            <a:pPr marL="379095" indent="-366395">
              <a:lnSpc>
                <a:spcPct val="150000"/>
              </a:lnSpc>
              <a:spcBef>
                <a:spcPts val="325"/>
              </a:spcBef>
              <a:buFont typeface="Arial MT"/>
              <a:buChar char="●"/>
              <a:tabLst>
                <a:tab pos="379095" algn="l"/>
              </a:tabLst>
            </a:pPr>
            <a:r>
              <a:rPr spc="-10" dirty="0">
                <a:solidFill>
                  <a:srgbClr val="595959"/>
                </a:solidFill>
                <a:latin typeface="Calibri" panose="020F0502020204030204" charset="0"/>
                <a:cs typeface="Calibri" panose="020F0502020204030204" charset="0"/>
              </a:rPr>
              <a:t>Information</a:t>
            </a:r>
            <a:r>
              <a:rPr spc="-4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Summarization</a:t>
            </a:r>
            <a:endParaRPr>
              <a:latin typeface="Calibri" panose="020F0502020204030204" charset="0"/>
              <a:cs typeface="Calibri" panose="020F0502020204030204" charset="0"/>
            </a:endParaRPr>
          </a:p>
        </p:txBody>
      </p:sp>
      <p:grpSp>
        <p:nvGrpSpPr>
          <p:cNvPr id="4" name="object 4"/>
          <p:cNvGrpSpPr/>
          <p:nvPr/>
        </p:nvGrpSpPr>
        <p:grpSpPr>
          <a:xfrm>
            <a:off x="4960919" y="3742524"/>
            <a:ext cx="7048500" cy="2705100"/>
            <a:chOff x="3808319" y="1671037"/>
            <a:chExt cx="5286375" cy="2028825"/>
          </a:xfrm>
        </p:grpSpPr>
        <p:pic>
          <p:nvPicPr>
            <p:cNvPr id="5" name="object 5"/>
            <p:cNvPicPr/>
            <p:nvPr/>
          </p:nvPicPr>
          <p:blipFill>
            <a:blip r:embed="rId1" cstate="print"/>
            <a:stretch>
              <a:fillRect/>
            </a:stretch>
          </p:blipFill>
          <p:spPr>
            <a:xfrm>
              <a:off x="3827370" y="2040900"/>
              <a:ext cx="5247724" cy="1639549"/>
            </a:xfrm>
            <a:prstGeom prst="rect">
              <a:avLst/>
            </a:prstGeom>
          </p:spPr>
        </p:pic>
        <p:sp>
          <p:nvSpPr>
            <p:cNvPr id="6" name="object 6"/>
            <p:cNvSpPr/>
            <p:nvPr/>
          </p:nvSpPr>
          <p:spPr>
            <a:xfrm>
              <a:off x="3817844" y="2031375"/>
              <a:ext cx="5267325" cy="1658620"/>
            </a:xfrm>
            <a:custGeom>
              <a:avLst/>
              <a:gdLst/>
              <a:ahLst/>
              <a:cxnLst/>
              <a:rect l="l" t="t" r="r" b="b"/>
              <a:pathLst>
                <a:path w="5267325" h="1658620">
                  <a:moveTo>
                    <a:pt x="0" y="0"/>
                  </a:moveTo>
                  <a:lnTo>
                    <a:pt x="5266774" y="0"/>
                  </a:lnTo>
                  <a:lnTo>
                    <a:pt x="5266774" y="1658599"/>
                  </a:lnTo>
                  <a:lnTo>
                    <a:pt x="0" y="1658599"/>
                  </a:lnTo>
                  <a:lnTo>
                    <a:pt x="0" y="0"/>
                  </a:lnTo>
                  <a:close/>
                </a:path>
              </a:pathLst>
            </a:custGeom>
            <a:ln w="19049">
              <a:solidFill>
                <a:srgbClr val="595959"/>
              </a:solidFill>
            </a:ln>
          </p:spPr>
          <p:txBody>
            <a:bodyPr wrap="square" lIns="0" tIns="0" rIns="0" bIns="0" rtlCol="0"/>
            <a:lstStyle/>
            <a:p>
              <a:endParaRPr sz="2400"/>
            </a:p>
          </p:txBody>
        </p:sp>
        <p:sp>
          <p:nvSpPr>
            <p:cNvPr id="7" name="object 7"/>
            <p:cNvSpPr/>
            <p:nvPr/>
          </p:nvSpPr>
          <p:spPr>
            <a:xfrm>
              <a:off x="4164932" y="1675800"/>
              <a:ext cx="2230120" cy="356235"/>
            </a:xfrm>
            <a:custGeom>
              <a:avLst/>
              <a:gdLst/>
              <a:ahLst/>
              <a:cxnLst/>
              <a:rect l="l" t="t" r="r" b="b"/>
              <a:pathLst>
                <a:path w="2230120" h="356235">
                  <a:moveTo>
                    <a:pt x="0" y="0"/>
                  </a:moveTo>
                  <a:lnTo>
                    <a:pt x="2229865" y="356087"/>
                  </a:lnTo>
                </a:path>
              </a:pathLst>
            </a:custGeom>
            <a:ln w="9524">
              <a:solidFill>
                <a:srgbClr val="595959"/>
              </a:solidFill>
            </a:ln>
          </p:spPr>
          <p:txBody>
            <a:bodyPr wrap="square" lIns="0" tIns="0" rIns="0" bIns="0" rtlCol="0"/>
            <a:lstStyle/>
            <a:p>
              <a:endParaRPr sz="2400"/>
            </a:p>
          </p:txBody>
        </p:sp>
        <p:sp>
          <p:nvSpPr>
            <p:cNvPr id="8" name="object 8"/>
            <p:cNvSpPr/>
            <p:nvPr/>
          </p:nvSpPr>
          <p:spPr>
            <a:xfrm>
              <a:off x="6392316" y="2016352"/>
              <a:ext cx="45720" cy="31115"/>
            </a:xfrm>
            <a:custGeom>
              <a:avLst/>
              <a:gdLst/>
              <a:ahLst/>
              <a:cxnLst/>
              <a:rect l="l" t="t" r="r" b="b"/>
              <a:pathLst>
                <a:path w="45720" h="31114">
                  <a:moveTo>
                    <a:pt x="0" y="31071"/>
                  </a:moveTo>
                  <a:lnTo>
                    <a:pt x="4962" y="0"/>
                  </a:lnTo>
                  <a:lnTo>
                    <a:pt x="45165" y="22352"/>
                  </a:lnTo>
                  <a:lnTo>
                    <a:pt x="0" y="31071"/>
                  </a:lnTo>
                  <a:close/>
                </a:path>
              </a:pathLst>
            </a:custGeom>
            <a:solidFill>
              <a:srgbClr val="595959"/>
            </a:solidFill>
          </p:spPr>
          <p:txBody>
            <a:bodyPr wrap="square" lIns="0" tIns="0" rIns="0" bIns="0" rtlCol="0"/>
            <a:lstStyle/>
            <a:p>
              <a:endParaRPr sz="2400"/>
            </a:p>
          </p:txBody>
        </p:sp>
        <p:sp>
          <p:nvSpPr>
            <p:cNvPr id="9" name="object 9"/>
            <p:cNvSpPr/>
            <p:nvPr/>
          </p:nvSpPr>
          <p:spPr>
            <a:xfrm>
              <a:off x="6392316" y="2016352"/>
              <a:ext cx="45720" cy="31115"/>
            </a:xfrm>
            <a:custGeom>
              <a:avLst/>
              <a:gdLst/>
              <a:ahLst/>
              <a:cxnLst/>
              <a:rect l="l" t="t" r="r" b="b"/>
              <a:pathLst>
                <a:path w="45720" h="31114">
                  <a:moveTo>
                    <a:pt x="0" y="31071"/>
                  </a:moveTo>
                  <a:lnTo>
                    <a:pt x="45165" y="22352"/>
                  </a:lnTo>
                  <a:lnTo>
                    <a:pt x="4962" y="0"/>
                  </a:lnTo>
                  <a:lnTo>
                    <a:pt x="0" y="31071"/>
                  </a:lnTo>
                  <a:close/>
                </a:path>
              </a:pathLst>
            </a:custGeom>
            <a:ln w="9524">
              <a:solidFill>
                <a:srgbClr val="595959"/>
              </a:solidFill>
            </a:ln>
          </p:spPr>
          <p:txBody>
            <a:bodyPr wrap="square" lIns="0" tIns="0" rIns="0" bIns="0" rtlCol="0"/>
            <a:lstStyle/>
            <a:p>
              <a:endParaRPr sz="2400"/>
            </a:p>
          </p:txBody>
        </p:sp>
      </p:grpSp>
      <p:sp>
        <p:nvSpPr>
          <p:cNvPr id="10" name="object 10"/>
          <p:cNvSpPr txBox="1"/>
          <p:nvPr/>
        </p:nvSpPr>
        <p:spPr>
          <a:xfrm>
            <a:off x="6132214" y="1796788"/>
            <a:ext cx="1972733" cy="965835"/>
          </a:xfrm>
          <a:prstGeom prst="rect">
            <a:avLst/>
          </a:prstGeom>
          <a:ln w="19049">
            <a:solidFill>
              <a:srgbClr val="000000"/>
            </a:solidFill>
          </a:ln>
        </p:spPr>
        <p:txBody>
          <a:bodyPr vert="horz" wrap="square" lIns="0" tIns="104140" rIns="0" bIns="0" rtlCol="0">
            <a:spAutoFit/>
          </a:bodyPr>
          <a:lstStyle/>
          <a:p>
            <a:pPr marL="85090" marR="168910">
              <a:lnSpc>
                <a:spcPct val="100000"/>
              </a:lnSpc>
              <a:spcBef>
                <a:spcPts val="615"/>
              </a:spcBef>
            </a:pPr>
            <a:r>
              <a:rPr sz="1865" b="1" i="1" spc="-30" dirty="0">
                <a:solidFill>
                  <a:srgbClr val="595959"/>
                </a:solidFill>
                <a:latin typeface="Roboto Lt"/>
                <a:cs typeface="Roboto Lt"/>
              </a:rPr>
              <a:t>"That</a:t>
            </a:r>
            <a:r>
              <a:rPr sz="1865" b="1" i="1" spc="-50" dirty="0">
                <a:solidFill>
                  <a:srgbClr val="595959"/>
                </a:solidFill>
                <a:latin typeface="Roboto Lt"/>
                <a:cs typeface="Roboto Lt"/>
              </a:rPr>
              <a:t> </a:t>
            </a:r>
            <a:r>
              <a:rPr sz="1865" b="1" i="1" spc="-25" dirty="0">
                <a:solidFill>
                  <a:srgbClr val="595959"/>
                </a:solidFill>
                <a:latin typeface="Roboto Lt"/>
                <a:cs typeface="Roboto Lt"/>
              </a:rPr>
              <a:t>workshop </a:t>
            </a:r>
            <a:r>
              <a:rPr sz="1865" b="1" i="1" spc="-10" dirty="0">
                <a:solidFill>
                  <a:srgbClr val="595959"/>
                </a:solidFill>
                <a:latin typeface="Roboto Lt"/>
                <a:cs typeface="Roboto Lt"/>
              </a:rPr>
              <a:t>was</a:t>
            </a:r>
            <a:r>
              <a:rPr sz="1865" b="1" i="1" spc="-65" dirty="0">
                <a:solidFill>
                  <a:srgbClr val="595959"/>
                </a:solidFill>
                <a:latin typeface="Roboto Lt"/>
                <a:cs typeface="Roboto Lt"/>
              </a:rPr>
              <a:t> </a:t>
            </a:r>
            <a:r>
              <a:rPr sz="1865" b="1" i="1" spc="-10" dirty="0">
                <a:solidFill>
                  <a:srgbClr val="595959"/>
                </a:solidFill>
                <a:latin typeface="Roboto Lt"/>
                <a:cs typeface="Roboto Lt"/>
              </a:rPr>
              <a:t>terrible"</a:t>
            </a:r>
            <a:endParaRPr sz="1865">
              <a:latin typeface="Roboto Lt"/>
              <a:cs typeface="Roboto Lt"/>
            </a:endParaRPr>
          </a:p>
        </p:txBody>
      </p:sp>
      <p:sp>
        <p:nvSpPr>
          <p:cNvPr id="11" name="object 11"/>
          <p:cNvSpPr txBox="1"/>
          <p:nvPr/>
        </p:nvSpPr>
        <p:spPr>
          <a:xfrm>
            <a:off x="8177742" y="1802479"/>
            <a:ext cx="2207260" cy="965835"/>
          </a:xfrm>
          <a:prstGeom prst="rect">
            <a:avLst/>
          </a:prstGeom>
          <a:ln w="19049">
            <a:solidFill>
              <a:srgbClr val="000000"/>
            </a:solidFill>
          </a:ln>
        </p:spPr>
        <p:txBody>
          <a:bodyPr vert="horz" wrap="square" lIns="0" tIns="104140" rIns="0" bIns="0" rtlCol="0">
            <a:spAutoFit/>
          </a:bodyPr>
          <a:lstStyle/>
          <a:p>
            <a:pPr marL="85725" marR="129540">
              <a:lnSpc>
                <a:spcPct val="100000"/>
              </a:lnSpc>
              <a:spcBef>
                <a:spcPts val="615"/>
              </a:spcBef>
            </a:pPr>
            <a:r>
              <a:rPr sz="1865" b="1" i="1" spc="-55" dirty="0">
                <a:solidFill>
                  <a:srgbClr val="595959"/>
                </a:solidFill>
                <a:latin typeface="Roboto Lt"/>
                <a:cs typeface="Roboto Lt"/>
              </a:rPr>
              <a:t>"I'm</a:t>
            </a:r>
            <a:r>
              <a:rPr sz="1865" b="1" i="1" spc="-35" dirty="0">
                <a:solidFill>
                  <a:srgbClr val="595959"/>
                </a:solidFill>
                <a:latin typeface="Roboto Lt"/>
                <a:cs typeface="Roboto Lt"/>
              </a:rPr>
              <a:t> </a:t>
            </a:r>
            <a:r>
              <a:rPr sz="1865" b="1" i="1" dirty="0">
                <a:solidFill>
                  <a:srgbClr val="595959"/>
                </a:solidFill>
                <a:latin typeface="Roboto Lt"/>
                <a:cs typeface="Roboto Lt"/>
              </a:rPr>
              <a:t>not</a:t>
            </a:r>
            <a:r>
              <a:rPr sz="1865" b="1" i="1" spc="-75" dirty="0">
                <a:solidFill>
                  <a:srgbClr val="595959"/>
                </a:solidFill>
                <a:latin typeface="Roboto Lt"/>
                <a:cs typeface="Roboto Lt"/>
              </a:rPr>
              <a:t> </a:t>
            </a:r>
            <a:r>
              <a:rPr sz="1865" b="1" i="1" spc="-10" dirty="0">
                <a:solidFill>
                  <a:srgbClr val="595959"/>
                </a:solidFill>
                <a:latin typeface="Roboto Lt"/>
                <a:cs typeface="Roboto Lt"/>
              </a:rPr>
              <a:t>really</a:t>
            </a:r>
            <a:r>
              <a:rPr sz="1865" b="1" i="1" spc="-55" dirty="0">
                <a:solidFill>
                  <a:srgbClr val="595959"/>
                </a:solidFill>
                <a:latin typeface="Roboto Lt"/>
                <a:cs typeface="Roboto Lt"/>
              </a:rPr>
              <a:t> </a:t>
            </a:r>
            <a:r>
              <a:rPr sz="1865" b="1" i="1" spc="-20" dirty="0">
                <a:solidFill>
                  <a:srgbClr val="595959"/>
                </a:solidFill>
                <a:latin typeface="Roboto Lt"/>
                <a:cs typeface="Roboto Lt"/>
              </a:rPr>
              <a:t>sure </a:t>
            </a:r>
            <a:r>
              <a:rPr sz="1865" b="1" i="1" spc="-25" dirty="0">
                <a:solidFill>
                  <a:srgbClr val="595959"/>
                </a:solidFill>
                <a:latin typeface="Roboto Lt"/>
                <a:cs typeface="Roboto Lt"/>
              </a:rPr>
              <a:t>what</a:t>
            </a:r>
            <a:r>
              <a:rPr sz="1865" b="1" i="1" spc="-55" dirty="0">
                <a:solidFill>
                  <a:srgbClr val="595959"/>
                </a:solidFill>
                <a:latin typeface="Roboto Lt"/>
                <a:cs typeface="Roboto Lt"/>
              </a:rPr>
              <a:t> </a:t>
            </a:r>
            <a:r>
              <a:rPr sz="1865" b="1" i="1" dirty="0">
                <a:solidFill>
                  <a:srgbClr val="595959"/>
                </a:solidFill>
                <a:latin typeface="Roboto Lt"/>
                <a:cs typeface="Roboto Lt"/>
              </a:rPr>
              <a:t>to</a:t>
            </a:r>
            <a:r>
              <a:rPr sz="1865" b="1" i="1" spc="-50" dirty="0">
                <a:solidFill>
                  <a:srgbClr val="595959"/>
                </a:solidFill>
                <a:latin typeface="Roboto Lt"/>
                <a:cs typeface="Roboto Lt"/>
              </a:rPr>
              <a:t> </a:t>
            </a:r>
            <a:r>
              <a:rPr sz="1865" b="1" i="1" spc="-10" dirty="0">
                <a:solidFill>
                  <a:srgbClr val="595959"/>
                </a:solidFill>
                <a:latin typeface="Roboto Lt"/>
                <a:cs typeface="Roboto Lt"/>
              </a:rPr>
              <a:t>think"</a:t>
            </a:r>
            <a:endParaRPr sz="1865">
              <a:latin typeface="Roboto Lt"/>
              <a:cs typeface="Roboto Lt"/>
            </a:endParaRPr>
          </a:p>
        </p:txBody>
      </p:sp>
      <p:grpSp>
        <p:nvGrpSpPr>
          <p:cNvPr id="12" name="object 12"/>
          <p:cNvGrpSpPr/>
          <p:nvPr/>
        </p:nvGrpSpPr>
        <p:grpSpPr>
          <a:xfrm>
            <a:off x="5337193" y="1796686"/>
            <a:ext cx="5294205" cy="1013460"/>
            <a:chOff x="4866812" y="975087"/>
            <a:chExt cx="3970654" cy="760095"/>
          </a:xfrm>
        </p:grpSpPr>
        <p:sp>
          <p:nvSpPr>
            <p:cNvPr id="13" name="object 13"/>
            <p:cNvSpPr/>
            <p:nvPr/>
          </p:nvSpPr>
          <p:spPr>
            <a:xfrm>
              <a:off x="4871575" y="979849"/>
              <a:ext cx="3961129" cy="750570"/>
            </a:xfrm>
            <a:custGeom>
              <a:avLst/>
              <a:gdLst/>
              <a:ahLst/>
              <a:cxnLst/>
              <a:rect l="l" t="t" r="r" b="b"/>
              <a:pathLst>
                <a:path w="3961129" h="750569">
                  <a:moveTo>
                    <a:pt x="424199" y="125052"/>
                  </a:moveTo>
                  <a:lnTo>
                    <a:pt x="434027" y="76376"/>
                  </a:lnTo>
                  <a:lnTo>
                    <a:pt x="460827" y="36627"/>
                  </a:lnTo>
                  <a:lnTo>
                    <a:pt x="500576" y="9827"/>
                  </a:lnTo>
                  <a:lnTo>
                    <a:pt x="549252" y="0"/>
                  </a:lnTo>
                  <a:lnTo>
                    <a:pt x="3835547" y="0"/>
                  </a:lnTo>
                  <a:lnTo>
                    <a:pt x="3883402" y="9519"/>
                  </a:lnTo>
                  <a:lnTo>
                    <a:pt x="3923972" y="36627"/>
                  </a:lnTo>
                  <a:lnTo>
                    <a:pt x="3951080" y="77196"/>
                  </a:lnTo>
                  <a:lnTo>
                    <a:pt x="3960599" y="125052"/>
                  </a:lnTo>
                  <a:lnTo>
                    <a:pt x="3960599" y="625247"/>
                  </a:lnTo>
                  <a:lnTo>
                    <a:pt x="3950772" y="673923"/>
                  </a:lnTo>
                  <a:lnTo>
                    <a:pt x="3923972" y="713672"/>
                  </a:lnTo>
                  <a:lnTo>
                    <a:pt x="3884223" y="740472"/>
                  </a:lnTo>
                  <a:lnTo>
                    <a:pt x="3835547" y="750299"/>
                  </a:lnTo>
                  <a:lnTo>
                    <a:pt x="549252" y="750299"/>
                  </a:lnTo>
                  <a:lnTo>
                    <a:pt x="500576" y="740472"/>
                  </a:lnTo>
                  <a:lnTo>
                    <a:pt x="460827" y="713672"/>
                  </a:lnTo>
                  <a:lnTo>
                    <a:pt x="434027" y="673923"/>
                  </a:lnTo>
                  <a:lnTo>
                    <a:pt x="424199" y="625247"/>
                  </a:lnTo>
                  <a:lnTo>
                    <a:pt x="424199" y="125052"/>
                  </a:lnTo>
                  <a:close/>
                </a:path>
                <a:path w="3961129" h="750569">
                  <a:moveTo>
                    <a:pt x="0" y="434849"/>
                  </a:moveTo>
                  <a:lnTo>
                    <a:pt x="367607" y="383114"/>
                  </a:lnTo>
                </a:path>
              </a:pathLst>
            </a:custGeom>
            <a:ln w="9524">
              <a:solidFill>
                <a:srgbClr val="595959"/>
              </a:solidFill>
            </a:ln>
          </p:spPr>
          <p:txBody>
            <a:bodyPr wrap="square" lIns="0" tIns="0" rIns="0" bIns="0" rtlCol="0"/>
            <a:lstStyle/>
            <a:p>
              <a:endParaRPr sz="2400"/>
            </a:p>
          </p:txBody>
        </p:sp>
        <p:sp>
          <p:nvSpPr>
            <p:cNvPr id="14" name="object 14"/>
            <p:cNvSpPr/>
            <p:nvPr/>
          </p:nvSpPr>
          <p:spPr>
            <a:xfrm>
              <a:off x="5236990" y="1347385"/>
              <a:ext cx="45085" cy="31750"/>
            </a:xfrm>
            <a:custGeom>
              <a:avLst/>
              <a:gdLst/>
              <a:ahLst/>
              <a:cxnLst/>
              <a:rect l="l" t="t" r="r" b="b"/>
              <a:pathLst>
                <a:path w="45085" h="31750">
                  <a:moveTo>
                    <a:pt x="4385" y="31158"/>
                  </a:moveTo>
                  <a:lnTo>
                    <a:pt x="0" y="0"/>
                  </a:lnTo>
                  <a:lnTo>
                    <a:pt x="44995" y="9555"/>
                  </a:lnTo>
                  <a:lnTo>
                    <a:pt x="4385" y="31158"/>
                  </a:lnTo>
                  <a:close/>
                </a:path>
              </a:pathLst>
            </a:custGeom>
            <a:solidFill>
              <a:srgbClr val="595959"/>
            </a:solidFill>
          </p:spPr>
          <p:txBody>
            <a:bodyPr wrap="square" lIns="0" tIns="0" rIns="0" bIns="0" rtlCol="0"/>
            <a:lstStyle/>
            <a:p>
              <a:endParaRPr sz="2400"/>
            </a:p>
          </p:txBody>
        </p:sp>
        <p:sp>
          <p:nvSpPr>
            <p:cNvPr id="15" name="object 15"/>
            <p:cNvSpPr/>
            <p:nvPr/>
          </p:nvSpPr>
          <p:spPr>
            <a:xfrm>
              <a:off x="5236990" y="1347385"/>
              <a:ext cx="45085" cy="31750"/>
            </a:xfrm>
            <a:custGeom>
              <a:avLst/>
              <a:gdLst/>
              <a:ahLst/>
              <a:cxnLst/>
              <a:rect l="l" t="t" r="r" b="b"/>
              <a:pathLst>
                <a:path w="45085" h="31750">
                  <a:moveTo>
                    <a:pt x="4385" y="31158"/>
                  </a:moveTo>
                  <a:lnTo>
                    <a:pt x="44995" y="9555"/>
                  </a:lnTo>
                  <a:lnTo>
                    <a:pt x="0" y="0"/>
                  </a:lnTo>
                  <a:lnTo>
                    <a:pt x="4385" y="31158"/>
                  </a:lnTo>
                  <a:close/>
                </a:path>
              </a:pathLst>
            </a:custGeom>
            <a:ln w="9524">
              <a:solidFill>
                <a:srgbClr val="595959"/>
              </a:solidFill>
            </a:ln>
          </p:spPr>
          <p:txBody>
            <a:bodyPr wrap="square" lIns="0" tIns="0" rIns="0" bIns="0" rtlCol="0"/>
            <a:lstStyle/>
            <a:p>
              <a:endParaRPr sz="2400"/>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479426"/>
            <a:ext cx="10972800" cy="733425"/>
          </a:xfrm>
          <a:prstGeom prst="rect">
            <a:avLst/>
          </a:prstGeom>
        </p:spPr>
        <p:txBody>
          <a:bodyPr vert="horz" wrap="square" lIns="0" tIns="118653" rIns="0" bIns="0" rtlCol="0">
            <a:spAutoFit/>
          </a:bodyPr>
          <a:lstStyle/>
          <a:p>
            <a:pPr marL="12700">
              <a:lnSpc>
                <a:spcPct val="100000"/>
              </a:lnSpc>
              <a:spcBef>
                <a:spcPts val="120"/>
              </a:spcBef>
            </a:pPr>
            <a:r>
              <a:rPr dirty="0"/>
              <a:t>NLP</a:t>
            </a:r>
            <a:r>
              <a:rPr spc="20" dirty="0"/>
              <a:t> </a:t>
            </a:r>
            <a:r>
              <a:rPr dirty="0"/>
              <a:t>+</a:t>
            </a:r>
            <a:r>
              <a:rPr spc="25" dirty="0"/>
              <a:t> </a:t>
            </a:r>
            <a:r>
              <a:rPr dirty="0"/>
              <a:t>CV:</a:t>
            </a:r>
            <a:r>
              <a:rPr spc="25" dirty="0"/>
              <a:t> </a:t>
            </a:r>
            <a:r>
              <a:rPr spc="-10" dirty="0"/>
              <a:t>Multimodal</a:t>
            </a:r>
            <a:endParaRPr spc="-10" dirty="0"/>
          </a:p>
        </p:txBody>
      </p:sp>
      <p:sp>
        <p:nvSpPr>
          <p:cNvPr id="3" name="object 3"/>
          <p:cNvSpPr txBox="1"/>
          <p:nvPr/>
        </p:nvSpPr>
        <p:spPr>
          <a:xfrm>
            <a:off x="513080" y="4556125"/>
            <a:ext cx="3315970" cy="334010"/>
          </a:xfrm>
          <a:prstGeom prst="rect">
            <a:avLst/>
          </a:prstGeom>
        </p:spPr>
        <p:txBody>
          <a:bodyPr vert="horz" wrap="square" lIns="0" tIns="16933" rIns="0" bIns="0" rtlCol="0">
            <a:spAutoFit/>
          </a:bodyPr>
          <a:lstStyle/>
          <a:p>
            <a:pPr marL="12700" marR="5080">
              <a:lnSpc>
                <a:spcPct val="115000"/>
              </a:lnSpc>
              <a:spcBef>
                <a:spcPts val="100"/>
              </a:spcBef>
            </a:pPr>
            <a:r>
              <a:rPr dirty="0">
                <a:solidFill>
                  <a:srgbClr val="595959"/>
                </a:solidFill>
                <a:latin typeface="Calibri" panose="020F0502020204030204" charset="0"/>
                <a:cs typeface="Calibri" panose="020F0502020204030204" charset="0"/>
              </a:rPr>
              <a:t>Image</a:t>
            </a:r>
            <a:r>
              <a:rPr spc="-3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description</a:t>
            </a:r>
            <a:r>
              <a:rPr spc="-30" dirty="0">
                <a:solidFill>
                  <a:srgbClr val="595959"/>
                </a:solidFill>
                <a:latin typeface="Calibri" panose="020F0502020204030204" charset="0"/>
                <a:cs typeface="Calibri" panose="020F0502020204030204" charset="0"/>
              </a:rPr>
              <a:t> </a:t>
            </a:r>
            <a:r>
              <a:rPr spc="-25" dirty="0">
                <a:solidFill>
                  <a:srgbClr val="595959"/>
                </a:solidFill>
                <a:latin typeface="Calibri" panose="020F0502020204030204" charset="0"/>
                <a:cs typeface="Calibri" panose="020F0502020204030204" charset="0"/>
              </a:rPr>
              <a:t>or </a:t>
            </a:r>
            <a:r>
              <a:rPr spc="-10" dirty="0">
                <a:solidFill>
                  <a:srgbClr val="595959"/>
                </a:solidFill>
                <a:latin typeface="Calibri" panose="020F0502020204030204" charset="0"/>
                <a:cs typeface="Calibri" panose="020F0502020204030204" charset="0"/>
              </a:rPr>
              <a:t>captioning</a:t>
            </a:r>
            <a:endParaRPr>
              <a:latin typeface="Calibri" panose="020F0502020204030204" charset="0"/>
              <a:cs typeface="Calibri" panose="020F0502020204030204" charset="0"/>
            </a:endParaRPr>
          </a:p>
        </p:txBody>
      </p:sp>
      <p:pic>
        <p:nvPicPr>
          <p:cNvPr id="4" name="object 4"/>
          <p:cNvPicPr/>
          <p:nvPr/>
        </p:nvPicPr>
        <p:blipFill>
          <a:blip r:embed="rId1" cstate="print"/>
          <a:stretch>
            <a:fillRect/>
          </a:stretch>
        </p:blipFill>
        <p:spPr>
          <a:xfrm>
            <a:off x="4278800" y="3736729"/>
            <a:ext cx="6005133" cy="3012799"/>
          </a:xfrm>
          <a:prstGeom prst="rect">
            <a:avLst/>
          </a:prstGeom>
        </p:spPr>
      </p:pic>
      <p:pic>
        <p:nvPicPr>
          <p:cNvPr id="5" name="object 5"/>
          <p:cNvPicPr/>
          <p:nvPr/>
        </p:nvPicPr>
        <p:blipFill>
          <a:blip r:embed="rId2" cstate="print"/>
          <a:stretch>
            <a:fillRect/>
          </a:stretch>
        </p:blipFill>
        <p:spPr>
          <a:xfrm>
            <a:off x="5956935" y="1318895"/>
            <a:ext cx="3815080" cy="2419350"/>
          </a:xfrm>
          <a:prstGeom prst="rect">
            <a:avLst/>
          </a:prstGeom>
        </p:spPr>
      </p:pic>
      <p:sp>
        <p:nvSpPr>
          <p:cNvPr id="6" name="object 6"/>
          <p:cNvSpPr txBox="1"/>
          <p:nvPr/>
        </p:nvSpPr>
        <p:spPr>
          <a:xfrm>
            <a:off x="512967" y="1711577"/>
            <a:ext cx="4108873" cy="334010"/>
          </a:xfrm>
          <a:prstGeom prst="rect">
            <a:avLst/>
          </a:prstGeom>
        </p:spPr>
        <p:txBody>
          <a:bodyPr vert="horz" wrap="square" lIns="0" tIns="16933" rIns="0" bIns="0" rtlCol="0">
            <a:spAutoFit/>
          </a:bodyPr>
          <a:lstStyle/>
          <a:p>
            <a:pPr marL="12700" marR="5080">
              <a:lnSpc>
                <a:spcPct val="115000"/>
              </a:lnSpc>
              <a:spcBef>
                <a:spcPts val="100"/>
              </a:spcBef>
            </a:pPr>
            <a:r>
              <a:rPr dirty="0">
                <a:solidFill>
                  <a:srgbClr val="595959"/>
                </a:solidFill>
                <a:latin typeface="Calibri" panose="020F0502020204030204" charset="0"/>
                <a:cs typeface="Calibri" panose="020F0502020204030204" charset="0"/>
              </a:rPr>
              <a:t>Optical</a:t>
            </a:r>
            <a:r>
              <a:rPr spc="-8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Character</a:t>
            </a:r>
            <a:r>
              <a:rPr spc="-8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Recognition (OCR)</a:t>
            </a:r>
            <a:endParaRPr>
              <a:latin typeface="Calibri" panose="020F0502020204030204" charset="0"/>
              <a:cs typeface="Calibri" panose="020F050202020403020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spc="-10" dirty="0"/>
              <a:t>Audio</a:t>
            </a:r>
            <a:endParaRPr spc="-10" dirty="0"/>
          </a:p>
        </p:txBody>
      </p:sp>
      <p:sp>
        <p:nvSpPr>
          <p:cNvPr id="3" name="object 3"/>
          <p:cNvSpPr txBox="1">
            <a:spLocks noGrp="1"/>
          </p:cNvSpPr>
          <p:nvPr>
            <p:ph type="body" idx="1"/>
          </p:nvPr>
        </p:nvSpPr>
        <p:spPr>
          <a:xfrm>
            <a:off x="609600" y="1600200"/>
            <a:ext cx="10972800" cy="1442085"/>
          </a:xfrm>
          <a:prstGeom prst="rect">
            <a:avLst/>
          </a:prstGeom>
        </p:spPr>
        <p:txBody>
          <a:bodyPr vert="horz" wrap="square" lIns="0" tIns="16933" rIns="0" bIns="0" rtlCol="0">
            <a:spAutoFit/>
          </a:bodyPr>
          <a:lstStyle/>
          <a:p>
            <a:pPr marL="12700" marR="5080">
              <a:lnSpc>
                <a:spcPct val="115000"/>
              </a:lnSpc>
              <a:spcBef>
                <a:spcPts val="100"/>
              </a:spcBef>
            </a:pPr>
            <a:r>
              <a:rPr b="1" dirty="0">
                <a:latin typeface="Roboto"/>
                <a:cs typeface="Roboto"/>
              </a:rPr>
              <a:t>Automatic</a:t>
            </a:r>
            <a:r>
              <a:rPr b="1" spc="-40" dirty="0">
                <a:latin typeface="Roboto"/>
                <a:cs typeface="Roboto"/>
              </a:rPr>
              <a:t> </a:t>
            </a:r>
            <a:r>
              <a:rPr b="1" dirty="0">
                <a:latin typeface="Roboto"/>
                <a:cs typeface="Roboto"/>
              </a:rPr>
              <a:t>Speech</a:t>
            </a:r>
            <a:r>
              <a:rPr b="1" spc="-35" dirty="0">
                <a:latin typeface="Roboto"/>
                <a:cs typeface="Roboto"/>
              </a:rPr>
              <a:t> </a:t>
            </a:r>
            <a:r>
              <a:rPr b="1" dirty="0">
                <a:latin typeface="Roboto"/>
                <a:cs typeface="Roboto"/>
              </a:rPr>
              <a:t>Recognition</a:t>
            </a:r>
            <a:r>
              <a:rPr b="1" spc="-35" dirty="0">
                <a:latin typeface="Roboto"/>
                <a:cs typeface="Roboto"/>
              </a:rPr>
              <a:t> </a:t>
            </a:r>
            <a:r>
              <a:rPr b="1" dirty="0">
                <a:latin typeface="Roboto"/>
                <a:cs typeface="Roboto"/>
              </a:rPr>
              <a:t>(ASR)</a:t>
            </a:r>
            <a:r>
              <a:rPr dirty="0"/>
              <a:t>,</a:t>
            </a:r>
            <a:r>
              <a:rPr spc="-35" dirty="0"/>
              <a:t> </a:t>
            </a:r>
            <a:r>
              <a:rPr dirty="0"/>
              <a:t>also</a:t>
            </a:r>
            <a:r>
              <a:rPr spc="-35" dirty="0"/>
              <a:t> </a:t>
            </a:r>
            <a:r>
              <a:rPr spc="-10" dirty="0"/>
              <a:t>known</a:t>
            </a:r>
            <a:r>
              <a:rPr spc="-35" dirty="0"/>
              <a:t> </a:t>
            </a:r>
            <a:r>
              <a:rPr dirty="0"/>
              <a:t>as</a:t>
            </a:r>
            <a:r>
              <a:rPr spc="-35" dirty="0"/>
              <a:t> </a:t>
            </a:r>
            <a:r>
              <a:rPr dirty="0"/>
              <a:t>Speech</a:t>
            </a:r>
            <a:r>
              <a:rPr spc="-35" dirty="0"/>
              <a:t> </a:t>
            </a:r>
            <a:r>
              <a:rPr spc="-10" dirty="0"/>
              <a:t>to</a:t>
            </a:r>
            <a:r>
              <a:rPr spc="-85" dirty="0"/>
              <a:t> </a:t>
            </a:r>
            <a:r>
              <a:rPr dirty="0"/>
              <a:t>Text</a:t>
            </a:r>
            <a:r>
              <a:rPr spc="-35" dirty="0"/>
              <a:t> </a:t>
            </a:r>
            <a:r>
              <a:rPr dirty="0"/>
              <a:t>(STT),</a:t>
            </a:r>
            <a:r>
              <a:rPr spc="-35" dirty="0"/>
              <a:t> </a:t>
            </a:r>
            <a:r>
              <a:rPr dirty="0"/>
              <a:t>is</a:t>
            </a:r>
            <a:r>
              <a:rPr spc="-35" dirty="0"/>
              <a:t> </a:t>
            </a:r>
            <a:r>
              <a:rPr spc="-25" dirty="0"/>
              <a:t>the </a:t>
            </a:r>
            <a:r>
              <a:rPr dirty="0"/>
              <a:t>task</a:t>
            </a:r>
            <a:r>
              <a:rPr spc="-55" dirty="0"/>
              <a:t> </a:t>
            </a:r>
            <a:r>
              <a:rPr dirty="0"/>
              <a:t>of</a:t>
            </a:r>
            <a:r>
              <a:rPr spc="-50" dirty="0"/>
              <a:t> </a:t>
            </a:r>
            <a:r>
              <a:rPr spc="-10" dirty="0"/>
              <a:t>transcribing</a:t>
            </a:r>
            <a:r>
              <a:rPr spc="-50" dirty="0"/>
              <a:t> </a:t>
            </a:r>
            <a:r>
              <a:rPr dirty="0"/>
              <a:t>a</a:t>
            </a:r>
            <a:r>
              <a:rPr spc="-50" dirty="0"/>
              <a:t> </a:t>
            </a:r>
            <a:r>
              <a:rPr dirty="0"/>
              <a:t>given</a:t>
            </a:r>
            <a:r>
              <a:rPr spc="-50" dirty="0"/>
              <a:t> </a:t>
            </a:r>
            <a:r>
              <a:rPr dirty="0"/>
              <a:t>audio</a:t>
            </a:r>
            <a:r>
              <a:rPr spc="-50" dirty="0"/>
              <a:t> </a:t>
            </a:r>
            <a:r>
              <a:rPr dirty="0"/>
              <a:t>to</a:t>
            </a:r>
            <a:r>
              <a:rPr spc="-50" dirty="0"/>
              <a:t> </a:t>
            </a:r>
            <a:r>
              <a:rPr spc="-10" dirty="0"/>
              <a:t>text.</a:t>
            </a:r>
            <a:endParaRPr spc="-10" dirty="0"/>
          </a:p>
          <a:p>
            <a:pPr marL="12700" marR="417830">
              <a:lnSpc>
                <a:spcPct val="115000"/>
              </a:lnSpc>
              <a:spcBef>
                <a:spcPts val="1200"/>
              </a:spcBef>
            </a:pPr>
            <a:r>
              <a:rPr b="1" dirty="0">
                <a:latin typeface="Roboto"/>
                <a:cs typeface="Roboto"/>
              </a:rPr>
              <a:t>Audio</a:t>
            </a:r>
            <a:r>
              <a:rPr b="1" spc="-40" dirty="0">
                <a:latin typeface="Roboto"/>
                <a:cs typeface="Roboto"/>
              </a:rPr>
              <a:t> </a:t>
            </a:r>
            <a:r>
              <a:rPr b="1" dirty="0">
                <a:latin typeface="Roboto"/>
                <a:cs typeface="Roboto"/>
              </a:rPr>
              <a:t>classification</a:t>
            </a:r>
            <a:r>
              <a:rPr b="1" spc="-25" dirty="0">
                <a:latin typeface="Roboto"/>
                <a:cs typeface="Roboto"/>
              </a:rPr>
              <a:t> </a:t>
            </a:r>
            <a:r>
              <a:rPr dirty="0"/>
              <a:t>is</a:t>
            </a:r>
            <a:r>
              <a:rPr spc="-35" dirty="0"/>
              <a:t> </a:t>
            </a:r>
            <a:r>
              <a:rPr dirty="0"/>
              <a:t>the</a:t>
            </a:r>
            <a:r>
              <a:rPr spc="-35" dirty="0"/>
              <a:t> </a:t>
            </a:r>
            <a:r>
              <a:rPr dirty="0"/>
              <a:t>task</a:t>
            </a:r>
            <a:r>
              <a:rPr spc="-40" dirty="0"/>
              <a:t> </a:t>
            </a:r>
            <a:r>
              <a:rPr dirty="0"/>
              <a:t>of</a:t>
            </a:r>
            <a:r>
              <a:rPr spc="-35" dirty="0"/>
              <a:t> </a:t>
            </a:r>
            <a:r>
              <a:rPr spc="-20" dirty="0"/>
              <a:t>assigning</a:t>
            </a:r>
            <a:r>
              <a:rPr spc="-35" dirty="0"/>
              <a:t> </a:t>
            </a:r>
            <a:r>
              <a:rPr dirty="0"/>
              <a:t>a</a:t>
            </a:r>
            <a:r>
              <a:rPr spc="-35" dirty="0"/>
              <a:t> </a:t>
            </a:r>
            <a:r>
              <a:rPr dirty="0"/>
              <a:t>label</a:t>
            </a:r>
            <a:r>
              <a:rPr spc="-35" dirty="0"/>
              <a:t> </a:t>
            </a:r>
            <a:r>
              <a:rPr dirty="0"/>
              <a:t>to</a:t>
            </a:r>
            <a:r>
              <a:rPr spc="-40" dirty="0"/>
              <a:t> </a:t>
            </a:r>
            <a:r>
              <a:rPr dirty="0"/>
              <a:t>a</a:t>
            </a:r>
            <a:r>
              <a:rPr spc="-35" dirty="0"/>
              <a:t> </a:t>
            </a:r>
            <a:r>
              <a:rPr dirty="0"/>
              <a:t>given</a:t>
            </a:r>
            <a:r>
              <a:rPr spc="-35" dirty="0"/>
              <a:t> </a:t>
            </a:r>
            <a:r>
              <a:rPr dirty="0"/>
              <a:t>audio.</a:t>
            </a:r>
            <a:r>
              <a:rPr spc="-35" dirty="0"/>
              <a:t> </a:t>
            </a:r>
            <a:r>
              <a:rPr dirty="0"/>
              <a:t>It</a:t>
            </a:r>
            <a:r>
              <a:rPr spc="-40" dirty="0"/>
              <a:t> </a:t>
            </a:r>
            <a:r>
              <a:rPr dirty="0"/>
              <a:t>can</a:t>
            </a:r>
            <a:r>
              <a:rPr spc="-35" dirty="0"/>
              <a:t> </a:t>
            </a:r>
            <a:r>
              <a:rPr spc="-25" dirty="0"/>
              <a:t>be </a:t>
            </a:r>
            <a:r>
              <a:rPr dirty="0"/>
              <a:t>used</a:t>
            </a:r>
            <a:r>
              <a:rPr spc="-55" dirty="0"/>
              <a:t> </a:t>
            </a:r>
            <a:r>
              <a:rPr dirty="0"/>
              <a:t>for</a:t>
            </a:r>
            <a:r>
              <a:rPr spc="-50" dirty="0"/>
              <a:t> </a:t>
            </a:r>
            <a:r>
              <a:rPr spc="-10" dirty="0"/>
              <a:t>recognizing</a:t>
            </a:r>
            <a:r>
              <a:rPr spc="-50" dirty="0"/>
              <a:t> </a:t>
            </a:r>
            <a:r>
              <a:rPr dirty="0"/>
              <a:t>what</a:t>
            </a:r>
            <a:r>
              <a:rPr spc="-50" dirty="0"/>
              <a:t> </a:t>
            </a:r>
            <a:r>
              <a:rPr spc="-10" dirty="0"/>
              <a:t>language</a:t>
            </a:r>
            <a:r>
              <a:rPr spc="-50" dirty="0"/>
              <a:t> </a:t>
            </a:r>
            <a:r>
              <a:rPr dirty="0"/>
              <a:t>is</a:t>
            </a:r>
            <a:r>
              <a:rPr spc="-50" dirty="0"/>
              <a:t> </a:t>
            </a:r>
            <a:r>
              <a:rPr dirty="0"/>
              <a:t>being</a:t>
            </a:r>
            <a:r>
              <a:rPr spc="-50" dirty="0"/>
              <a:t> </a:t>
            </a:r>
            <a:r>
              <a:rPr dirty="0"/>
              <a:t>spoken,</a:t>
            </a:r>
            <a:r>
              <a:rPr spc="-55" dirty="0"/>
              <a:t> </a:t>
            </a:r>
            <a:r>
              <a:rPr dirty="0"/>
              <a:t>or</a:t>
            </a:r>
            <a:r>
              <a:rPr spc="-50" dirty="0"/>
              <a:t> </a:t>
            </a:r>
            <a:r>
              <a:rPr dirty="0"/>
              <a:t>the</a:t>
            </a:r>
            <a:r>
              <a:rPr spc="-50" dirty="0"/>
              <a:t> </a:t>
            </a:r>
            <a:r>
              <a:rPr dirty="0"/>
              <a:t>emotion</a:t>
            </a:r>
            <a:r>
              <a:rPr spc="-50" dirty="0"/>
              <a:t> </a:t>
            </a:r>
            <a:r>
              <a:rPr dirty="0"/>
              <a:t>of</a:t>
            </a:r>
            <a:r>
              <a:rPr spc="-50" dirty="0"/>
              <a:t> a </a:t>
            </a:r>
            <a:r>
              <a:rPr spc="-10" dirty="0"/>
              <a:t>statement,</a:t>
            </a:r>
            <a:r>
              <a:rPr spc="-30" dirty="0"/>
              <a:t> </a:t>
            </a:r>
            <a:r>
              <a:rPr dirty="0"/>
              <a:t>as</a:t>
            </a:r>
            <a:r>
              <a:rPr spc="-25" dirty="0"/>
              <a:t> </a:t>
            </a:r>
            <a:r>
              <a:rPr dirty="0"/>
              <a:t>well</a:t>
            </a:r>
            <a:r>
              <a:rPr spc="-25" dirty="0"/>
              <a:t> </a:t>
            </a:r>
            <a:r>
              <a:rPr dirty="0"/>
              <a:t>as</a:t>
            </a:r>
            <a:r>
              <a:rPr spc="-30" dirty="0"/>
              <a:t> </a:t>
            </a:r>
            <a:r>
              <a:rPr spc="-10" dirty="0"/>
              <a:t>identifying</a:t>
            </a:r>
            <a:r>
              <a:rPr spc="-25" dirty="0"/>
              <a:t> </a:t>
            </a:r>
            <a:r>
              <a:rPr dirty="0"/>
              <a:t>a</a:t>
            </a:r>
            <a:r>
              <a:rPr spc="-25" dirty="0"/>
              <a:t> </a:t>
            </a:r>
            <a:r>
              <a:rPr spc="-10" dirty="0"/>
              <a:t>speaker.</a:t>
            </a:r>
            <a:endParaRPr spc="-1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spc="-10" dirty="0"/>
              <a:t>Activity</a:t>
            </a:r>
            <a:endParaRPr spc="-10" dirty="0"/>
          </a:p>
        </p:txBody>
      </p:sp>
      <p:sp>
        <p:nvSpPr>
          <p:cNvPr id="3" name="object 3"/>
          <p:cNvSpPr txBox="1">
            <a:spLocks noGrp="1"/>
          </p:cNvSpPr>
          <p:nvPr>
            <p:ph type="body" idx="1"/>
          </p:nvPr>
        </p:nvSpPr>
        <p:spPr>
          <a:xfrm>
            <a:off x="609600" y="1600200"/>
            <a:ext cx="10972800" cy="1083310"/>
          </a:xfrm>
          <a:prstGeom prst="rect">
            <a:avLst/>
          </a:prstGeom>
        </p:spPr>
        <p:txBody>
          <a:bodyPr vert="horz" wrap="square" lIns="0" tIns="16933" rIns="0" bIns="0" rtlCol="0">
            <a:spAutoFit/>
          </a:bodyPr>
          <a:lstStyle/>
          <a:p>
            <a:pPr marL="12700">
              <a:lnSpc>
                <a:spcPct val="100000"/>
              </a:lnSpc>
              <a:spcBef>
                <a:spcPts val="100"/>
              </a:spcBef>
            </a:pPr>
            <a:r>
              <a:rPr dirty="0"/>
              <a:t>Now</a:t>
            </a:r>
            <a:r>
              <a:rPr spc="-50" dirty="0"/>
              <a:t> </a:t>
            </a:r>
            <a:r>
              <a:rPr dirty="0"/>
              <a:t>that</a:t>
            </a:r>
            <a:r>
              <a:rPr spc="-50" dirty="0"/>
              <a:t> </a:t>
            </a:r>
            <a:r>
              <a:rPr spc="-20" dirty="0"/>
              <a:t>we’ve</a:t>
            </a:r>
            <a:r>
              <a:rPr spc="-50" dirty="0"/>
              <a:t> </a:t>
            </a:r>
            <a:r>
              <a:rPr dirty="0"/>
              <a:t>talked</a:t>
            </a:r>
            <a:r>
              <a:rPr spc="-50" dirty="0"/>
              <a:t> </a:t>
            </a:r>
            <a:r>
              <a:rPr spc="-10" dirty="0"/>
              <a:t>about</a:t>
            </a:r>
            <a:r>
              <a:rPr spc="-50" dirty="0"/>
              <a:t> </a:t>
            </a:r>
            <a:r>
              <a:rPr dirty="0"/>
              <a:t>some</a:t>
            </a:r>
            <a:r>
              <a:rPr spc="-50" dirty="0"/>
              <a:t> </a:t>
            </a:r>
            <a:r>
              <a:rPr dirty="0"/>
              <a:t>of</a:t>
            </a:r>
            <a:r>
              <a:rPr spc="-50" dirty="0"/>
              <a:t> </a:t>
            </a:r>
            <a:r>
              <a:rPr dirty="0"/>
              <a:t>the</a:t>
            </a:r>
            <a:r>
              <a:rPr spc="-50" dirty="0"/>
              <a:t> </a:t>
            </a:r>
            <a:r>
              <a:rPr dirty="0"/>
              <a:t>ways</a:t>
            </a:r>
            <a:r>
              <a:rPr spc="-50" dirty="0"/>
              <a:t> </a:t>
            </a:r>
            <a:r>
              <a:rPr dirty="0"/>
              <a:t>that</a:t>
            </a:r>
            <a:r>
              <a:rPr spc="-45" dirty="0"/>
              <a:t> </a:t>
            </a:r>
            <a:r>
              <a:rPr dirty="0"/>
              <a:t>AI/ML</a:t>
            </a:r>
            <a:r>
              <a:rPr spc="-50" dirty="0"/>
              <a:t> </a:t>
            </a:r>
            <a:r>
              <a:rPr dirty="0"/>
              <a:t>could</a:t>
            </a:r>
            <a:r>
              <a:rPr spc="-50" dirty="0"/>
              <a:t> </a:t>
            </a:r>
            <a:r>
              <a:rPr dirty="0"/>
              <a:t>be</a:t>
            </a:r>
            <a:r>
              <a:rPr spc="-50" dirty="0"/>
              <a:t> </a:t>
            </a:r>
            <a:r>
              <a:rPr spc="-10" dirty="0"/>
              <a:t>used,</a:t>
            </a:r>
            <a:endParaRPr spc="-10" dirty="0"/>
          </a:p>
          <a:p>
            <a:pPr marL="12700" marR="5080">
              <a:lnSpc>
                <a:spcPct val="115000"/>
              </a:lnSpc>
              <a:spcBef>
                <a:spcPts val="1200"/>
              </a:spcBef>
            </a:pPr>
            <a:r>
              <a:rPr dirty="0"/>
              <a:t>Spend</a:t>
            </a:r>
            <a:r>
              <a:rPr spc="-65" dirty="0"/>
              <a:t> </a:t>
            </a:r>
            <a:r>
              <a:rPr dirty="0"/>
              <a:t>5</a:t>
            </a:r>
            <a:r>
              <a:rPr spc="-65" dirty="0"/>
              <a:t> </a:t>
            </a:r>
            <a:r>
              <a:rPr dirty="0"/>
              <a:t>minutes</a:t>
            </a:r>
            <a:r>
              <a:rPr spc="-60" dirty="0"/>
              <a:t> </a:t>
            </a:r>
            <a:r>
              <a:rPr dirty="0"/>
              <a:t>in</a:t>
            </a:r>
            <a:r>
              <a:rPr spc="-65" dirty="0"/>
              <a:t> </a:t>
            </a:r>
            <a:r>
              <a:rPr dirty="0"/>
              <a:t>small</a:t>
            </a:r>
            <a:r>
              <a:rPr spc="-60" dirty="0"/>
              <a:t> </a:t>
            </a:r>
            <a:r>
              <a:rPr spc="-20" dirty="0"/>
              <a:t>groups/pairs</a:t>
            </a:r>
            <a:r>
              <a:rPr spc="-65" dirty="0"/>
              <a:t> </a:t>
            </a:r>
            <a:r>
              <a:rPr spc="-10" dirty="0"/>
              <a:t>thinking</a:t>
            </a:r>
            <a:r>
              <a:rPr spc="-60" dirty="0"/>
              <a:t> </a:t>
            </a:r>
            <a:r>
              <a:rPr spc="-10" dirty="0"/>
              <a:t>about</a:t>
            </a:r>
            <a:r>
              <a:rPr spc="-65" dirty="0"/>
              <a:t> </a:t>
            </a:r>
            <a:r>
              <a:rPr dirty="0"/>
              <a:t>and</a:t>
            </a:r>
            <a:r>
              <a:rPr spc="-60" dirty="0"/>
              <a:t> </a:t>
            </a:r>
            <a:r>
              <a:rPr dirty="0"/>
              <a:t>deciding</a:t>
            </a:r>
            <a:r>
              <a:rPr spc="-65" dirty="0"/>
              <a:t> </a:t>
            </a:r>
            <a:r>
              <a:rPr dirty="0"/>
              <a:t>on</a:t>
            </a:r>
            <a:r>
              <a:rPr spc="-65" dirty="0"/>
              <a:t> </a:t>
            </a:r>
            <a:r>
              <a:rPr dirty="0"/>
              <a:t>a</a:t>
            </a:r>
            <a:r>
              <a:rPr spc="-60" dirty="0"/>
              <a:t> </a:t>
            </a:r>
            <a:r>
              <a:rPr spc="-10" dirty="0"/>
              <a:t>machine </a:t>
            </a:r>
            <a:r>
              <a:rPr dirty="0"/>
              <a:t>learning</a:t>
            </a:r>
            <a:r>
              <a:rPr spc="-60" dirty="0"/>
              <a:t> </a:t>
            </a:r>
            <a:r>
              <a:rPr spc="-10" dirty="0"/>
              <a:t>project</a:t>
            </a:r>
            <a:r>
              <a:rPr spc="-55" dirty="0"/>
              <a:t> </a:t>
            </a:r>
            <a:r>
              <a:rPr spc="-10" dirty="0"/>
              <a:t>your</a:t>
            </a:r>
            <a:r>
              <a:rPr spc="-55" dirty="0"/>
              <a:t> </a:t>
            </a:r>
            <a:r>
              <a:rPr spc="-10" dirty="0"/>
              <a:t>group</a:t>
            </a:r>
            <a:r>
              <a:rPr spc="-55" dirty="0"/>
              <a:t> </a:t>
            </a:r>
            <a:r>
              <a:rPr spc="-10" dirty="0"/>
              <a:t>would</a:t>
            </a:r>
            <a:r>
              <a:rPr spc="-60" dirty="0"/>
              <a:t> </a:t>
            </a:r>
            <a:r>
              <a:rPr dirty="0"/>
              <a:t>be</a:t>
            </a:r>
            <a:r>
              <a:rPr spc="-55" dirty="0"/>
              <a:t> </a:t>
            </a:r>
            <a:r>
              <a:rPr dirty="0"/>
              <a:t>keen</a:t>
            </a:r>
            <a:r>
              <a:rPr spc="-55" dirty="0"/>
              <a:t> </a:t>
            </a:r>
            <a:r>
              <a:rPr dirty="0"/>
              <a:t>to</a:t>
            </a:r>
            <a:r>
              <a:rPr spc="-55" dirty="0"/>
              <a:t> </a:t>
            </a:r>
            <a:r>
              <a:rPr dirty="0"/>
              <a:t>start</a:t>
            </a:r>
            <a:r>
              <a:rPr spc="-60" dirty="0"/>
              <a:t> </a:t>
            </a:r>
            <a:r>
              <a:rPr dirty="0"/>
              <a:t>up</a:t>
            </a:r>
            <a:r>
              <a:rPr spc="-55" dirty="0"/>
              <a:t> </a:t>
            </a:r>
            <a:r>
              <a:rPr spc="-10" dirty="0"/>
              <a:t>using</a:t>
            </a:r>
            <a:r>
              <a:rPr spc="-55" dirty="0"/>
              <a:t> </a:t>
            </a:r>
            <a:r>
              <a:rPr spc="-20" dirty="0"/>
              <a:t>your </a:t>
            </a:r>
            <a:r>
              <a:rPr spc="-10" dirty="0"/>
              <a:t>collections/research.</a:t>
            </a:r>
            <a:endParaRPr spc="-1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2688" y="251778"/>
            <a:ext cx="5989320" cy="551180"/>
          </a:xfrm>
          <a:prstGeom prst="rect">
            <a:avLst/>
          </a:prstGeom>
        </p:spPr>
        <p:txBody>
          <a:bodyPr vert="horz" wrap="square" lIns="0" tIns="12700" rIns="0" bIns="0" rtlCol="0">
            <a:spAutoFit/>
          </a:bodyPr>
          <a:lstStyle/>
          <a:p>
            <a:pPr marL="12700">
              <a:lnSpc>
                <a:spcPct val="100000"/>
              </a:lnSpc>
              <a:spcBef>
                <a:spcPts val="100"/>
              </a:spcBef>
            </a:pPr>
            <a:r>
              <a:rPr sz="3500" dirty="0">
                <a:latin typeface="Times New Roman" panose="02020603050405020304"/>
                <a:cs typeface="Times New Roman" panose="02020603050405020304"/>
              </a:rPr>
              <a:t>Artificial</a:t>
            </a:r>
            <a:r>
              <a:rPr sz="3500" spc="-20" dirty="0">
                <a:latin typeface="Times New Roman" panose="02020603050405020304"/>
                <a:cs typeface="Times New Roman" panose="02020603050405020304"/>
              </a:rPr>
              <a:t> </a:t>
            </a:r>
            <a:r>
              <a:rPr sz="3500" dirty="0">
                <a:latin typeface="Times New Roman" panose="02020603050405020304"/>
                <a:cs typeface="Times New Roman" panose="02020603050405020304"/>
              </a:rPr>
              <a:t>Intelligence</a:t>
            </a:r>
            <a:r>
              <a:rPr sz="3500" spc="-100" dirty="0">
                <a:latin typeface="Times New Roman" panose="02020603050405020304"/>
                <a:cs typeface="Times New Roman" panose="02020603050405020304"/>
              </a:rPr>
              <a:t> </a:t>
            </a:r>
            <a:r>
              <a:rPr sz="3500" spc="-10" dirty="0">
                <a:latin typeface="Times New Roman" panose="02020603050405020304"/>
                <a:cs typeface="Times New Roman" panose="02020603050405020304"/>
              </a:rPr>
              <a:t>Techniques</a:t>
            </a:r>
            <a:endParaRPr sz="3500">
              <a:latin typeface="Times New Roman" panose="02020603050405020304"/>
              <a:cs typeface="Times New Roman" panose="02020603050405020304"/>
            </a:endParaRPr>
          </a:p>
        </p:txBody>
      </p:sp>
      <p:pic>
        <p:nvPicPr>
          <p:cNvPr id="3" name="object 3"/>
          <p:cNvPicPr/>
          <p:nvPr/>
        </p:nvPicPr>
        <p:blipFill>
          <a:blip r:embed="rId1" cstate="print"/>
          <a:stretch>
            <a:fillRect/>
          </a:stretch>
        </p:blipFill>
        <p:spPr>
          <a:xfrm>
            <a:off x="1951200" y="1418229"/>
            <a:ext cx="8440277" cy="3910083"/>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4216"/>
            <a:ext cx="10515600" cy="627380"/>
          </a:xfrm>
          <a:prstGeom prst="rect">
            <a:avLst/>
          </a:prstGeom>
        </p:spPr>
        <p:txBody>
          <a:bodyPr vert="horz" wrap="square" lIns="0" tIns="12065" rIns="0" bIns="0" rtlCol="0">
            <a:spAutoFit/>
          </a:bodyPr>
          <a:lstStyle/>
          <a:p>
            <a:pPr marL="12700">
              <a:lnSpc>
                <a:spcPct val="100000"/>
              </a:lnSpc>
              <a:spcBef>
                <a:spcPts val="95"/>
              </a:spcBef>
            </a:pPr>
            <a:r>
              <a:rPr sz="4000" dirty="0"/>
              <a:t>Artificial</a:t>
            </a:r>
            <a:r>
              <a:rPr sz="4000" spc="-135" dirty="0"/>
              <a:t> </a:t>
            </a:r>
            <a:r>
              <a:rPr sz="4000" spc="-20" dirty="0"/>
              <a:t>Intelligence</a:t>
            </a:r>
            <a:r>
              <a:rPr sz="4000" spc="-260" dirty="0"/>
              <a:t> </a:t>
            </a:r>
            <a:r>
              <a:rPr sz="4000" spc="-10" dirty="0"/>
              <a:t>Approach</a:t>
            </a:r>
            <a:endParaRPr sz="4000"/>
          </a:p>
        </p:txBody>
      </p:sp>
      <p:graphicFrame>
        <p:nvGraphicFramePr>
          <p:cNvPr id="3" name="object 3"/>
          <p:cNvGraphicFramePr>
            <a:graphicFrameLocks noGrp="1"/>
          </p:cNvGraphicFramePr>
          <p:nvPr/>
        </p:nvGraphicFramePr>
        <p:xfrm>
          <a:off x="3779520" y="2223008"/>
          <a:ext cx="6483350" cy="3771265"/>
        </p:xfrm>
        <a:graphic>
          <a:graphicData uri="http://schemas.openxmlformats.org/drawingml/2006/table">
            <a:tbl>
              <a:tblPr firstRow="1" bandRow="1">
                <a:tableStyleId>{2D5ABB26-0587-4C30-8999-92F81FD0307C}</a:tableStyleId>
              </a:tblPr>
              <a:tblGrid>
                <a:gridCol w="3234690"/>
                <a:gridCol w="3248660"/>
              </a:tblGrid>
              <a:tr h="1903095">
                <a:tc>
                  <a:txBody>
                    <a:bodyPr/>
                    <a:lstStyle/>
                    <a:p>
                      <a:pPr>
                        <a:lnSpc>
                          <a:spcPct val="100000"/>
                        </a:lnSpc>
                        <a:spcBef>
                          <a:spcPts val="1575"/>
                        </a:spcBef>
                      </a:pPr>
                      <a:endParaRPr sz="2400">
                        <a:latin typeface="Times New Roman" panose="02020603050405020304"/>
                        <a:cs typeface="Times New Roman" panose="02020603050405020304"/>
                      </a:endParaRPr>
                    </a:p>
                    <a:p>
                      <a:pPr marL="795020" marR="186690" indent="-518160">
                        <a:lnSpc>
                          <a:spcPct val="100000"/>
                        </a:lnSpc>
                      </a:pPr>
                      <a:r>
                        <a:rPr sz="2400" b="1" dirty="0">
                          <a:latin typeface="Arial" panose="020B0604020202020204"/>
                          <a:cs typeface="Arial" panose="020B0604020202020204"/>
                        </a:rPr>
                        <a:t>Systems</a:t>
                      </a:r>
                      <a:r>
                        <a:rPr sz="2400" b="1" spc="-70" dirty="0">
                          <a:latin typeface="Arial" panose="020B0604020202020204"/>
                          <a:cs typeface="Arial" panose="020B0604020202020204"/>
                        </a:rPr>
                        <a:t> </a:t>
                      </a:r>
                      <a:r>
                        <a:rPr sz="2400" b="1" dirty="0">
                          <a:latin typeface="Arial" panose="020B0604020202020204"/>
                          <a:cs typeface="Arial" panose="020B0604020202020204"/>
                        </a:rPr>
                        <a:t>that</a:t>
                      </a:r>
                      <a:r>
                        <a:rPr sz="2400" b="1" spc="-100" dirty="0">
                          <a:latin typeface="Arial" panose="020B0604020202020204"/>
                          <a:cs typeface="Arial" panose="020B0604020202020204"/>
                        </a:rPr>
                        <a:t> </a:t>
                      </a:r>
                      <a:r>
                        <a:rPr sz="2400" b="1" spc="-10" dirty="0">
                          <a:latin typeface="Arial" panose="020B0604020202020204"/>
                          <a:cs typeface="Arial" panose="020B0604020202020204"/>
                        </a:rPr>
                        <a:t>think </a:t>
                      </a:r>
                      <a:r>
                        <a:rPr sz="2400" b="1" dirty="0">
                          <a:latin typeface="Arial" panose="020B0604020202020204"/>
                          <a:cs typeface="Arial" panose="020B0604020202020204"/>
                        </a:rPr>
                        <a:t>like</a:t>
                      </a:r>
                      <a:r>
                        <a:rPr sz="2400" b="1" spc="-45" dirty="0">
                          <a:latin typeface="Arial" panose="020B0604020202020204"/>
                          <a:cs typeface="Arial" panose="020B0604020202020204"/>
                        </a:rPr>
                        <a:t> </a:t>
                      </a:r>
                      <a:r>
                        <a:rPr sz="2400" b="1" spc="-10" dirty="0">
                          <a:latin typeface="Arial" panose="020B0604020202020204"/>
                          <a:cs typeface="Arial" panose="020B0604020202020204"/>
                        </a:rPr>
                        <a:t>humans</a:t>
                      </a:r>
                      <a:endParaRPr sz="2400">
                        <a:latin typeface="Arial" panose="020B0604020202020204"/>
                        <a:cs typeface="Arial" panose="020B0604020202020204"/>
                      </a:endParaRPr>
                    </a:p>
                  </a:txBody>
                  <a:tcPr marL="0" marR="0" marT="20002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spcBef>
                          <a:spcPts val="1575"/>
                        </a:spcBef>
                      </a:pPr>
                      <a:endParaRPr sz="2400">
                        <a:latin typeface="Times New Roman" panose="02020603050405020304"/>
                        <a:cs typeface="Times New Roman" panose="02020603050405020304"/>
                      </a:endParaRPr>
                    </a:p>
                    <a:p>
                      <a:pPr marL="984250" marR="213995" indent="-721360">
                        <a:lnSpc>
                          <a:spcPct val="100000"/>
                        </a:lnSpc>
                      </a:pPr>
                      <a:r>
                        <a:rPr sz="2400" b="1" dirty="0">
                          <a:latin typeface="Arial" panose="020B0604020202020204"/>
                          <a:cs typeface="Arial" panose="020B0604020202020204"/>
                        </a:rPr>
                        <a:t>Systems</a:t>
                      </a:r>
                      <a:r>
                        <a:rPr sz="2400" b="1" spc="-70" dirty="0">
                          <a:latin typeface="Arial" panose="020B0604020202020204"/>
                          <a:cs typeface="Arial" panose="020B0604020202020204"/>
                        </a:rPr>
                        <a:t> </a:t>
                      </a:r>
                      <a:r>
                        <a:rPr sz="2400" b="1" dirty="0">
                          <a:latin typeface="Arial" panose="020B0604020202020204"/>
                          <a:cs typeface="Arial" panose="020B0604020202020204"/>
                        </a:rPr>
                        <a:t>that</a:t>
                      </a:r>
                      <a:r>
                        <a:rPr sz="2400" b="1" spc="-100" dirty="0">
                          <a:latin typeface="Arial" panose="020B0604020202020204"/>
                          <a:cs typeface="Arial" panose="020B0604020202020204"/>
                        </a:rPr>
                        <a:t> </a:t>
                      </a:r>
                      <a:r>
                        <a:rPr sz="2400" b="1" spc="-10" dirty="0">
                          <a:latin typeface="Arial" panose="020B0604020202020204"/>
                          <a:cs typeface="Arial" panose="020B0604020202020204"/>
                        </a:rPr>
                        <a:t>think rationally</a:t>
                      </a:r>
                      <a:endParaRPr sz="2400">
                        <a:latin typeface="Arial" panose="020B0604020202020204"/>
                        <a:cs typeface="Arial" panose="020B0604020202020204"/>
                      </a:endParaRPr>
                    </a:p>
                  </a:txBody>
                  <a:tcPr marL="0" marR="0" marT="20002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r>
              <a:tr h="1868170">
                <a:tc>
                  <a:txBody>
                    <a:bodyPr/>
                    <a:lstStyle/>
                    <a:p>
                      <a:pPr>
                        <a:lnSpc>
                          <a:spcPct val="100000"/>
                        </a:lnSpc>
                        <a:spcBef>
                          <a:spcPts val="1290"/>
                        </a:spcBef>
                      </a:pPr>
                      <a:endParaRPr sz="2400">
                        <a:latin typeface="Times New Roman" panose="02020603050405020304"/>
                        <a:cs typeface="Times New Roman" panose="02020603050405020304"/>
                      </a:endParaRPr>
                    </a:p>
                    <a:p>
                      <a:pPr marL="727075" marR="396875" indent="-373380">
                        <a:lnSpc>
                          <a:spcPct val="100000"/>
                        </a:lnSpc>
                      </a:pPr>
                      <a:r>
                        <a:rPr sz="2400" b="1" dirty="0">
                          <a:solidFill>
                            <a:srgbClr val="E92A24"/>
                          </a:solidFill>
                          <a:latin typeface="Arial" panose="020B0604020202020204"/>
                          <a:cs typeface="Arial" panose="020B0604020202020204"/>
                        </a:rPr>
                        <a:t>Systems</a:t>
                      </a:r>
                      <a:r>
                        <a:rPr sz="2400" b="1" spc="-70" dirty="0">
                          <a:solidFill>
                            <a:srgbClr val="E92A24"/>
                          </a:solidFill>
                          <a:latin typeface="Arial" panose="020B0604020202020204"/>
                          <a:cs typeface="Arial" panose="020B0604020202020204"/>
                        </a:rPr>
                        <a:t> </a:t>
                      </a:r>
                      <a:r>
                        <a:rPr sz="2400" b="1" dirty="0">
                          <a:solidFill>
                            <a:srgbClr val="E92A24"/>
                          </a:solidFill>
                          <a:latin typeface="Arial" panose="020B0604020202020204"/>
                          <a:cs typeface="Arial" panose="020B0604020202020204"/>
                        </a:rPr>
                        <a:t>that</a:t>
                      </a:r>
                      <a:r>
                        <a:rPr sz="2400" b="1" spc="-100" dirty="0">
                          <a:solidFill>
                            <a:srgbClr val="E92A24"/>
                          </a:solidFill>
                          <a:latin typeface="Arial" panose="020B0604020202020204"/>
                          <a:cs typeface="Arial" panose="020B0604020202020204"/>
                        </a:rPr>
                        <a:t> </a:t>
                      </a:r>
                      <a:r>
                        <a:rPr sz="2400" b="1" spc="-25" dirty="0">
                          <a:solidFill>
                            <a:srgbClr val="E92A24"/>
                          </a:solidFill>
                          <a:latin typeface="Arial" panose="020B0604020202020204"/>
                          <a:cs typeface="Arial" panose="020B0604020202020204"/>
                        </a:rPr>
                        <a:t>act </a:t>
                      </a:r>
                      <a:r>
                        <a:rPr sz="2400" b="1" dirty="0">
                          <a:solidFill>
                            <a:srgbClr val="E92A24"/>
                          </a:solidFill>
                          <a:latin typeface="Arial" panose="020B0604020202020204"/>
                          <a:cs typeface="Arial" panose="020B0604020202020204"/>
                        </a:rPr>
                        <a:t>like</a:t>
                      </a:r>
                      <a:r>
                        <a:rPr sz="2400" b="1" spc="-45" dirty="0">
                          <a:solidFill>
                            <a:srgbClr val="E92A24"/>
                          </a:solidFill>
                          <a:latin typeface="Arial" panose="020B0604020202020204"/>
                          <a:cs typeface="Arial" panose="020B0604020202020204"/>
                        </a:rPr>
                        <a:t> </a:t>
                      </a:r>
                      <a:r>
                        <a:rPr sz="2400" b="1" spc="-10" dirty="0">
                          <a:solidFill>
                            <a:srgbClr val="E92A24"/>
                          </a:solidFill>
                          <a:latin typeface="Arial" panose="020B0604020202020204"/>
                          <a:cs typeface="Arial" panose="020B0604020202020204"/>
                        </a:rPr>
                        <a:t>humans</a:t>
                      </a:r>
                      <a:endParaRPr sz="2400">
                        <a:latin typeface="Arial" panose="020B0604020202020204"/>
                        <a:cs typeface="Arial" panose="020B0604020202020204"/>
                      </a:endParaRPr>
                    </a:p>
                  </a:txBody>
                  <a:tcPr marL="0" marR="0" marT="16383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spcBef>
                          <a:spcPts val="1290"/>
                        </a:spcBef>
                      </a:pPr>
                      <a:endParaRPr sz="2400">
                        <a:latin typeface="Times New Roman" panose="02020603050405020304"/>
                        <a:cs typeface="Times New Roman" panose="02020603050405020304"/>
                      </a:endParaRPr>
                    </a:p>
                    <a:p>
                      <a:pPr marL="979805" marR="361950" indent="-577850">
                        <a:lnSpc>
                          <a:spcPct val="100000"/>
                        </a:lnSpc>
                      </a:pPr>
                      <a:r>
                        <a:rPr sz="2400" b="1" dirty="0">
                          <a:latin typeface="Arial" panose="020B0604020202020204"/>
                          <a:cs typeface="Arial" panose="020B0604020202020204"/>
                        </a:rPr>
                        <a:t>Systems</a:t>
                      </a:r>
                      <a:r>
                        <a:rPr sz="2400" b="1" spc="-70" dirty="0">
                          <a:latin typeface="Arial" panose="020B0604020202020204"/>
                          <a:cs typeface="Arial" panose="020B0604020202020204"/>
                        </a:rPr>
                        <a:t> </a:t>
                      </a:r>
                      <a:r>
                        <a:rPr sz="2400" b="1" dirty="0">
                          <a:latin typeface="Arial" panose="020B0604020202020204"/>
                          <a:cs typeface="Arial" panose="020B0604020202020204"/>
                        </a:rPr>
                        <a:t>that</a:t>
                      </a:r>
                      <a:r>
                        <a:rPr sz="2400" b="1" spc="-100" dirty="0">
                          <a:latin typeface="Arial" panose="020B0604020202020204"/>
                          <a:cs typeface="Arial" panose="020B0604020202020204"/>
                        </a:rPr>
                        <a:t> </a:t>
                      </a:r>
                      <a:r>
                        <a:rPr sz="2400" b="1" spc="-25" dirty="0">
                          <a:latin typeface="Arial" panose="020B0604020202020204"/>
                          <a:cs typeface="Arial" panose="020B0604020202020204"/>
                        </a:rPr>
                        <a:t>act </a:t>
                      </a:r>
                      <a:r>
                        <a:rPr sz="2400" b="1" spc="-10" dirty="0">
                          <a:latin typeface="Arial" panose="020B0604020202020204"/>
                          <a:cs typeface="Arial" panose="020B0604020202020204"/>
                        </a:rPr>
                        <a:t>rationally</a:t>
                      </a:r>
                      <a:endParaRPr sz="2400">
                        <a:latin typeface="Arial" panose="020B0604020202020204"/>
                        <a:cs typeface="Arial" panose="020B0604020202020204"/>
                      </a:endParaRPr>
                    </a:p>
                  </a:txBody>
                  <a:tcPr marL="0" marR="0" marT="16383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r>
            </a:tbl>
          </a:graphicData>
        </a:graphic>
      </p:graphicFrame>
      <p:sp>
        <p:nvSpPr>
          <p:cNvPr id="4" name="object 4"/>
          <p:cNvSpPr txBox="1"/>
          <p:nvPr/>
        </p:nvSpPr>
        <p:spPr>
          <a:xfrm>
            <a:off x="1770583" y="4113733"/>
            <a:ext cx="1830705" cy="381635"/>
          </a:xfrm>
          <a:prstGeom prst="rect">
            <a:avLst/>
          </a:prstGeom>
        </p:spPr>
        <p:txBody>
          <a:bodyPr vert="horz" wrap="square" lIns="0" tIns="12700" rIns="0" bIns="0" rtlCol="0">
            <a:spAutoFit/>
          </a:bodyPr>
          <a:lstStyle/>
          <a:p>
            <a:pPr marL="12700">
              <a:lnSpc>
                <a:spcPct val="100000"/>
              </a:lnSpc>
              <a:spcBef>
                <a:spcPts val="100"/>
              </a:spcBef>
            </a:pPr>
            <a:r>
              <a:rPr sz="2400" b="1" spc="-25" dirty="0">
                <a:latin typeface="Arial" panose="020B0604020202020204"/>
                <a:cs typeface="Arial" panose="020B0604020202020204"/>
              </a:rPr>
              <a:t>BEHAVIOUR</a:t>
            </a:r>
            <a:endParaRPr sz="2400">
              <a:latin typeface="Arial" panose="020B0604020202020204"/>
              <a:cs typeface="Arial" panose="020B0604020202020204"/>
            </a:endParaRPr>
          </a:p>
        </p:txBody>
      </p:sp>
      <p:sp>
        <p:nvSpPr>
          <p:cNvPr id="5" name="object 5"/>
          <p:cNvSpPr txBox="1"/>
          <p:nvPr/>
        </p:nvSpPr>
        <p:spPr>
          <a:xfrm>
            <a:off x="1769465" y="1864613"/>
            <a:ext cx="7430134" cy="1501140"/>
          </a:xfrm>
          <a:prstGeom prst="rect">
            <a:avLst/>
          </a:prstGeom>
        </p:spPr>
        <p:txBody>
          <a:bodyPr vert="horz" wrap="square" lIns="0" tIns="12700" rIns="0" bIns="0" rtlCol="0">
            <a:spAutoFit/>
          </a:bodyPr>
          <a:lstStyle/>
          <a:p>
            <a:pPr marL="3046730">
              <a:lnSpc>
                <a:spcPct val="100000"/>
              </a:lnSpc>
              <a:spcBef>
                <a:spcPts val="100"/>
              </a:spcBef>
              <a:tabLst>
                <a:tab pos="5866130" algn="l"/>
              </a:tabLst>
            </a:pPr>
            <a:r>
              <a:rPr sz="3600" b="1" baseline="1000" dirty="0">
                <a:latin typeface="Arial" panose="020B0604020202020204"/>
                <a:cs typeface="Arial" panose="020B0604020202020204"/>
              </a:rPr>
              <a:t>Like</a:t>
            </a:r>
            <a:r>
              <a:rPr sz="3600" b="1" spc="-37" baseline="1000" dirty="0">
                <a:latin typeface="Arial" panose="020B0604020202020204"/>
                <a:cs typeface="Arial" panose="020B0604020202020204"/>
              </a:rPr>
              <a:t> </a:t>
            </a:r>
            <a:r>
              <a:rPr sz="3600" b="1" spc="-15" baseline="1000" dirty="0">
                <a:latin typeface="Arial" panose="020B0604020202020204"/>
                <a:cs typeface="Arial" panose="020B0604020202020204"/>
              </a:rPr>
              <a:t>HUMAN</a:t>
            </a:r>
            <a:r>
              <a:rPr sz="3600" b="1" baseline="1000" dirty="0">
                <a:latin typeface="Arial" panose="020B0604020202020204"/>
                <a:cs typeface="Arial" panose="020B0604020202020204"/>
              </a:rPr>
              <a:t>	</a:t>
            </a:r>
            <a:r>
              <a:rPr sz="2400" b="1" spc="-25" dirty="0">
                <a:latin typeface="Arial" panose="020B0604020202020204"/>
                <a:cs typeface="Arial" panose="020B0604020202020204"/>
              </a:rPr>
              <a:t>RATIONAL</a:t>
            </a:r>
            <a:endParaRPr sz="2400">
              <a:latin typeface="Arial" panose="020B0604020202020204"/>
              <a:cs typeface="Arial" panose="020B0604020202020204"/>
            </a:endParaRPr>
          </a:p>
          <a:p>
            <a:pPr>
              <a:lnSpc>
                <a:spcPct val="100000"/>
              </a:lnSpc>
            </a:pPr>
            <a:endParaRPr sz="2400">
              <a:latin typeface="Arial" panose="020B0604020202020204"/>
              <a:cs typeface="Arial" panose="020B0604020202020204"/>
            </a:endParaRPr>
          </a:p>
          <a:p>
            <a:pPr>
              <a:lnSpc>
                <a:spcPct val="100000"/>
              </a:lnSpc>
              <a:spcBef>
                <a:spcPts val="85"/>
              </a:spcBef>
            </a:pPr>
            <a:endParaRPr sz="2400">
              <a:latin typeface="Arial" panose="020B0604020202020204"/>
              <a:cs typeface="Arial" panose="020B0604020202020204"/>
            </a:endParaRPr>
          </a:p>
          <a:p>
            <a:pPr marL="12700">
              <a:lnSpc>
                <a:spcPct val="100000"/>
              </a:lnSpc>
              <a:spcBef>
                <a:spcPts val="5"/>
              </a:spcBef>
            </a:pPr>
            <a:r>
              <a:rPr sz="2400" b="1" spc="-10" dirty="0">
                <a:latin typeface="Arial" panose="020B0604020202020204"/>
                <a:cs typeface="Arial" panose="020B0604020202020204"/>
              </a:rPr>
              <a:t>THOUGHT</a:t>
            </a:r>
            <a:endParaRPr sz="2400">
              <a:latin typeface="Arial" panose="020B0604020202020204"/>
              <a:cs typeface="Arial" panose="020B0604020202020204"/>
            </a:endParaRPr>
          </a:p>
        </p:txBody>
      </p:sp>
      <p:sp>
        <p:nvSpPr>
          <p:cNvPr id="6" name="Date Placeholder 5"/>
          <p:cNvSpPr>
            <a:spLocks noGrp="1"/>
          </p:cNvSpPr>
          <p:nvPr>
            <p:ph type="dt" sz="half" idx="10"/>
          </p:nvPr>
        </p:nvSpPr>
        <p:spPr/>
        <p:txBody>
          <a:bodyPr/>
          <a:p>
            <a:fld id="{63A1C593-65D0-4073-BCC9-577B9352EA97}" type="datetime1">
              <a:rPr lang="en-US" smtClean="0"/>
            </a:fld>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4216"/>
            <a:ext cx="10515600" cy="627380"/>
          </a:xfrm>
          <a:prstGeom prst="rect">
            <a:avLst/>
          </a:prstGeom>
        </p:spPr>
        <p:txBody>
          <a:bodyPr vert="horz" wrap="square" lIns="0" tIns="12065" rIns="0" bIns="0" rtlCol="0">
            <a:spAutoFit/>
          </a:bodyPr>
          <a:lstStyle/>
          <a:p>
            <a:pPr marL="12700">
              <a:lnSpc>
                <a:spcPct val="100000"/>
              </a:lnSpc>
              <a:spcBef>
                <a:spcPts val="95"/>
              </a:spcBef>
            </a:pPr>
            <a:r>
              <a:rPr sz="4000" dirty="0"/>
              <a:t>Artificial</a:t>
            </a:r>
            <a:r>
              <a:rPr sz="4000" spc="-135" dirty="0"/>
              <a:t> </a:t>
            </a:r>
            <a:r>
              <a:rPr sz="4000" spc="-20" dirty="0"/>
              <a:t>Intelligence</a:t>
            </a:r>
            <a:r>
              <a:rPr sz="4000" spc="-260" dirty="0"/>
              <a:t> </a:t>
            </a:r>
            <a:r>
              <a:rPr sz="4000" spc="-10" dirty="0"/>
              <a:t>Approach</a:t>
            </a:r>
            <a:endParaRPr sz="4000"/>
          </a:p>
        </p:txBody>
      </p:sp>
      <p:pic>
        <p:nvPicPr>
          <p:cNvPr id="3" name="object 3"/>
          <p:cNvPicPr/>
          <p:nvPr/>
        </p:nvPicPr>
        <p:blipFill>
          <a:blip r:embed="rId1" cstate="print"/>
          <a:stretch>
            <a:fillRect/>
          </a:stretch>
        </p:blipFill>
        <p:spPr>
          <a:xfrm>
            <a:off x="1718945" y="1671320"/>
            <a:ext cx="8509000" cy="4396740"/>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4216"/>
            <a:ext cx="10515600" cy="627380"/>
          </a:xfrm>
          <a:prstGeom prst="rect">
            <a:avLst/>
          </a:prstGeom>
        </p:spPr>
        <p:txBody>
          <a:bodyPr vert="horz" wrap="square" lIns="0" tIns="12065" rIns="0" bIns="0" rtlCol="0">
            <a:spAutoFit/>
          </a:bodyPr>
          <a:lstStyle/>
          <a:p>
            <a:pPr marL="12700">
              <a:lnSpc>
                <a:spcPct val="100000"/>
              </a:lnSpc>
              <a:spcBef>
                <a:spcPts val="95"/>
              </a:spcBef>
            </a:pPr>
            <a:r>
              <a:rPr sz="4000" dirty="0"/>
              <a:t>Artificial</a:t>
            </a:r>
            <a:r>
              <a:rPr sz="4000" spc="-135" dirty="0"/>
              <a:t> </a:t>
            </a:r>
            <a:r>
              <a:rPr sz="4000" spc="-20" dirty="0"/>
              <a:t>Intelligence</a:t>
            </a:r>
            <a:r>
              <a:rPr sz="4000" spc="-260" dirty="0"/>
              <a:t> </a:t>
            </a:r>
            <a:r>
              <a:rPr sz="4000" spc="-10" dirty="0"/>
              <a:t>Approach</a:t>
            </a:r>
            <a:endParaRPr sz="4000"/>
          </a:p>
        </p:txBody>
      </p:sp>
      <p:pic>
        <p:nvPicPr>
          <p:cNvPr id="3" name="object 3"/>
          <p:cNvPicPr/>
          <p:nvPr/>
        </p:nvPicPr>
        <p:blipFill>
          <a:blip r:embed="rId1" cstate="print"/>
          <a:stretch>
            <a:fillRect/>
          </a:stretch>
        </p:blipFill>
        <p:spPr>
          <a:xfrm>
            <a:off x="2534920" y="1958340"/>
            <a:ext cx="6518910" cy="4286885"/>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0816" y="100851"/>
            <a:ext cx="7266305" cy="566420"/>
          </a:xfrm>
          <a:prstGeom prst="rect">
            <a:avLst/>
          </a:prstGeom>
        </p:spPr>
        <p:txBody>
          <a:bodyPr vert="horz" wrap="square" lIns="0" tIns="12700" rIns="0" bIns="0" rtlCol="0">
            <a:spAutoFit/>
          </a:bodyPr>
          <a:lstStyle/>
          <a:p>
            <a:pPr marL="12700">
              <a:lnSpc>
                <a:spcPct val="100000"/>
              </a:lnSpc>
              <a:spcBef>
                <a:spcPts val="100"/>
              </a:spcBef>
            </a:pPr>
            <a:r>
              <a:rPr sz="3600" dirty="0"/>
              <a:t>Components</a:t>
            </a:r>
            <a:r>
              <a:rPr sz="3600" spc="-50" dirty="0"/>
              <a:t> </a:t>
            </a:r>
            <a:r>
              <a:rPr sz="3600" dirty="0"/>
              <a:t>of</a:t>
            </a:r>
            <a:r>
              <a:rPr sz="3600" spc="-210" dirty="0"/>
              <a:t> </a:t>
            </a:r>
            <a:r>
              <a:rPr sz="3600" dirty="0"/>
              <a:t>Artificial</a:t>
            </a:r>
            <a:r>
              <a:rPr sz="3600" spc="-30" dirty="0"/>
              <a:t> </a:t>
            </a:r>
            <a:r>
              <a:rPr sz="3600" spc="-10" dirty="0"/>
              <a:t>Intelligence</a:t>
            </a:r>
            <a:endParaRPr sz="3600"/>
          </a:p>
        </p:txBody>
      </p:sp>
      <p:pic>
        <p:nvPicPr>
          <p:cNvPr id="3" name="object 3"/>
          <p:cNvPicPr/>
          <p:nvPr/>
        </p:nvPicPr>
        <p:blipFill>
          <a:blip r:embed="rId1" cstate="print"/>
          <a:stretch>
            <a:fillRect/>
          </a:stretch>
        </p:blipFill>
        <p:spPr>
          <a:xfrm>
            <a:off x="1625878" y="1077342"/>
            <a:ext cx="8949593" cy="4694342"/>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25596"/>
            <a:ext cx="10515600" cy="1404620"/>
          </a:xfrm>
          <a:prstGeom prst="rect">
            <a:avLst/>
          </a:prstGeom>
        </p:spPr>
        <p:txBody>
          <a:bodyPr vert="horz" wrap="square" lIns="0" tIns="51384" rIns="0" bIns="0" rtlCol="0">
            <a:spAutoFit/>
          </a:bodyPr>
          <a:lstStyle/>
          <a:p>
            <a:pPr marL="163195">
              <a:lnSpc>
                <a:spcPct val="100000"/>
              </a:lnSpc>
              <a:spcBef>
                <a:spcPts val="95"/>
              </a:spcBef>
            </a:pPr>
            <a:r>
              <a:rPr dirty="0"/>
              <a:t>Three</a:t>
            </a:r>
            <a:r>
              <a:rPr spc="-85" dirty="0"/>
              <a:t> </a:t>
            </a:r>
            <a:r>
              <a:rPr dirty="0"/>
              <a:t>dimensional</a:t>
            </a:r>
            <a:r>
              <a:rPr spc="-50" dirty="0"/>
              <a:t> </a:t>
            </a:r>
            <a:r>
              <a:rPr dirty="0"/>
              <a:t>model</a:t>
            </a:r>
            <a:r>
              <a:rPr spc="-90" dirty="0"/>
              <a:t> </a:t>
            </a:r>
            <a:r>
              <a:rPr dirty="0"/>
              <a:t>of</a:t>
            </a:r>
            <a:r>
              <a:rPr spc="-95" dirty="0"/>
              <a:t> </a:t>
            </a:r>
            <a:r>
              <a:rPr dirty="0"/>
              <a:t>artificial</a:t>
            </a:r>
            <a:r>
              <a:rPr spc="-105" dirty="0"/>
              <a:t> </a:t>
            </a:r>
            <a:r>
              <a:rPr spc="-10" dirty="0"/>
              <a:t>intelligence</a:t>
            </a:r>
            <a:endParaRPr spc="-10" dirty="0"/>
          </a:p>
        </p:txBody>
      </p:sp>
      <p:pic>
        <p:nvPicPr>
          <p:cNvPr id="3" name="object 3"/>
          <p:cNvPicPr/>
          <p:nvPr/>
        </p:nvPicPr>
        <p:blipFill>
          <a:blip r:embed="rId1" cstate="print"/>
          <a:stretch>
            <a:fillRect/>
          </a:stretch>
        </p:blipFill>
        <p:spPr>
          <a:xfrm>
            <a:off x="1860803" y="1844904"/>
            <a:ext cx="8047749" cy="4459375"/>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440531"/>
            <a:ext cx="10515600" cy="727710"/>
          </a:xfrm>
          <a:prstGeom prst="rect">
            <a:avLst/>
          </a:prstGeom>
        </p:spPr>
        <p:txBody>
          <a:bodyPr vert="horz" wrap="square" lIns="0" tIns="51384" rIns="0" bIns="0" rtlCol="0">
            <a:spAutoFit/>
          </a:bodyPr>
          <a:lstStyle/>
          <a:p>
            <a:pPr marL="163195">
              <a:lnSpc>
                <a:spcPct val="100000"/>
              </a:lnSpc>
              <a:spcBef>
                <a:spcPts val="95"/>
              </a:spcBef>
            </a:pPr>
            <a:r>
              <a:rPr spc="-20" dirty="0"/>
              <a:t>Types</a:t>
            </a:r>
            <a:r>
              <a:rPr spc="-85" dirty="0"/>
              <a:t> </a:t>
            </a:r>
            <a:r>
              <a:rPr dirty="0"/>
              <a:t>of</a:t>
            </a:r>
            <a:r>
              <a:rPr spc="-80" dirty="0"/>
              <a:t> </a:t>
            </a:r>
            <a:r>
              <a:rPr dirty="0"/>
              <a:t>artificial</a:t>
            </a:r>
            <a:r>
              <a:rPr spc="-70" dirty="0"/>
              <a:t> </a:t>
            </a:r>
            <a:r>
              <a:rPr spc="-10" dirty="0"/>
              <a:t>intelligence</a:t>
            </a:r>
            <a:endParaRPr spc="-10" dirty="0"/>
          </a:p>
        </p:txBody>
      </p:sp>
      <p:pic>
        <p:nvPicPr>
          <p:cNvPr id="3" name="object 3"/>
          <p:cNvPicPr/>
          <p:nvPr/>
        </p:nvPicPr>
        <p:blipFill>
          <a:blip r:embed="rId1" cstate="print"/>
          <a:stretch>
            <a:fillRect/>
          </a:stretch>
        </p:blipFill>
        <p:spPr>
          <a:xfrm>
            <a:off x="1920674" y="1300556"/>
            <a:ext cx="8067567" cy="3886390"/>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5465" y="244158"/>
            <a:ext cx="7717155" cy="627380"/>
          </a:xfrm>
          <a:prstGeom prst="rect">
            <a:avLst/>
          </a:prstGeom>
        </p:spPr>
        <p:txBody>
          <a:bodyPr vert="horz" wrap="square" lIns="0" tIns="12065" rIns="0" bIns="0" rtlCol="0">
            <a:spAutoFit/>
          </a:bodyPr>
          <a:lstStyle/>
          <a:p>
            <a:pPr marL="12700">
              <a:lnSpc>
                <a:spcPct val="100000"/>
              </a:lnSpc>
              <a:spcBef>
                <a:spcPts val="95"/>
              </a:spcBef>
            </a:pPr>
            <a:r>
              <a:rPr spc="-10" dirty="0"/>
              <a:t>Types</a:t>
            </a:r>
            <a:r>
              <a:rPr spc="-95" dirty="0"/>
              <a:t> </a:t>
            </a:r>
            <a:r>
              <a:rPr dirty="0"/>
              <a:t>of</a:t>
            </a:r>
            <a:r>
              <a:rPr spc="-90" dirty="0"/>
              <a:t> </a:t>
            </a:r>
            <a:r>
              <a:rPr dirty="0"/>
              <a:t>artificial</a:t>
            </a:r>
            <a:r>
              <a:rPr spc="-95" dirty="0"/>
              <a:t> </a:t>
            </a:r>
            <a:r>
              <a:rPr spc="-10" dirty="0"/>
              <a:t>intelligence</a:t>
            </a:r>
            <a:endParaRPr spc="-10" dirty="0"/>
          </a:p>
        </p:txBody>
      </p:sp>
      <p:pic>
        <p:nvPicPr>
          <p:cNvPr id="3" name="object 3"/>
          <p:cNvPicPr/>
          <p:nvPr/>
        </p:nvPicPr>
        <p:blipFill>
          <a:blip r:embed="rId1" cstate="print"/>
          <a:stretch>
            <a:fillRect/>
          </a:stretch>
        </p:blipFill>
        <p:spPr>
          <a:xfrm>
            <a:off x="1524000" y="2133600"/>
            <a:ext cx="8991600" cy="3505200"/>
          </a:xfrm>
          <a:prstGeom prst="rect">
            <a:avLst/>
          </a:prstGeom>
        </p:spPr>
      </p:pic>
      <p:sp>
        <p:nvSpPr>
          <p:cNvPr id="4" name="object 4"/>
          <p:cNvSpPr txBox="1"/>
          <p:nvPr/>
        </p:nvSpPr>
        <p:spPr>
          <a:xfrm>
            <a:off x="1820367" y="1000201"/>
            <a:ext cx="5923280" cy="442595"/>
          </a:xfrm>
          <a:prstGeom prst="rect">
            <a:avLst/>
          </a:prstGeom>
        </p:spPr>
        <p:txBody>
          <a:bodyPr vert="horz" wrap="square" lIns="0" tIns="12065" rIns="0" bIns="0" rtlCol="0">
            <a:spAutoFit/>
          </a:bodyPr>
          <a:lstStyle/>
          <a:p>
            <a:pPr marL="12700">
              <a:lnSpc>
                <a:spcPct val="100000"/>
              </a:lnSpc>
              <a:spcBef>
                <a:spcPts val="95"/>
              </a:spcBef>
            </a:pPr>
            <a:r>
              <a:rPr sz="2800" b="1" spc="150" dirty="0">
                <a:solidFill>
                  <a:srgbClr val="600A38"/>
                </a:solidFill>
                <a:latin typeface="Cambria" panose="02040503050406030204"/>
                <a:cs typeface="Cambria" panose="02040503050406030204"/>
              </a:rPr>
              <a:t>AI</a:t>
            </a:r>
            <a:r>
              <a:rPr sz="2800" b="1" spc="335" dirty="0">
                <a:solidFill>
                  <a:srgbClr val="600A38"/>
                </a:solidFill>
                <a:latin typeface="Cambria" panose="02040503050406030204"/>
                <a:cs typeface="Cambria" panose="02040503050406030204"/>
              </a:rPr>
              <a:t> </a:t>
            </a:r>
            <a:r>
              <a:rPr sz="2800" b="1" spc="150" dirty="0">
                <a:solidFill>
                  <a:srgbClr val="600A38"/>
                </a:solidFill>
                <a:latin typeface="Cambria" panose="02040503050406030204"/>
                <a:cs typeface="Cambria" panose="02040503050406030204"/>
              </a:rPr>
              <a:t>type-</a:t>
            </a:r>
            <a:r>
              <a:rPr sz="2800" b="1" spc="170" dirty="0">
                <a:solidFill>
                  <a:srgbClr val="600A38"/>
                </a:solidFill>
                <a:latin typeface="Cambria" panose="02040503050406030204"/>
                <a:cs typeface="Cambria" panose="02040503050406030204"/>
              </a:rPr>
              <a:t>1:</a:t>
            </a:r>
            <a:r>
              <a:rPr sz="2800" b="1" spc="355" dirty="0">
                <a:solidFill>
                  <a:srgbClr val="600A38"/>
                </a:solidFill>
                <a:latin typeface="Cambria" panose="02040503050406030204"/>
                <a:cs typeface="Cambria" panose="02040503050406030204"/>
              </a:rPr>
              <a:t> </a:t>
            </a:r>
            <a:r>
              <a:rPr sz="2800" b="1" spc="135" dirty="0">
                <a:solidFill>
                  <a:srgbClr val="600A38"/>
                </a:solidFill>
                <a:latin typeface="Cambria" panose="02040503050406030204"/>
                <a:cs typeface="Cambria" panose="02040503050406030204"/>
              </a:rPr>
              <a:t>Based</a:t>
            </a:r>
            <a:r>
              <a:rPr sz="2800" b="1" spc="315" dirty="0">
                <a:solidFill>
                  <a:srgbClr val="600A38"/>
                </a:solidFill>
                <a:latin typeface="Cambria" panose="02040503050406030204"/>
                <a:cs typeface="Cambria" panose="02040503050406030204"/>
              </a:rPr>
              <a:t> </a:t>
            </a:r>
            <a:r>
              <a:rPr sz="2800" b="1" spc="155" dirty="0">
                <a:solidFill>
                  <a:srgbClr val="600A38"/>
                </a:solidFill>
                <a:latin typeface="Cambria" panose="02040503050406030204"/>
                <a:cs typeface="Cambria" panose="02040503050406030204"/>
              </a:rPr>
              <a:t>on</a:t>
            </a:r>
            <a:r>
              <a:rPr sz="2800" b="1" spc="350" dirty="0">
                <a:solidFill>
                  <a:srgbClr val="600A38"/>
                </a:solidFill>
                <a:latin typeface="Cambria" panose="02040503050406030204"/>
                <a:cs typeface="Cambria" panose="02040503050406030204"/>
              </a:rPr>
              <a:t> </a:t>
            </a:r>
            <a:r>
              <a:rPr sz="2800" b="1" spc="135" dirty="0">
                <a:solidFill>
                  <a:srgbClr val="600A38"/>
                </a:solidFill>
                <a:latin typeface="Cambria" panose="02040503050406030204"/>
                <a:cs typeface="Cambria" panose="02040503050406030204"/>
              </a:rPr>
              <a:t>Capabilities</a:t>
            </a:r>
            <a:endParaRPr sz="2800">
              <a:latin typeface="Cambria" panose="02040503050406030204"/>
              <a:cs typeface="Cambria" panose="02040503050406030204"/>
            </a:endParaRPr>
          </a:p>
        </p:txBody>
      </p:sp>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5140" y="88583"/>
            <a:ext cx="8920480" cy="627380"/>
          </a:xfrm>
          <a:prstGeom prst="rect">
            <a:avLst/>
          </a:prstGeom>
        </p:spPr>
        <p:txBody>
          <a:bodyPr vert="horz" wrap="square" lIns="0" tIns="12065" rIns="0" bIns="0" rtlCol="0">
            <a:spAutoFit/>
          </a:bodyPr>
          <a:lstStyle/>
          <a:p>
            <a:pPr marL="163195" algn="ctr">
              <a:lnSpc>
                <a:spcPct val="100000"/>
              </a:lnSpc>
              <a:spcBef>
                <a:spcPts val="95"/>
              </a:spcBef>
              <a:buClrTx/>
              <a:buSzTx/>
              <a:buFontTx/>
            </a:pPr>
            <a:r>
              <a:rPr dirty="0"/>
              <a:t>Types of </a:t>
            </a:r>
            <a:r>
              <a:rPr lang="en-US" dirty="0"/>
              <a:t>A</a:t>
            </a:r>
            <a:r>
              <a:rPr dirty="0"/>
              <a:t>rtificial </a:t>
            </a:r>
            <a:r>
              <a:rPr lang="en-US" dirty="0"/>
              <a:t>I</a:t>
            </a:r>
            <a:r>
              <a:rPr dirty="0"/>
              <a:t>ntelligence</a:t>
            </a:r>
            <a:endParaRPr dirty="0"/>
          </a:p>
        </p:txBody>
      </p:sp>
      <p:sp>
        <p:nvSpPr>
          <p:cNvPr id="3" name="object 3"/>
          <p:cNvSpPr txBox="1"/>
          <p:nvPr/>
        </p:nvSpPr>
        <p:spPr>
          <a:xfrm>
            <a:off x="1907540" y="686184"/>
            <a:ext cx="8455025" cy="5828030"/>
          </a:xfrm>
          <a:prstGeom prst="rect">
            <a:avLst/>
          </a:prstGeom>
        </p:spPr>
        <p:txBody>
          <a:bodyPr vert="horz" wrap="square" lIns="0" tIns="74930" rIns="0" bIns="0" rtlCol="0">
            <a:spAutoFit/>
          </a:bodyPr>
          <a:lstStyle/>
          <a:p>
            <a:pPr marL="12700">
              <a:lnSpc>
                <a:spcPct val="100000"/>
              </a:lnSpc>
              <a:spcBef>
                <a:spcPts val="590"/>
              </a:spcBef>
            </a:pPr>
            <a:r>
              <a:rPr sz="2000" b="1" spc="114" dirty="0">
                <a:solidFill>
                  <a:srgbClr val="600A38"/>
                </a:solidFill>
                <a:latin typeface="Cambria" panose="02040503050406030204"/>
                <a:cs typeface="Cambria" panose="02040503050406030204"/>
              </a:rPr>
              <a:t>AI</a:t>
            </a:r>
            <a:r>
              <a:rPr sz="2000" b="1" spc="229" dirty="0">
                <a:solidFill>
                  <a:srgbClr val="600A38"/>
                </a:solidFill>
                <a:latin typeface="Cambria" panose="02040503050406030204"/>
                <a:cs typeface="Cambria" panose="02040503050406030204"/>
              </a:rPr>
              <a:t> </a:t>
            </a:r>
            <a:r>
              <a:rPr sz="2000" b="1" spc="114" dirty="0">
                <a:solidFill>
                  <a:srgbClr val="600A38"/>
                </a:solidFill>
                <a:latin typeface="Cambria" panose="02040503050406030204"/>
                <a:cs typeface="Cambria" panose="02040503050406030204"/>
              </a:rPr>
              <a:t>type-</a:t>
            </a:r>
            <a:r>
              <a:rPr sz="2000" b="1" spc="120" dirty="0">
                <a:solidFill>
                  <a:srgbClr val="600A38"/>
                </a:solidFill>
                <a:latin typeface="Cambria" panose="02040503050406030204"/>
                <a:cs typeface="Cambria" panose="02040503050406030204"/>
              </a:rPr>
              <a:t>1:</a:t>
            </a:r>
            <a:r>
              <a:rPr sz="2000" b="1" spc="220" dirty="0">
                <a:solidFill>
                  <a:srgbClr val="600A38"/>
                </a:solidFill>
                <a:latin typeface="Cambria" panose="02040503050406030204"/>
                <a:cs typeface="Cambria" panose="02040503050406030204"/>
              </a:rPr>
              <a:t> </a:t>
            </a:r>
            <a:r>
              <a:rPr sz="2000" b="1" spc="95" dirty="0">
                <a:solidFill>
                  <a:srgbClr val="600A38"/>
                </a:solidFill>
                <a:latin typeface="Cambria" panose="02040503050406030204"/>
                <a:cs typeface="Cambria" panose="02040503050406030204"/>
              </a:rPr>
              <a:t>Based</a:t>
            </a:r>
            <a:r>
              <a:rPr sz="2000" b="1" spc="220" dirty="0">
                <a:solidFill>
                  <a:srgbClr val="600A38"/>
                </a:solidFill>
                <a:latin typeface="Cambria" panose="02040503050406030204"/>
                <a:cs typeface="Cambria" panose="02040503050406030204"/>
              </a:rPr>
              <a:t> </a:t>
            </a:r>
            <a:r>
              <a:rPr sz="2000" b="1" spc="120" dirty="0">
                <a:solidFill>
                  <a:srgbClr val="600A38"/>
                </a:solidFill>
                <a:latin typeface="Cambria" panose="02040503050406030204"/>
                <a:cs typeface="Cambria" panose="02040503050406030204"/>
              </a:rPr>
              <a:t>on</a:t>
            </a:r>
            <a:r>
              <a:rPr sz="2000" b="1" spc="229" dirty="0">
                <a:solidFill>
                  <a:srgbClr val="600A38"/>
                </a:solidFill>
                <a:latin typeface="Cambria" panose="02040503050406030204"/>
                <a:cs typeface="Cambria" panose="02040503050406030204"/>
              </a:rPr>
              <a:t> </a:t>
            </a:r>
            <a:r>
              <a:rPr sz="2000" b="1" spc="100" dirty="0">
                <a:solidFill>
                  <a:srgbClr val="600A38"/>
                </a:solidFill>
                <a:latin typeface="Cambria" panose="02040503050406030204"/>
                <a:cs typeface="Cambria" panose="02040503050406030204"/>
              </a:rPr>
              <a:t>Capabilities</a:t>
            </a:r>
            <a:endParaRPr sz="2000">
              <a:latin typeface="Cambria" panose="02040503050406030204"/>
              <a:cs typeface="Cambria" panose="02040503050406030204"/>
            </a:endParaRPr>
          </a:p>
          <a:p>
            <a:pPr marL="12700">
              <a:lnSpc>
                <a:spcPct val="100000"/>
              </a:lnSpc>
              <a:spcBef>
                <a:spcPts val="585"/>
              </a:spcBef>
            </a:pPr>
            <a:r>
              <a:rPr sz="2400" b="1" spc="200" dirty="0">
                <a:solidFill>
                  <a:srgbClr val="600A4A"/>
                </a:solidFill>
                <a:latin typeface="Cambria" panose="02040503050406030204"/>
                <a:cs typeface="Cambria" panose="02040503050406030204"/>
              </a:rPr>
              <a:t>1.</a:t>
            </a:r>
            <a:r>
              <a:rPr sz="2400" b="1" spc="300" dirty="0">
                <a:solidFill>
                  <a:srgbClr val="600A4A"/>
                </a:solidFill>
                <a:latin typeface="Cambria" panose="02040503050406030204"/>
                <a:cs typeface="Cambria" panose="02040503050406030204"/>
              </a:rPr>
              <a:t> </a:t>
            </a:r>
            <a:r>
              <a:rPr sz="2400" b="1" spc="75" dirty="0">
                <a:solidFill>
                  <a:srgbClr val="600A4A"/>
                </a:solidFill>
                <a:latin typeface="Cambria" panose="02040503050406030204"/>
                <a:cs typeface="Cambria" panose="02040503050406030204"/>
              </a:rPr>
              <a:t>Weak</a:t>
            </a:r>
            <a:r>
              <a:rPr sz="2400" b="1" spc="285" dirty="0">
                <a:solidFill>
                  <a:srgbClr val="600A4A"/>
                </a:solidFill>
                <a:latin typeface="Cambria" panose="02040503050406030204"/>
                <a:cs typeface="Cambria" panose="02040503050406030204"/>
              </a:rPr>
              <a:t> </a:t>
            </a:r>
            <a:r>
              <a:rPr sz="2400" b="1" spc="140" dirty="0">
                <a:solidFill>
                  <a:srgbClr val="600A4A"/>
                </a:solidFill>
                <a:latin typeface="Cambria" panose="02040503050406030204"/>
                <a:cs typeface="Cambria" panose="02040503050406030204"/>
              </a:rPr>
              <a:t>AI</a:t>
            </a:r>
            <a:r>
              <a:rPr sz="2400" b="1" spc="305" dirty="0">
                <a:solidFill>
                  <a:srgbClr val="600A4A"/>
                </a:solidFill>
                <a:latin typeface="Cambria" panose="02040503050406030204"/>
                <a:cs typeface="Cambria" panose="02040503050406030204"/>
              </a:rPr>
              <a:t> </a:t>
            </a:r>
            <a:r>
              <a:rPr sz="2400" b="1" dirty="0">
                <a:solidFill>
                  <a:srgbClr val="600A4A"/>
                </a:solidFill>
                <a:latin typeface="Cambria" panose="02040503050406030204"/>
                <a:cs typeface="Cambria" panose="02040503050406030204"/>
              </a:rPr>
              <a:t>or</a:t>
            </a:r>
            <a:r>
              <a:rPr sz="2400" b="1" spc="290" dirty="0">
                <a:solidFill>
                  <a:srgbClr val="600A4A"/>
                </a:solidFill>
                <a:latin typeface="Cambria" panose="02040503050406030204"/>
                <a:cs typeface="Cambria" panose="02040503050406030204"/>
              </a:rPr>
              <a:t> </a:t>
            </a:r>
            <a:r>
              <a:rPr sz="2400" b="1" spc="55" dirty="0">
                <a:solidFill>
                  <a:srgbClr val="600A4A"/>
                </a:solidFill>
                <a:latin typeface="Cambria" panose="02040503050406030204"/>
                <a:cs typeface="Cambria" panose="02040503050406030204"/>
              </a:rPr>
              <a:t>Narrow</a:t>
            </a:r>
            <a:r>
              <a:rPr sz="2400" b="1" spc="295" dirty="0">
                <a:solidFill>
                  <a:srgbClr val="600A4A"/>
                </a:solidFill>
                <a:latin typeface="Cambria" panose="02040503050406030204"/>
                <a:cs typeface="Cambria" panose="02040503050406030204"/>
              </a:rPr>
              <a:t> </a:t>
            </a:r>
            <a:r>
              <a:rPr sz="2400" b="1" spc="110" dirty="0">
                <a:solidFill>
                  <a:srgbClr val="600A4A"/>
                </a:solidFill>
                <a:latin typeface="Cambria" panose="02040503050406030204"/>
                <a:cs typeface="Cambria" panose="02040503050406030204"/>
              </a:rPr>
              <a:t>AI:</a:t>
            </a:r>
            <a:endParaRPr sz="2400">
              <a:latin typeface="Cambria" panose="02040503050406030204"/>
              <a:cs typeface="Cambria" panose="02040503050406030204"/>
            </a:endParaRPr>
          </a:p>
          <a:p>
            <a:pPr marL="355600" marR="6350" indent="-342900" algn="just">
              <a:lnSpc>
                <a:spcPct val="100000"/>
              </a:lnSpc>
              <a:spcBef>
                <a:spcPts val="590"/>
              </a:spcBef>
              <a:buFont typeface="Microsoft Sans Serif" panose="020B0604020202020204"/>
              <a:buChar char="•"/>
              <a:tabLst>
                <a:tab pos="355600" algn="l"/>
                <a:tab pos="358140" algn="l"/>
              </a:tabLst>
            </a:pPr>
            <a:r>
              <a:rPr sz="2000" dirty="0">
                <a:latin typeface="Cambria" panose="02040503050406030204"/>
                <a:cs typeface="Cambria" panose="02040503050406030204"/>
              </a:rPr>
              <a:t>	</a:t>
            </a:r>
            <a:r>
              <a:rPr sz="2000" spc="70" dirty="0">
                <a:latin typeface="Cambria" panose="02040503050406030204"/>
                <a:cs typeface="Cambria" panose="02040503050406030204"/>
              </a:rPr>
              <a:t>Narrow</a:t>
            </a:r>
            <a:r>
              <a:rPr sz="2000" spc="30" dirty="0">
                <a:latin typeface="Cambria" panose="02040503050406030204"/>
                <a:cs typeface="Cambria" panose="02040503050406030204"/>
              </a:rPr>
              <a:t>  </a:t>
            </a:r>
            <a:r>
              <a:rPr sz="2000" spc="60" dirty="0">
                <a:latin typeface="Cambria" panose="02040503050406030204"/>
                <a:cs typeface="Cambria" panose="02040503050406030204"/>
              </a:rPr>
              <a:t>AI</a:t>
            </a:r>
            <a:r>
              <a:rPr sz="2000" spc="35" dirty="0">
                <a:latin typeface="Cambria" panose="02040503050406030204"/>
                <a:cs typeface="Cambria" panose="02040503050406030204"/>
              </a:rPr>
              <a:t>  </a:t>
            </a:r>
            <a:r>
              <a:rPr sz="2000" spc="105" dirty="0">
                <a:latin typeface="Cambria" panose="02040503050406030204"/>
                <a:cs typeface="Cambria" panose="02040503050406030204"/>
              </a:rPr>
              <a:t>is</a:t>
            </a:r>
            <a:r>
              <a:rPr sz="2000" spc="30" dirty="0">
                <a:latin typeface="Cambria" panose="02040503050406030204"/>
                <a:cs typeface="Cambria" panose="02040503050406030204"/>
              </a:rPr>
              <a:t>  </a:t>
            </a:r>
            <a:r>
              <a:rPr sz="2000" spc="185" dirty="0">
                <a:latin typeface="Cambria" panose="02040503050406030204"/>
                <a:cs typeface="Cambria" panose="02040503050406030204"/>
              </a:rPr>
              <a:t>a</a:t>
            </a:r>
            <a:r>
              <a:rPr sz="2000" spc="30" dirty="0">
                <a:latin typeface="Cambria" panose="02040503050406030204"/>
                <a:cs typeface="Cambria" panose="02040503050406030204"/>
              </a:rPr>
              <a:t>  </a:t>
            </a:r>
            <a:r>
              <a:rPr sz="2000" spc="75" dirty="0">
                <a:latin typeface="Cambria" panose="02040503050406030204"/>
                <a:cs typeface="Cambria" panose="02040503050406030204"/>
              </a:rPr>
              <a:t>type</a:t>
            </a:r>
            <a:r>
              <a:rPr sz="2000" spc="40" dirty="0">
                <a:latin typeface="Cambria" panose="02040503050406030204"/>
                <a:cs typeface="Cambria" panose="02040503050406030204"/>
              </a:rPr>
              <a:t>  </a:t>
            </a:r>
            <a:r>
              <a:rPr sz="2000" spc="50" dirty="0">
                <a:latin typeface="Cambria" panose="02040503050406030204"/>
                <a:cs typeface="Cambria" panose="02040503050406030204"/>
              </a:rPr>
              <a:t>of</a:t>
            </a:r>
            <a:r>
              <a:rPr sz="2000" spc="484" dirty="0">
                <a:latin typeface="Cambria" panose="02040503050406030204"/>
                <a:cs typeface="Cambria" panose="02040503050406030204"/>
              </a:rPr>
              <a:t> </a:t>
            </a:r>
            <a:r>
              <a:rPr sz="2000" spc="60" dirty="0">
                <a:latin typeface="Cambria" panose="02040503050406030204"/>
                <a:cs typeface="Cambria" panose="02040503050406030204"/>
              </a:rPr>
              <a:t>AI</a:t>
            </a:r>
            <a:r>
              <a:rPr sz="2000" spc="35" dirty="0">
                <a:latin typeface="Cambria" panose="02040503050406030204"/>
                <a:cs typeface="Cambria" panose="02040503050406030204"/>
              </a:rPr>
              <a:t>  </a:t>
            </a:r>
            <a:r>
              <a:rPr sz="2000" spc="114" dirty="0">
                <a:latin typeface="Cambria" panose="02040503050406030204"/>
                <a:cs typeface="Cambria" panose="02040503050406030204"/>
              </a:rPr>
              <a:t>which</a:t>
            </a:r>
            <a:r>
              <a:rPr sz="2000" spc="495" dirty="0">
                <a:latin typeface="Cambria" panose="02040503050406030204"/>
                <a:cs typeface="Cambria" panose="02040503050406030204"/>
              </a:rPr>
              <a:t> </a:t>
            </a:r>
            <a:r>
              <a:rPr sz="2000" spc="110" dirty="0">
                <a:latin typeface="Cambria" panose="02040503050406030204"/>
                <a:cs typeface="Cambria" panose="02040503050406030204"/>
              </a:rPr>
              <a:t>is</a:t>
            </a:r>
            <a:r>
              <a:rPr sz="2000" spc="30" dirty="0">
                <a:latin typeface="Cambria" panose="02040503050406030204"/>
                <a:cs typeface="Cambria" panose="02040503050406030204"/>
              </a:rPr>
              <a:t>  </a:t>
            </a:r>
            <a:r>
              <a:rPr sz="2000" spc="100" dirty="0">
                <a:latin typeface="Cambria" panose="02040503050406030204"/>
                <a:cs typeface="Cambria" panose="02040503050406030204"/>
              </a:rPr>
              <a:t>able</a:t>
            </a:r>
            <a:r>
              <a:rPr sz="2000" spc="35" dirty="0">
                <a:latin typeface="Cambria" panose="02040503050406030204"/>
                <a:cs typeface="Cambria" panose="02040503050406030204"/>
              </a:rPr>
              <a:t>  </a:t>
            </a:r>
            <a:r>
              <a:rPr sz="2000" spc="60" dirty="0">
                <a:latin typeface="Cambria" panose="02040503050406030204"/>
                <a:cs typeface="Cambria" panose="02040503050406030204"/>
              </a:rPr>
              <a:t>to</a:t>
            </a:r>
            <a:r>
              <a:rPr sz="2000" spc="35" dirty="0">
                <a:latin typeface="Cambria" panose="02040503050406030204"/>
                <a:cs typeface="Cambria" panose="02040503050406030204"/>
              </a:rPr>
              <a:t>  </a:t>
            </a:r>
            <a:r>
              <a:rPr sz="2000" spc="80" dirty="0">
                <a:latin typeface="Cambria" panose="02040503050406030204"/>
                <a:cs typeface="Cambria" panose="02040503050406030204"/>
              </a:rPr>
              <a:t>perform</a:t>
            </a:r>
            <a:r>
              <a:rPr sz="2000" spc="495" dirty="0">
                <a:latin typeface="Cambria" panose="02040503050406030204"/>
                <a:cs typeface="Cambria" panose="02040503050406030204"/>
              </a:rPr>
              <a:t> </a:t>
            </a:r>
            <a:r>
              <a:rPr sz="2000" spc="185" dirty="0">
                <a:latin typeface="Cambria" panose="02040503050406030204"/>
                <a:cs typeface="Cambria" panose="02040503050406030204"/>
              </a:rPr>
              <a:t>a</a:t>
            </a:r>
            <a:r>
              <a:rPr sz="2000" spc="495" dirty="0">
                <a:latin typeface="Cambria" panose="02040503050406030204"/>
                <a:cs typeface="Cambria" panose="02040503050406030204"/>
              </a:rPr>
              <a:t> </a:t>
            </a:r>
            <a:r>
              <a:rPr sz="2000" spc="85" dirty="0">
                <a:latin typeface="Cambria" panose="02040503050406030204"/>
                <a:cs typeface="Cambria" panose="02040503050406030204"/>
              </a:rPr>
              <a:t>dedicated </a:t>
            </a:r>
            <a:r>
              <a:rPr sz="2000" spc="150" dirty="0">
                <a:latin typeface="Cambria" panose="02040503050406030204"/>
                <a:cs typeface="Cambria" panose="02040503050406030204"/>
              </a:rPr>
              <a:t>task</a:t>
            </a:r>
            <a:r>
              <a:rPr sz="2000" spc="250" dirty="0">
                <a:latin typeface="Cambria" panose="02040503050406030204"/>
                <a:cs typeface="Cambria" panose="02040503050406030204"/>
              </a:rPr>
              <a:t> </a:t>
            </a:r>
            <a:r>
              <a:rPr sz="2000" spc="85" dirty="0">
                <a:latin typeface="Cambria" panose="02040503050406030204"/>
                <a:cs typeface="Cambria" panose="02040503050406030204"/>
              </a:rPr>
              <a:t>with</a:t>
            </a:r>
            <a:r>
              <a:rPr sz="2000" spc="245" dirty="0">
                <a:latin typeface="Cambria" panose="02040503050406030204"/>
                <a:cs typeface="Cambria" panose="02040503050406030204"/>
              </a:rPr>
              <a:t> </a:t>
            </a:r>
            <a:r>
              <a:rPr sz="2000" spc="100" dirty="0">
                <a:latin typeface="Cambria" panose="02040503050406030204"/>
                <a:cs typeface="Cambria" panose="02040503050406030204"/>
              </a:rPr>
              <a:t>intelligence.</a:t>
            </a:r>
            <a:r>
              <a:rPr sz="2000" spc="240" dirty="0">
                <a:latin typeface="Cambria" panose="02040503050406030204"/>
                <a:cs typeface="Cambria" panose="02040503050406030204"/>
              </a:rPr>
              <a:t> </a:t>
            </a:r>
            <a:r>
              <a:rPr sz="2000" spc="105" dirty="0">
                <a:latin typeface="Cambria" panose="02040503050406030204"/>
                <a:cs typeface="Cambria" panose="02040503050406030204"/>
              </a:rPr>
              <a:t>The</a:t>
            </a:r>
            <a:r>
              <a:rPr sz="2000" spc="245" dirty="0">
                <a:latin typeface="Cambria" panose="02040503050406030204"/>
                <a:cs typeface="Cambria" panose="02040503050406030204"/>
              </a:rPr>
              <a:t> </a:t>
            </a:r>
            <a:r>
              <a:rPr sz="2000" spc="125" dirty="0">
                <a:latin typeface="Cambria" panose="02040503050406030204"/>
                <a:cs typeface="Cambria" panose="02040503050406030204"/>
              </a:rPr>
              <a:t>most</a:t>
            </a:r>
            <a:r>
              <a:rPr sz="2000" spc="240" dirty="0">
                <a:latin typeface="Cambria" panose="02040503050406030204"/>
                <a:cs typeface="Cambria" panose="02040503050406030204"/>
              </a:rPr>
              <a:t> </a:t>
            </a:r>
            <a:r>
              <a:rPr sz="2000" spc="140" dirty="0">
                <a:latin typeface="Cambria" panose="02040503050406030204"/>
                <a:cs typeface="Cambria" panose="02040503050406030204"/>
              </a:rPr>
              <a:t>common</a:t>
            </a:r>
            <a:r>
              <a:rPr sz="2000" spc="250" dirty="0">
                <a:latin typeface="Cambria" panose="02040503050406030204"/>
                <a:cs typeface="Cambria" panose="02040503050406030204"/>
              </a:rPr>
              <a:t> </a:t>
            </a:r>
            <a:r>
              <a:rPr sz="2000" spc="165" dirty="0">
                <a:latin typeface="Cambria" panose="02040503050406030204"/>
                <a:cs typeface="Cambria" panose="02040503050406030204"/>
              </a:rPr>
              <a:t>and</a:t>
            </a:r>
            <a:r>
              <a:rPr sz="2000" spc="235" dirty="0">
                <a:latin typeface="Cambria" panose="02040503050406030204"/>
                <a:cs typeface="Cambria" panose="02040503050406030204"/>
              </a:rPr>
              <a:t> </a:t>
            </a:r>
            <a:r>
              <a:rPr sz="2000" spc="105" dirty="0">
                <a:latin typeface="Cambria" panose="02040503050406030204"/>
                <a:cs typeface="Cambria" panose="02040503050406030204"/>
              </a:rPr>
              <a:t>currently</a:t>
            </a:r>
            <a:r>
              <a:rPr sz="2000" spc="250" dirty="0">
                <a:latin typeface="Cambria" panose="02040503050406030204"/>
                <a:cs typeface="Cambria" panose="02040503050406030204"/>
              </a:rPr>
              <a:t> </a:t>
            </a:r>
            <a:r>
              <a:rPr sz="2000" spc="90" dirty="0">
                <a:latin typeface="Cambria" panose="02040503050406030204"/>
                <a:cs typeface="Cambria" panose="02040503050406030204"/>
              </a:rPr>
              <a:t>available </a:t>
            </a:r>
            <a:r>
              <a:rPr sz="2000" spc="65" dirty="0">
                <a:latin typeface="Cambria" panose="02040503050406030204"/>
                <a:cs typeface="Cambria" panose="02040503050406030204"/>
              </a:rPr>
              <a:t>AI</a:t>
            </a:r>
            <a:r>
              <a:rPr sz="2000" spc="190" dirty="0">
                <a:latin typeface="Cambria" panose="02040503050406030204"/>
                <a:cs typeface="Cambria" panose="02040503050406030204"/>
              </a:rPr>
              <a:t> </a:t>
            </a:r>
            <a:r>
              <a:rPr sz="2000" spc="110" dirty="0">
                <a:latin typeface="Cambria" panose="02040503050406030204"/>
                <a:cs typeface="Cambria" panose="02040503050406030204"/>
              </a:rPr>
              <a:t>is</a:t>
            </a:r>
            <a:r>
              <a:rPr sz="2000" spc="190" dirty="0">
                <a:latin typeface="Cambria" panose="02040503050406030204"/>
                <a:cs typeface="Cambria" panose="02040503050406030204"/>
              </a:rPr>
              <a:t> </a:t>
            </a:r>
            <a:r>
              <a:rPr sz="2000" spc="70" dirty="0">
                <a:latin typeface="Cambria" panose="02040503050406030204"/>
                <a:cs typeface="Cambria" panose="02040503050406030204"/>
              </a:rPr>
              <a:t>Narrow</a:t>
            </a:r>
            <a:r>
              <a:rPr sz="2000" spc="200" dirty="0">
                <a:latin typeface="Cambria" panose="02040503050406030204"/>
                <a:cs typeface="Cambria" panose="02040503050406030204"/>
              </a:rPr>
              <a:t> </a:t>
            </a:r>
            <a:r>
              <a:rPr sz="2000" spc="65" dirty="0">
                <a:latin typeface="Cambria" panose="02040503050406030204"/>
                <a:cs typeface="Cambria" panose="02040503050406030204"/>
              </a:rPr>
              <a:t>AI</a:t>
            </a:r>
            <a:r>
              <a:rPr sz="2000" spc="190" dirty="0">
                <a:latin typeface="Cambria" panose="02040503050406030204"/>
                <a:cs typeface="Cambria" panose="02040503050406030204"/>
              </a:rPr>
              <a:t> </a:t>
            </a:r>
            <a:r>
              <a:rPr sz="2000" spc="120" dirty="0">
                <a:latin typeface="Cambria" panose="02040503050406030204"/>
                <a:cs typeface="Cambria" panose="02040503050406030204"/>
              </a:rPr>
              <a:t>in</a:t>
            </a:r>
            <a:r>
              <a:rPr sz="2000" spc="215" dirty="0">
                <a:latin typeface="Cambria" panose="02040503050406030204"/>
                <a:cs typeface="Cambria" panose="02040503050406030204"/>
              </a:rPr>
              <a:t> </a:t>
            </a:r>
            <a:r>
              <a:rPr sz="2000" spc="114" dirty="0">
                <a:latin typeface="Cambria" panose="02040503050406030204"/>
                <a:cs typeface="Cambria" panose="02040503050406030204"/>
              </a:rPr>
              <a:t>the</a:t>
            </a:r>
            <a:r>
              <a:rPr sz="2000" spc="195" dirty="0">
                <a:latin typeface="Cambria" panose="02040503050406030204"/>
                <a:cs typeface="Cambria" panose="02040503050406030204"/>
              </a:rPr>
              <a:t> </a:t>
            </a:r>
            <a:r>
              <a:rPr sz="2000" spc="55" dirty="0">
                <a:latin typeface="Cambria" panose="02040503050406030204"/>
                <a:cs typeface="Cambria" panose="02040503050406030204"/>
              </a:rPr>
              <a:t>world</a:t>
            </a:r>
            <a:r>
              <a:rPr sz="2000" spc="190" dirty="0">
                <a:latin typeface="Cambria" panose="02040503050406030204"/>
                <a:cs typeface="Cambria" panose="02040503050406030204"/>
              </a:rPr>
              <a:t> </a:t>
            </a:r>
            <a:r>
              <a:rPr sz="2000" spc="50" dirty="0">
                <a:latin typeface="Cambria" panose="02040503050406030204"/>
                <a:cs typeface="Cambria" panose="02040503050406030204"/>
              </a:rPr>
              <a:t>of</a:t>
            </a:r>
            <a:r>
              <a:rPr sz="2000" spc="200" dirty="0">
                <a:latin typeface="Cambria" panose="02040503050406030204"/>
                <a:cs typeface="Cambria" panose="02040503050406030204"/>
              </a:rPr>
              <a:t> </a:t>
            </a:r>
            <a:r>
              <a:rPr sz="2000" spc="80" dirty="0">
                <a:latin typeface="Cambria" panose="02040503050406030204"/>
                <a:cs typeface="Cambria" panose="02040503050406030204"/>
              </a:rPr>
              <a:t>Artificial</a:t>
            </a:r>
            <a:r>
              <a:rPr sz="2000" spc="200" dirty="0">
                <a:latin typeface="Cambria" panose="02040503050406030204"/>
                <a:cs typeface="Cambria" panose="02040503050406030204"/>
              </a:rPr>
              <a:t> </a:t>
            </a:r>
            <a:r>
              <a:rPr sz="2000" spc="85" dirty="0">
                <a:latin typeface="Cambria" panose="02040503050406030204"/>
                <a:cs typeface="Cambria" panose="02040503050406030204"/>
              </a:rPr>
              <a:t>Intelligence.</a:t>
            </a:r>
            <a:endParaRPr sz="2000">
              <a:latin typeface="Cambria" panose="02040503050406030204"/>
              <a:cs typeface="Cambria" panose="02040503050406030204"/>
            </a:endParaRPr>
          </a:p>
          <a:p>
            <a:pPr marL="355600" marR="5715" indent="-342900" algn="just">
              <a:lnSpc>
                <a:spcPct val="100000"/>
              </a:lnSpc>
              <a:spcBef>
                <a:spcPts val="605"/>
              </a:spcBef>
              <a:buFont typeface="Microsoft Sans Serif" panose="020B0604020202020204"/>
              <a:buChar char="•"/>
              <a:tabLst>
                <a:tab pos="355600" algn="l"/>
                <a:tab pos="358140" algn="l"/>
              </a:tabLst>
            </a:pPr>
            <a:r>
              <a:rPr sz="2000" dirty="0">
                <a:latin typeface="Cambria" panose="02040503050406030204"/>
                <a:cs typeface="Cambria" panose="02040503050406030204"/>
              </a:rPr>
              <a:t>	</a:t>
            </a:r>
            <a:r>
              <a:rPr sz="2000" spc="70" dirty="0">
                <a:latin typeface="Cambria" panose="02040503050406030204"/>
                <a:cs typeface="Cambria" panose="02040503050406030204"/>
              </a:rPr>
              <a:t>Narrow</a:t>
            </a:r>
            <a:r>
              <a:rPr sz="2000" spc="325" dirty="0">
                <a:latin typeface="Cambria" panose="02040503050406030204"/>
                <a:cs typeface="Cambria" panose="02040503050406030204"/>
              </a:rPr>
              <a:t> </a:t>
            </a:r>
            <a:r>
              <a:rPr sz="2000" spc="60" dirty="0">
                <a:latin typeface="Cambria" panose="02040503050406030204"/>
                <a:cs typeface="Cambria" panose="02040503050406030204"/>
              </a:rPr>
              <a:t>AI</a:t>
            </a:r>
            <a:r>
              <a:rPr sz="2000" spc="320" dirty="0">
                <a:latin typeface="Cambria" panose="02040503050406030204"/>
                <a:cs typeface="Cambria" panose="02040503050406030204"/>
              </a:rPr>
              <a:t> </a:t>
            </a:r>
            <a:r>
              <a:rPr sz="2000" spc="145" dirty="0">
                <a:latin typeface="Cambria" panose="02040503050406030204"/>
                <a:cs typeface="Cambria" panose="02040503050406030204"/>
              </a:rPr>
              <a:t>cannot</a:t>
            </a:r>
            <a:r>
              <a:rPr sz="2000" spc="315" dirty="0">
                <a:latin typeface="Cambria" panose="02040503050406030204"/>
                <a:cs typeface="Cambria" panose="02040503050406030204"/>
              </a:rPr>
              <a:t> </a:t>
            </a:r>
            <a:r>
              <a:rPr sz="2000" spc="80" dirty="0">
                <a:latin typeface="Cambria" panose="02040503050406030204"/>
                <a:cs typeface="Cambria" panose="02040503050406030204"/>
              </a:rPr>
              <a:t>perform</a:t>
            </a:r>
            <a:r>
              <a:rPr sz="2000" spc="310" dirty="0">
                <a:latin typeface="Cambria" panose="02040503050406030204"/>
                <a:cs typeface="Cambria" panose="02040503050406030204"/>
              </a:rPr>
              <a:t> </a:t>
            </a:r>
            <a:r>
              <a:rPr sz="2000" spc="100" dirty="0">
                <a:latin typeface="Cambria" panose="02040503050406030204"/>
                <a:cs typeface="Cambria" panose="02040503050406030204"/>
              </a:rPr>
              <a:t>beyond</a:t>
            </a:r>
            <a:r>
              <a:rPr sz="2000" spc="315" dirty="0">
                <a:latin typeface="Cambria" panose="02040503050406030204"/>
                <a:cs typeface="Cambria" panose="02040503050406030204"/>
              </a:rPr>
              <a:t> </a:t>
            </a:r>
            <a:r>
              <a:rPr sz="2000" spc="95" dirty="0">
                <a:latin typeface="Cambria" panose="02040503050406030204"/>
                <a:cs typeface="Cambria" panose="02040503050406030204"/>
              </a:rPr>
              <a:t>its</a:t>
            </a:r>
            <a:r>
              <a:rPr sz="2000" spc="325" dirty="0">
                <a:latin typeface="Cambria" panose="02040503050406030204"/>
                <a:cs typeface="Cambria" panose="02040503050406030204"/>
              </a:rPr>
              <a:t> </a:t>
            </a:r>
            <a:r>
              <a:rPr sz="2000" spc="55" dirty="0">
                <a:latin typeface="Cambria" panose="02040503050406030204"/>
                <a:cs typeface="Cambria" panose="02040503050406030204"/>
              </a:rPr>
              <a:t>field</a:t>
            </a:r>
            <a:r>
              <a:rPr sz="2000" spc="325" dirty="0">
                <a:latin typeface="Cambria" panose="02040503050406030204"/>
                <a:cs typeface="Cambria" panose="02040503050406030204"/>
              </a:rPr>
              <a:t> </a:t>
            </a:r>
            <a:r>
              <a:rPr sz="2000" spc="55" dirty="0">
                <a:latin typeface="Cambria" panose="02040503050406030204"/>
                <a:cs typeface="Cambria" panose="02040503050406030204"/>
              </a:rPr>
              <a:t>or</a:t>
            </a:r>
            <a:r>
              <a:rPr sz="2000" spc="300" dirty="0">
                <a:latin typeface="Cambria" panose="02040503050406030204"/>
                <a:cs typeface="Cambria" panose="02040503050406030204"/>
              </a:rPr>
              <a:t> </a:t>
            </a:r>
            <a:r>
              <a:rPr sz="2000" spc="114" dirty="0">
                <a:latin typeface="Cambria" panose="02040503050406030204"/>
                <a:cs typeface="Cambria" panose="02040503050406030204"/>
              </a:rPr>
              <a:t>limitations,</a:t>
            </a:r>
            <a:r>
              <a:rPr sz="2000" spc="315" dirty="0">
                <a:latin typeface="Cambria" panose="02040503050406030204"/>
                <a:cs typeface="Cambria" panose="02040503050406030204"/>
              </a:rPr>
              <a:t> </a:t>
            </a:r>
            <a:r>
              <a:rPr sz="2000" spc="170" dirty="0">
                <a:latin typeface="Cambria" panose="02040503050406030204"/>
                <a:cs typeface="Cambria" panose="02040503050406030204"/>
              </a:rPr>
              <a:t>as</a:t>
            </a:r>
            <a:r>
              <a:rPr sz="2000" spc="320" dirty="0">
                <a:latin typeface="Cambria" panose="02040503050406030204"/>
                <a:cs typeface="Cambria" panose="02040503050406030204"/>
              </a:rPr>
              <a:t> </a:t>
            </a:r>
            <a:r>
              <a:rPr sz="2000" spc="60" dirty="0">
                <a:latin typeface="Cambria" panose="02040503050406030204"/>
                <a:cs typeface="Cambria" panose="02040503050406030204"/>
              </a:rPr>
              <a:t>it</a:t>
            </a:r>
            <a:r>
              <a:rPr sz="2000" spc="320" dirty="0">
                <a:latin typeface="Cambria" panose="02040503050406030204"/>
                <a:cs typeface="Cambria" panose="02040503050406030204"/>
              </a:rPr>
              <a:t> </a:t>
            </a:r>
            <a:r>
              <a:rPr sz="2000" spc="80" dirty="0">
                <a:latin typeface="Cambria" panose="02040503050406030204"/>
                <a:cs typeface="Cambria" panose="02040503050406030204"/>
              </a:rPr>
              <a:t>is </a:t>
            </a:r>
            <a:r>
              <a:rPr sz="2000" spc="85" dirty="0">
                <a:latin typeface="Cambria" panose="02040503050406030204"/>
                <a:cs typeface="Cambria" panose="02040503050406030204"/>
              </a:rPr>
              <a:t>only</a:t>
            </a:r>
            <a:r>
              <a:rPr sz="2000" spc="125" dirty="0">
                <a:latin typeface="Cambria" panose="02040503050406030204"/>
                <a:cs typeface="Cambria" panose="02040503050406030204"/>
              </a:rPr>
              <a:t>  </a:t>
            </a:r>
            <a:r>
              <a:rPr sz="2000" spc="105" dirty="0">
                <a:latin typeface="Cambria" panose="02040503050406030204"/>
                <a:cs typeface="Cambria" panose="02040503050406030204"/>
              </a:rPr>
              <a:t>trained</a:t>
            </a:r>
            <a:r>
              <a:rPr sz="2000" spc="130" dirty="0">
                <a:latin typeface="Cambria" panose="02040503050406030204"/>
                <a:cs typeface="Cambria" panose="02040503050406030204"/>
              </a:rPr>
              <a:t>  </a:t>
            </a:r>
            <a:r>
              <a:rPr sz="2000" dirty="0">
                <a:latin typeface="Cambria" panose="02040503050406030204"/>
                <a:cs typeface="Cambria" panose="02040503050406030204"/>
              </a:rPr>
              <a:t>for</a:t>
            </a:r>
            <a:r>
              <a:rPr sz="2000" spc="120" dirty="0">
                <a:latin typeface="Cambria" panose="02040503050406030204"/>
                <a:cs typeface="Cambria" panose="02040503050406030204"/>
              </a:rPr>
              <a:t>  </a:t>
            </a:r>
            <a:r>
              <a:rPr sz="2000" spc="105" dirty="0">
                <a:latin typeface="Cambria" panose="02040503050406030204"/>
                <a:cs typeface="Cambria" panose="02040503050406030204"/>
              </a:rPr>
              <a:t>one</a:t>
            </a:r>
            <a:r>
              <a:rPr sz="2000" spc="135" dirty="0">
                <a:latin typeface="Cambria" panose="02040503050406030204"/>
                <a:cs typeface="Cambria" panose="02040503050406030204"/>
              </a:rPr>
              <a:t>  </a:t>
            </a:r>
            <a:r>
              <a:rPr sz="2000" spc="95" dirty="0">
                <a:latin typeface="Cambria" panose="02040503050406030204"/>
                <a:cs typeface="Cambria" panose="02040503050406030204"/>
              </a:rPr>
              <a:t>specific</a:t>
            </a:r>
            <a:r>
              <a:rPr sz="2000" spc="130" dirty="0">
                <a:latin typeface="Cambria" panose="02040503050406030204"/>
                <a:cs typeface="Cambria" panose="02040503050406030204"/>
              </a:rPr>
              <a:t>  </a:t>
            </a:r>
            <a:r>
              <a:rPr sz="2000" spc="170" dirty="0">
                <a:latin typeface="Cambria" panose="02040503050406030204"/>
                <a:cs typeface="Cambria" panose="02040503050406030204"/>
              </a:rPr>
              <a:t>task.</a:t>
            </a:r>
            <a:r>
              <a:rPr sz="2000" spc="125" dirty="0">
                <a:latin typeface="Cambria" panose="02040503050406030204"/>
                <a:cs typeface="Cambria" panose="02040503050406030204"/>
              </a:rPr>
              <a:t>  </a:t>
            </a:r>
            <a:r>
              <a:rPr sz="2000" spc="135" dirty="0">
                <a:latin typeface="Cambria" panose="02040503050406030204"/>
                <a:cs typeface="Cambria" panose="02040503050406030204"/>
              </a:rPr>
              <a:t>Hence</a:t>
            </a:r>
            <a:r>
              <a:rPr sz="2000" spc="135" dirty="0">
                <a:latin typeface="Cambria" panose="02040503050406030204"/>
                <a:cs typeface="Cambria" panose="02040503050406030204"/>
              </a:rPr>
              <a:t>  </a:t>
            </a:r>
            <a:r>
              <a:rPr sz="2000" spc="60" dirty="0">
                <a:latin typeface="Cambria" panose="02040503050406030204"/>
                <a:cs typeface="Cambria" panose="02040503050406030204"/>
              </a:rPr>
              <a:t>it</a:t>
            </a:r>
            <a:r>
              <a:rPr sz="2000" spc="125" dirty="0">
                <a:latin typeface="Cambria" panose="02040503050406030204"/>
                <a:cs typeface="Cambria" panose="02040503050406030204"/>
              </a:rPr>
              <a:t>  </a:t>
            </a:r>
            <a:r>
              <a:rPr sz="2000" spc="110" dirty="0">
                <a:latin typeface="Cambria" panose="02040503050406030204"/>
                <a:cs typeface="Cambria" panose="02040503050406030204"/>
              </a:rPr>
              <a:t>is</a:t>
            </a:r>
            <a:r>
              <a:rPr sz="2000" spc="120" dirty="0">
                <a:latin typeface="Cambria" panose="02040503050406030204"/>
                <a:cs typeface="Cambria" panose="02040503050406030204"/>
              </a:rPr>
              <a:t>  </a:t>
            </a:r>
            <a:r>
              <a:rPr sz="2000" spc="114" dirty="0">
                <a:latin typeface="Cambria" panose="02040503050406030204"/>
                <a:cs typeface="Cambria" panose="02040503050406030204"/>
              </a:rPr>
              <a:t>also</a:t>
            </a:r>
            <a:r>
              <a:rPr sz="2000" spc="135" dirty="0">
                <a:latin typeface="Cambria" panose="02040503050406030204"/>
                <a:cs typeface="Cambria" panose="02040503050406030204"/>
              </a:rPr>
              <a:t>  </a:t>
            </a:r>
            <a:r>
              <a:rPr sz="2000" spc="90" dirty="0">
                <a:latin typeface="Cambria" panose="02040503050406030204"/>
                <a:cs typeface="Cambria" panose="02040503050406030204"/>
              </a:rPr>
              <a:t>termed</a:t>
            </a:r>
            <a:r>
              <a:rPr sz="2000" spc="135" dirty="0">
                <a:latin typeface="Cambria" panose="02040503050406030204"/>
                <a:cs typeface="Cambria" panose="02040503050406030204"/>
              </a:rPr>
              <a:t>  </a:t>
            </a:r>
            <a:r>
              <a:rPr sz="2000" spc="130" dirty="0">
                <a:latin typeface="Cambria" panose="02040503050406030204"/>
                <a:cs typeface="Cambria" panose="02040503050406030204"/>
              </a:rPr>
              <a:t>as </a:t>
            </a:r>
            <a:r>
              <a:rPr sz="2000" spc="110" dirty="0">
                <a:latin typeface="Cambria" panose="02040503050406030204"/>
                <a:cs typeface="Cambria" panose="02040503050406030204"/>
              </a:rPr>
              <a:t>weak</a:t>
            </a:r>
            <a:r>
              <a:rPr sz="2000" spc="160" dirty="0">
                <a:latin typeface="Cambria" panose="02040503050406030204"/>
                <a:cs typeface="Cambria" panose="02040503050406030204"/>
              </a:rPr>
              <a:t>  </a:t>
            </a:r>
            <a:r>
              <a:rPr sz="2000" spc="114" dirty="0">
                <a:latin typeface="Cambria" panose="02040503050406030204"/>
                <a:cs typeface="Cambria" panose="02040503050406030204"/>
              </a:rPr>
              <a:t>AI.</a:t>
            </a:r>
            <a:r>
              <a:rPr sz="2000" spc="155" dirty="0">
                <a:latin typeface="Cambria" panose="02040503050406030204"/>
                <a:cs typeface="Cambria" panose="02040503050406030204"/>
              </a:rPr>
              <a:t>  </a:t>
            </a:r>
            <a:r>
              <a:rPr sz="2000" spc="70" dirty="0">
                <a:latin typeface="Cambria" panose="02040503050406030204"/>
                <a:cs typeface="Cambria" panose="02040503050406030204"/>
              </a:rPr>
              <a:t>Narrow</a:t>
            </a:r>
            <a:r>
              <a:rPr sz="2000" spc="165" dirty="0">
                <a:latin typeface="Cambria" panose="02040503050406030204"/>
                <a:cs typeface="Cambria" panose="02040503050406030204"/>
              </a:rPr>
              <a:t>  </a:t>
            </a:r>
            <a:r>
              <a:rPr sz="2000" spc="60" dirty="0">
                <a:latin typeface="Cambria" panose="02040503050406030204"/>
                <a:cs typeface="Cambria" panose="02040503050406030204"/>
              </a:rPr>
              <a:t>AI</a:t>
            </a:r>
            <a:r>
              <a:rPr sz="2000" spc="165" dirty="0">
                <a:latin typeface="Cambria" panose="02040503050406030204"/>
                <a:cs typeface="Cambria" panose="02040503050406030204"/>
              </a:rPr>
              <a:t>  </a:t>
            </a:r>
            <a:r>
              <a:rPr sz="2000" spc="170" dirty="0">
                <a:latin typeface="Cambria" panose="02040503050406030204"/>
                <a:cs typeface="Cambria" panose="02040503050406030204"/>
              </a:rPr>
              <a:t>can</a:t>
            </a:r>
            <a:r>
              <a:rPr sz="2000" spc="160" dirty="0">
                <a:latin typeface="Cambria" panose="02040503050406030204"/>
                <a:cs typeface="Cambria" panose="02040503050406030204"/>
              </a:rPr>
              <a:t>  </a:t>
            </a:r>
            <a:r>
              <a:rPr sz="2000" spc="75" dirty="0">
                <a:latin typeface="Cambria" panose="02040503050406030204"/>
                <a:cs typeface="Cambria" panose="02040503050406030204"/>
              </a:rPr>
              <a:t>fail</a:t>
            </a:r>
            <a:r>
              <a:rPr sz="2000" spc="160" dirty="0">
                <a:latin typeface="Cambria" panose="02040503050406030204"/>
                <a:cs typeface="Cambria" panose="02040503050406030204"/>
              </a:rPr>
              <a:t>  </a:t>
            </a:r>
            <a:r>
              <a:rPr sz="2000" spc="120" dirty="0">
                <a:latin typeface="Cambria" panose="02040503050406030204"/>
                <a:cs typeface="Cambria" panose="02040503050406030204"/>
              </a:rPr>
              <a:t>in</a:t>
            </a:r>
            <a:r>
              <a:rPr sz="2000" spc="165" dirty="0">
                <a:latin typeface="Cambria" panose="02040503050406030204"/>
                <a:cs typeface="Cambria" panose="02040503050406030204"/>
              </a:rPr>
              <a:t>  </a:t>
            </a:r>
            <a:r>
              <a:rPr sz="2000" spc="114" dirty="0">
                <a:latin typeface="Cambria" panose="02040503050406030204"/>
                <a:cs typeface="Cambria" panose="02040503050406030204"/>
              </a:rPr>
              <a:t>unpredictable</a:t>
            </a:r>
            <a:r>
              <a:rPr sz="2000" spc="150" dirty="0">
                <a:latin typeface="Cambria" panose="02040503050406030204"/>
                <a:cs typeface="Cambria" panose="02040503050406030204"/>
              </a:rPr>
              <a:t>  </a:t>
            </a:r>
            <a:r>
              <a:rPr sz="2000" spc="110" dirty="0">
                <a:latin typeface="Cambria" panose="02040503050406030204"/>
                <a:cs typeface="Cambria" panose="02040503050406030204"/>
              </a:rPr>
              <a:t>ways</a:t>
            </a:r>
            <a:r>
              <a:rPr sz="2000" spc="165" dirty="0">
                <a:latin typeface="Cambria" panose="02040503050406030204"/>
                <a:cs typeface="Cambria" panose="02040503050406030204"/>
              </a:rPr>
              <a:t>  </a:t>
            </a:r>
            <a:r>
              <a:rPr sz="2000" dirty="0">
                <a:latin typeface="Cambria" panose="02040503050406030204"/>
                <a:cs typeface="Cambria" panose="02040503050406030204"/>
              </a:rPr>
              <a:t>if</a:t>
            </a:r>
            <a:r>
              <a:rPr sz="2000" spc="160" dirty="0">
                <a:latin typeface="Cambria" panose="02040503050406030204"/>
                <a:cs typeface="Cambria" panose="02040503050406030204"/>
              </a:rPr>
              <a:t>  </a:t>
            </a:r>
            <a:r>
              <a:rPr sz="2000" spc="60" dirty="0">
                <a:latin typeface="Cambria" panose="02040503050406030204"/>
                <a:cs typeface="Cambria" panose="02040503050406030204"/>
              </a:rPr>
              <a:t>it</a:t>
            </a:r>
            <a:r>
              <a:rPr sz="2000" spc="155" dirty="0">
                <a:latin typeface="Cambria" panose="02040503050406030204"/>
                <a:cs typeface="Cambria" panose="02040503050406030204"/>
              </a:rPr>
              <a:t>  </a:t>
            </a:r>
            <a:r>
              <a:rPr sz="2000" spc="70" dirty="0">
                <a:latin typeface="Cambria" panose="02040503050406030204"/>
                <a:cs typeface="Cambria" panose="02040503050406030204"/>
              </a:rPr>
              <a:t>goes </a:t>
            </a:r>
            <a:r>
              <a:rPr sz="2000" spc="110" dirty="0">
                <a:latin typeface="Cambria" panose="02040503050406030204"/>
                <a:cs typeface="Cambria" panose="02040503050406030204"/>
              </a:rPr>
              <a:t>beyond</a:t>
            </a:r>
            <a:r>
              <a:rPr sz="2000" spc="195" dirty="0">
                <a:latin typeface="Cambria" panose="02040503050406030204"/>
                <a:cs typeface="Cambria" panose="02040503050406030204"/>
              </a:rPr>
              <a:t> </a:t>
            </a:r>
            <a:r>
              <a:rPr sz="2000" spc="95" dirty="0">
                <a:latin typeface="Cambria" panose="02040503050406030204"/>
                <a:cs typeface="Cambria" panose="02040503050406030204"/>
              </a:rPr>
              <a:t>its</a:t>
            </a:r>
            <a:r>
              <a:rPr sz="2000" spc="185" dirty="0">
                <a:latin typeface="Cambria" panose="02040503050406030204"/>
                <a:cs typeface="Cambria" panose="02040503050406030204"/>
              </a:rPr>
              <a:t> </a:t>
            </a:r>
            <a:r>
              <a:rPr sz="2000" spc="105" dirty="0">
                <a:latin typeface="Cambria" panose="02040503050406030204"/>
                <a:cs typeface="Cambria" panose="02040503050406030204"/>
              </a:rPr>
              <a:t>limits.</a:t>
            </a:r>
            <a:endParaRPr sz="2000">
              <a:latin typeface="Cambria" panose="02040503050406030204"/>
              <a:cs typeface="Cambria" panose="02040503050406030204"/>
            </a:endParaRPr>
          </a:p>
          <a:p>
            <a:pPr marL="355600" marR="8255" indent="-342900" algn="just">
              <a:lnSpc>
                <a:spcPct val="100000"/>
              </a:lnSpc>
              <a:spcBef>
                <a:spcPts val="600"/>
              </a:spcBef>
              <a:buFont typeface="Microsoft Sans Serif" panose="020B0604020202020204"/>
              <a:buChar char="•"/>
              <a:tabLst>
                <a:tab pos="355600" algn="l"/>
                <a:tab pos="358140" algn="l"/>
              </a:tabLst>
            </a:pPr>
            <a:r>
              <a:rPr sz="2000" dirty="0">
                <a:latin typeface="Cambria" panose="02040503050406030204"/>
                <a:cs typeface="Cambria" panose="02040503050406030204"/>
              </a:rPr>
              <a:t>	</a:t>
            </a:r>
            <a:r>
              <a:rPr sz="2000" b="1" spc="85" dirty="0">
                <a:latin typeface="Cambria" panose="02040503050406030204"/>
                <a:cs typeface="Cambria" panose="02040503050406030204"/>
              </a:rPr>
              <a:t>Apple</a:t>
            </a:r>
            <a:r>
              <a:rPr sz="2000" b="1" spc="285" dirty="0">
                <a:latin typeface="Cambria" panose="02040503050406030204"/>
                <a:cs typeface="Cambria" panose="02040503050406030204"/>
              </a:rPr>
              <a:t> </a:t>
            </a:r>
            <a:r>
              <a:rPr sz="2000" b="1" spc="114" dirty="0">
                <a:latin typeface="Cambria" panose="02040503050406030204"/>
                <a:cs typeface="Cambria" panose="02040503050406030204"/>
              </a:rPr>
              <a:t>Siriis</a:t>
            </a:r>
            <a:r>
              <a:rPr sz="2000" b="1" spc="305" dirty="0">
                <a:latin typeface="Cambria" panose="02040503050406030204"/>
                <a:cs typeface="Cambria" panose="02040503050406030204"/>
              </a:rPr>
              <a:t> </a:t>
            </a:r>
            <a:r>
              <a:rPr sz="2000" spc="185" dirty="0">
                <a:latin typeface="Cambria" panose="02040503050406030204"/>
                <a:cs typeface="Cambria" panose="02040503050406030204"/>
              </a:rPr>
              <a:t>a</a:t>
            </a:r>
            <a:r>
              <a:rPr sz="2000" spc="275" dirty="0">
                <a:latin typeface="Cambria" panose="02040503050406030204"/>
                <a:cs typeface="Cambria" panose="02040503050406030204"/>
              </a:rPr>
              <a:t> </a:t>
            </a:r>
            <a:r>
              <a:rPr sz="2000" spc="80" dirty="0">
                <a:latin typeface="Cambria" panose="02040503050406030204"/>
                <a:cs typeface="Cambria" panose="02040503050406030204"/>
              </a:rPr>
              <a:t>good</a:t>
            </a:r>
            <a:r>
              <a:rPr sz="2000" spc="275" dirty="0">
                <a:latin typeface="Cambria" panose="02040503050406030204"/>
                <a:cs typeface="Cambria" panose="02040503050406030204"/>
              </a:rPr>
              <a:t> </a:t>
            </a:r>
            <a:r>
              <a:rPr sz="2000" spc="114" dirty="0">
                <a:latin typeface="Cambria" panose="02040503050406030204"/>
                <a:cs typeface="Cambria" panose="02040503050406030204"/>
              </a:rPr>
              <a:t>example</a:t>
            </a:r>
            <a:r>
              <a:rPr sz="2000" spc="300" dirty="0">
                <a:latin typeface="Cambria" panose="02040503050406030204"/>
                <a:cs typeface="Cambria" panose="02040503050406030204"/>
              </a:rPr>
              <a:t> </a:t>
            </a:r>
            <a:r>
              <a:rPr sz="2000" spc="50" dirty="0">
                <a:latin typeface="Cambria" panose="02040503050406030204"/>
                <a:cs typeface="Cambria" panose="02040503050406030204"/>
              </a:rPr>
              <a:t>of</a:t>
            </a:r>
            <a:r>
              <a:rPr sz="2000" spc="265" dirty="0">
                <a:latin typeface="Cambria" panose="02040503050406030204"/>
                <a:cs typeface="Cambria" panose="02040503050406030204"/>
              </a:rPr>
              <a:t> </a:t>
            </a:r>
            <a:r>
              <a:rPr sz="2000" spc="65" dirty="0">
                <a:latin typeface="Cambria" panose="02040503050406030204"/>
                <a:cs typeface="Cambria" panose="02040503050406030204"/>
              </a:rPr>
              <a:t>Narrow</a:t>
            </a:r>
            <a:r>
              <a:rPr sz="2000" spc="285" dirty="0">
                <a:latin typeface="Cambria" panose="02040503050406030204"/>
                <a:cs typeface="Cambria" panose="02040503050406030204"/>
              </a:rPr>
              <a:t> </a:t>
            </a:r>
            <a:r>
              <a:rPr sz="2000" spc="120" dirty="0">
                <a:latin typeface="Cambria" panose="02040503050406030204"/>
                <a:cs typeface="Cambria" panose="02040503050406030204"/>
              </a:rPr>
              <a:t>AI,</a:t>
            </a:r>
            <a:r>
              <a:rPr sz="2000" spc="265" dirty="0">
                <a:latin typeface="Cambria" panose="02040503050406030204"/>
                <a:cs typeface="Cambria" panose="02040503050406030204"/>
              </a:rPr>
              <a:t> </a:t>
            </a:r>
            <a:r>
              <a:rPr sz="2000" spc="150" dirty="0">
                <a:latin typeface="Cambria" panose="02040503050406030204"/>
                <a:cs typeface="Cambria" panose="02040503050406030204"/>
              </a:rPr>
              <a:t>but</a:t>
            </a:r>
            <a:r>
              <a:rPr sz="2000" spc="280" dirty="0">
                <a:latin typeface="Cambria" panose="02040503050406030204"/>
                <a:cs typeface="Cambria" panose="02040503050406030204"/>
              </a:rPr>
              <a:t> </a:t>
            </a:r>
            <a:r>
              <a:rPr sz="2000" spc="60" dirty="0">
                <a:latin typeface="Cambria" panose="02040503050406030204"/>
                <a:cs typeface="Cambria" panose="02040503050406030204"/>
              </a:rPr>
              <a:t>it</a:t>
            </a:r>
            <a:r>
              <a:rPr sz="2000" spc="280" dirty="0">
                <a:latin typeface="Cambria" panose="02040503050406030204"/>
                <a:cs typeface="Cambria" panose="02040503050406030204"/>
              </a:rPr>
              <a:t> </a:t>
            </a:r>
            <a:r>
              <a:rPr sz="2000" spc="95" dirty="0">
                <a:latin typeface="Cambria" panose="02040503050406030204"/>
                <a:cs typeface="Cambria" panose="02040503050406030204"/>
              </a:rPr>
              <a:t>operates</a:t>
            </a:r>
            <a:r>
              <a:rPr sz="2000" spc="275" dirty="0">
                <a:latin typeface="Cambria" panose="02040503050406030204"/>
                <a:cs typeface="Cambria" panose="02040503050406030204"/>
              </a:rPr>
              <a:t> </a:t>
            </a:r>
            <a:r>
              <a:rPr sz="2000" spc="85" dirty="0">
                <a:latin typeface="Cambria" panose="02040503050406030204"/>
                <a:cs typeface="Cambria" panose="02040503050406030204"/>
              </a:rPr>
              <a:t>with</a:t>
            </a:r>
            <a:r>
              <a:rPr sz="2000" spc="285" dirty="0">
                <a:latin typeface="Cambria" panose="02040503050406030204"/>
                <a:cs typeface="Cambria" panose="02040503050406030204"/>
              </a:rPr>
              <a:t> </a:t>
            </a:r>
            <a:r>
              <a:rPr sz="2000" spc="135" dirty="0">
                <a:latin typeface="Cambria" panose="02040503050406030204"/>
                <a:cs typeface="Cambria" panose="02040503050406030204"/>
              </a:rPr>
              <a:t>a </a:t>
            </a:r>
            <a:r>
              <a:rPr sz="2000" spc="85" dirty="0">
                <a:latin typeface="Cambria" panose="02040503050406030204"/>
                <a:cs typeface="Cambria" panose="02040503050406030204"/>
              </a:rPr>
              <a:t>limited</a:t>
            </a:r>
            <a:r>
              <a:rPr sz="2000" spc="185" dirty="0">
                <a:latin typeface="Cambria" panose="02040503050406030204"/>
                <a:cs typeface="Cambria" panose="02040503050406030204"/>
              </a:rPr>
              <a:t> </a:t>
            </a:r>
            <a:r>
              <a:rPr sz="2000" spc="90" dirty="0">
                <a:latin typeface="Cambria" panose="02040503050406030204"/>
                <a:cs typeface="Cambria" panose="02040503050406030204"/>
              </a:rPr>
              <a:t>pre-</a:t>
            </a:r>
            <a:r>
              <a:rPr sz="2000" spc="85" dirty="0">
                <a:latin typeface="Cambria" panose="02040503050406030204"/>
                <a:cs typeface="Cambria" panose="02040503050406030204"/>
              </a:rPr>
              <a:t>defined</a:t>
            </a:r>
            <a:r>
              <a:rPr sz="2000" spc="220" dirty="0">
                <a:latin typeface="Cambria" panose="02040503050406030204"/>
                <a:cs typeface="Cambria" panose="02040503050406030204"/>
              </a:rPr>
              <a:t> </a:t>
            </a:r>
            <a:r>
              <a:rPr sz="2000" spc="110" dirty="0">
                <a:latin typeface="Cambria" panose="02040503050406030204"/>
                <a:cs typeface="Cambria" panose="02040503050406030204"/>
              </a:rPr>
              <a:t>range</a:t>
            </a:r>
            <a:r>
              <a:rPr sz="2000" spc="180" dirty="0">
                <a:latin typeface="Cambria" panose="02040503050406030204"/>
                <a:cs typeface="Cambria" panose="02040503050406030204"/>
              </a:rPr>
              <a:t> </a:t>
            </a:r>
            <a:r>
              <a:rPr sz="2000" spc="50" dirty="0">
                <a:latin typeface="Cambria" panose="02040503050406030204"/>
                <a:cs typeface="Cambria" panose="02040503050406030204"/>
              </a:rPr>
              <a:t>of</a:t>
            </a:r>
            <a:r>
              <a:rPr sz="2000" spc="215" dirty="0">
                <a:latin typeface="Cambria" panose="02040503050406030204"/>
                <a:cs typeface="Cambria" panose="02040503050406030204"/>
              </a:rPr>
              <a:t> </a:t>
            </a:r>
            <a:r>
              <a:rPr sz="2000" spc="130" dirty="0">
                <a:latin typeface="Cambria" panose="02040503050406030204"/>
                <a:cs typeface="Cambria" panose="02040503050406030204"/>
              </a:rPr>
              <a:t>functions.</a:t>
            </a:r>
            <a:endParaRPr sz="2000">
              <a:latin typeface="Cambria" panose="02040503050406030204"/>
              <a:cs typeface="Cambria" panose="02040503050406030204"/>
            </a:endParaRPr>
          </a:p>
          <a:p>
            <a:pPr marL="355600" marR="5080" indent="-342900" algn="just">
              <a:lnSpc>
                <a:spcPct val="100000"/>
              </a:lnSpc>
              <a:spcBef>
                <a:spcPts val="600"/>
              </a:spcBef>
              <a:buFont typeface="Microsoft Sans Serif" panose="020B0604020202020204"/>
              <a:buChar char="•"/>
              <a:tabLst>
                <a:tab pos="355600" algn="l"/>
                <a:tab pos="358140" algn="l"/>
              </a:tabLst>
            </a:pPr>
            <a:r>
              <a:rPr sz="2000" dirty="0">
                <a:latin typeface="Cambria" panose="02040503050406030204"/>
                <a:cs typeface="Cambria" panose="02040503050406030204"/>
              </a:rPr>
              <a:t>	</a:t>
            </a:r>
            <a:r>
              <a:rPr sz="2000" b="1" spc="95" dirty="0">
                <a:latin typeface="Cambria" panose="02040503050406030204"/>
                <a:cs typeface="Cambria" panose="02040503050406030204"/>
              </a:rPr>
              <a:t>IBM's</a:t>
            </a:r>
            <a:r>
              <a:rPr sz="2000" b="1" spc="260" dirty="0">
                <a:latin typeface="Cambria" panose="02040503050406030204"/>
                <a:cs typeface="Cambria" panose="02040503050406030204"/>
              </a:rPr>
              <a:t> </a:t>
            </a:r>
            <a:r>
              <a:rPr sz="2000" b="1" spc="90" dirty="0">
                <a:latin typeface="Cambria" panose="02040503050406030204"/>
                <a:cs typeface="Cambria" panose="02040503050406030204"/>
              </a:rPr>
              <a:t>Watson</a:t>
            </a:r>
            <a:r>
              <a:rPr sz="2000" b="1" spc="275" dirty="0">
                <a:latin typeface="Cambria" panose="02040503050406030204"/>
                <a:cs typeface="Cambria" panose="02040503050406030204"/>
              </a:rPr>
              <a:t> </a:t>
            </a:r>
            <a:r>
              <a:rPr sz="2000" spc="120" dirty="0">
                <a:latin typeface="Cambria" panose="02040503050406030204"/>
                <a:cs typeface="Cambria" panose="02040503050406030204"/>
              </a:rPr>
              <a:t>supercomputer</a:t>
            </a:r>
            <a:r>
              <a:rPr sz="2000" spc="280" dirty="0">
                <a:latin typeface="Cambria" panose="02040503050406030204"/>
                <a:cs typeface="Cambria" panose="02040503050406030204"/>
              </a:rPr>
              <a:t> </a:t>
            </a:r>
            <a:r>
              <a:rPr sz="2000" spc="110" dirty="0">
                <a:latin typeface="Cambria" panose="02040503050406030204"/>
                <a:cs typeface="Cambria" panose="02040503050406030204"/>
              </a:rPr>
              <a:t>also</a:t>
            </a:r>
            <a:r>
              <a:rPr sz="2000" spc="270" dirty="0">
                <a:latin typeface="Cambria" panose="02040503050406030204"/>
                <a:cs typeface="Cambria" panose="02040503050406030204"/>
              </a:rPr>
              <a:t> </a:t>
            </a:r>
            <a:r>
              <a:rPr sz="2000" spc="130" dirty="0">
                <a:latin typeface="Cambria" panose="02040503050406030204"/>
                <a:cs typeface="Cambria" panose="02040503050406030204"/>
              </a:rPr>
              <a:t>comes</a:t>
            </a:r>
            <a:r>
              <a:rPr sz="2000" spc="280" dirty="0">
                <a:latin typeface="Cambria" panose="02040503050406030204"/>
                <a:cs typeface="Cambria" panose="02040503050406030204"/>
              </a:rPr>
              <a:t> </a:t>
            </a:r>
            <a:r>
              <a:rPr sz="2000" spc="140" dirty="0">
                <a:latin typeface="Cambria" panose="02040503050406030204"/>
                <a:cs typeface="Cambria" panose="02040503050406030204"/>
              </a:rPr>
              <a:t>under</a:t>
            </a:r>
            <a:r>
              <a:rPr sz="2000" spc="250" dirty="0">
                <a:latin typeface="Cambria" panose="02040503050406030204"/>
                <a:cs typeface="Cambria" panose="02040503050406030204"/>
              </a:rPr>
              <a:t> </a:t>
            </a:r>
            <a:r>
              <a:rPr sz="2000" spc="70" dirty="0">
                <a:latin typeface="Cambria" panose="02040503050406030204"/>
                <a:cs typeface="Cambria" panose="02040503050406030204"/>
              </a:rPr>
              <a:t>Narrow</a:t>
            </a:r>
            <a:r>
              <a:rPr sz="2000" spc="285" dirty="0">
                <a:latin typeface="Cambria" panose="02040503050406030204"/>
                <a:cs typeface="Cambria" panose="02040503050406030204"/>
              </a:rPr>
              <a:t> </a:t>
            </a:r>
            <a:r>
              <a:rPr sz="2000" spc="114" dirty="0">
                <a:latin typeface="Cambria" panose="02040503050406030204"/>
                <a:cs typeface="Cambria" panose="02040503050406030204"/>
              </a:rPr>
              <a:t>AI,</a:t>
            </a:r>
            <a:r>
              <a:rPr sz="2000" spc="270" dirty="0">
                <a:latin typeface="Cambria" panose="02040503050406030204"/>
                <a:cs typeface="Cambria" panose="02040503050406030204"/>
              </a:rPr>
              <a:t> </a:t>
            </a:r>
            <a:r>
              <a:rPr sz="2000" spc="170" dirty="0">
                <a:latin typeface="Cambria" panose="02040503050406030204"/>
                <a:cs typeface="Cambria" panose="02040503050406030204"/>
              </a:rPr>
              <a:t>as</a:t>
            </a:r>
            <a:r>
              <a:rPr sz="2000" spc="275" dirty="0">
                <a:latin typeface="Cambria" panose="02040503050406030204"/>
                <a:cs typeface="Cambria" panose="02040503050406030204"/>
              </a:rPr>
              <a:t> </a:t>
            </a:r>
            <a:r>
              <a:rPr sz="2000" spc="35" dirty="0">
                <a:latin typeface="Cambria" panose="02040503050406030204"/>
                <a:cs typeface="Cambria" panose="02040503050406030204"/>
              </a:rPr>
              <a:t>it </a:t>
            </a:r>
            <a:r>
              <a:rPr sz="2000" spc="165" dirty="0">
                <a:latin typeface="Cambria" panose="02040503050406030204"/>
                <a:cs typeface="Cambria" panose="02040503050406030204"/>
              </a:rPr>
              <a:t>uses</a:t>
            </a:r>
            <a:r>
              <a:rPr sz="2000" spc="425" dirty="0">
                <a:latin typeface="Cambria" panose="02040503050406030204"/>
                <a:cs typeface="Cambria" panose="02040503050406030204"/>
              </a:rPr>
              <a:t>  </a:t>
            </a:r>
            <a:r>
              <a:rPr sz="2000" spc="195" dirty="0">
                <a:latin typeface="Cambria" panose="02040503050406030204"/>
                <a:cs typeface="Cambria" panose="02040503050406030204"/>
              </a:rPr>
              <a:t>an</a:t>
            </a:r>
            <a:r>
              <a:rPr sz="2000" spc="425" dirty="0">
                <a:latin typeface="Cambria" panose="02040503050406030204"/>
                <a:cs typeface="Cambria" panose="02040503050406030204"/>
              </a:rPr>
              <a:t>  </a:t>
            </a:r>
            <a:r>
              <a:rPr sz="2000" spc="120" dirty="0">
                <a:latin typeface="Cambria" panose="02040503050406030204"/>
                <a:cs typeface="Cambria" panose="02040503050406030204"/>
              </a:rPr>
              <a:t>Expert</a:t>
            </a:r>
            <a:r>
              <a:rPr sz="2000" spc="425" dirty="0">
                <a:latin typeface="Cambria" panose="02040503050406030204"/>
                <a:cs typeface="Cambria" panose="02040503050406030204"/>
              </a:rPr>
              <a:t>  </a:t>
            </a:r>
            <a:r>
              <a:rPr sz="2000" spc="125" dirty="0">
                <a:latin typeface="Cambria" panose="02040503050406030204"/>
                <a:cs typeface="Cambria" panose="02040503050406030204"/>
              </a:rPr>
              <a:t>system</a:t>
            </a:r>
            <a:r>
              <a:rPr sz="2000" spc="425" dirty="0">
                <a:latin typeface="Cambria" panose="02040503050406030204"/>
                <a:cs typeface="Cambria" panose="02040503050406030204"/>
              </a:rPr>
              <a:t>  </a:t>
            </a:r>
            <a:r>
              <a:rPr sz="2000" spc="130" dirty="0">
                <a:latin typeface="Cambria" panose="02040503050406030204"/>
                <a:cs typeface="Cambria" panose="02040503050406030204"/>
              </a:rPr>
              <a:t>approach</a:t>
            </a:r>
            <a:r>
              <a:rPr sz="2000" spc="430" dirty="0">
                <a:latin typeface="Cambria" panose="02040503050406030204"/>
                <a:cs typeface="Cambria" panose="02040503050406030204"/>
              </a:rPr>
              <a:t>  </a:t>
            </a:r>
            <a:r>
              <a:rPr sz="2000" spc="120" dirty="0">
                <a:latin typeface="Cambria" panose="02040503050406030204"/>
                <a:cs typeface="Cambria" panose="02040503050406030204"/>
              </a:rPr>
              <a:t>combined</a:t>
            </a:r>
            <a:r>
              <a:rPr sz="2000" spc="430" dirty="0">
                <a:latin typeface="Cambria" panose="02040503050406030204"/>
                <a:cs typeface="Cambria" panose="02040503050406030204"/>
              </a:rPr>
              <a:t>  </a:t>
            </a:r>
            <a:r>
              <a:rPr sz="2000" spc="85" dirty="0">
                <a:latin typeface="Cambria" panose="02040503050406030204"/>
                <a:cs typeface="Cambria" panose="02040503050406030204"/>
              </a:rPr>
              <a:t>with</a:t>
            </a:r>
            <a:r>
              <a:rPr sz="2000" spc="420" dirty="0">
                <a:latin typeface="Cambria" panose="02040503050406030204"/>
                <a:cs typeface="Cambria" panose="02040503050406030204"/>
              </a:rPr>
              <a:t>  </a:t>
            </a:r>
            <a:r>
              <a:rPr sz="2000" spc="135" dirty="0">
                <a:latin typeface="Cambria" panose="02040503050406030204"/>
                <a:cs typeface="Cambria" panose="02040503050406030204"/>
              </a:rPr>
              <a:t>Machine </a:t>
            </a:r>
            <a:r>
              <a:rPr sz="2000" spc="110" dirty="0">
                <a:latin typeface="Cambria" panose="02040503050406030204"/>
                <a:cs typeface="Cambria" panose="02040503050406030204"/>
              </a:rPr>
              <a:t>learning</a:t>
            </a:r>
            <a:r>
              <a:rPr sz="2000" spc="195" dirty="0">
                <a:latin typeface="Cambria" panose="02040503050406030204"/>
                <a:cs typeface="Cambria" panose="02040503050406030204"/>
              </a:rPr>
              <a:t> </a:t>
            </a:r>
            <a:r>
              <a:rPr sz="2000" spc="165" dirty="0">
                <a:latin typeface="Cambria" panose="02040503050406030204"/>
                <a:cs typeface="Cambria" panose="02040503050406030204"/>
              </a:rPr>
              <a:t>and</a:t>
            </a:r>
            <a:r>
              <a:rPr sz="2000" spc="200" dirty="0">
                <a:latin typeface="Cambria" panose="02040503050406030204"/>
                <a:cs typeface="Cambria" panose="02040503050406030204"/>
              </a:rPr>
              <a:t> </a:t>
            </a:r>
            <a:r>
              <a:rPr sz="2000" spc="140" dirty="0">
                <a:latin typeface="Cambria" panose="02040503050406030204"/>
                <a:cs typeface="Cambria" panose="02040503050406030204"/>
              </a:rPr>
              <a:t>natural</a:t>
            </a:r>
            <a:r>
              <a:rPr sz="2000" spc="225" dirty="0">
                <a:latin typeface="Cambria" panose="02040503050406030204"/>
                <a:cs typeface="Cambria" panose="02040503050406030204"/>
              </a:rPr>
              <a:t> </a:t>
            </a:r>
            <a:r>
              <a:rPr sz="2000" spc="140" dirty="0">
                <a:latin typeface="Cambria" panose="02040503050406030204"/>
                <a:cs typeface="Cambria" panose="02040503050406030204"/>
              </a:rPr>
              <a:t>language</a:t>
            </a:r>
            <a:r>
              <a:rPr sz="2000" spc="185" dirty="0">
                <a:latin typeface="Cambria" panose="02040503050406030204"/>
                <a:cs typeface="Cambria" panose="02040503050406030204"/>
              </a:rPr>
              <a:t> </a:t>
            </a:r>
            <a:r>
              <a:rPr sz="2000" spc="110" dirty="0">
                <a:latin typeface="Cambria" panose="02040503050406030204"/>
                <a:cs typeface="Cambria" panose="02040503050406030204"/>
              </a:rPr>
              <a:t>processing.</a:t>
            </a:r>
            <a:endParaRPr sz="2000">
              <a:latin typeface="Cambria" panose="02040503050406030204"/>
              <a:cs typeface="Cambria" panose="02040503050406030204"/>
            </a:endParaRPr>
          </a:p>
          <a:p>
            <a:pPr marL="355600" marR="6350" indent="-342900" algn="just">
              <a:lnSpc>
                <a:spcPct val="100000"/>
              </a:lnSpc>
              <a:spcBef>
                <a:spcPts val="605"/>
              </a:spcBef>
              <a:buFont typeface="Microsoft Sans Serif" panose="020B0604020202020204"/>
              <a:buChar char="•"/>
              <a:tabLst>
                <a:tab pos="355600" algn="l"/>
                <a:tab pos="358140" algn="l"/>
              </a:tabLst>
            </a:pPr>
            <a:r>
              <a:rPr sz="2000" dirty="0">
                <a:latin typeface="Cambria" panose="02040503050406030204"/>
                <a:cs typeface="Cambria" panose="02040503050406030204"/>
              </a:rPr>
              <a:t>	</a:t>
            </a:r>
            <a:r>
              <a:rPr sz="2000" spc="160" dirty="0">
                <a:latin typeface="Cambria" panose="02040503050406030204"/>
                <a:cs typeface="Cambria" panose="02040503050406030204"/>
              </a:rPr>
              <a:t>Some</a:t>
            </a:r>
            <a:r>
              <a:rPr sz="2000" spc="150" dirty="0">
                <a:latin typeface="Cambria" panose="02040503050406030204"/>
                <a:cs typeface="Cambria" panose="02040503050406030204"/>
              </a:rPr>
              <a:t>  Examples</a:t>
            </a:r>
            <a:r>
              <a:rPr sz="2000" spc="145" dirty="0">
                <a:latin typeface="Cambria" panose="02040503050406030204"/>
                <a:cs typeface="Cambria" panose="02040503050406030204"/>
              </a:rPr>
              <a:t>  </a:t>
            </a:r>
            <a:r>
              <a:rPr sz="2000" spc="50" dirty="0">
                <a:latin typeface="Cambria" panose="02040503050406030204"/>
                <a:cs typeface="Cambria" panose="02040503050406030204"/>
              </a:rPr>
              <a:t>of</a:t>
            </a:r>
            <a:r>
              <a:rPr sz="2000" spc="135" dirty="0">
                <a:latin typeface="Cambria" panose="02040503050406030204"/>
                <a:cs typeface="Cambria" panose="02040503050406030204"/>
              </a:rPr>
              <a:t>  </a:t>
            </a:r>
            <a:r>
              <a:rPr sz="2000" spc="70" dirty="0">
                <a:latin typeface="Cambria" panose="02040503050406030204"/>
                <a:cs typeface="Cambria" panose="02040503050406030204"/>
              </a:rPr>
              <a:t>Narrow</a:t>
            </a:r>
            <a:r>
              <a:rPr sz="2000" spc="145" dirty="0">
                <a:latin typeface="Cambria" panose="02040503050406030204"/>
                <a:cs typeface="Cambria" panose="02040503050406030204"/>
              </a:rPr>
              <a:t>  </a:t>
            </a:r>
            <a:r>
              <a:rPr sz="2000" spc="60" dirty="0">
                <a:latin typeface="Cambria" panose="02040503050406030204"/>
                <a:cs typeface="Cambria" panose="02040503050406030204"/>
              </a:rPr>
              <a:t>AI</a:t>
            </a:r>
            <a:r>
              <a:rPr sz="2000" spc="150" dirty="0">
                <a:latin typeface="Cambria" panose="02040503050406030204"/>
                <a:cs typeface="Cambria" panose="02040503050406030204"/>
              </a:rPr>
              <a:t>  </a:t>
            </a:r>
            <a:r>
              <a:rPr sz="2000" spc="90" dirty="0">
                <a:latin typeface="Cambria" panose="02040503050406030204"/>
                <a:cs typeface="Cambria" panose="02040503050406030204"/>
              </a:rPr>
              <a:t>are</a:t>
            </a:r>
            <a:r>
              <a:rPr sz="2000" spc="140" dirty="0">
                <a:latin typeface="Cambria" panose="02040503050406030204"/>
                <a:cs typeface="Cambria" panose="02040503050406030204"/>
              </a:rPr>
              <a:t>  </a:t>
            </a:r>
            <a:r>
              <a:rPr sz="2000" b="1" spc="100" dirty="0">
                <a:latin typeface="Cambria" panose="02040503050406030204"/>
                <a:cs typeface="Cambria" panose="02040503050406030204"/>
              </a:rPr>
              <a:t>playing</a:t>
            </a:r>
            <a:r>
              <a:rPr sz="2000" b="1" spc="145" dirty="0">
                <a:latin typeface="Cambria" panose="02040503050406030204"/>
                <a:cs typeface="Cambria" panose="02040503050406030204"/>
              </a:rPr>
              <a:t>  </a:t>
            </a:r>
            <a:r>
              <a:rPr sz="2000" b="1" spc="160" dirty="0">
                <a:latin typeface="Cambria" panose="02040503050406030204"/>
                <a:cs typeface="Cambria" panose="02040503050406030204"/>
              </a:rPr>
              <a:t>chess</a:t>
            </a:r>
            <a:r>
              <a:rPr sz="2000" spc="160" dirty="0">
                <a:latin typeface="Cambria" panose="02040503050406030204"/>
                <a:cs typeface="Cambria" panose="02040503050406030204"/>
              </a:rPr>
              <a:t>,</a:t>
            </a:r>
            <a:r>
              <a:rPr sz="2000" spc="140" dirty="0">
                <a:latin typeface="Cambria" panose="02040503050406030204"/>
                <a:cs typeface="Cambria" panose="02040503050406030204"/>
              </a:rPr>
              <a:t>  </a:t>
            </a:r>
            <a:r>
              <a:rPr sz="2000" b="1" spc="100" dirty="0">
                <a:latin typeface="Cambria" panose="02040503050406030204"/>
                <a:cs typeface="Cambria" panose="02040503050406030204"/>
              </a:rPr>
              <a:t>purchasing </a:t>
            </a:r>
            <a:r>
              <a:rPr sz="2000" b="1" spc="120" dirty="0">
                <a:latin typeface="Cambria" panose="02040503050406030204"/>
                <a:cs typeface="Cambria" panose="02040503050406030204"/>
              </a:rPr>
              <a:t>suggestions</a:t>
            </a:r>
            <a:r>
              <a:rPr sz="2000" b="1" spc="210" dirty="0">
                <a:latin typeface="Cambria" panose="02040503050406030204"/>
                <a:cs typeface="Cambria" panose="02040503050406030204"/>
              </a:rPr>
              <a:t>  </a:t>
            </a:r>
            <a:r>
              <a:rPr sz="2000" b="1" spc="120" dirty="0">
                <a:latin typeface="Cambria" panose="02040503050406030204"/>
                <a:cs typeface="Cambria" panose="02040503050406030204"/>
              </a:rPr>
              <a:t>on</a:t>
            </a:r>
            <a:r>
              <a:rPr sz="2000" b="1" spc="215" dirty="0">
                <a:latin typeface="Cambria" panose="02040503050406030204"/>
                <a:cs typeface="Cambria" panose="02040503050406030204"/>
              </a:rPr>
              <a:t>  </a:t>
            </a:r>
            <a:r>
              <a:rPr sz="2000" b="1" spc="65" dirty="0">
                <a:latin typeface="Cambria" panose="02040503050406030204"/>
                <a:cs typeface="Cambria" panose="02040503050406030204"/>
              </a:rPr>
              <a:t>e-</a:t>
            </a:r>
            <a:r>
              <a:rPr sz="2000" b="1" spc="140" dirty="0">
                <a:latin typeface="Cambria" panose="02040503050406030204"/>
                <a:cs typeface="Cambria" panose="02040503050406030204"/>
              </a:rPr>
              <a:t>commerce</a:t>
            </a:r>
            <a:r>
              <a:rPr sz="2000" b="1" spc="220" dirty="0">
                <a:latin typeface="Cambria" panose="02040503050406030204"/>
                <a:cs typeface="Cambria" panose="02040503050406030204"/>
              </a:rPr>
              <a:t>  </a:t>
            </a:r>
            <a:r>
              <a:rPr sz="2000" b="1" spc="140" dirty="0">
                <a:latin typeface="Cambria" panose="02040503050406030204"/>
                <a:cs typeface="Cambria" panose="02040503050406030204"/>
              </a:rPr>
              <a:t>site</a:t>
            </a:r>
            <a:r>
              <a:rPr sz="2000" spc="140" dirty="0">
                <a:latin typeface="Cambria" panose="02040503050406030204"/>
                <a:cs typeface="Cambria" panose="02040503050406030204"/>
              </a:rPr>
              <a:t>,</a:t>
            </a:r>
            <a:r>
              <a:rPr sz="2000" spc="215" dirty="0">
                <a:latin typeface="Cambria" panose="02040503050406030204"/>
                <a:cs typeface="Cambria" panose="02040503050406030204"/>
              </a:rPr>
              <a:t>  </a:t>
            </a:r>
            <a:r>
              <a:rPr sz="2000" b="1" spc="80" dirty="0">
                <a:latin typeface="Cambria" panose="02040503050406030204"/>
                <a:cs typeface="Cambria" panose="02040503050406030204"/>
              </a:rPr>
              <a:t>self-</a:t>
            </a:r>
            <a:r>
              <a:rPr sz="2000" b="1" spc="85" dirty="0">
                <a:latin typeface="Cambria" panose="02040503050406030204"/>
                <a:cs typeface="Cambria" panose="02040503050406030204"/>
              </a:rPr>
              <a:t>driving</a:t>
            </a:r>
            <a:r>
              <a:rPr sz="2000" b="1" spc="220" dirty="0">
                <a:latin typeface="Cambria" panose="02040503050406030204"/>
                <a:cs typeface="Cambria" panose="02040503050406030204"/>
              </a:rPr>
              <a:t>  </a:t>
            </a:r>
            <a:r>
              <a:rPr sz="2000" b="1" spc="125" dirty="0">
                <a:latin typeface="Cambria" panose="02040503050406030204"/>
                <a:cs typeface="Cambria" panose="02040503050406030204"/>
              </a:rPr>
              <a:t>cars</a:t>
            </a:r>
            <a:r>
              <a:rPr sz="2000" spc="125" dirty="0">
                <a:latin typeface="Cambria" panose="02040503050406030204"/>
                <a:cs typeface="Cambria" panose="02040503050406030204"/>
              </a:rPr>
              <a:t>,</a:t>
            </a:r>
            <a:r>
              <a:rPr sz="2000" spc="215" dirty="0">
                <a:latin typeface="Cambria" panose="02040503050406030204"/>
                <a:cs typeface="Cambria" panose="02040503050406030204"/>
              </a:rPr>
              <a:t>  </a:t>
            </a:r>
            <a:r>
              <a:rPr sz="2000" b="1" spc="110" dirty="0">
                <a:latin typeface="Cambria" panose="02040503050406030204"/>
                <a:cs typeface="Cambria" panose="02040503050406030204"/>
              </a:rPr>
              <a:t>speech </a:t>
            </a:r>
            <a:r>
              <a:rPr sz="2000" b="1" spc="120" dirty="0">
                <a:latin typeface="Cambria" panose="02040503050406030204"/>
                <a:cs typeface="Cambria" panose="02040503050406030204"/>
              </a:rPr>
              <a:t>recognition</a:t>
            </a:r>
            <a:r>
              <a:rPr sz="2000" spc="120" dirty="0">
                <a:latin typeface="Cambria" panose="02040503050406030204"/>
                <a:cs typeface="Cambria" panose="02040503050406030204"/>
              </a:rPr>
              <a:t>,</a:t>
            </a:r>
            <a:r>
              <a:rPr sz="2000" spc="185" dirty="0">
                <a:latin typeface="Cambria" panose="02040503050406030204"/>
                <a:cs typeface="Cambria" panose="02040503050406030204"/>
              </a:rPr>
              <a:t> </a:t>
            </a:r>
            <a:r>
              <a:rPr sz="2000" spc="165" dirty="0">
                <a:latin typeface="Cambria" panose="02040503050406030204"/>
                <a:cs typeface="Cambria" panose="02040503050406030204"/>
              </a:rPr>
              <a:t>and</a:t>
            </a:r>
            <a:r>
              <a:rPr sz="2000" spc="215" dirty="0">
                <a:latin typeface="Cambria" panose="02040503050406030204"/>
                <a:cs typeface="Cambria" panose="02040503050406030204"/>
              </a:rPr>
              <a:t> </a:t>
            </a:r>
            <a:r>
              <a:rPr sz="2000" b="1" spc="114" dirty="0">
                <a:latin typeface="Cambria" panose="02040503050406030204"/>
                <a:cs typeface="Cambria" panose="02040503050406030204"/>
              </a:rPr>
              <a:t>image</a:t>
            </a:r>
            <a:r>
              <a:rPr sz="2000" b="1" spc="245" dirty="0">
                <a:latin typeface="Cambria" panose="02040503050406030204"/>
                <a:cs typeface="Cambria" panose="02040503050406030204"/>
              </a:rPr>
              <a:t> </a:t>
            </a:r>
            <a:r>
              <a:rPr sz="2000" b="1" spc="110" dirty="0">
                <a:latin typeface="Cambria" panose="02040503050406030204"/>
                <a:cs typeface="Cambria" panose="02040503050406030204"/>
              </a:rPr>
              <a:t>recognition</a:t>
            </a:r>
            <a:r>
              <a:rPr sz="2000" spc="110" dirty="0">
                <a:latin typeface="Cambria" panose="02040503050406030204"/>
                <a:cs typeface="Cambria" panose="02040503050406030204"/>
              </a:rPr>
              <a:t>.</a:t>
            </a:r>
            <a:endParaRPr sz="2000">
              <a:latin typeface="Cambria" panose="02040503050406030204"/>
              <a:cs typeface="Cambria" panose="020405030504060302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5140" y="88583"/>
            <a:ext cx="9827260" cy="627380"/>
          </a:xfrm>
          <a:prstGeom prst="rect">
            <a:avLst/>
          </a:prstGeom>
        </p:spPr>
        <p:txBody>
          <a:bodyPr vert="horz" wrap="square" lIns="0" tIns="12065" rIns="0" bIns="0" rtlCol="0">
            <a:spAutoFit/>
          </a:bodyPr>
          <a:lstStyle/>
          <a:p>
            <a:pPr marL="12700">
              <a:lnSpc>
                <a:spcPct val="100000"/>
              </a:lnSpc>
              <a:spcBef>
                <a:spcPts val="95"/>
              </a:spcBef>
            </a:pPr>
            <a:r>
              <a:rPr b="1" spc="150" dirty="0">
                <a:solidFill>
                  <a:srgbClr val="FF0000"/>
                </a:solidFill>
                <a:latin typeface="Cambria" panose="02040503050406030204"/>
                <a:cs typeface="Cambria" panose="02040503050406030204"/>
              </a:rPr>
              <a:t>Types</a:t>
            </a:r>
            <a:r>
              <a:rPr b="1" spc="350" dirty="0">
                <a:solidFill>
                  <a:srgbClr val="FF0000"/>
                </a:solidFill>
                <a:latin typeface="Cambria" panose="02040503050406030204"/>
                <a:cs typeface="Cambria" panose="02040503050406030204"/>
              </a:rPr>
              <a:t> </a:t>
            </a:r>
            <a:r>
              <a:rPr b="1" spc="135" dirty="0">
                <a:solidFill>
                  <a:srgbClr val="FF0000"/>
                </a:solidFill>
                <a:latin typeface="Cambria" panose="02040503050406030204"/>
                <a:cs typeface="Cambria" panose="02040503050406030204"/>
              </a:rPr>
              <a:t>of</a:t>
            </a:r>
            <a:r>
              <a:rPr b="1" spc="335" dirty="0">
                <a:solidFill>
                  <a:srgbClr val="FF0000"/>
                </a:solidFill>
                <a:latin typeface="Cambria" panose="02040503050406030204"/>
                <a:cs typeface="Cambria" panose="02040503050406030204"/>
              </a:rPr>
              <a:t> </a:t>
            </a:r>
            <a:r>
              <a:rPr b="1" spc="140" dirty="0">
                <a:solidFill>
                  <a:srgbClr val="FF0000"/>
                </a:solidFill>
                <a:latin typeface="Cambria" panose="02040503050406030204"/>
                <a:cs typeface="Cambria" panose="02040503050406030204"/>
              </a:rPr>
              <a:t>artificial</a:t>
            </a:r>
            <a:r>
              <a:rPr b="1" spc="380" dirty="0">
                <a:solidFill>
                  <a:srgbClr val="FF0000"/>
                </a:solidFill>
                <a:latin typeface="Cambria" panose="02040503050406030204"/>
                <a:cs typeface="Cambria" panose="02040503050406030204"/>
              </a:rPr>
              <a:t> </a:t>
            </a:r>
            <a:r>
              <a:rPr b="1" spc="140" dirty="0">
                <a:solidFill>
                  <a:srgbClr val="FF0000"/>
                </a:solidFill>
                <a:latin typeface="Cambria" panose="02040503050406030204"/>
                <a:cs typeface="Cambria" panose="02040503050406030204"/>
              </a:rPr>
              <a:t>intelligence</a:t>
            </a:r>
            <a:endParaRPr b="1" spc="140" dirty="0">
              <a:solidFill>
                <a:srgbClr val="FF0000"/>
              </a:solidFill>
              <a:latin typeface="Cambria" panose="02040503050406030204"/>
              <a:cs typeface="Cambria" panose="02040503050406030204"/>
            </a:endParaRPr>
          </a:p>
        </p:txBody>
      </p:sp>
      <p:sp>
        <p:nvSpPr>
          <p:cNvPr id="3" name="object 3"/>
          <p:cNvSpPr txBox="1"/>
          <p:nvPr/>
        </p:nvSpPr>
        <p:spPr>
          <a:xfrm>
            <a:off x="609600" y="1216409"/>
            <a:ext cx="4243705" cy="826770"/>
          </a:xfrm>
          <a:prstGeom prst="rect">
            <a:avLst/>
          </a:prstGeom>
        </p:spPr>
        <p:txBody>
          <a:bodyPr vert="horz" wrap="square" lIns="0" tIns="74930" rIns="0" bIns="0" rtlCol="0">
            <a:spAutoFit/>
          </a:bodyPr>
          <a:lstStyle/>
          <a:p>
            <a:pPr marL="12700">
              <a:lnSpc>
                <a:spcPct val="100000"/>
              </a:lnSpc>
              <a:spcBef>
                <a:spcPts val="590"/>
              </a:spcBef>
            </a:pPr>
            <a:r>
              <a:rPr sz="2000" b="1" spc="114" dirty="0">
                <a:solidFill>
                  <a:srgbClr val="600A38"/>
                </a:solidFill>
                <a:latin typeface="Cambria" panose="02040503050406030204"/>
                <a:cs typeface="Cambria" panose="02040503050406030204"/>
              </a:rPr>
              <a:t>AI</a:t>
            </a:r>
            <a:r>
              <a:rPr sz="2000" b="1" spc="229" dirty="0">
                <a:solidFill>
                  <a:srgbClr val="600A38"/>
                </a:solidFill>
                <a:latin typeface="Cambria" panose="02040503050406030204"/>
                <a:cs typeface="Cambria" panose="02040503050406030204"/>
              </a:rPr>
              <a:t> </a:t>
            </a:r>
            <a:r>
              <a:rPr sz="2000" b="1" spc="114" dirty="0">
                <a:solidFill>
                  <a:srgbClr val="600A38"/>
                </a:solidFill>
                <a:latin typeface="Cambria" panose="02040503050406030204"/>
                <a:cs typeface="Cambria" panose="02040503050406030204"/>
              </a:rPr>
              <a:t>type-</a:t>
            </a:r>
            <a:r>
              <a:rPr sz="2000" b="1" spc="120" dirty="0">
                <a:solidFill>
                  <a:srgbClr val="600A38"/>
                </a:solidFill>
                <a:latin typeface="Cambria" panose="02040503050406030204"/>
                <a:cs typeface="Cambria" panose="02040503050406030204"/>
              </a:rPr>
              <a:t>1:</a:t>
            </a:r>
            <a:r>
              <a:rPr sz="2000" b="1" spc="220" dirty="0">
                <a:solidFill>
                  <a:srgbClr val="600A38"/>
                </a:solidFill>
                <a:latin typeface="Cambria" panose="02040503050406030204"/>
                <a:cs typeface="Cambria" panose="02040503050406030204"/>
              </a:rPr>
              <a:t> </a:t>
            </a:r>
            <a:r>
              <a:rPr sz="2000" b="1" spc="95" dirty="0">
                <a:solidFill>
                  <a:srgbClr val="600A38"/>
                </a:solidFill>
                <a:latin typeface="Cambria" panose="02040503050406030204"/>
                <a:cs typeface="Cambria" panose="02040503050406030204"/>
              </a:rPr>
              <a:t>Based</a:t>
            </a:r>
            <a:r>
              <a:rPr sz="2000" b="1" spc="220" dirty="0">
                <a:solidFill>
                  <a:srgbClr val="600A38"/>
                </a:solidFill>
                <a:latin typeface="Cambria" panose="02040503050406030204"/>
                <a:cs typeface="Cambria" panose="02040503050406030204"/>
              </a:rPr>
              <a:t> </a:t>
            </a:r>
            <a:r>
              <a:rPr sz="2000" b="1" spc="120" dirty="0">
                <a:solidFill>
                  <a:srgbClr val="600A38"/>
                </a:solidFill>
                <a:latin typeface="Cambria" panose="02040503050406030204"/>
                <a:cs typeface="Cambria" panose="02040503050406030204"/>
              </a:rPr>
              <a:t>on</a:t>
            </a:r>
            <a:r>
              <a:rPr sz="2000" b="1" spc="229" dirty="0">
                <a:solidFill>
                  <a:srgbClr val="600A38"/>
                </a:solidFill>
                <a:latin typeface="Cambria" panose="02040503050406030204"/>
                <a:cs typeface="Cambria" panose="02040503050406030204"/>
              </a:rPr>
              <a:t> </a:t>
            </a:r>
            <a:r>
              <a:rPr sz="2000" b="1" spc="100" dirty="0">
                <a:solidFill>
                  <a:srgbClr val="600A38"/>
                </a:solidFill>
                <a:latin typeface="Cambria" panose="02040503050406030204"/>
                <a:cs typeface="Cambria" panose="02040503050406030204"/>
              </a:rPr>
              <a:t>Capabilities</a:t>
            </a:r>
            <a:endParaRPr sz="2000">
              <a:latin typeface="Cambria" panose="02040503050406030204"/>
              <a:cs typeface="Cambria" panose="02040503050406030204"/>
            </a:endParaRPr>
          </a:p>
          <a:p>
            <a:pPr marL="12700">
              <a:lnSpc>
                <a:spcPct val="100000"/>
              </a:lnSpc>
              <a:spcBef>
                <a:spcPts val="585"/>
              </a:spcBef>
            </a:pPr>
            <a:r>
              <a:rPr sz="2400" b="1" spc="200" dirty="0">
                <a:solidFill>
                  <a:srgbClr val="600A4A"/>
                </a:solidFill>
                <a:latin typeface="Cambria" panose="02040503050406030204"/>
                <a:cs typeface="Cambria" panose="02040503050406030204"/>
              </a:rPr>
              <a:t>1.</a:t>
            </a:r>
            <a:r>
              <a:rPr sz="2400" b="1" spc="300" dirty="0">
                <a:solidFill>
                  <a:srgbClr val="600A4A"/>
                </a:solidFill>
                <a:latin typeface="Cambria" panose="02040503050406030204"/>
                <a:cs typeface="Cambria" panose="02040503050406030204"/>
              </a:rPr>
              <a:t> </a:t>
            </a:r>
            <a:r>
              <a:rPr sz="2400" b="1" spc="75" dirty="0">
                <a:solidFill>
                  <a:srgbClr val="600A4A"/>
                </a:solidFill>
                <a:latin typeface="Cambria" panose="02040503050406030204"/>
                <a:cs typeface="Cambria" panose="02040503050406030204"/>
              </a:rPr>
              <a:t>Weak</a:t>
            </a:r>
            <a:r>
              <a:rPr sz="2400" b="1" spc="285" dirty="0">
                <a:solidFill>
                  <a:srgbClr val="600A4A"/>
                </a:solidFill>
                <a:latin typeface="Cambria" panose="02040503050406030204"/>
                <a:cs typeface="Cambria" panose="02040503050406030204"/>
              </a:rPr>
              <a:t> </a:t>
            </a:r>
            <a:r>
              <a:rPr sz="2400" b="1" spc="140" dirty="0">
                <a:solidFill>
                  <a:srgbClr val="600A4A"/>
                </a:solidFill>
                <a:latin typeface="Cambria" panose="02040503050406030204"/>
                <a:cs typeface="Cambria" panose="02040503050406030204"/>
              </a:rPr>
              <a:t>AI</a:t>
            </a:r>
            <a:r>
              <a:rPr sz="2400" b="1" spc="305" dirty="0">
                <a:solidFill>
                  <a:srgbClr val="600A4A"/>
                </a:solidFill>
                <a:latin typeface="Cambria" panose="02040503050406030204"/>
                <a:cs typeface="Cambria" panose="02040503050406030204"/>
              </a:rPr>
              <a:t> </a:t>
            </a:r>
            <a:r>
              <a:rPr sz="2400" b="1" dirty="0">
                <a:solidFill>
                  <a:srgbClr val="600A4A"/>
                </a:solidFill>
                <a:latin typeface="Cambria" panose="02040503050406030204"/>
                <a:cs typeface="Cambria" panose="02040503050406030204"/>
              </a:rPr>
              <a:t>or</a:t>
            </a:r>
            <a:r>
              <a:rPr sz="2400" b="1" spc="290" dirty="0">
                <a:solidFill>
                  <a:srgbClr val="600A4A"/>
                </a:solidFill>
                <a:latin typeface="Cambria" panose="02040503050406030204"/>
                <a:cs typeface="Cambria" panose="02040503050406030204"/>
              </a:rPr>
              <a:t> </a:t>
            </a:r>
            <a:r>
              <a:rPr sz="2400" b="1" spc="55" dirty="0">
                <a:solidFill>
                  <a:srgbClr val="600A4A"/>
                </a:solidFill>
                <a:latin typeface="Cambria" panose="02040503050406030204"/>
                <a:cs typeface="Cambria" panose="02040503050406030204"/>
              </a:rPr>
              <a:t>Narrow</a:t>
            </a:r>
            <a:r>
              <a:rPr sz="2400" b="1" spc="295" dirty="0">
                <a:solidFill>
                  <a:srgbClr val="600A4A"/>
                </a:solidFill>
                <a:latin typeface="Cambria" panose="02040503050406030204"/>
                <a:cs typeface="Cambria" panose="02040503050406030204"/>
              </a:rPr>
              <a:t> </a:t>
            </a:r>
            <a:r>
              <a:rPr sz="2400" b="1" spc="110" dirty="0">
                <a:solidFill>
                  <a:srgbClr val="600A4A"/>
                </a:solidFill>
                <a:latin typeface="Cambria" panose="02040503050406030204"/>
                <a:cs typeface="Cambria" panose="02040503050406030204"/>
              </a:rPr>
              <a:t>AI:</a:t>
            </a:r>
            <a:endParaRPr sz="2400">
              <a:latin typeface="Cambria" panose="02040503050406030204"/>
              <a:cs typeface="Cambria" panose="02040503050406030204"/>
            </a:endParaRPr>
          </a:p>
        </p:txBody>
      </p:sp>
      <p:pic>
        <p:nvPicPr>
          <p:cNvPr id="4" name="object 4"/>
          <p:cNvPicPr/>
          <p:nvPr/>
        </p:nvPicPr>
        <p:blipFill>
          <a:blip r:embed="rId1" cstate="print"/>
          <a:stretch>
            <a:fillRect/>
          </a:stretch>
        </p:blipFill>
        <p:spPr>
          <a:xfrm>
            <a:off x="5878067" y="3886200"/>
            <a:ext cx="4561332" cy="2624328"/>
          </a:xfrm>
          <a:prstGeom prst="rect">
            <a:avLst/>
          </a:prstGeom>
        </p:spPr>
      </p:pic>
      <p:pic>
        <p:nvPicPr>
          <p:cNvPr id="5" name="object 5"/>
          <p:cNvPicPr/>
          <p:nvPr/>
        </p:nvPicPr>
        <p:blipFill>
          <a:blip r:embed="rId2" cstate="print"/>
          <a:stretch>
            <a:fillRect/>
          </a:stretch>
        </p:blipFill>
        <p:spPr>
          <a:xfrm>
            <a:off x="1857403" y="2157186"/>
            <a:ext cx="3794684" cy="2904910"/>
          </a:xfrm>
          <a:prstGeom prst="rect">
            <a:avLst/>
          </a:prstGeom>
        </p:spPr>
      </p:pic>
      <p:sp>
        <p:nvSpPr>
          <p:cNvPr id="6" name="Date Placeholder 5"/>
          <p:cNvSpPr>
            <a:spLocks noGrp="1"/>
          </p:cNvSpPr>
          <p:nvPr>
            <p:ph type="dt" sz="half" idx="10"/>
          </p:nvPr>
        </p:nvSpPr>
        <p:spPr/>
        <p:txBody>
          <a:bodyPr/>
          <a:p>
            <a:fld id="{63A1C593-65D0-4073-BCC9-577B9352EA97}" type="datetime1">
              <a:rPr lang="en-US" smtClean="0"/>
            </a:fld>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1340" y="53658"/>
            <a:ext cx="8907780" cy="627380"/>
          </a:xfrm>
          <a:prstGeom prst="rect">
            <a:avLst/>
          </a:prstGeom>
        </p:spPr>
        <p:txBody>
          <a:bodyPr vert="horz" wrap="square" lIns="0" tIns="12065" rIns="0" bIns="0" rtlCol="0">
            <a:spAutoFit/>
          </a:bodyPr>
          <a:lstStyle/>
          <a:p>
            <a:pPr marL="12700">
              <a:lnSpc>
                <a:spcPct val="100000"/>
              </a:lnSpc>
              <a:spcBef>
                <a:spcPts val="95"/>
              </a:spcBef>
            </a:pPr>
            <a:r>
              <a:rPr spc="-10" dirty="0"/>
              <a:t>Types</a:t>
            </a:r>
            <a:r>
              <a:rPr spc="-90" dirty="0"/>
              <a:t> </a:t>
            </a:r>
            <a:r>
              <a:rPr dirty="0"/>
              <a:t>of</a:t>
            </a:r>
            <a:r>
              <a:rPr spc="-90" dirty="0"/>
              <a:t> </a:t>
            </a:r>
            <a:r>
              <a:rPr dirty="0"/>
              <a:t>artificial</a:t>
            </a:r>
            <a:r>
              <a:rPr spc="-85" dirty="0"/>
              <a:t> </a:t>
            </a:r>
            <a:r>
              <a:rPr spc="-10" dirty="0"/>
              <a:t>intelligence</a:t>
            </a:r>
            <a:endParaRPr spc="-10" dirty="0"/>
          </a:p>
        </p:txBody>
      </p:sp>
      <p:sp>
        <p:nvSpPr>
          <p:cNvPr id="3" name="object 3"/>
          <p:cNvSpPr txBox="1"/>
          <p:nvPr/>
        </p:nvSpPr>
        <p:spPr>
          <a:xfrm>
            <a:off x="1855114" y="589940"/>
            <a:ext cx="8583295" cy="5933440"/>
          </a:xfrm>
          <a:prstGeom prst="rect">
            <a:avLst/>
          </a:prstGeom>
        </p:spPr>
        <p:txBody>
          <a:bodyPr vert="horz" wrap="square" lIns="0" tIns="123825" rIns="0" bIns="0" rtlCol="0">
            <a:spAutoFit/>
          </a:bodyPr>
          <a:lstStyle/>
          <a:p>
            <a:pPr marL="12700">
              <a:lnSpc>
                <a:spcPct val="100000"/>
              </a:lnSpc>
              <a:spcBef>
                <a:spcPts val="975"/>
              </a:spcBef>
            </a:pPr>
            <a:r>
              <a:rPr sz="2800" b="1" spc="150" dirty="0">
                <a:solidFill>
                  <a:srgbClr val="600A38"/>
                </a:solidFill>
                <a:latin typeface="Cambria" panose="02040503050406030204"/>
                <a:cs typeface="Cambria" panose="02040503050406030204"/>
              </a:rPr>
              <a:t>AI</a:t>
            </a:r>
            <a:r>
              <a:rPr sz="2800" b="1" spc="340" dirty="0">
                <a:solidFill>
                  <a:srgbClr val="600A38"/>
                </a:solidFill>
                <a:latin typeface="Cambria" panose="02040503050406030204"/>
                <a:cs typeface="Cambria" panose="02040503050406030204"/>
              </a:rPr>
              <a:t> </a:t>
            </a:r>
            <a:r>
              <a:rPr sz="2800" b="1" spc="150" dirty="0">
                <a:solidFill>
                  <a:srgbClr val="600A38"/>
                </a:solidFill>
                <a:latin typeface="Cambria" panose="02040503050406030204"/>
                <a:cs typeface="Cambria" panose="02040503050406030204"/>
              </a:rPr>
              <a:t>type-</a:t>
            </a:r>
            <a:r>
              <a:rPr sz="2800" b="1" spc="170" dirty="0">
                <a:solidFill>
                  <a:srgbClr val="600A38"/>
                </a:solidFill>
                <a:latin typeface="Cambria" panose="02040503050406030204"/>
                <a:cs typeface="Cambria" panose="02040503050406030204"/>
              </a:rPr>
              <a:t>1:</a:t>
            </a:r>
            <a:r>
              <a:rPr sz="2800" b="1" spc="355" dirty="0">
                <a:solidFill>
                  <a:srgbClr val="600A38"/>
                </a:solidFill>
                <a:latin typeface="Cambria" panose="02040503050406030204"/>
                <a:cs typeface="Cambria" panose="02040503050406030204"/>
              </a:rPr>
              <a:t> </a:t>
            </a:r>
            <a:r>
              <a:rPr sz="2800" b="1" spc="135" dirty="0">
                <a:solidFill>
                  <a:srgbClr val="600A38"/>
                </a:solidFill>
                <a:latin typeface="Cambria" panose="02040503050406030204"/>
                <a:cs typeface="Cambria" panose="02040503050406030204"/>
              </a:rPr>
              <a:t>Based</a:t>
            </a:r>
            <a:r>
              <a:rPr sz="2800" b="1" spc="325" dirty="0">
                <a:solidFill>
                  <a:srgbClr val="600A38"/>
                </a:solidFill>
                <a:latin typeface="Cambria" panose="02040503050406030204"/>
                <a:cs typeface="Cambria" panose="02040503050406030204"/>
              </a:rPr>
              <a:t> </a:t>
            </a:r>
            <a:r>
              <a:rPr sz="2800" b="1" spc="155" dirty="0">
                <a:solidFill>
                  <a:srgbClr val="600A38"/>
                </a:solidFill>
                <a:latin typeface="Cambria" panose="02040503050406030204"/>
                <a:cs typeface="Cambria" panose="02040503050406030204"/>
              </a:rPr>
              <a:t>on</a:t>
            </a:r>
            <a:r>
              <a:rPr sz="2800" b="1" spc="350" dirty="0">
                <a:solidFill>
                  <a:srgbClr val="600A38"/>
                </a:solidFill>
                <a:latin typeface="Cambria" panose="02040503050406030204"/>
                <a:cs typeface="Cambria" panose="02040503050406030204"/>
              </a:rPr>
              <a:t> </a:t>
            </a:r>
            <a:r>
              <a:rPr sz="2800" b="1" spc="130" dirty="0">
                <a:solidFill>
                  <a:srgbClr val="600A38"/>
                </a:solidFill>
                <a:latin typeface="Cambria" panose="02040503050406030204"/>
                <a:cs typeface="Cambria" panose="02040503050406030204"/>
              </a:rPr>
              <a:t>Capabilities</a:t>
            </a:r>
            <a:endParaRPr sz="2800">
              <a:latin typeface="Cambria" panose="02040503050406030204"/>
              <a:cs typeface="Cambria" panose="02040503050406030204"/>
            </a:endParaRPr>
          </a:p>
          <a:p>
            <a:pPr marL="217170" algn="just">
              <a:lnSpc>
                <a:spcPct val="100000"/>
              </a:lnSpc>
              <a:spcBef>
                <a:spcPts val="880"/>
              </a:spcBef>
            </a:pPr>
            <a:r>
              <a:rPr sz="2800" b="1" dirty="0">
                <a:latin typeface="Times New Roman" panose="02020603050405020304"/>
                <a:cs typeface="Times New Roman" panose="02020603050405020304"/>
              </a:rPr>
              <a:t>2.</a:t>
            </a:r>
            <a:r>
              <a:rPr sz="2800" b="1" spc="-20" dirty="0">
                <a:latin typeface="Times New Roman" panose="02020603050405020304"/>
                <a:cs typeface="Times New Roman" panose="02020603050405020304"/>
              </a:rPr>
              <a:t> </a:t>
            </a:r>
            <a:r>
              <a:rPr sz="2800" b="1" spc="-10" dirty="0">
                <a:latin typeface="Times New Roman" panose="02020603050405020304"/>
                <a:cs typeface="Times New Roman" panose="02020603050405020304"/>
              </a:rPr>
              <a:t>General</a:t>
            </a:r>
            <a:r>
              <a:rPr sz="2800" b="1" spc="-155" dirty="0">
                <a:latin typeface="Times New Roman" panose="02020603050405020304"/>
                <a:cs typeface="Times New Roman" panose="02020603050405020304"/>
              </a:rPr>
              <a:t> </a:t>
            </a:r>
            <a:r>
              <a:rPr sz="2800" b="1" spc="-25" dirty="0">
                <a:latin typeface="Times New Roman" panose="02020603050405020304"/>
                <a:cs typeface="Times New Roman" panose="02020603050405020304"/>
              </a:rPr>
              <a:t>AI:</a:t>
            </a:r>
            <a:endParaRPr sz="2800">
              <a:latin typeface="Times New Roman" panose="02020603050405020304"/>
              <a:cs typeface="Times New Roman" panose="02020603050405020304"/>
            </a:endParaRPr>
          </a:p>
          <a:p>
            <a:pPr marL="845820" indent="-342265" algn="just">
              <a:lnSpc>
                <a:spcPct val="100000"/>
              </a:lnSpc>
              <a:spcBef>
                <a:spcPts val="1215"/>
              </a:spcBef>
              <a:buFont typeface="Microsoft Sans Serif" panose="020B0604020202020204"/>
              <a:buChar char="•"/>
              <a:tabLst>
                <a:tab pos="845185" algn="l"/>
              </a:tabLst>
            </a:pPr>
            <a:r>
              <a:rPr sz="2400" dirty="0">
                <a:latin typeface="Times New Roman" panose="02020603050405020304"/>
                <a:cs typeface="Times New Roman" panose="02020603050405020304"/>
              </a:rPr>
              <a:t>General</a:t>
            </a:r>
            <a:r>
              <a:rPr sz="2400" spc="220" dirty="0">
                <a:latin typeface="Times New Roman" panose="02020603050405020304"/>
                <a:cs typeface="Times New Roman" panose="02020603050405020304"/>
              </a:rPr>
              <a:t> </a:t>
            </a:r>
            <a:r>
              <a:rPr sz="2400" dirty="0">
                <a:latin typeface="Times New Roman" panose="02020603050405020304"/>
                <a:cs typeface="Times New Roman" panose="02020603050405020304"/>
              </a:rPr>
              <a:t>AI</a:t>
            </a:r>
            <a:r>
              <a:rPr sz="2400" spc="215" dirty="0">
                <a:latin typeface="Times New Roman" panose="02020603050405020304"/>
                <a:cs typeface="Times New Roman" panose="02020603050405020304"/>
              </a:rPr>
              <a:t> </a:t>
            </a:r>
            <a:r>
              <a:rPr sz="2400" dirty="0">
                <a:latin typeface="Times New Roman" panose="02020603050405020304"/>
                <a:cs typeface="Times New Roman" panose="02020603050405020304"/>
              </a:rPr>
              <a:t>is</a:t>
            </a:r>
            <a:r>
              <a:rPr sz="2400" spc="210"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215" dirty="0">
                <a:latin typeface="Times New Roman" panose="02020603050405020304"/>
                <a:cs typeface="Times New Roman" panose="02020603050405020304"/>
              </a:rPr>
              <a:t> </a:t>
            </a:r>
            <a:r>
              <a:rPr sz="2400" dirty="0">
                <a:latin typeface="Times New Roman" panose="02020603050405020304"/>
                <a:cs typeface="Times New Roman" panose="02020603050405020304"/>
              </a:rPr>
              <a:t>type</a:t>
            </a:r>
            <a:r>
              <a:rPr sz="2400" spc="215"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215" dirty="0">
                <a:latin typeface="Times New Roman" panose="02020603050405020304"/>
                <a:cs typeface="Times New Roman" panose="02020603050405020304"/>
              </a:rPr>
              <a:t> </a:t>
            </a:r>
            <a:r>
              <a:rPr sz="2400" dirty="0">
                <a:latin typeface="Times New Roman" panose="02020603050405020304"/>
                <a:cs typeface="Times New Roman" panose="02020603050405020304"/>
              </a:rPr>
              <a:t>intelligence</a:t>
            </a:r>
            <a:r>
              <a:rPr sz="2400" spc="215" dirty="0">
                <a:latin typeface="Times New Roman" panose="02020603050405020304"/>
                <a:cs typeface="Times New Roman" panose="02020603050405020304"/>
              </a:rPr>
              <a:t> </a:t>
            </a:r>
            <a:r>
              <a:rPr sz="2400" dirty="0">
                <a:latin typeface="Times New Roman" panose="02020603050405020304"/>
                <a:cs typeface="Times New Roman" panose="02020603050405020304"/>
              </a:rPr>
              <a:t>which</a:t>
            </a:r>
            <a:r>
              <a:rPr sz="2400" spc="225" dirty="0">
                <a:latin typeface="Times New Roman" panose="02020603050405020304"/>
                <a:cs typeface="Times New Roman" panose="02020603050405020304"/>
              </a:rPr>
              <a:t> </a:t>
            </a:r>
            <a:r>
              <a:rPr sz="2400" dirty="0">
                <a:latin typeface="Times New Roman" panose="02020603050405020304"/>
                <a:cs typeface="Times New Roman" panose="02020603050405020304"/>
              </a:rPr>
              <a:t>could</a:t>
            </a:r>
            <a:r>
              <a:rPr sz="2400" spc="215" dirty="0">
                <a:latin typeface="Times New Roman" panose="02020603050405020304"/>
                <a:cs typeface="Times New Roman" panose="02020603050405020304"/>
              </a:rPr>
              <a:t> </a:t>
            </a:r>
            <a:r>
              <a:rPr sz="2400" dirty="0">
                <a:latin typeface="Times New Roman" panose="02020603050405020304"/>
                <a:cs typeface="Times New Roman" panose="02020603050405020304"/>
              </a:rPr>
              <a:t>perform</a:t>
            </a:r>
            <a:r>
              <a:rPr sz="2400" spc="200"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any</a:t>
            </a:r>
            <a:endParaRPr sz="2400">
              <a:latin typeface="Times New Roman" panose="02020603050405020304"/>
              <a:cs typeface="Times New Roman" panose="02020603050405020304"/>
            </a:endParaRPr>
          </a:p>
          <a:p>
            <a:pPr marL="847090" algn="just">
              <a:lnSpc>
                <a:spcPct val="100000"/>
              </a:lnSpc>
              <a:spcBef>
                <a:spcPts val="5"/>
              </a:spcBef>
            </a:pPr>
            <a:r>
              <a:rPr sz="2400" dirty="0">
                <a:latin typeface="Times New Roman" panose="02020603050405020304"/>
                <a:cs typeface="Times New Roman" panose="02020603050405020304"/>
              </a:rPr>
              <a:t>intellectual</a:t>
            </a:r>
            <a:r>
              <a:rPr sz="2400" spc="-60" dirty="0">
                <a:latin typeface="Times New Roman" panose="02020603050405020304"/>
                <a:cs typeface="Times New Roman" panose="02020603050405020304"/>
              </a:rPr>
              <a:t> </a:t>
            </a:r>
            <a:r>
              <a:rPr sz="2400" dirty="0">
                <a:latin typeface="Times New Roman" panose="02020603050405020304"/>
                <a:cs typeface="Times New Roman" panose="02020603050405020304"/>
              </a:rPr>
              <a:t>task</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with efficiency</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like</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1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human.</a:t>
            </a:r>
            <a:endParaRPr sz="2400">
              <a:latin typeface="Times New Roman" panose="02020603050405020304"/>
              <a:cs typeface="Times New Roman" panose="02020603050405020304"/>
            </a:endParaRPr>
          </a:p>
          <a:p>
            <a:pPr marL="845820" marR="5080" indent="-342265" algn="just">
              <a:lnSpc>
                <a:spcPct val="100000"/>
              </a:lnSpc>
              <a:spcBef>
                <a:spcPts val="1200"/>
              </a:spcBef>
              <a:buFont typeface="Microsoft Sans Serif" panose="020B0604020202020204"/>
              <a:buChar char="•"/>
              <a:tabLst>
                <a:tab pos="847090" algn="l"/>
              </a:tabLst>
            </a:pPr>
            <a:r>
              <a:rPr sz="2400" dirty="0">
                <a:latin typeface="Times New Roman" panose="02020603050405020304"/>
                <a:cs typeface="Times New Roman" panose="02020603050405020304"/>
              </a:rPr>
              <a:t>The</a:t>
            </a:r>
            <a:r>
              <a:rPr sz="2400" spc="195" dirty="0">
                <a:latin typeface="Times New Roman" panose="02020603050405020304"/>
                <a:cs typeface="Times New Roman" panose="02020603050405020304"/>
              </a:rPr>
              <a:t> </a:t>
            </a:r>
            <a:r>
              <a:rPr sz="2400" dirty="0">
                <a:latin typeface="Times New Roman" panose="02020603050405020304"/>
                <a:cs typeface="Times New Roman" panose="02020603050405020304"/>
              </a:rPr>
              <a:t>idea</a:t>
            </a:r>
            <a:r>
              <a:rPr sz="2400" spc="204" dirty="0">
                <a:latin typeface="Times New Roman" panose="02020603050405020304"/>
                <a:cs typeface="Times New Roman" panose="02020603050405020304"/>
              </a:rPr>
              <a:t> </a:t>
            </a:r>
            <a:r>
              <a:rPr sz="2400" dirty="0">
                <a:latin typeface="Times New Roman" panose="02020603050405020304"/>
                <a:cs typeface="Times New Roman" panose="02020603050405020304"/>
              </a:rPr>
              <a:t>behind</a:t>
            </a:r>
            <a:r>
              <a:rPr sz="2400" spc="204"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a:t>
            </a:r>
            <a:r>
              <a:rPr sz="2400" spc="200" dirty="0">
                <a:latin typeface="Times New Roman" panose="02020603050405020304"/>
                <a:cs typeface="Times New Roman" panose="02020603050405020304"/>
              </a:rPr>
              <a:t> </a:t>
            </a:r>
            <a:r>
              <a:rPr sz="2400" dirty="0">
                <a:latin typeface="Times New Roman" panose="02020603050405020304"/>
                <a:cs typeface="Times New Roman" panose="02020603050405020304"/>
              </a:rPr>
              <a:t>general</a:t>
            </a:r>
            <a:r>
              <a:rPr sz="2400" spc="200" dirty="0">
                <a:latin typeface="Times New Roman" panose="02020603050405020304"/>
                <a:cs typeface="Times New Roman" panose="02020603050405020304"/>
              </a:rPr>
              <a:t> </a:t>
            </a:r>
            <a:r>
              <a:rPr sz="2400" dirty="0">
                <a:latin typeface="Times New Roman" panose="02020603050405020304"/>
                <a:cs typeface="Times New Roman" panose="02020603050405020304"/>
              </a:rPr>
              <a:t>AI</a:t>
            </a:r>
            <a:r>
              <a:rPr sz="2400" spc="204" dirty="0">
                <a:latin typeface="Times New Roman" panose="02020603050405020304"/>
                <a:cs typeface="Times New Roman" panose="02020603050405020304"/>
              </a:rPr>
              <a:t> </a:t>
            </a:r>
            <a:r>
              <a:rPr sz="2400" dirty="0">
                <a:latin typeface="Times New Roman" panose="02020603050405020304"/>
                <a:cs typeface="Times New Roman" panose="02020603050405020304"/>
              </a:rPr>
              <a:t>to</a:t>
            </a:r>
            <a:r>
              <a:rPr sz="2400" spc="185" dirty="0">
                <a:latin typeface="Times New Roman" panose="02020603050405020304"/>
                <a:cs typeface="Times New Roman" panose="02020603050405020304"/>
              </a:rPr>
              <a:t> </a:t>
            </a:r>
            <a:r>
              <a:rPr sz="2400" dirty="0">
                <a:latin typeface="Times New Roman" panose="02020603050405020304"/>
                <a:cs typeface="Times New Roman" panose="02020603050405020304"/>
              </a:rPr>
              <a:t>make</a:t>
            </a:r>
            <a:r>
              <a:rPr sz="2400" spc="204" dirty="0">
                <a:latin typeface="Times New Roman" panose="02020603050405020304"/>
                <a:cs typeface="Times New Roman" panose="02020603050405020304"/>
              </a:rPr>
              <a:t> </a:t>
            </a:r>
            <a:r>
              <a:rPr sz="2400" dirty="0">
                <a:latin typeface="Times New Roman" panose="02020603050405020304"/>
                <a:cs typeface="Times New Roman" panose="02020603050405020304"/>
              </a:rPr>
              <a:t>such</a:t>
            </a:r>
            <a:r>
              <a:rPr sz="2400" spc="215" dirty="0">
                <a:latin typeface="Times New Roman" panose="02020603050405020304"/>
                <a:cs typeface="Times New Roman" panose="02020603050405020304"/>
              </a:rPr>
              <a:t> </a:t>
            </a:r>
            <a:r>
              <a:rPr sz="2400" dirty="0">
                <a:latin typeface="Times New Roman" panose="02020603050405020304"/>
                <a:cs typeface="Times New Roman" panose="02020603050405020304"/>
              </a:rPr>
              <a:t>a</a:t>
            </a:r>
            <a:r>
              <a:rPr sz="2400" spc="200" dirty="0">
                <a:latin typeface="Times New Roman" panose="02020603050405020304"/>
                <a:cs typeface="Times New Roman" panose="02020603050405020304"/>
              </a:rPr>
              <a:t> </a:t>
            </a:r>
            <a:r>
              <a:rPr sz="2400" dirty="0">
                <a:latin typeface="Times New Roman" panose="02020603050405020304"/>
                <a:cs typeface="Times New Roman" panose="02020603050405020304"/>
              </a:rPr>
              <a:t>system</a:t>
            </a:r>
            <a:r>
              <a:rPr sz="2400" spc="18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which </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could</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be</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smarter</a:t>
            </a:r>
            <a:r>
              <a:rPr sz="2400" spc="-1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 think</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like</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a human</a:t>
            </a:r>
            <a:r>
              <a:rPr sz="2400" spc="-5" dirty="0">
                <a:latin typeface="Times New Roman" panose="02020603050405020304"/>
                <a:cs typeface="Times New Roman" panose="02020603050405020304"/>
              </a:rPr>
              <a:t> </a:t>
            </a:r>
            <a:r>
              <a:rPr sz="2400" dirty="0">
                <a:latin typeface="Times New Roman" panose="02020603050405020304"/>
                <a:cs typeface="Times New Roman" panose="02020603050405020304"/>
              </a:rPr>
              <a:t>by its</a:t>
            </a:r>
            <a:r>
              <a:rPr sz="2400" spc="-10" dirty="0">
                <a:latin typeface="Times New Roman" panose="02020603050405020304"/>
                <a:cs typeface="Times New Roman" panose="02020603050405020304"/>
              </a:rPr>
              <a:t> </a:t>
            </a:r>
            <a:r>
              <a:rPr sz="2400" spc="-20" dirty="0">
                <a:latin typeface="Times New Roman" panose="02020603050405020304"/>
                <a:cs typeface="Times New Roman" panose="02020603050405020304"/>
              </a:rPr>
              <a:t>own.</a:t>
            </a:r>
            <a:endParaRPr sz="2400">
              <a:latin typeface="Times New Roman" panose="02020603050405020304"/>
              <a:cs typeface="Times New Roman" panose="02020603050405020304"/>
            </a:endParaRPr>
          </a:p>
          <a:p>
            <a:pPr marL="845820" marR="5080" indent="-342265" algn="just">
              <a:lnSpc>
                <a:spcPct val="100000"/>
              </a:lnSpc>
              <a:spcBef>
                <a:spcPts val="1200"/>
              </a:spcBef>
              <a:buFont typeface="Microsoft Sans Serif" panose="020B0604020202020204"/>
              <a:buChar char="•"/>
              <a:tabLst>
                <a:tab pos="847090" algn="l"/>
              </a:tabLst>
            </a:pPr>
            <a:r>
              <a:rPr sz="2400" dirty="0">
                <a:latin typeface="Times New Roman" panose="02020603050405020304"/>
                <a:cs typeface="Times New Roman" panose="02020603050405020304"/>
              </a:rPr>
              <a:t>Currently,</a:t>
            </a:r>
            <a:r>
              <a:rPr sz="2400" spc="509" dirty="0">
                <a:latin typeface="Times New Roman" panose="02020603050405020304"/>
                <a:cs typeface="Times New Roman" panose="02020603050405020304"/>
              </a:rPr>
              <a:t> </a:t>
            </a:r>
            <a:r>
              <a:rPr sz="2400" dirty="0">
                <a:latin typeface="Times New Roman" panose="02020603050405020304"/>
                <a:cs typeface="Times New Roman" panose="02020603050405020304"/>
              </a:rPr>
              <a:t>there</a:t>
            </a:r>
            <a:r>
              <a:rPr sz="2400" spc="520" dirty="0">
                <a:latin typeface="Times New Roman" panose="02020603050405020304"/>
                <a:cs typeface="Times New Roman" panose="02020603050405020304"/>
              </a:rPr>
              <a:t> </a:t>
            </a:r>
            <a:r>
              <a:rPr sz="2400" dirty="0">
                <a:latin typeface="Times New Roman" panose="02020603050405020304"/>
                <a:cs typeface="Times New Roman" panose="02020603050405020304"/>
              </a:rPr>
              <a:t>is</a:t>
            </a:r>
            <a:r>
              <a:rPr sz="2400" spc="515" dirty="0">
                <a:latin typeface="Times New Roman" panose="02020603050405020304"/>
                <a:cs typeface="Times New Roman" panose="02020603050405020304"/>
              </a:rPr>
              <a:t> </a:t>
            </a:r>
            <a:r>
              <a:rPr sz="2400" dirty="0">
                <a:latin typeface="Times New Roman" panose="02020603050405020304"/>
                <a:cs typeface="Times New Roman" panose="02020603050405020304"/>
              </a:rPr>
              <a:t>no</a:t>
            </a:r>
            <a:r>
              <a:rPr sz="2400" spc="520" dirty="0">
                <a:latin typeface="Times New Roman" panose="02020603050405020304"/>
                <a:cs typeface="Times New Roman" panose="02020603050405020304"/>
              </a:rPr>
              <a:t> </a:t>
            </a:r>
            <a:r>
              <a:rPr sz="2400" dirty="0">
                <a:latin typeface="Times New Roman" panose="02020603050405020304"/>
                <a:cs typeface="Times New Roman" panose="02020603050405020304"/>
              </a:rPr>
              <a:t>such</a:t>
            </a:r>
            <a:r>
              <a:rPr sz="2400" spc="525" dirty="0">
                <a:latin typeface="Times New Roman" panose="02020603050405020304"/>
                <a:cs typeface="Times New Roman" panose="02020603050405020304"/>
              </a:rPr>
              <a:t> </a:t>
            </a:r>
            <a:r>
              <a:rPr sz="2400" dirty="0">
                <a:latin typeface="Times New Roman" panose="02020603050405020304"/>
                <a:cs typeface="Times New Roman" panose="02020603050405020304"/>
              </a:rPr>
              <a:t>system</a:t>
            </a:r>
            <a:r>
              <a:rPr sz="2400" spc="505" dirty="0">
                <a:latin typeface="Times New Roman" panose="02020603050405020304"/>
                <a:cs typeface="Times New Roman" panose="02020603050405020304"/>
              </a:rPr>
              <a:t> </a:t>
            </a:r>
            <a:r>
              <a:rPr sz="2400" dirty="0">
                <a:latin typeface="Times New Roman" panose="02020603050405020304"/>
                <a:cs typeface="Times New Roman" panose="02020603050405020304"/>
              </a:rPr>
              <a:t>exist</a:t>
            </a:r>
            <a:r>
              <a:rPr sz="2400" spc="530" dirty="0">
                <a:latin typeface="Times New Roman" panose="02020603050405020304"/>
                <a:cs typeface="Times New Roman" panose="02020603050405020304"/>
              </a:rPr>
              <a:t> </a:t>
            </a:r>
            <a:r>
              <a:rPr sz="2400" dirty="0">
                <a:latin typeface="Times New Roman" panose="02020603050405020304"/>
                <a:cs typeface="Times New Roman" panose="02020603050405020304"/>
              </a:rPr>
              <a:t>which</a:t>
            </a:r>
            <a:r>
              <a:rPr sz="2400" spc="520" dirty="0">
                <a:latin typeface="Times New Roman" panose="02020603050405020304"/>
                <a:cs typeface="Times New Roman" panose="02020603050405020304"/>
              </a:rPr>
              <a:t> </a:t>
            </a:r>
            <a:r>
              <a:rPr sz="2400" dirty="0">
                <a:latin typeface="Times New Roman" panose="02020603050405020304"/>
                <a:cs typeface="Times New Roman" panose="02020603050405020304"/>
              </a:rPr>
              <a:t>could</a:t>
            </a:r>
            <a:r>
              <a:rPr sz="2400" spc="530" dirty="0">
                <a:latin typeface="Times New Roman" panose="02020603050405020304"/>
                <a:cs typeface="Times New Roman" panose="02020603050405020304"/>
              </a:rPr>
              <a:t> </a:t>
            </a:r>
            <a:r>
              <a:rPr sz="2400" spc="-20" dirty="0">
                <a:latin typeface="Times New Roman" panose="02020603050405020304"/>
                <a:cs typeface="Times New Roman" panose="02020603050405020304"/>
              </a:rPr>
              <a:t>come </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under</a:t>
            </a:r>
            <a:r>
              <a:rPr sz="2400" spc="500" dirty="0">
                <a:latin typeface="Times New Roman" panose="02020603050405020304"/>
                <a:cs typeface="Times New Roman" panose="02020603050405020304"/>
              </a:rPr>
              <a:t> </a:t>
            </a:r>
            <a:r>
              <a:rPr sz="2400" dirty="0">
                <a:latin typeface="Times New Roman" panose="02020603050405020304"/>
                <a:cs typeface="Times New Roman" panose="02020603050405020304"/>
              </a:rPr>
              <a:t>general</a:t>
            </a:r>
            <a:r>
              <a:rPr sz="2400" spc="495" dirty="0">
                <a:latin typeface="Times New Roman" panose="02020603050405020304"/>
                <a:cs typeface="Times New Roman" panose="02020603050405020304"/>
              </a:rPr>
              <a:t> </a:t>
            </a:r>
            <a:r>
              <a:rPr sz="2400" dirty="0">
                <a:latin typeface="Times New Roman" panose="02020603050405020304"/>
                <a:cs typeface="Times New Roman" panose="02020603050405020304"/>
              </a:rPr>
              <a:t>AI</a:t>
            </a:r>
            <a:r>
              <a:rPr sz="2400" spc="500"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495" dirty="0">
                <a:latin typeface="Times New Roman" panose="02020603050405020304"/>
                <a:cs typeface="Times New Roman" panose="02020603050405020304"/>
              </a:rPr>
              <a:t> </a:t>
            </a:r>
            <a:r>
              <a:rPr sz="2400" dirty="0">
                <a:latin typeface="Times New Roman" panose="02020603050405020304"/>
                <a:cs typeface="Times New Roman" panose="02020603050405020304"/>
              </a:rPr>
              <a:t>can</a:t>
            </a:r>
            <a:r>
              <a:rPr sz="2400" spc="495" dirty="0">
                <a:latin typeface="Times New Roman" panose="02020603050405020304"/>
                <a:cs typeface="Times New Roman" panose="02020603050405020304"/>
              </a:rPr>
              <a:t> </a:t>
            </a:r>
            <a:r>
              <a:rPr sz="2400" dirty="0">
                <a:latin typeface="Times New Roman" panose="02020603050405020304"/>
                <a:cs typeface="Times New Roman" panose="02020603050405020304"/>
              </a:rPr>
              <a:t>perform</a:t>
            </a:r>
            <a:r>
              <a:rPr sz="2400" spc="484" dirty="0">
                <a:latin typeface="Times New Roman" panose="02020603050405020304"/>
                <a:cs typeface="Times New Roman" panose="02020603050405020304"/>
              </a:rPr>
              <a:t> </a:t>
            </a:r>
            <a:r>
              <a:rPr sz="2400" dirty="0">
                <a:latin typeface="Times New Roman" panose="02020603050405020304"/>
                <a:cs typeface="Times New Roman" panose="02020603050405020304"/>
              </a:rPr>
              <a:t>any</a:t>
            </a:r>
            <a:r>
              <a:rPr sz="2400" spc="500" dirty="0">
                <a:latin typeface="Times New Roman" panose="02020603050405020304"/>
                <a:cs typeface="Times New Roman" panose="02020603050405020304"/>
              </a:rPr>
              <a:t> </a:t>
            </a:r>
            <a:r>
              <a:rPr sz="2400" dirty="0">
                <a:latin typeface="Times New Roman" panose="02020603050405020304"/>
                <a:cs typeface="Times New Roman" panose="02020603050405020304"/>
              </a:rPr>
              <a:t>task</a:t>
            </a:r>
            <a:r>
              <a:rPr sz="2400" spc="495" dirty="0">
                <a:latin typeface="Times New Roman" panose="02020603050405020304"/>
                <a:cs typeface="Times New Roman" panose="02020603050405020304"/>
              </a:rPr>
              <a:t> </a:t>
            </a:r>
            <a:r>
              <a:rPr sz="2400" dirty="0">
                <a:latin typeface="Times New Roman" panose="02020603050405020304"/>
                <a:cs typeface="Times New Roman" panose="02020603050405020304"/>
              </a:rPr>
              <a:t>as</a:t>
            </a:r>
            <a:r>
              <a:rPr sz="2400" spc="490" dirty="0">
                <a:latin typeface="Times New Roman" panose="02020603050405020304"/>
                <a:cs typeface="Times New Roman" panose="02020603050405020304"/>
              </a:rPr>
              <a:t> </a:t>
            </a:r>
            <a:r>
              <a:rPr sz="2400" dirty="0">
                <a:latin typeface="Times New Roman" panose="02020603050405020304"/>
                <a:cs typeface="Times New Roman" panose="02020603050405020304"/>
              </a:rPr>
              <a:t>perfect</a:t>
            </a:r>
            <a:r>
              <a:rPr sz="2400" spc="495" dirty="0">
                <a:latin typeface="Times New Roman" panose="02020603050405020304"/>
                <a:cs typeface="Times New Roman" panose="02020603050405020304"/>
              </a:rPr>
              <a:t> </a:t>
            </a:r>
            <a:r>
              <a:rPr sz="2400" dirty="0">
                <a:latin typeface="Times New Roman" panose="02020603050405020304"/>
                <a:cs typeface="Times New Roman" panose="02020603050405020304"/>
              </a:rPr>
              <a:t>as</a:t>
            </a:r>
            <a:r>
              <a:rPr sz="2400" spc="480" dirty="0">
                <a:latin typeface="Times New Roman" panose="02020603050405020304"/>
                <a:cs typeface="Times New Roman" panose="02020603050405020304"/>
              </a:rPr>
              <a:t> </a:t>
            </a:r>
            <a:r>
              <a:rPr sz="2400" spc="-50" dirty="0">
                <a:latin typeface="Times New Roman" panose="02020603050405020304"/>
                <a:cs typeface="Times New Roman" panose="02020603050405020304"/>
              </a:rPr>
              <a:t>a </a:t>
            </a:r>
            <a:r>
              <a:rPr sz="2400" spc="-5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human.</a:t>
            </a:r>
            <a:endParaRPr sz="2400">
              <a:latin typeface="Times New Roman" panose="02020603050405020304"/>
              <a:cs typeface="Times New Roman" panose="02020603050405020304"/>
            </a:endParaRPr>
          </a:p>
          <a:p>
            <a:pPr marL="845820" indent="-342265" algn="just">
              <a:lnSpc>
                <a:spcPct val="100000"/>
              </a:lnSpc>
              <a:spcBef>
                <a:spcPts val="1200"/>
              </a:spcBef>
              <a:buFont typeface="Microsoft Sans Serif" panose="020B0604020202020204"/>
              <a:buChar char="•"/>
              <a:tabLst>
                <a:tab pos="845185" algn="l"/>
              </a:tabLst>
            </a:pPr>
            <a:r>
              <a:rPr sz="2400" dirty="0">
                <a:latin typeface="Times New Roman" panose="02020603050405020304"/>
                <a:cs typeface="Times New Roman" panose="02020603050405020304"/>
              </a:rPr>
              <a:t>The</a:t>
            </a:r>
            <a:r>
              <a:rPr sz="2400" spc="580" dirty="0">
                <a:latin typeface="Times New Roman" panose="02020603050405020304"/>
                <a:cs typeface="Times New Roman" panose="02020603050405020304"/>
              </a:rPr>
              <a:t> </a:t>
            </a:r>
            <a:r>
              <a:rPr sz="2400" dirty="0">
                <a:latin typeface="Times New Roman" panose="02020603050405020304"/>
                <a:cs typeface="Times New Roman" panose="02020603050405020304"/>
              </a:rPr>
              <a:t>worldwide</a:t>
            </a:r>
            <a:r>
              <a:rPr sz="2400" spc="585" dirty="0">
                <a:latin typeface="Times New Roman" panose="02020603050405020304"/>
                <a:cs typeface="Times New Roman" panose="02020603050405020304"/>
              </a:rPr>
              <a:t> </a:t>
            </a:r>
            <a:r>
              <a:rPr sz="2400" dirty="0">
                <a:latin typeface="Times New Roman" panose="02020603050405020304"/>
                <a:cs typeface="Times New Roman" panose="02020603050405020304"/>
              </a:rPr>
              <a:t>researchers</a:t>
            </a:r>
            <a:r>
              <a:rPr sz="2400" spc="585" dirty="0">
                <a:latin typeface="Times New Roman" panose="02020603050405020304"/>
                <a:cs typeface="Times New Roman" panose="02020603050405020304"/>
              </a:rPr>
              <a:t> </a:t>
            </a:r>
            <a:r>
              <a:rPr sz="2400" dirty="0">
                <a:latin typeface="Times New Roman" panose="02020603050405020304"/>
                <a:cs typeface="Times New Roman" panose="02020603050405020304"/>
              </a:rPr>
              <a:t>are</a:t>
            </a:r>
            <a:r>
              <a:rPr sz="2400" spc="585" dirty="0">
                <a:latin typeface="Times New Roman" panose="02020603050405020304"/>
                <a:cs typeface="Times New Roman" panose="02020603050405020304"/>
              </a:rPr>
              <a:t> </a:t>
            </a:r>
            <a:r>
              <a:rPr sz="2400" dirty="0">
                <a:latin typeface="Times New Roman" panose="02020603050405020304"/>
                <a:cs typeface="Times New Roman" panose="02020603050405020304"/>
              </a:rPr>
              <a:t>now</a:t>
            </a:r>
            <a:r>
              <a:rPr sz="2400" spc="585" dirty="0">
                <a:latin typeface="Times New Roman" panose="02020603050405020304"/>
                <a:cs typeface="Times New Roman" panose="02020603050405020304"/>
              </a:rPr>
              <a:t> </a:t>
            </a:r>
            <a:r>
              <a:rPr sz="2400" dirty="0">
                <a:latin typeface="Times New Roman" panose="02020603050405020304"/>
                <a:cs typeface="Times New Roman" panose="02020603050405020304"/>
              </a:rPr>
              <a:t>focused</a:t>
            </a:r>
            <a:r>
              <a:rPr sz="2400" spc="590" dirty="0">
                <a:latin typeface="Times New Roman" panose="02020603050405020304"/>
                <a:cs typeface="Times New Roman" panose="02020603050405020304"/>
              </a:rPr>
              <a:t> </a:t>
            </a:r>
            <a:r>
              <a:rPr sz="2400" dirty="0">
                <a:latin typeface="Times New Roman" panose="02020603050405020304"/>
                <a:cs typeface="Times New Roman" panose="02020603050405020304"/>
              </a:rPr>
              <a:t>on</a:t>
            </a:r>
            <a:r>
              <a:rPr sz="2400" spc="57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developing</a:t>
            </a:r>
            <a:endParaRPr sz="2400">
              <a:latin typeface="Times New Roman" panose="02020603050405020304"/>
              <a:cs typeface="Times New Roman" panose="02020603050405020304"/>
            </a:endParaRPr>
          </a:p>
          <a:p>
            <a:pPr marL="847090" algn="just">
              <a:lnSpc>
                <a:spcPct val="100000"/>
              </a:lnSpc>
              <a:spcBef>
                <a:spcPts val="5"/>
              </a:spcBef>
            </a:pPr>
            <a:r>
              <a:rPr sz="2400" dirty="0">
                <a:latin typeface="Times New Roman" panose="02020603050405020304"/>
                <a:cs typeface="Times New Roman" panose="02020603050405020304"/>
              </a:rPr>
              <a:t>machines</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with</a:t>
            </a:r>
            <a:r>
              <a:rPr sz="2400" spc="-25" dirty="0">
                <a:latin typeface="Times New Roman" panose="02020603050405020304"/>
                <a:cs typeface="Times New Roman" panose="02020603050405020304"/>
              </a:rPr>
              <a:t> </a:t>
            </a:r>
            <a:r>
              <a:rPr sz="2400" dirty="0">
                <a:latin typeface="Times New Roman" panose="02020603050405020304"/>
                <a:cs typeface="Times New Roman" panose="02020603050405020304"/>
              </a:rPr>
              <a:t>General</a:t>
            </a:r>
            <a:r>
              <a:rPr sz="2400" spc="-150"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AI.</a:t>
            </a:r>
            <a:endParaRPr sz="2400">
              <a:latin typeface="Times New Roman" panose="02020603050405020304"/>
              <a:cs typeface="Times New Roman" panose="02020603050405020304"/>
            </a:endParaRPr>
          </a:p>
          <a:p>
            <a:pPr marL="845820" marR="5715" indent="-342265" algn="just">
              <a:lnSpc>
                <a:spcPct val="100000"/>
              </a:lnSpc>
              <a:spcBef>
                <a:spcPts val="1200"/>
              </a:spcBef>
              <a:buFont typeface="Microsoft Sans Serif" panose="020B0604020202020204"/>
              <a:buChar char="•"/>
              <a:tabLst>
                <a:tab pos="847090" algn="l"/>
              </a:tabLst>
            </a:pPr>
            <a:r>
              <a:rPr sz="2400" dirty="0">
                <a:latin typeface="Times New Roman" panose="02020603050405020304"/>
                <a:cs typeface="Times New Roman" panose="02020603050405020304"/>
              </a:rPr>
              <a:t>As</a:t>
            </a:r>
            <a:r>
              <a:rPr sz="2400" spc="70" dirty="0">
                <a:latin typeface="Times New Roman" panose="02020603050405020304"/>
                <a:cs typeface="Times New Roman" panose="02020603050405020304"/>
              </a:rPr>
              <a:t> </a:t>
            </a:r>
            <a:r>
              <a:rPr sz="2400" dirty="0">
                <a:latin typeface="Times New Roman" panose="02020603050405020304"/>
                <a:cs typeface="Times New Roman" panose="02020603050405020304"/>
              </a:rPr>
              <a:t>systems</a:t>
            </a:r>
            <a:r>
              <a:rPr sz="2400" spc="75" dirty="0">
                <a:latin typeface="Times New Roman" panose="02020603050405020304"/>
                <a:cs typeface="Times New Roman" panose="02020603050405020304"/>
              </a:rPr>
              <a:t> </a:t>
            </a:r>
            <a:r>
              <a:rPr sz="2400" dirty="0">
                <a:latin typeface="Times New Roman" panose="02020603050405020304"/>
                <a:cs typeface="Times New Roman" panose="02020603050405020304"/>
              </a:rPr>
              <a:t>with</a:t>
            </a:r>
            <a:r>
              <a:rPr sz="2400" spc="80" dirty="0">
                <a:latin typeface="Times New Roman" panose="02020603050405020304"/>
                <a:cs typeface="Times New Roman" panose="02020603050405020304"/>
              </a:rPr>
              <a:t> </a:t>
            </a:r>
            <a:r>
              <a:rPr sz="2400" dirty="0">
                <a:latin typeface="Times New Roman" panose="02020603050405020304"/>
                <a:cs typeface="Times New Roman" panose="02020603050405020304"/>
              </a:rPr>
              <a:t>general</a:t>
            </a:r>
            <a:r>
              <a:rPr sz="2400" spc="65" dirty="0">
                <a:latin typeface="Times New Roman" panose="02020603050405020304"/>
                <a:cs typeface="Times New Roman" panose="02020603050405020304"/>
              </a:rPr>
              <a:t> </a:t>
            </a:r>
            <a:r>
              <a:rPr sz="2400" dirty="0">
                <a:latin typeface="Times New Roman" panose="02020603050405020304"/>
                <a:cs typeface="Times New Roman" panose="02020603050405020304"/>
              </a:rPr>
              <a:t>AI</a:t>
            </a:r>
            <a:r>
              <a:rPr sz="2400" spc="80" dirty="0">
                <a:latin typeface="Times New Roman" panose="02020603050405020304"/>
                <a:cs typeface="Times New Roman" panose="02020603050405020304"/>
              </a:rPr>
              <a:t> </a:t>
            </a:r>
            <a:r>
              <a:rPr sz="2400" dirty="0">
                <a:latin typeface="Times New Roman" panose="02020603050405020304"/>
                <a:cs typeface="Times New Roman" panose="02020603050405020304"/>
              </a:rPr>
              <a:t>are</a:t>
            </a:r>
            <a:r>
              <a:rPr sz="2400" spc="75" dirty="0">
                <a:latin typeface="Times New Roman" panose="02020603050405020304"/>
                <a:cs typeface="Times New Roman" panose="02020603050405020304"/>
              </a:rPr>
              <a:t> </a:t>
            </a:r>
            <a:r>
              <a:rPr sz="2400" dirty="0">
                <a:latin typeface="Times New Roman" panose="02020603050405020304"/>
                <a:cs typeface="Times New Roman" panose="02020603050405020304"/>
              </a:rPr>
              <a:t>still</a:t>
            </a:r>
            <a:r>
              <a:rPr sz="2400" spc="55" dirty="0">
                <a:latin typeface="Times New Roman" panose="02020603050405020304"/>
                <a:cs typeface="Times New Roman" panose="02020603050405020304"/>
              </a:rPr>
              <a:t> </a:t>
            </a:r>
            <a:r>
              <a:rPr sz="2400" dirty="0">
                <a:latin typeface="Times New Roman" panose="02020603050405020304"/>
                <a:cs typeface="Times New Roman" panose="02020603050405020304"/>
              </a:rPr>
              <a:t>under</a:t>
            </a:r>
            <a:r>
              <a:rPr sz="2400" spc="70" dirty="0">
                <a:latin typeface="Times New Roman" panose="02020603050405020304"/>
                <a:cs typeface="Times New Roman" panose="02020603050405020304"/>
              </a:rPr>
              <a:t> </a:t>
            </a:r>
            <a:r>
              <a:rPr sz="2400" dirty="0">
                <a:latin typeface="Times New Roman" panose="02020603050405020304"/>
                <a:cs typeface="Times New Roman" panose="02020603050405020304"/>
              </a:rPr>
              <a:t>research,</a:t>
            </a:r>
            <a:r>
              <a:rPr sz="2400" spc="75" dirty="0">
                <a:latin typeface="Times New Roman" panose="02020603050405020304"/>
                <a:cs typeface="Times New Roman" panose="02020603050405020304"/>
              </a:rPr>
              <a:t> </a:t>
            </a:r>
            <a:r>
              <a:rPr sz="2400" dirty="0">
                <a:latin typeface="Times New Roman" panose="02020603050405020304"/>
                <a:cs typeface="Times New Roman" panose="02020603050405020304"/>
              </a:rPr>
              <a:t>and</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it</a:t>
            </a:r>
            <a:r>
              <a:rPr sz="2400" spc="65" dirty="0">
                <a:latin typeface="Times New Roman" panose="02020603050405020304"/>
                <a:cs typeface="Times New Roman" panose="02020603050405020304"/>
              </a:rPr>
              <a:t> </a:t>
            </a:r>
            <a:r>
              <a:rPr sz="2400" spc="-20" dirty="0">
                <a:latin typeface="Times New Roman" panose="02020603050405020304"/>
                <a:cs typeface="Times New Roman" panose="02020603050405020304"/>
              </a:rPr>
              <a:t>will </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take</a:t>
            </a:r>
            <a:r>
              <a:rPr sz="2400" spc="-40" dirty="0">
                <a:latin typeface="Times New Roman" panose="02020603050405020304"/>
                <a:cs typeface="Times New Roman" panose="02020603050405020304"/>
              </a:rPr>
              <a:t> </a:t>
            </a:r>
            <a:r>
              <a:rPr sz="2400" dirty="0">
                <a:latin typeface="Times New Roman" panose="02020603050405020304"/>
                <a:cs typeface="Times New Roman" panose="02020603050405020304"/>
              </a:rPr>
              <a:t>lots</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of</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efforts and</a:t>
            </a:r>
            <a:r>
              <a:rPr sz="2400" spc="-30" dirty="0">
                <a:latin typeface="Times New Roman" panose="02020603050405020304"/>
                <a:cs typeface="Times New Roman" panose="02020603050405020304"/>
              </a:rPr>
              <a:t> </a:t>
            </a:r>
            <a:r>
              <a:rPr sz="2400" dirty="0">
                <a:latin typeface="Times New Roman" panose="02020603050405020304"/>
                <a:cs typeface="Times New Roman" panose="02020603050405020304"/>
              </a:rPr>
              <a:t>time</a:t>
            </a:r>
            <a:r>
              <a:rPr sz="2400" spc="-35" dirty="0">
                <a:latin typeface="Times New Roman" panose="02020603050405020304"/>
                <a:cs typeface="Times New Roman" panose="02020603050405020304"/>
              </a:rPr>
              <a:t> </a:t>
            </a:r>
            <a:r>
              <a:rPr sz="2400" dirty="0">
                <a:latin typeface="Times New Roman" panose="02020603050405020304"/>
                <a:cs typeface="Times New Roman" panose="02020603050405020304"/>
              </a:rPr>
              <a:t>to</a:t>
            </a:r>
            <a:r>
              <a:rPr sz="2400" spc="-20" dirty="0">
                <a:latin typeface="Times New Roman" panose="02020603050405020304"/>
                <a:cs typeface="Times New Roman" panose="02020603050405020304"/>
              </a:rPr>
              <a:t> </a:t>
            </a:r>
            <a:r>
              <a:rPr sz="2400" dirty="0">
                <a:latin typeface="Times New Roman" panose="02020603050405020304"/>
                <a:cs typeface="Times New Roman" panose="02020603050405020304"/>
              </a:rPr>
              <a:t>develop</a:t>
            </a:r>
            <a:r>
              <a:rPr sz="2400" spc="-50" dirty="0">
                <a:latin typeface="Times New Roman" panose="02020603050405020304"/>
                <a:cs typeface="Times New Roman" panose="02020603050405020304"/>
              </a:rPr>
              <a:t> </a:t>
            </a:r>
            <a:r>
              <a:rPr sz="2400" dirty="0">
                <a:latin typeface="Times New Roman" panose="02020603050405020304"/>
                <a:cs typeface="Times New Roman" panose="02020603050405020304"/>
              </a:rPr>
              <a:t>such</a:t>
            </a:r>
            <a:r>
              <a:rPr sz="2400" spc="-2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systems.</a:t>
            </a:r>
            <a:endParaRPr sz="2400">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grpSp>
        <p:nvGrpSpPr>
          <p:cNvPr id="8" name="Group 7"/>
          <p:cNvGrpSpPr/>
          <p:nvPr/>
        </p:nvGrpSpPr>
        <p:grpSpPr>
          <a:xfrm>
            <a:off x="194945" y="3501390"/>
            <a:ext cx="2093595" cy="1805305"/>
            <a:chOff x="9132" y="5169"/>
            <a:chExt cx="5048" cy="5048"/>
          </a:xfrm>
        </p:grpSpPr>
        <p:pic>
          <p:nvPicPr>
            <p:cNvPr id="7" name="object 4"/>
            <p:cNvPicPr/>
            <p:nvPr/>
          </p:nvPicPr>
          <p:blipFill>
            <a:blip r:embed="rId1" cstate="print"/>
            <a:stretch>
              <a:fillRect/>
            </a:stretch>
          </p:blipFill>
          <p:spPr>
            <a:xfrm>
              <a:off x="9132" y="5169"/>
              <a:ext cx="5048" cy="5048"/>
            </a:xfrm>
            <a:prstGeom prst="rect">
              <a:avLst/>
            </a:prstGeom>
          </p:spPr>
        </p:pic>
        <p:sp>
          <p:nvSpPr>
            <p:cNvPr id="9" name="object 5"/>
            <p:cNvSpPr txBox="1"/>
            <p:nvPr/>
          </p:nvSpPr>
          <p:spPr>
            <a:xfrm>
              <a:off x="10409" y="6871"/>
              <a:ext cx="572" cy="561"/>
            </a:xfrm>
            <a:prstGeom prst="rect">
              <a:avLst/>
            </a:prstGeom>
          </p:spPr>
          <p:txBody>
            <a:bodyPr vert="horz" wrap="square" lIns="0" tIns="16933" rIns="0" bIns="0" rtlCol="0">
              <a:spAutoFit/>
            </a:bodyPr>
            <a:p>
              <a:pPr marL="12700">
                <a:lnSpc>
                  <a:spcPct val="100000"/>
                </a:lnSpc>
                <a:spcBef>
                  <a:spcPts val="100"/>
                </a:spcBef>
              </a:pPr>
              <a:r>
                <a:rPr sz="1200" spc="-25" dirty="0">
                  <a:latin typeface="Calibri" panose="020F0502020204030204" charset="0"/>
                  <a:cs typeface="Calibri" panose="020F0502020204030204" charset="0"/>
                </a:rPr>
                <a:t>ML</a:t>
              </a:r>
              <a:endParaRPr sz="1200" spc="-25" dirty="0">
                <a:latin typeface="Calibri" panose="020F0502020204030204" charset="0"/>
                <a:cs typeface="Calibri" panose="020F0502020204030204" charset="0"/>
              </a:endParaRPr>
            </a:p>
          </p:txBody>
        </p:sp>
        <p:sp>
          <p:nvSpPr>
            <p:cNvPr id="10" name="object 6"/>
            <p:cNvSpPr txBox="1"/>
            <p:nvPr/>
          </p:nvSpPr>
          <p:spPr>
            <a:xfrm>
              <a:off x="9552" y="6629"/>
              <a:ext cx="407" cy="561"/>
            </a:xfrm>
            <a:prstGeom prst="rect">
              <a:avLst/>
            </a:prstGeom>
          </p:spPr>
          <p:txBody>
            <a:bodyPr vert="horz" wrap="square" lIns="0" tIns="16933" rIns="0" bIns="0" rtlCol="0">
              <a:spAutoFit/>
            </a:bodyPr>
            <a:p>
              <a:pPr marL="12700">
                <a:lnSpc>
                  <a:spcPct val="100000"/>
                </a:lnSpc>
                <a:spcBef>
                  <a:spcPts val="100"/>
                </a:spcBef>
              </a:pPr>
              <a:r>
                <a:rPr sz="1200" spc="-25" dirty="0">
                  <a:latin typeface="Calibri" panose="020F0502020204030204" charset="0"/>
                  <a:cs typeface="Calibri" panose="020F0502020204030204" charset="0"/>
                </a:rPr>
                <a:t>AI</a:t>
              </a:r>
              <a:endParaRPr sz="1200" spc="-25" dirty="0">
                <a:latin typeface="Calibri" panose="020F0502020204030204" charset="0"/>
                <a:cs typeface="Calibri" panose="020F0502020204030204" charset="0"/>
              </a:endParaRPr>
            </a:p>
          </p:txBody>
        </p:sp>
        <p:sp>
          <p:nvSpPr>
            <p:cNvPr id="11" name="object 7"/>
            <p:cNvSpPr txBox="1"/>
            <p:nvPr/>
          </p:nvSpPr>
          <p:spPr>
            <a:xfrm>
              <a:off x="11846" y="7048"/>
              <a:ext cx="1507" cy="1268"/>
            </a:xfrm>
            <a:prstGeom prst="rect">
              <a:avLst/>
            </a:prstGeom>
          </p:spPr>
          <p:txBody>
            <a:bodyPr vert="horz" wrap="square" lIns="0" tIns="30480" rIns="0" bIns="0" rtlCol="0">
              <a:spAutoFit/>
            </a:bodyPr>
            <a:p>
              <a:pPr marL="12700" marR="5080">
                <a:lnSpc>
                  <a:spcPts val="1650"/>
                </a:lnSpc>
                <a:spcBef>
                  <a:spcPts val="180"/>
                </a:spcBef>
              </a:pPr>
              <a:r>
                <a:rPr sz="1200" spc="-20" dirty="0">
                  <a:latin typeface="Calibri" panose="020F0502020204030204" charset="0"/>
                  <a:cs typeface="Calibri" panose="020F0502020204030204" charset="0"/>
                </a:rPr>
                <a:t>Deep </a:t>
              </a:r>
              <a:r>
                <a:rPr sz="1200" spc="-10" dirty="0">
                  <a:latin typeface="Calibri" panose="020F0502020204030204" charset="0"/>
                  <a:cs typeface="Calibri" panose="020F0502020204030204" charset="0"/>
                </a:rPr>
                <a:t>Learning</a:t>
              </a:r>
              <a:endParaRPr sz="1200">
                <a:latin typeface="Calibri" panose="020F0502020204030204" charset="0"/>
                <a:cs typeface="Calibri" panose="020F0502020204030204" charset="0"/>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ChatGPT</a:t>
            </a:r>
            <a:r>
              <a:rPr spc="-50" dirty="0"/>
              <a:t> </a:t>
            </a:r>
            <a:r>
              <a:rPr dirty="0"/>
              <a:t>and</a:t>
            </a:r>
            <a:r>
              <a:rPr spc="30" dirty="0"/>
              <a:t> </a:t>
            </a:r>
            <a:r>
              <a:rPr spc="-20" dirty="0"/>
              <a:t>LLMs</a:t>
            </a:r>
            <a:endParaRPr spc="-20" dirty="0"/>
          </a:p>
        </p:txBody>
      </p:sp>
      <p:sp>
        <p:nvSpPr>
          <p:cNvPr id="14" name="Content Placeholder 13"/>
          <p:cNvSpPr>
            <a:spLocks noGrp="1"/>
          </p:cNvSpPr>
          <p:nvPr>
            <p:ph idx="1"/>
          </p:nvPr>
        </p:nvSpPr>
        <p:spPr/>
        <p:txBody>
          <a:bodyPr/>
          <a:p>
            <a:pPr marL="12700" marR="24130">
              <a:lnSpc>
                <a:spcPct val="115000"/>
              </a:lnSpc>
              <a:spcBef>
                <a:spcPts val="100"/>
              </a:spcBef>
            </a:pPr>
            <a:r>
              <a:rPr dirty="0">
                <a:sym typeface="+mn-ea"/>
              </a:rPr>
              <a:t>ChatGPT</a:t>
            </a:r>
            <a:r>
              <a:rPr spc="-80" dirty="0">
                <a:sym typeface="+mn-ea"/>
              </a:rPr>
              <a:t> </a:t>
            </a:r>
            <a:r>
              <a:rPr dirty="0">
                <a:sym typeface="+mn-ea"/>
              </a:rPr>
              <a:t>is</a:t>
            </a:r>
            <a:r>
              <a:rPr spc="-40" dirty="0">
                <a:sym typeface="+mn-ea"/>
              </a:rPr>
              <a:t> </a:t>
            </a:r>
            <a:r>
              <a:rPr dirty="0">
                <a:sym typeface="+mn-ea"/>
              </a:rPr>
              <a:t>a</a:t>
            </a:r>
            <a:r>
              <a:rPr spc="-35" dirty="0">
                <a:sym typeface="+mn-ea"/>
              </a:rPr>
              <a:t> </a:t>
            </a:r>
            <a:r>
              <a:rPr dirty="0">
                <a:sym typeface="+mn-ea"/>
              </a:rPr>
              <a:t>Chat</a:t>
            </a:r>
            <a:r>
              <a:rPr spc="-35" dirty="0">
                <a:sym typeface="+mn-ea"/>
              </a:rPr>
              <a:t> </a:t>
            </a:r>
            <a:r>
              <a:rPr dirty="0">
                <a:sym typeface="+mn-ea"/>
              </a:rPr>
              <a:t>interface</a:t>
            </a:r>
            <a:r>
              <a:rPr spc="-35" dirty="0">
                <a:sym typeface="+mn-ea"/>
              </a:rPr>
              <a:t> </a:t>
            </a:r>
            <a:r>
              <a:rPr dirty="0">
                <a:sym typeface="+mn-ea"/>
              </a:rPr>
              <a:t>to</a:t>
            </a:r>
            <a:r>
              <a:rPr spc="-35" dirty="0">
                <a:sym typeface="+mn-ea"/>
              </a:rPr>
              <a:t> </a:t>
            </a:r>
            <a:r>
              <a:rPr dirty="0">
                <a:sym typeface="+mn-ea"/>
              </a:rPr>
              <a:t>a</a:t>
            </a:r>
            <a:r>
              <a:rPr spc="-35" dirty="0">
                <a:sym typeface="+mn-ea"/>
              </a:rPr>
              <a:t> </a:t>
            </a:r>
            <a:r>
              <a:rPr spc="-10" dirty="0">
                <a:sym typeface="+mn-ea"/>
              </a:rPr>
              <a:t>Generative</a:t>
            </a:r>
            <a:r>
              <a:rPr spc="-40" dirty="0">
                <a:sym typeface="+mn-ea"/>
              </a:rPr>
              <a:t> </a:t>
            </a:r>
            <a:r>
              <a:rPr spc="-45" dirty="0">
                <a:sym typeface="+mn-ea"/>
              </a:rPr>
              <a:t>Pre-</a:t>
            </a:r>
            <a:r>
              <a:rPr spc="-25" dirty="0">
                <a:sym typeface="+mn-ea"/>
              </a:rPr>
              <a:t>trained</a:t>
            </a:r>
            <a:r>
              <a:rPr spc="-75" dirty="0">
                <a:sym typeface="+mn-ea"/>
              </a:rPr>
              <a:t> </a:t>
            </a:r>
            <a:r>
              <a:rPr dirty="0">
                <a:sym typeface="+mn-ea"/>
              </a:rPr>
              <a:t>Transformer</a:t>
            </a:r>
            <a:r>
              <a:rPr spc="-35" dirty="0">
                <a:sym typeface="+mn-ea"/>
              </a:rPr>
              <a:t> </a:t>
            </a:r>
            <a:r>
              <a:rPr spc="-10" dirty="0">
                <a:sym typeface="+mn-ea"/>
              </a:rPr>
              <a:t>(GPT) </a:t>
            </a:r>
            <a:r>
              <a:rPr dirty="0">
                <a:sym typeface="+mn-ea"/>
              </a:rPr>
              <a:t>machine</a:t>
            </a:r>
            <a:r>
              <a:rPr spc="-45" dirty="0">
                <a:sym typeface="+mn-ea"/>
              </a:rPr>
              <a:t> </a:t>
            </a:r>
            <a:r>
              <a:rPr dirty="0">
                <a:sym typeface="+mn-ea"/>
              </a:rPr>
              <a:t>learning</a:t>
            </a:r>
            <a:r>
              <a:rPr spc="-40" dirty="0">
                <a:sym typeface="+mn-ea"/>
              </a:rPr>
              <a:t> </a:t>
            </a:r>
            <a:r>
              <a:rPr dirty="0">
                <a:sym typeface="+mn-ea"/>
              </a:rPr>
              <a:t>model.</a:t>
            </a:r>
            <a:r>
              <a:rPr spc="320" dirty="0">
                <a:sym typeface="+mn-ea"/>
              </a:rPr>
              <a:t> </a:t>
            </a:r>
            <a:r>
              <a:rPr spc="50" dirty="0">
                <a:sym typeface="+mn-ea"/>
              </a:rPr>
              <a:t>A</a:t>
            </a:r>
            <a:r>
              <a:rPr spc="-40" dirty="0">
                <a:sym typeface="+mn-ea"/>
              </a:rPr>
              <a:t> </a:t>
            </a:r>
            <a:r>
              <a:rPr spc="-10" dirty="0">
                <a:sym typeface="+mn-ea"/>
              </a:rPr>
              <a:t>generative</a:t>
            </a:r>
            <a:r>
              <a:rPr spc="-45" dirty="0">
                <a:sym typeface="+mn-ea"/>
              </a:rPr>
              <a:t> </a:t>
            </a:r>
            <a:r>
              <a:rPr dirty="0">
                <a:sym typeface="+mn-ea"/>
              </a:rPr>
              <a:t>model</a:t>
            </a:r>
            <a:r>
              <a:rPr spc="-40" dirty="0">
                <a:sym typeface="+mn-ea"/>
              </a:rPr>
              <a:t> </a:t>
            </a:r>
            <a:r>
              <a:rPr dirty="0">
                <a:sym typeface="+mn-ea"/>
              </a:rPr>
              <a:t>is</a:t>
            </a:r>
            <a:r>
              <a:rPr spc="-45" dirty="0">
                <a:sym typeface="+mn-ea"/>
              </a:rPr>
              <a:t> </a:t>
            </a:r>
            <a:r>
              <a:rPr dirty="0">
                <a:sym typeface="+mn-ea"/>
              </a:rPr>
              <a:t>one</a:t>
            </a:r>
            <a:r>
              <a:rPr spc="-40" dirty="0">
                <a:sym typeface="+mn-ea"/>
              </a:rPr>
              <a:t> </a:t>
            </a:r>
            <a:r>
              <a:rPr spc="-10" dirty="0">
                <a:sym typeface="+mn-ea"/>
              </a:rPr>
              <a:t>that</a:t>
            </a:r>
            <a:r>
              <a:rPr spc="-40" dirty="0">
                <a:sym typeface="+mn-ea"/>
              </a:rPr>
              <a:t> </a:t>
            </a:r>
            <a:r>
              <a:rPr spc="-10" dirty="0">
                <a:sym typeface="+mn-ea"/>
              </a:rPr>
              <a:t>generates believable</a:t>
            </a:r>
            <a:r>
              <a:rPr spc="-35" dirty="0">
                <a:sym typeface="+mn-ea"/>
              </a:rPr>
              <a:t> </a:t>
            </a:r>
            <a:r>
              <a:rPr dirty="0">
                <a:sym typeface="+mn-ea"/>
              </a:rPr>
              <a:t>text</a:t>
            </a:r>
            <a:r>
              <a:rPr spc="-30" dirty="0">
                <a:sym typeface="+mn-ea"/>
              </a:rPr>
              <a:t> </a:t>
            </a:r>
            <a:r>
              <a:rPr dirty="0">
                <a:sym typeface="+mn-ea"/>
              </a:rPr>
              <a:t>or</a:t>
            </a:r>
            <a:r>
              <a:rPr spc="-35" dirty="0">
                <a:sym typeface="+mn-ea"/>
              </a:rPr>
              <a:t> </a:t>
            </a:r>
            <a:r>
              <a:rPr spc="-10" dirty="0">
                <a:sym typeface="+mn-ea"/>
              </a:rPr>
              <a:t>images.</a:t>
            </a:r>
          </a:p>
          <a:p>
            <a:pPr marL="12700">
              <a:lnSpc>
                <a:spcPct val="100000"/>
              </a:lnSpc>
              <a:spcBef>
                <a:spcPts val="1485"/>
              </a:spcBef>
            </a:pPr>
            <a:r>
              <a:rPr dirty="0">
                <a:sym typeface="+mn-ea"/>
              </a:rPr>
              <a:t>GPT4</a:t>
            </a:r>
            <a:r>
              <a:rPr spc="-30" dirty="0">
                <a:sym typeface="+mn-ea"/>
              </a:rPr>
              <a:t> </a:t>
            </a:r>
            <a:r>
              <a:rPr dirty="0">
                <a:sym typeface="+mn-ea"/>
              </a:rPr>
              <a:t>is</a:t>
            </a:r>
            <a:r>
              <a:rPr spc="-30" dirty="0">
                <a:sym typeface="+mn-ea"/>
              </a:rPr>
              <a:t> </a:t>
            </a:r>
            <a:r>
              <a:rPr spc="-10" dirty="0">
                <a:sym typeface="+mn-ea"/>
              </a:rPr>
              <a:t>currently</a:t>
            </a:r>
            <a:r>
              <a:rPr spc="-25" dirty="0">
                <a:sym typeface="+mn-ea"/>
              </a:rPr>
              <a:t> </a:t>
            </a:r>
            <a:r>
              <a:rPr dirty="0">
                <a:sym typeface="+mn-ea"/>
              </a:rPr>
              <a:t>the</a:t>
            </a:r>
            <a:r>
              <a:rPr spc="-30" dirty="0">
                <a:sym typeface="+mn-ea"/>
              </a:rPr>
              <a:t> </a:t>
            </a:r>
            <a:r>
              <a:rPr spc="-55" dirty="0">
                <a:sym typeface="+mn-ea"/>
              </a:rPr>
              <a:t>state-of-</a:t>
            </a:r>
            <a:r>
              <a:rPr spc="-60" dirty="0">
                <a:sym typeface="+mn-ea"/>
              </a:rPr>
              <a:t>the-</a:t>
            </a:r>
            <a:r>
              <a:rPr dirty="0">
                <a:sym typeface="+mn-ea"/>
              </a:rPr>
              <a:t>art</a:t>
            </a:r>
            <a:r>
              <a:rPr spc="-25" dirty="0">
                <a:sym typeface="+mn-ea"/>
              </a:rPr>
              <a:t> </a:t>
            </a:r>
            <a:r>
              <a:rPr dirty="0">
                <a:sym typeface="+mn-ea"/>
              </a:rPr>
              <a:t>Large</a:t>
            </a:r>
            <a:r>
              <a:rPr spc="-30" dirty="0">
                <a:sym typeface="+mn-ea"/>
              </a:rPr>
              <a:t> </a:t>
            </a:r>
            <a:r>
              <a:rPr spc="-20" dirty="0">
                <a:sym typeface="+mn-ea"/>
              </a:rPr>
              <a:t>Language</a:t>
            </a:r>
            <a:r>
              <a:rPr spc="-25" dirty="0">
                <a:sym typeface="+mn-ea"/>
              </a:rPr>
              <a:t> </a:t>
            </a:r>
            <a:r>
              <a:rPr dirty="0">
                <a:sym typeface="+mn-ea"/>
              </a:rPr>
              <a:t>Model</a:t>
            </a:r>
            <a:r>
              <a:rPr spc="-30" dirty="0">
                <a:sym typeface="+mn-ea"/>
              </a:rPr>
              <a:t> </a:t>
            </a:r>
            <a:r>
              <a:rPr dirty="0">
                <a:sym typeface="+mn-ea"/>
              </a:rPr>
              <a:t>(LLM):</a:t>
            </a:r>
            <a:r>
              <a:rPr spc="350" dirty="0">
                <a:sym typeface="+mn-ea"/>
              </a:rPr>
              <a:t> </a:t>
            </a:r>
            <a:r>
              <a:rPr spc="-50" dirty="0">
                <a:sym typeface="+mn-ea"/>
              </a:rPr>
              <a:t>a</a:t>
            </a:r>
          </a:p>
          <a:p>
            <a:pPr marL="12700" marR="5080">
              <a:lnSpc>
                <a:spcPct val="115000"/>
              </a:lnSpc>
            </a:pPr>
            <a:r>
              <a:rPr spc="-35" dirty="0">
                <a:sym typeface="+mn-ea"/>
              </a:rPr>
              <a:t>text-</a:t>
            </a:r>
            <a:r>
              <a:rPr spc="-20" dirty="0">
                <a:sym typeface="+mn-ea"/>
              </a:rPr>
              <a:t>based</a:t>
            </a:r>
            <a:r>
              <a:rPr spc="-50" dirty="0">
                <a:sym typeface="+mn-ea"/>
              </a:rPr>
              <a:t> </a:t>
            </a:r>
            <a:r>
              <a:rPr dirty="0">
                <a:sym typeface="+mn-ea"/>
              </a:rPr>
              <a:t>machine</a:t>
            </a:r>
            <a:r>
              <a:rPr spc="-45" dirty="0">
                <a:sym typeface="+mn-ea"/>
              </a:rPr>
              <a:t> </a:t>
            </a:r>
            <a:r>
              <a:rPr dirty="0">
                <a:sym typeface="+mn-ea"/>
              </a:rPr>
              <a:t>learning</a:t>
            </a:r>
            <a:r>
              <a:rPr spc="-45" dirty="0">
                <a:sym typeface="+mn-ea"/>
              </a:rPr>
              <a:t> </a:t>
            </a:r>
            <a:r>
              <a:rPr dirty="0">
                <a:sym typeface="+mn-ea"/>
              </a:rPr>
              <a:t>model</a:t>
            </a:r>
            <a:r>
              <a:rPr spc="-45" dirty="0">
                <a:sym typeface="+mn-ea"/>
              </a:rPr>
              <a:t> </a:t>
            </a:r>
            <a:r>
              <a:rPr spc="-10" dirty="0">
                <a:sym typeface="+mn-ea"/>
              </a:rPr>
              <a:t>that</a:t>
            </a:r>
            <a:r>
              <a:rPr spc="-45" dirty="0">
                <a:sym typeface="+mn-ea"/>
              </a:rPr>
              <a:t> </a:t>
            </a:r>
            <a:r>
              <a:rPr dirty="0">
                <a:sym typeface="+mn-ea"/>
              </a:rPr>
              <a:t>is</a:t>
            </a:r>
            <a:r>
              <a:rPr spc="-45" dirty="0">
                <a:sym typeface="+mn-ea"/>
              </a:rPr>
              <a:t> </a:t>
            </a:r>
            <a:r>
              <a:rPr spc="-10" dirty="0">
                <a:sym typeface="+mn-ea"/>
              </a:rPr>
              <a:t>trained</a:t>
            </a:r>
            <a:r>
              <a:rPr spc="-45" dirty="0">
                <a:sym typeface="+mn-ea"/>
              </a:rPr>
              <a:t> </a:t>
            </a:r>
            <a:r>
              <a:rPr dirty="0">
                <a:sym typeface="+mn-ea"/>
              </a:rPr>
              <a:t>on</a:t>
            </a:r>
            <a:r>
              <a:rPr spc="-45" dirty="0">
                <a:sym typeface="+mn-ea"/>
              </a:rPr>
              <a:t> </a:t>
            </a:r>
            <a:r>
              <a:rPr dirty="0">
                <a:sym typeface="+mn-ea"/>
              </a:rPr>
              <a:t>huge</a:t>
            </a:r>
            <a:r>
              <a:rPr spc="-45" dirty="0">
                <a:sym typeface="+mn-ea"/>
              </a:rPr>
              <a:t> </a:t>
            </a:r>
            <a:r>
              <a:rPr spc="-20" dirty="0">
                <a:sym typeface="+mn-ea"/>
              </a:rPr>
              <a:t>amounts</a:t>
            </a:r>
            <a:r>
              <a:rPr spc="-45" dirty="0">
                <a:sym typeface="+mn-ea"/>
              </a:rPr>
              <a:t> </a:t>
            </a:r>
            <a:r>
              <a:rPr dirty="0">
                <a:sym typeface="+mn-ea"/>
              </a:rPr>
              <a:t>of</a:t>
            </a:r>
            <a:r>
              <a:rPr spc="-45" dirty="0">
                <a:sym typeface="+mn-ea"/>
              </a:rPr>
              <a:t> </a:t>
            </a:r>
            <a:r>
              <a:rPr spc="-20" dirty="0">
                <a:sym typeface="+mn-ea"/>
              </a:rPr>
              <a:t>text </a:t>
            </a:r>
            <a:r>
              <a:rPr dirty="0">
                <a:sym typeface="+mn-ea"/>
              </a:rPr>
              <a:t>to</a:t>
            </a:r>
            <a:r>
              <a:rPr spc="-35" dirty="0">
                <a:sym typeface="+mn-ea"/>
              </a:rPr>
              <a:t> </a:t>
            </a:r>
            <a:r>
              <a:rPr spc="-40" dirty="0">
                <a:sym typeface="+mn-ea"/>
              </a:rPr>
              <a:t>"learn"</a:t>
            </a:r>
            <a:r>
              <a:rPr spc="-35" dirty="0">
                <a:sym typeface="+mn-ea"/>
              </a:rPr>
              <a:t> </a:t>
            </a:r>
            <a:r>
              <a:rPr spc="-20" dirty="0">
                <a:sym typeface="+mn-ea"/>
              </a:rPr>
              <a:t>relationships</a:t>
            </a:r>
            <a:r>
              <a:rPr spc="-30" dirty="0">
                <a:sym typeface="+mn-ea"/>
              </a:rPr>
              <a:t> </a:t>
            </a:r>
            <a:r>
              <a:rPr dirty="0">
                <a:sym typeface="+mn-ea"/>
              </a:rPr>
              <a:t>between</a:t>
            </a:r>
            <a:r>
              <a:rPr spc="-35" dirty="0">
                <a:sym typeface="+mn-ea"/>
              </a:rPr>
              <a:t> </a:t>
            </a:r>
            <a:r>
              <a:rPr spc="-10" dirty="0">
                <a:sym typeface="+mn-ea"/>
              </a:rPr>
              <a:t>words.</a:t>
            </a:r>
          </a:p>
          <a:p>
            <a:pPr>
              <a:lnSpc>
                <a:spcPct val="100000"/>
              </a:lnSpc>
              <a:spcBef>
                <a:spcPts val="1870"/>
              </a:spcBef>
            </a:pPr>
          </a:p>
          <a:p>
            <a:pPr marR="275590" algn="r">
              <a:lnSpc>
                <a:spcPct val="100000"/>
              </a:lnSpc>
              <a:spcBef>
                <a:spcPts val="5"/>
              </a:spcBef>
            </a:pPr>
            <a:r>
              <a:rPr spc="-10" dirty="0">
                <a:sym typeface="+mn-ea"/>
              </a:rPr>
              <a:t>knowledge</a:t>
            </a:r>
          </a:p>
          <a:p>
            <a:endParaRPr lang="en-US"/>
          </a:p>
        </p:txBody>
      </p:sp>
      <p:sp>
        <p:nvSpPr>
          <p:cNvPr id="3" name="object 3"/>
          <p:cNvSpPr txBox="1"/>
          <p:nvPr/>
        </p:nvSpPr>
        <p:spPr>
          <a:xfrm>
            <a:off x="287300" y="4727063"/>
            <a:ext cx="7349067" cy="674370"/>
          </a:xfrm>
          <a:prstGeom prst="rect">
            <a:avLst/>
          </a:prstGeom>
        </p:spPr>
        <p:txBody>
          <a:bodyPr vert="horz" wrap="square" lIns="0" tIns="16933" rIns="0" bIns="0" rtlCol="0">
            <a:spAutoFit/>
          </a:bodyPr>
          <a:lstStyle/>
          <a:p>
            <a:pPr marL="12700" marR="5080">
              <a:lnSpc>
                <a:spcPct val="100000"/>
              </a:lnSpc>
              <a:spcBef>
                <a:spcPts val="100"/>
              </a:spcBef>
              <a:tabLst>
                <a:tab pos="4815840" algn="l"/>
              </a:tabLst>
            </a:pPr>
            <a:r>
              <a:rPr sz="2135" b="1" dirty="0">
                <a:latin typeface="Courier New" panose="02070309020205020404"/>
                <a:cs typeface="Courier New" panose="02070309020205020404"/>
              </a:rPr>
              <a:t>The</a:t>
            </a:r>
            <a:r>
              <a:rPr sz="2135" b="1" spc="-95" dirty="0">
                <a:latin typeface="Courier New" panose="02070309020205020404"/>
                <a:cs typeface="Courier New" panose="02070309020205020404"/>
              </a:rPr>
              <a:t> </a:t>
            </a:r>
            <a:r>
              <a:rPr sz="2135" b="1" dirty="0">
                <a:latin typeface="Courier New" panose="02070309020205020404"/>
                <a:cs typeface="Courier New" panose="02070309020205020404"/>
              </a:rPr>
              <a:t>mission</a:t>
            </a:r>
            <a:r>
              <a:rPr sz="2135" b="1" spc="-90" dirty="0">
                <a:latin typeface="Courier New" panose="02070309020205020404"/>
                <a:cs typeface="Courier New" panose="02070309020205020404"/>
              </a:rPr>
              <a:t> </a:t>
            </a:r>
            <a:r>
              <a:rPr sz="2135" b="1" dirty="0">
                <a:latin typeface="Courier New" panose="02070309020205020404"/>
                <a:cs typeface="Courier New" panose="02070309020205020404"/>
              </a:rPr>
              <a:t>of</a:t>
            </a:r>
            <a:r>
              <a:rPr sz="2135" b="1" spc="-90" dirty="0">
                <a:latin typeface="Courier New" panose="02070309020205020404"/>
                <a:cs typeface="Courier New" panose="02070309020205020404"/>
              </a:rPr>
              <a:t> </a:t>
            </a:r>
            <a:r>
              <a:rPr sz="2135" b="1" dirty="0">
                <a:latin typeface="Courier New" panose="02070309020205020404"/>
                <a:cs typeface="Courier New" panose="02070309020205020404"/>
              </a:rPr>
              <a:t>the</a:t>
            </a:r>
            <a:r>
              <a:rPr sz="2135" b="1" spc="-90" dirty="0">
                <a:latin typeface="Courier New" panose="02070309020205020404"/>
                <a:cs typeface="Courier New" panose="02070309020205020404"/>
              </a:rPr>
              <a:t> </a:t>
            </a:r>
            <a:r>
              <a:rPr sz="2135" b="1" dirty="0">
                <a:latin typeface="Courier New" panose="02070309020205020404"/>
                <a:cs typeface="Courier New" panose="02070309020205020404"/>
              </a:rPr>
              <a:t>Smithsonian</a:t>
            </a:r>
            <a:r>
              <a:rPr sz="2135" b="1" spc="-90" dirty="0">
                <a:latin typeface="Courier New" panose="02070309020205020404"/>
                <a:cs typeface="Courier New" panose="02070309020205020404"/>
              </a:rPr>
              <a:t> </a:t>
            </a:r>
            <a:r>
              <a:rPr sz="2135" b="1" dirty="0">
                <a:latin typeface="Courier New" panose="02070309020205020404"/>
                <a:cs typeface="Courier New" panose="02070309020205020404"/>
              </a:rPr>
              <a:t>Institution</a:t>
            </a:r>
            <a:r>
              <a:rPr sz="2135" b="1" spc="-90" dirty="0">
                <a:latin typeface="Courier New" panose="02070309020205020404"/>
                <a:cs typeface="Courier New" panose="02070309020205020404"/>
              </a:rPr>
              <a:t> </a:t>
            </a:r>
            <a:r>
              <a:rPr sz="2135" b="1" spc="-25" dirty="0">
                <a:latin typeface="Courier New" panose="02070309020205020404"/>
                <a:cs typeface="Courier New" panose="02070309020205020404"/>
              </a:rPr>
              <a:t>is </a:t>
            </a:r>
            <a:r>
              <a:rPr sz="2135" b="1" dirty="0">
                <a:latin typeface="Courier New" panose="02070309020205020404"/>
                <a:cs typeface="Courier New" panose="02070309020205020404"/>
              </a:rPr>
              <a:t>the increase and diffusion of </a:t>
            </a:r>
            <a:r>
              <a:rPr sz="2135" u="heavy" dirty="0">
                <a:uFill>
                  <a:solidFill>
                    <a:srgbClr val="000000"/>
                  </a:solidFill>
                </a:uFill>
                <a:latin typeface="Times New Roman" panose="02020603050405020304"/>
                <a:cs typeface="Times New Roman" panose="02020603050405020304"/>
              </a:rPr>
              <a:t>	</a:t>
            </a:r>
            <a:endParaRPr sz="2135">
              <a:latin typeface="Times New Roman" panose="02020603050405020304"/>
              <a:cs typeface="Times New Roman" panose="02020603050405020304"/>
            </a:endParaRPr>
          </a:p>
        </p:txBody>
      </p:sp>
      <p:grpSp>
        <p:nvGrpSpPr>
          <p:cNvPr id="5" name="object 5"/>
          <p:cNvGrpSpPr/>
          <p:nvPr/>
        </p:nvGrpSpPr>
        <p:grpSpPr>
          <a:xfrm>
            <a:off x="10122367" y="4222833"/>
            <a:ext cx="1244600" cy="2405380"/>
            <a:chOff x="7591775" y="3167125"/>
            <a:chExt cx="933450" cy="1804035"/>
          </a:xfrm>
        </p:grpSpPr>
        <p:pic>
          <p:nvPicPr>
            <p:cNvPr id="6" name="object 6"/>
            <p:cNvPicPr/>
            <p:nvPr/>
          </p:nvPicPr>
          <p:blipFill>
            <a:blip r:embed="rId1" cstate="print"/>
            <a:stretch>
              <a:fillRect/>
            </a:stretch>
          </p:blipFill>
          <p:spPr>
            <a:xfrm>
              <a:off x="7847750" y="3167125"/>
              <a:ext cx="677099" cy="677099"/>
            </a:xfrm>
            <a:prstGeom prst="rect">
              <a:avLst/>
            </a:prstGeom>
          </p:spPr>
        </p:pic>
        <p:pic>
          <p:nvPicPr>
            <p:cNvPr id="7" name="object 7"/>
            <p:cNvPicPr/>
            <p:nvPr/>
          </p:nvPicPr>
          <p:blipFill>
            <a:blip r:embed="rId2" cstate="print"/>
            <a:stretch>
              <a:fillRect/>
            </a:stretch>
          </p:blipFill>
          <p:spPr>
            <a:xfrm>
              <a:off x="7591775" y="3412578"/>
              <a:ext cx="221258" cy="208243"/>
            </a:xfrm>
            <a:prstGeom prst="rect">
              <a:avLst/>
            </a:prstGeom>
          </p:spPr>
        </p:pic>
        <p:pic>
          <p:nvPicPr>
            <p:cNvPr id="8" name="object 8"/>
            <p:cNvPicPr/>
            <p:nvPr/>
          </p:nvPicPr>
          <p:blipFill>
            <a:blip r:embed="rId3" cstate="print"/>
            <a:stretch>
              <a:fillRect/>
            </a:stretch>
          </p:blipFill>
          <p:spPr>
            <a:xfrm>
              <a:off x="7591775" y="4518479"/>
              <a:ext cx="221258" cy="208243"/>
            </a:xfrm>
            <a:prstGeom prst="rect">
              <a:avLst/>
            </a:prstGeom>
          </p:spPr>
        </p:pic>
        <p:pic>
          <p:nvPicPr>
            <p:cNvPr id="9" name="object 9"/>
            <p:cNvPicPr/>
            <p:nvPr/>
          </p:nvPicPr>
          <p:blipFill>
            <a:blip r:embed="rId4" cstate="print"/>
            <a:stretch>
              <a:fillRect/>
            </a:stretch>
          </p:blipFill>
          <p:spPr>
            <a:xfrm>
              <a:off x="7847751" y="4293475"/>
              <a:ext cx="677098" cy="677099"/>
            </a:xfrm>
            <a:prstGeom prst="rect">
              <a:avLst/>
            </a:prstGeom>
          </p:spPr>
        </p:pic>
        <p:pic>
          <p:nvPicPr>
            <p:cNvPr id="10" name="object 10"/>
            <p:cNvPicPr/>
            <p:nvPr/>
          </p:nvPicPr>
          <p:blipFill>
            <a:blip r:embed="rId3" cstate="print"/>
            <a:stretch>
              <a:fillRect/>
            </a:stretch>
          </p:blipFill>
          <p:spPr>
            <a:xfrm>
              <a:off x="7591775" y="3925528"/>
              <a:ext cx="221258" cy="208243"/>
            </a:xfrm>
            <a:prstGeom prst="rect">
              <a:avLst/>
            </a:prstGeom>
          </p:spPr>
        </p:pic>
        <p:pic>
          <p:nvPicPr>
            <p:cNvPr id="11" name="object 11"/>
            <p:cNvPicPr/>
            <p:nvPr/>
          </p:nvPicPr>
          <p:blipFill>
            <a:blip r:embed="rId4" cstate="print"/>
            <a:stretch>
              <a:fillRect/>
            </a:stretch>
          </p:blipFill>
          <p:spPr>
            <a:xfrm>
              <a:off x="7847751" y="3776725"/>
              <a:ext cx="677098" cy="677099"/>
            </a:xfrm>
            <a:prstGeom prst="rect">
              <a:avLst/>
            </a:prstGeom>
          </p:spPr>
        </p:pic>
      </p:grpSp>
      <p:sp>
        <p:nvSpPr>
          <p:cNvPr id="12" name="object 12"/>
          <p:cNvSpPr txBox="1"/>
          <p:nvPr/>
        </p:nvSpPr>
        <p:spPr>
          <a:xfrm>
            <a:off x="8263333" y="5886495"/>
            <a:ext cx="846667" cy="345440"/>
          </a:xfrm>
          <a:prstGeom prst="rect">
            <a:avLst/>
          </a:prstGeom>
        </p:spPr>
        <p:txBody>
          <a:bodyPr vert="horz" wrap="square" lIns="0" tIns="16933" rIns="0" bIns="0" rtlCol="0">
            <a:spAutoFit/>
          </a:bodyPr>
          <a:lstStyle/>
          <a:p>
            <a:pPr marL="12700">
              <a:lnSpc>
                <a:spcPct val="100000"/>
              </a:lnSpc>
              <a:spcBef>
                <a:spcPts val="100"/>
              </a:spcBef>
            </a:pPr>
            <a:r>
              <a:rPr sz="2135" spc="-10" dirty="0">
                <a:latin typeface="Courier New" panose="02070309020205020404"/>
                <a:cs typeface="Courier New" panose="02070309020205020404"/>
              </a:rPr>
              <a:t>pizza</a:t>
            </a:r>
            <a:endParaRPr sz="2135">
              <a:latin typeface="Courier New" panose="02070309020205020404"/>
              <a:cs typeface="Courier New" panose="02070309020205020404"/>
            </a:endParaRPr>
          </a:p>
        </p:txBody>
      </p:sp>
      <p:sp>
        <p:nvSpPr>
          <p:cNvPr id="13" name="object 13"/>
          <p:cNvSpPr txBox="1"/>
          <p:nvPr/>
        </p:nvSpPr>
        <p:spPr>
          <a:xfrm>
            <a:off x="8263333" y="5108829"/>
            <a:ext cx="846667" cy="345440"/>
          </a:xfrm>
          <a:prstGeom prst="rect">
            <a:avLst/>
          </a:prstGeom>
        </p:spPr>
        <p:txBody>
          <a:bodyPr vert="horz" wrap="square" lIns="0" tIns="16933" rIns="0" bIns="0" rtlCol="0">
            <a:spAutoFit/>
          </a:bodyPr>
          <a:lstStyle/>
          <a:p>
            <a:pPr marL="12700">
              <a:lnSpc>
                <a:spcPct val="100000"/>
              </a:lnSpc>
              <a:spcBef>
                <a:spcPts val="100"/>
              </a:spcBef>
            </a:pPr>
            <a:r>
              <a:rPr sz="2135" spc="-10" dirty="0">
                <a:latin typeface="Courier New" panose="02070309020205020404"/>
                <a:cs typeface="Courier New" panose="02070309020205020404"/>
              </a:rPr>
              <a:t>power</a:t>
            </a:r>
            <a:endParaRPr sz="2135">
              <a:latin typeface="Courier New" panose="02070309020205020404"/>
              <a:cs typeface="Courier New" panose="02070309020205020404"/>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LLMs:</a:t>
            </a:r>
            <a:r>
              <a:rPr spc="-10" dirty="0"/>
              <a:t> </a:t>
            </a:r>
            <a:r>
              <a:rPr dirty="0"/>
              <a:t>Emerging</a:t>
            </a:r>
            <a:r>
              <a:rPr spc="-10" dirty="0"/>
              <a:t> properties</a:t>
            </a:r>
            <a:endParaRPr spc="-10" dirty="0"/>
          </a:p>
        </p:txBody>
      </p:sp>
      <p:sp>
        <p:nvSpPr>
          <p:cNvPr id="3" name="object 3"/>
          <p:cNvSpPr txBox="1"/>
          <p:nvPr/>
        </p:nvSpPr>
        <p:spPr>
          <a:xfrm>
            <a:off x="1757467" y="1394727"/>
            <a:ext cx="8552180" cy="1292225"/>
          </a:xfrm>
          <a:prstGeom prst="rect">
            <a:avLst/>
          </a:prstGeom>
        </p:spPr>
        <p:txBody>
          <a:bodyPr vert="horz" wrap="square" lIns="0" tIns="16933" rIns="0" bIns="0" rtlCol="0">
            <a:spAutoFit/>
          </a:bodyPr>
          <a:lstStyle/>
          <a:p>
            <a:pPr marL="12700" marR="5080">
              <a:lnSpc>
                <a:spcPct val="115000"/>
              </a:lnSpc>
              <a:spcBef>
                <a:spcPts val="100"/>
              </a:spcBef>
            </a:pPr>
            <a:r>
              <a:rPr sz="2135" dirty="0">
                <a:latin typeface="Calibri" panose="020F0502020204030204" charset="0"/>
                <a:cs typeface="Calibri" panose="020F0502020204030204" charset="0"/>
              </a:rPr>
              <a:t>As</a:t>
            </a:r>
            <a:r>
              <a:rPr sz="2135" spc="-3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the</a:t>
            </a:r>
            <a:r>
              <a:rPr sz="2135" spc="-30"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scale</a:t>
            </a:r>
            <a:r>
              <a:rPr sz="2135" spc="-3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of</a:t>
            </a:r>
            <a:r>
              <a:rPr sz="2135" spc="-30"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the</a:t>
            </a:r>
            <a:r>
              <a:rPr sz="2135" spc="-30"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model</a:t>
            </a:r>
            <a:r>
              <a:rPr sz="2135" spc="-35" dirty="0">
                <a:latin typeface="Calibri" panose="020F0502020204030204" charset="0"/>
                <a:cs typeface="Calibri" panose="020F0502020204030204" charset="0"/>
              </a:rPr>
              <a:t> </a:t>
            </a:r>
            <a:r>
              <a:rPr sz="2135" spc="-10" dirty="0">
                <a:latin typeface="Calibri" panose="020F0502020204030204" charset="0"/>
                <a:cs typeface="Calibri" panose="020F0502020204030204" charset="0"/>
              </a:rPr>
              <a:t>increases,</a:t>
            </a:r>
            <a:r>
              <a:rPr sz="2135" spc="-30"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the</a:t>
            </a:r>
            <a:r>
              <a:rPr sz="2135" spc="-3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performance</a:t>
            </a:r>
            <a:r>
              <a:rPr sz="2135" spc="-30" dirty="0">
                <a:latin typeface="Calibri" panose="020F0502020204030204" charset="0"/>
                <a:cs typeface="Calibri" panose="020F0502020204030204" charset="0"/>
              </a:rPr>
              <a:t> </a:t>
            </a:r>
            <a:r>
              <a:rPr sz="2135" spc="-10" dirty="0">
                <a:latin typeface="Calibri" panose="020F0502020204030204" charset="0"/>
                <a:cs typeface="Calibri" panose="020F0502020204030204" charset="0"/>
              </a:rPr>
              <a:t>improves</a:t>
            </a:r>
            <a:r>
              <a:rPr sz="2135" spc="-30" dirty="0">
                <a:latin typeface="Calibri" panose="020F0502020204030204" charset="0"/>
                <a:cs typeface="Calibri" panose="020F0502020204030204" charset="0"/>
              </a:rPr>
              <a:t> </a:t>
            </a:r>
            <a:r>
              <a:rPr sz="2135" spc="-10" dirty="0">
                <a:latin typeface="Calibri" panose="020F0502020204030204" charset="0"/>
                <a:cs typeface="Calibri" panose="020F0502020204030204" charset="0"/>
              </a:rPr>
              <a:t>across tasks</a:t>
            </a:r>
            <a:r>
              <a:rPr sz="2135" spc="-4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while</a:t>
            </a:r>
            <a:r>
              <a:rPr sz="2135" spc="-4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also</a:t>
            </a:r>
            <a:r>
              <a:rPr sz="2135" spc="-45" dirty="0">
                <a:latin typeface="Calibri" panose="020F0502020204030204" charset="0"/>
                <a:cs typeface="Calibri" panose="020F0502020204030204" charset="0"/>
              </a:rPr>
              <a:t> </a:t>
            </a:r>
            <a:r>
              <a:rPr sz="2135" spc="-20" dirty="0">
                <a:latin typeface="Calibri" panose="020F0502020204030204" charset="0"/>
                <a:cs typeface="Calibri" panose="020F0502020204030204" charset="0"/>
              </a:rPr>
              <a:t>unlocking</a:t>
            </a:r>
            <a:r>
              <a:rPr sz="2135" spc="-40"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new</a:t>
            </a:r>
            <a:r>
              <a:rPr sz="2135" spc="-45" dirty="0">
                <a:latin typeface="Calibri" panose="020F0502020204030204" charset="0"/>
                <a:cs typeface="Calibri" panose="020F0502020204030204" charset="0"/>
              </a:rPr>
              <a:t> </a:t>
            </a:r>
            <a:r>
              <a:rPr sz="2135" spc="-10" dirty="0">
                <a:latin typeface="Calibri" panose="020F0502020204030204" charset="0"/>
                <a:cs typeface="Calibri" panose="020F0502020204030204" charset="0"/>
              </a:rPr>
              <a:t>capabilities.</a:t>
            </a:r>
            <a:endParaRPr sz="2135">
              <a:latin typeface="Calibri" panose="020F0502020204030204" charset="0"/>
              <a:cs typeface="Calibri" panose="020F0502020204030204" charset="0"/>
            </a:endParaRPr>
          </a:p>
          <a:p>
            <a:pPr marL="12700">
              <a:lnSpc>
                <a:spcPct val="100000"/>
              </a:lnSpc>
              <a:spcBef>
                <a:spcPts val="1485"/>
              </a:spcBef>
            </a:pPr>
            <a:r>
              <a:rPr sz="2135" dirty="0">
                <a:latin typeface="Calibri" panose="020F0502020204030204" charset="0"/>
                <a:cs typeface="Calibri" panose="020F0502020204030204" charset="0"/>
              </a:rPr>
              <a:t>But</a:t>
            </a:r>
            <a:r>
              <a:rPr sz="2135" spc="-60"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many</a:t>
            </a:r>
            <a:r>
              <a:rPr sz="2135" spc="-5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of</a:t>
            </a:r>
            <a:r>
              <a:rPr sz="2135" spc="-5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these</a:t>
            </a:r>
            <a:r>
              <a:rPr sz="2135" spc="-55" dirty="0">
                <a:latin typeface="Calibri" panose="020F0502020204030204" charset="0"/>
                <a:cs typeface="Calibri" panose="020F0502020204030204" charset="0"/>
              </a:rPr>
              <a:t> </a:t>
            </a:r>
            <a:r>
              <a:rPr sz="2135" spc="-10" dirty="0">
                <a:latin typeface="Calibri" panose="020F0502020204030204" charset="0"/>
                <a:cs typeface="Calibri" panose="020F0502020204030204" charset="0"/>
              </a:rPr>
              <a:t>tasks</a:t>
            </a:r>
            <a:r>
              <a:rPr sz="2135" spc="-5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are</a:t>
            </a:r>
            <a:r>
              <a:rPr sz="2135" spc="-55" dirty="0">
                <a:latin typeface="Calibri" panose="020F0502020204030204" charset="0"/>
                <a:cs typeface="Calibri" panose="020F0502020204030204" charset="0"/>
              </a:rPr>
              <a:t> </a:t>
            </a:r>
            <a:r>
              <a:rPr sz="2135" spc="-10" dirty="0">
                <a:latin typeface="Calibri" panose="020F0502020204030204" charset="0"/>
                <a:cs typeface="Calibri" panose="020F0502020204030204" charset="0"/>
              </a:rPr>
              <a:t>actually</a:t>
            </a:r>
            <a:r>
              <a:rPr sz="2135" spc="-5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ones</a:t>
            </a:r>
            <a:r>
              <a:rPr sz="2135" spc="-5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we</a:t>
            </a:r>
            <a:r>
              <a:rPr sz="2135" spc="-5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covered</a:t>
            </a:r>
            <a:r>
              <a:rPr sz="2135" spc="-5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in</a:t>
            </a:r>
            <a:r>
              <a:rPr sz="2135" spc="-55" dirty="0">
                <a:latin typeface="Calibri" panose="020F0502020204030204" charset="0"/>
                <a:cs typeface="Calibri" panose="020F0502020204030204" charset="0"/>
              </a:rPr>
              <a:t> </a:t>
            </a:r>
            <a:r>
              <a:rPr sz="2135" dirty="0">
                <a:latin typeface="Calibri" panose="020F0502020204030204" charset="0"/>
                <a:cs typeface="Calibri" panose="020F0502020204030204" charset="0"/>
              </a:rPr>
              <a:t>NLP</a:t>
            </a:r>
            <a:r>
              <a:rPr sz="2135" spc="-55" dirty="0">
                <a:latin typeface="Calibri" panose="020F0502020204030204" charset="0"/>
                <a:cs typeface="Calibri" panose="020F0502020204030204" charset="0"/>
              </a:rPr>
              <a:t> </a:t>
            </a:r>
            <a:r>
              <a:rPr sz="2135" spc="-10" dirty="0">
                <a:latin typeface="Calibri" panose="020F0502020204030204" charset="0"/>
                <a:cs typeface="Calibri" panose="020F0502020204030204" charset="0"/>
              </a:rPr>
              <a:t>tasks.</a:t>
            </a:r>
            <a:endParaRPr sz="2135">
              <a:latin typeface="Calibri" panose="020F0502020204030204" charset="0"/>
              <a:cs typeface="Calibri" panose="020F0502020204030204" charset="0"/>
            </a:endParaRPr>
          </a:p>
        </p:txBody>
      </p:sp>
      <p:pic>
        <p:nvPicPr>
          <p:cNvPr id="4" name="object 4"/>
          <p:cNvPicPr/>
          <p:nvPr/>
        </p:nvPicPr>
        <p:blipFill>
          <a:blip r:embed="rId1" cstate="print"/>
          <a:stretch>
            <a:fillRect/>
          </a:stretch>
        </p:blipFill>
        <p:spPr>
          <a:xfrm>
            <a:off x="1297824" y="3124200"/>
            <a:ext cx="9042741" cy="3294965"/>
          </a:xfrm>
          <a:prstGeom prst="rect">
            <a:avLst/>
          </a:prstGeom>
        </p:spPr>
      </p:pic>
      <p:sp>
        <p:nvSpPr>
          <p:cNvPr id="5" name="object 5"/>
          <p:cNvSpPr txBox="1"/>
          <p:nvPr/>
        </p:nvSpPr>
        <p:spPr>
          <a:xfrm>
            <a:off x="1593744" y="6508405"/>
            <a:ext cx="8452273" cy="262255"/>
          </a:xfrm>
          <a:prstGeom prst="rect">
            <a:avLst/>
          </a:prstGeom>
        </p:spPr>
        <p:txBody>
          <a:bodyPr vert="horz" wrap="square" lIns="0" tIns="16933" rIns="0" bIns="0" rtlCol="0">
            <a:spAutoFit/>
          </a:bodyPr>
          <a:lstStyle/>
          <a:p>
            <a:pPr marL="12700">
              <a:lnSpc>
                <a:spcPct val="100000"/>
              </a:lnSpc>
              <a:spcBef>
                <a:spcPts val="100"/>
              </a:spcBef>
            </a:pPr>
            <a:r>
              <a:rPr sz="1600" spc="-45" dirty="0">
                <a:latin typeface="Tahoma" panose="020B0604030504040204"/>
                <a:cs typeface="Tahoma" panose="020B0604030504040204"/>
              </a:rPr>
              <a:t>Taken</a:t>
            </a:r>
            <a:r>
              <a:rPr sz="1600" spc="185" dirty="0">
                <a:latin typeface="Tahoma" panose="020B0604030504040204"/>
                <a:cs typeface="Tahoma" panose="020B0604030504040204"/>
              </a:rPr>
              <a:t> </a:t>
            </a:r>
            <a:r>
              <a:rPr sz="1600" dirty="0">
                <a:latin typeface="Tahoma" panose="020B0604030504040204"/>
                <a:cs typeface="Tahoma" panose="020B0604030504040204"/>
              </a:rPr>
              <a:t>from</a:t>
            </a:r>
            <a:r>
              <a:rPr sz="1600" spc="190" dirty="0">
                <a:latin typeface="Tahoma" panose="020B0604030504040204"/>
                <a:cs typeface="Tahoma" panose="020B0604030504040204"/>
              </a:rPr>
              <a:t> </a:t>
            </a:r>
            <a:r>
              <a:rPr sz="1600" u="heavy" spc="-20" dirty="0">
                <a:solidFill>
                  <a:srgbClr val="7890CD"/>
                </a:solidFill>
                <a:uFill>
                  <a:solidFill>
                    <a:srgbClr val="7890CD"/>
                  </a:solidFill>
                </a:uFill>
                <a:latin typeface="Tahoma" panose="020B0604030504040204"/>
                <a:cs typeface="Tahoma" panose="020B0604030504040204"/>
                <a:hlinkClick r:id="rId2"/>
              </a:rPr>
              <a:t>https://ai.googleblog.com/2022/04/pathways-language-model-palm-scaling-</a:t>
            </a:r>
            <a:r>
              <a:rPr sz="1600" u="heavy" spc="-10" dirty="0">
                <a:solidFill>
                  <a:srgbClr val="7890CD"/>
                </a:solidFill>
                <a:uFill>
                  <a:solidFill>
                    <a:srgbClr val="7890CD"/>
                  </a:solidFill>
                </a:uFill>
                <a:latin typeface="Tahoma" panose="020B0604030504040204"/>
                <a:cs typeface="Tahoma" panose="020B0604030504040204"/>
                <a:hlinkClick r:id="rId2"/>
              </a:rPr>
              <a:t>to.html</a:t>
            </a:r>
            <a:endParaRPr sz="1600">
              <a:latin typeface="Tahoma" panose="020B0604030504040204"/>
              <a:cs typeface="Tahoma" panose="020B0604030504040204"/>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LLMs:</a:t>
            </a:r>
            <a:r>
              <a:rPr spc="-35" dirty="0"/>
              <a:t> </a:t>
            </a:r>
            <a:r>
              <a:rPr dirty="0"/>
              <a:t>Additional</a:t>
            </a:r>
            <a:r>
              <a:rPr spc="-30" dirty="0"/>
              <a:t> </a:t>
            </a:r>
            <a:r>
              <a:rPr spc="-10" dirty="0"/>
              <a:t>applications</a:t>
            </a:r>
            <a:endParaRPr spc="-10" dirty="0"/>
          </a:p>
        </p:txBody>
      </p:sp>
      <p:sp>
        <p:nvSpPr>
          <p:cNvPr id="3" name="object 3"/>
          <p:cNvSpPr txBox="1"/>
          <p:nvPr/>
        </p:nvSpPr>
        <p:spPr>
          <a:xfrm>
            <a:off x="633665" y="1566944"/>
            <a:ext cx="9109287" cy="2315210"/>
          </a:xfrm>
          <a:prstGeom prst="rect">
            <a:avLst/>
          </a:prstGeom>
        </p:spPr>
        <p:txBody>
          <a:bodyPr vert="horz" wrap="square" lIns="0" tIns="71120" rIns="0" bIns="0" rtlCol="0">
            <a:spAutoFit/>
          </a:bodyPr>
          <a:lstStyle/>
          <a:p>
            <a:pPr marL="379095" indent="-366395">
              <a:lnSpc>
                <a:spcPct val="150000"/>
              </a:lnSpc>
              <a:spcBef>
                <a:spcPts val="420"/>
              </a:spcBef>
              <a:buFont typeface="Arial MT"/>
              <a:buChar char="●"/>
              <a:tabLst>
                <a:tab pos="379095" algn="l"/>
              </a:tabLst>
            </a:pPr>
            <a:r>
              <a:rPr dirty="0">
                <a:solidFill>
                  <a:srgbClr val="595959"/>
                </a:solidFill>
                <a:latin typeface="Calibri" panose="020F0502020204030204" charset="0"/>
                <a:cs typeface="Calibri" panose="020F0502020204030204" charset="0"/>
              </a:rPr>
              <a:t>Text</a:t>
            </a:r>
            <a:r>
              <a:rPr spc="-7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generation</a:t>
            </a:r>
            <a:endParaRPr>
              <a:latin typeface="Calibri" panose="020F0502020204030204" charset="0"/>
              <a:cs typeface="Calibri" panose="020F0502020204030204" charset="0"/>
            </a:endParaRPr>
          </a:p>
          <a:p>
            <a:pPr marL="379095" indent="-366395">
              <a:lnSpc>
                <a:spcPct val="150000"/>
              </a:lnSpc>
              <a:spcBef>
                <a:spcPts val="325"/>
              </a:spcBef>
              <a:buFont typeface="Arial MT"/>
              <a:buChar char="●"/>
              <a:tabLst>
                <a:tab pos="379095" algn="l"/>
              </a:tabLst>
            </a:pPr>
            <a:r>
              <a:rPr dirty="0">
                <a:solidFill>
                  <a:srgbClr val="595959"/>
                </a:solidFill>
                <a:latin typeface="Calibri" panose="020F0502020204030204" charset="0"/>
                <a:cs typeface="Calibri" panose="020F0502020204030204" charset="0"/>
              </a:rPr>
              <a:t>Code</a:t>
            </a:r>
            <a:r>
              <a:rPr spc="2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generation</a:t>
            </a:r>
            <a:endParaRPr>
              <a:latin typeface="Calibri" panose="020F0502020204030204" charset="0"/>
              <a:cs typeface="Calibri" panose="020F0502020204030204" charset="0"/>
            </a:endParaRPr>
          </a:p>
          <a:p>
            <a:pPr marL="379095" indent="-366395">
              <a:lnSpc>
                <a:spcPct val="150000"/>
              </a:lnSpc>
              <a:spcBef>
                <a:spcPts val="325"/>
              </a:spcBef>
              <a:buFont typeface="Arial MT"/>
              <a:buChar char="●"/>
              <a:tabLst>
                <a:tab pos="379095" algn="l"/>
              </a:tabLst>
            </a:pPr>
            <a:r>
              <a:rPr spc="-45" dirty="0">
                <a:solidFill>
                  <a:srgbClr val="595959"/>
                </a:solidFill>
                <a:latin typeface="Calibri" panose="020F0502020204030204" charset="0"/>
                <a:cs typeface="Calibri" panose="020F0502020204030204" charset="0"/>
              </a:rPr>
              <a:t>Multi-</a:t>
            </a:r>
            <a:r>
              <a:rPr spc="-20" dirty="0">
                <a:solidFill>
                  <a:srgbClr val="595959"/>
                </a:solidFill>
                <a:latin typeface="Calibri" panose="020F0502020204030204" charset="0"/>
                <a:cs typeface="Calibri" panose="020F0502020204030204" charset="0"/>
              </a:rPr>
              <a:t>turn</a:t>
            </a:r>
            <a:r>
              <a:rPr spc="-6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chat</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conversation</a:t>
            </a:r>
            <a:endParaRPr>
              <a:latin typeface="Calibri" panose="020F0502020204030204" charset="0"/>
              <a:cs typeface="Calibri" panose="020F0502020204030204" charset="0"/>
            </a:endParaRPr>
          </a:p>
          <a:p>
            <a:pPr marL="379095" indent="-366395">
              <a:lnSpc>
                <a:spcPct val="150000"/>
              </a:lnSpc>
              <a:spcBef>
                <a:spcPts val="325"/>
              </a:spcBef>
              <a:buFont typeface="Arial MT"/>
              <a:buChar char="●"/>
              <a:tabLst>
                <a:tab pos="379095" algn="l"/>
              </a:tabLst>
            </a:pPr>
            <a:r>
              <a:rPr spc="-20" dirty="0">
                <a:solidFill>
                  <a:srgbClr val="595959"/>
                </a:solidFill>
                <a:latin typeface="Calibri" panose="020F0502020204030204" charset="0"/>
                <a:cs typeface="Calibri" panose="020F0502020204030204" charset="0"/>
              </a:rPr>
              <a:t>Evaluation</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and</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scoring</a:t>
            </a:r>
            <a:r>
              <a:rPr spc="-5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of</a:t>
            </a:r>
            <a:r>
              <a:rPr spc="-50"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text</a:t>
            </a:r>
            <a:r>
              <a:rPr spc="-5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inputs</a:t>
            </a:r>
            <a:r>
              <a:rPr spc="-5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following</a:t>
            </a:r>
            <a:r>
              <a:rPr spc="-5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provided</a:t>
            </a:r>
            <a:r>
              <a:rPr spc="-5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criteria</a:t>
            </a:r>
            <a:endParaRPr>
              <a:latin typeface="Calibri" panose="020F0502020204030204" charset="0"/>
              <a:cs typeface="Calibri" panose="020F0502020204030204" charset="0"/>
            </a:endParaRPr>
          </a:p>
          <a:p>
            <a:pPr marL="379095" indent="-366395">
              <a:lnSpc>
                <a:spcPct val="150000"/>
              </a:lnSpc>
              <a:spcBef>
                <a:spcPts val="325"/>
              </a:spcBef>
              <a:buFont typeface="Arial MT"/>
              <a:buChar char="●"/>
              <a:tabLst>
                <a:tab pos="379095" algn="l"/>
              </a:tabLst>
            </a:pPr>
            <a:r>
              <a:rPr dirty="0">
                <a:solidFill>
                  <a:srgbClr val="595959"/>
                </a:solidFill>
                <a:latin typeface="Calibri" panose="020F0502020204030204" charset="0"/>
                <a:cs typeface="Calibri" panose="020F0502020204030204" charset="0"/>
              </a:rPr>
              <a:t>Complex</a:t>
            </a:r>
            <a:r>
              <a:rPr spc="-25"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instruction</a:t>
            </a:r>
            <a:r>
              <a:rPr spc="-2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following</a:t>
            </a:r>
            <a:endParaRPr>
              <a:latin typeface="Calibri" panose="020F0502020204030204" charset="0"/>
              <a:cs typeface="Calibri" panose="020F050202020403020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524000" y="2797493"/>
            <a:ext cx="9144000" cy="712470"/>
          </a:xfrm>
          <a:prstGeom prst="rect">
            <a:avLst/>
          </a:prstGeom>
        </p:spPr>
        <p:txBody>
          <a:bodyPr vert="horz" wrap="square" lIns="0" tIns="20320" rIns="0" bIns="0" rtlCol="0">
            <a:spAutoFit/>
          </a:bodyPr>
          <a:lstStyle/>
          <a:p>
            <a:pPr marL="12700">
              <a:lnSpc>
                <a:spcPct val="100000"/>
              </a:lnSpc>
              <a:spcBef>
                <a:spcPts val="120"/>
              </a:spcBef>
            </a:pPr>
            <a:r>
              <a:rPr dirty="0"/>
              <a:t>LLMs:</a:t>
            </a:r>
            <a:r>
              <a:rPr spc="-20" dirty="0"/>
              <a:t> </a:t>
            </a:r>
            <a:r>
              <a:rPr spc="-10" dirty="0"/>
              <a:t>Hallucinations</a:t>
            </a:r>
            <a:endParaRPr spc="-10" dirty="0"/>
          </a:p>
        </p:txBody>
      </p:sp>
      <p:sp>
        <p:nvSpPr>
          <p:cNvPr id="3" name="object 3"/>
          <p:cNvSpPr txBox="1"/>
          <p:nvPr/>
        </p:nvSpPr>
        <p:spPr>
          <a:xfrm>
            <a:off x="512967" y="1566944"/>
            <a:ext cx="4628727" cy="652145"/>
          </a:xfrm>
          <a:prstGeom prst="rect">
            <a:avLst/>
          </a:prstGeom>
        </p:spPr>
        <p:txBody>
          <a:bodyPr vert="horz" wrap="square" lIns="0" tIns="16933" rIns="0" bIns="0" rtlCol="0">
            <a:spAutoFit/>
          </a:bodyPr>
          <a:lstStyle/>
          <a:p>
            <a:pPr marL="12700" marR="5080">
              <a:lnSpc>
                <a:spcPct val="115000"/>
              </a:lnSpc>
              <a:spcBef>
                <a:spcPts val="100"/>
              </a:spcBef>
            </a:pPr>
            <a:r>
              <a:rPr b="1" spc="-30" dirty="0">
                <a:solidFill>
                  <a:srgbClr val="595959"/>
                </a:solidFill>
                <a:latin typeface="Calibri" panose="020F0502020204030204" charset="0"/>
                <a:cs typeface="Calibri" panose="020F0502020204030204" charset="0"/>
              </a:rPr>
              <a:t>“Hallucinations,”</a:t>
            </a:r>
            <a:r>
              <a:rPr b="1" spc="-1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i.e.</a:t>
            </a:r>
            <a:r>
              <a:rPr spc="-1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ChatGPT</a:t>
            </a:r>
            <a:r>
              <a:rPr spc="-55" dirty="0">
                <a:solidFill>
                  <a:srgbClr val="595959"/>
                </a:solidFill>
                <a:latin typeface="Calibri" panose="020F0502020204030204" charset="0"/>
                <a:cs typeface="Calibri" panose="020F0502020204030204" charset="0"/>
              </a:rPr>
              <a:t> </a:t>
            </a:r>
            <a:r>
              <a:rPr spc="-25" dirty="0">
                <a:solidFill>
                  <a:srgbClr val="595959"/>
                </a:solidFill>
                <a:latin typeface="Calibri" panose="020F0502020204030204" charset="0"/>
                <a:cs typeface="Calibri" panose="020F0502020204030204" charset="0"/>
              </a:rPr>
              <a:t>can </a:t>
            </a:r>
            <a:r>
              <a:rPr dirty="0">
                <a:solidFill>
                  <a:srgbClr val="595959"/>
                </a:solidFill>
                <a:latin typeface="Calibri" panose="020F0502020204030204" charset="0"/>
                <a:cs typeface="Calibri" panose="020F0502020204030204" charset="0"/>
              </a:rPr>
              <a:t>make</a:t>
            </a:r>
            <a:r>
              <a:rPr spc="-4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things</a:t>
            </a:r>
            <a:r>
              <a:rPr spc="-4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up</a:t>
            </a:r>
            <a:r>
              <a:rPr spc="-4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completely.</a:t>
            </a:r>
            <a:endParaRPr>
              <a:latin typeface="Calibri" panose="020F0502020204030204" charset="0"/>
              <a:cs typeface="Calibri" panose="020F0502020204030204" charset="0"/>
            </a:endParaRPr>
          </a:p>
        </p:txBody>
      </p:sp>
      <p:pic>
        <p:nvPicPr>
          <p:cNvPr id="4" name="object 4"/>
          <p:cNvPicPr/>
          <p:nvPr/>
        </p:nvPicPr>
        <p:blipFill>
          <a:blip r:embed="rId1" cstate="print"/>
          <a:stretch>
            <a:fillRect/>
          </a:stretch>
        </p:blipFill>
        <p:spPr>
          <a:xfrm>
            <a:off x="5412833" y="219667"/>
            <a:ext cx="6666933" cy="6638333"/>
          </a:xfrm>
          <a:prstGeom prst="rect">
            <a:avLst/>
          </a:prstGeom>
        </p:spPr>
      </p:pic>
      <p:pic>
        <p:nvPicPr>
          <p:cNvPr id="5" name="object 5"/>
          <p:cNvPicPr/>
          <p:nvPr/>
        </p:nvPicPr>
        <p:blipFill>
          <a:blip r:embed="rId2" cstate="print"/>
          <a:stretch>
            <a:fillRect/>
          </a:stretch>
        </p:blipFill>
        <p:spPr>
          <a:xfrm>
            <a:off x="1444983" y="3689933"/>
            <a:ext cx="1921300" cy="19212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LLMs:</a:t>
            </a:r>
            <a:r>
              <a:rPr spc="-35" dirty="0"/>
              <a:t> </a:t>
            </a:r>
            <a:r>
              <a:rPr dirty="0"/>
              <a:t>Prompt</a:t>
            </a:r>
            <a:r>
              <a:rPr spc="-30" dirty="0"/>
              <a:t> </a:t>
            </a:r>
            <a:r>
              <a:rPr spc="-10" dirty="0"/>
              <a:t>Engineering</a:t>
            </a:r>
            <a:endParaRPr spc="-10" dirty="0"/>
          </a:p>
        </p:txBody>
      </p:sp>
      <p:sp>
        <p:nvSpPr>
          <p:cNvPr id="3" name="object 3"/>
          <p:cNvSpPr txBox="1">
            <a:spLocks noGrp="1"/>
          </p:cNvSpPr>
          <p:nvPr>
            <p:ph idx="1"/>
          </p:nvPr>
        </p:nvSpPr>
        <p:spPr>
          <a:xfrm>
            <a:off x="609600" y="1600200"/>
            <a:ext cx="10972800" cy="1442085"/>
          </a:xfrm>
          <a:prstGeom prst="rect">
            <a:avLst/>
          </a:prstGeom>
        </p:spPr>
        <p:txBody>
          <a:bodyPr vert="horz" wrap="square" lIns="0" tIns="16933" rIns="0" bIns="0" rtlCol="0">
            <a:spAutoFit/>
          </a:bodyPr>
          <a:lstStyle/>
          <a:p>
            <a:pPr marL="12700" marR="191770">
              <a:lnSpc>
                <a:spcPct val="115000"/>
              </a:lnSpc>
              <a:spcBef>
                <a:spcPts val="100"/>
              </a:spcBef>
            </a:pPr>
            <a:r>
              <a:rPr b="1" dirty="0">
                <a:latin typeface="Roboto"/>
                <a:cs typeface="Roboto"/>
              </a:rPr>
              <a:t>Prompt</a:t>
            </a:r>
            <a:r>
              <a:rPr b="1" spc="-45" dirty="0">
                <a:latin typeface="Roboto"/>
                <a:cs typeface="Roboto"/>
              </a:rPr>
              <a:t> </a:t>
            </a:r>
            <a:r>
              <a:rPr b="1" dirty="0">
                <a:latin typeface="Roboto"/>
                <a:cs typeface="Roboto"/>
              </a:rPr>
              <a:t>engineering</a:t>
            </a:r>
            <a:r>
              <a:rPr b="1" spc="-20" dirty="0">
                <a:latin typeface="Roboto"/>
                <a:cs typeface="Roboto"/>
              </a:rPr>
              <a:t> </a:t>
            </a:r>
            <a:r>
              <a:rPr dirty="0"/>
              <a:t>is</a:t>
            </a:r>
            <a:r>
              <a:rPr spc="-45" dirty="0"/>
              <a:t> </a:t>
            </a:r>
            <a:r>
              <a:rPr dirty="0"/>
              <a:t>the</a:t>
            </a:r>
            <a:r>
              <a:rPr spc="-40" dirty="0"/>
              <a:t> </a:t>
            </a:r>
            <a:r>
              <a:rPr dirty="0"/>
              <a:t>process</a:t>
            </a:r>
            <a:r>
              <a:rPr spc="-45" dirty="0"/>
              <a:t> </a:t>
            </a:r>
            <a:r>
              <a:rPr dirty="0"/>
              <a:t>of</a:t>
            </a:r>
            <a:r>
              <a:rPr spc="-45" dirty="0"/>
              <a:t> </a:t>
            </a:r>
            <a:r>
              <a:rPr spc="-10" dirty="0"/>
              <a:t>strategically</a:t>
            </a:r>
            <a:r>
              <a:rPr spc="-40" dirty="0"/>
              <a:t> </a:t>
            </a:r>
            <a:r>
              <a:rPr spc="-10" dirty="0"/>
              <a:t>designing</a:t>
            </a:r>
            <a:r>
              <a:rPr spc="-45" dirty="0"/>
              <a:t> </a:t>
            </a:r>
            <a:r>
              <a:rPr dirty="0"/>
              <a:t>and</a:t>
            </a:r>
            <a:r>
              <a:rPr spc="-40" dirty="0"/>
              <a:t> </a:t>
            </a:r>
            <a:r>
              <a:rPr spc="-10" dirty="0"/>
              <a:t>refining</a:t>
            </a:r>
            <a:r>
              <a:rPr spc="-45" dirty="0"/>
              <a:t> </a:t>
            </a:r>
            <a:r>
              <a:rPr spc="-25" dirty="0"/>
              <a:t>the </a:t>
            </a:r>
            <a:r>
              <a:rPr dirty="0"/>
              <a:t>input</a:t>
            </a:r>
            <a:r>
              <a:rPr spc="-65" dirty="0"/>
              <a:t> </a:t>
            </a:r>
            <a:r>
              <a:rPr spc="-10" dirty="0"/>
              <a:t>prompts</a:t>
            </a:r>
            <a:r>
              <a:rPr spc="-60" dirty="0"/>
              <a:t> </a:t>
            </a:r>
            <a:r>
              <a:rPr dirty="0"/>
              <a:t>given</a:t>
            </a:r>
            <a:r>
              <a:rPr spc="-60" dirty="0"/>
              <a:t> </a:t>
            </a:r>
            <a:r>
              <a:rPr dirty="0"/>
              <a:t>to</a:t>
            </a:r>
            <a:r>
              <a:rPr spc="-65" dirty="0"/>
              <a:t> </a:t>
            </a:r>
            <a:r>
              <a:rPr dirty="0"/>
              <a:t>an</a:t>
            </a:r>
            <a:r>
              <a:rPr spc="-60" dirty="0"/>
              <a:t> </a:t>
            </a:r>
            <a:r>
              <a:rPr dirty="0"/>
              <a:t>LLM,</a:t>
            </a:r>
            <a:r>
              <a:rPr spc="-60" dirty="0"/>
              <a:t> </a:t>
            </a:r>
            <a:r>
              <a:rPr dirty="0"/>
              <a:t>to</a:t>
            </a:r>
            <a:r>
              <a:rPr spc="-65" dirty="0"/>
              <a:t> </a:t>
            </a:r>
            <a:r>
              <a:rPr dirty="0"/>
              <a:t>elicit</a:t>
            </a:r>
            <a:r>
              <a:rPr spc="-60" dirty="0"/>
              <a:t> </a:t>
            </a:r>
            <a:r>
              <a:rPr dirty="0"/>
              <a:t>the</a:t>
            </a:r>
            <a:r>
              <a:rPr spc="-60" dirty="0"/>
              <a:t> </a:t>
            </a:r>
            <a:r>
              <a:rPr dirty="0"/>
              <a:t>most</a:t>
            </a:r>
            <a:r>
              <a:rPr spc="-65" dirty="0"/>
              <a:t> </a:t>
            </a:r>
            <a:r>
              <a:rPr spc="-10" dirty="0"/>
              <a:t>accurate,</a:t>
            </a:r>
            <a:r>
              <a:rPr spc="-60" dirty="0"/>
              <a:t> </a:t>
            </a:r>
            <a:r>
              <a:rPr spc="-10" dirty="0"/>
              <a:t>relevant,</a:t>
            </a:r>
            <a:r>
              <a:rPr spc="-60" dirty="0"/>
              <a:t> </a:t>
            </a:r>
            <a:r>
              <a:rPr dirty="0"/>
              <a:t>and</a:t>
            </a:r>
            <a:r>
              <a:rPr spc="-65" dirty="0"/>
              <a:t> </a:t>
            </a:r>
            <a:r>
              <a:rPr spc="-10" dirty="0"/>
              <a:t>useful responses.</a:t>
            </a:r>
            <a:endParaRPr spc="-10" dirty="0"/>
          </a:p>
          <a:p>
            <a:pPr marL="12700" marR="5080">
              <a:lnSpc>
                <a:spcPct val="115000"/>
              </a:lnSpc>
              <a:spcBef>
                <a:spcPts val="1200"/>
              </a:spcBef>
            </a:pPr>
            <a:r>
              <a:rPr dirty="0"/>
              <a:t>The</a:t>
            </a:r>
            <a:r>
              <a:rPr spc="-55" dirty="0"/>
              <a:t> </a:t>
            </a:r>
            <a:r>
              <a:rPr dirty="0"/>
              <a:t>effectiveness</a:t>
            </a:r>
            <a:r>
              <a:rPr spc="-50" dirty="0"/>
              <a:t> </a:t>
            </a:r>
            <a:r>
              <a:rPr dirty="0"/>
              <a:t>of</a:t>
            </a:r>
            <a:r>
              <a:rPr spc="-50" dirty="0"/>
              <a:t> </a:t>
            </a:r>
            <a:r>
              <a:rPr dirty="0"/>
              <a:t>an</a:t>
            </a:r>
            <a:r>
              <a:rPr spc="-55" dirty="0"/>
              <a:t> </a:t>
            </a:r>
            <a:r>
              <a:rPr spc="-40" dirty="0"/>
              <a:t>LLM's</a:t>
            </a:r>
            <a:r>
              <a:rPr spc="-50" dirty="0"/>
              <a:t> </a:t>
            </a:r>
            <a:r>
              <a:rPr dirty="0"/>
              <a:t>response</a:t>
            </a:r>
            <a:r>
              <a:rPr spc="-50" dirty="0"/>
              <a:t> </a:t>
            </a:r>
            <a:r>
              <a:rPr spc="-10" dirty="0"/>
              <a:t>heavily</a:t>
            </a:r>
            <a:r>
              <a:rPr spc="-50" dirty="0"/>
              <a:t> </a:t>
            </a:r>
            <a:r>
              <a:rPr dirty="0"/>
              <a:t>depends</a:t>
            </a:r>
            <a:r>
              <a:rPr spc="-55" dirty="0"/>
              <a:t> </a:t>
            </a:r>
            <a:r>
              <a:rPr dirty="0"/>
              <a:t>on</a:t>
            </a:r>
            <a:r>
              <a:rPr spc="-50" dirty="0"/>
              <a:t> </a:t>
            </a:r>
            <a:r>
              <a:rPr dirty="0"/>
              <a:t>how</a:t>
            </a:r>
            <a:r>
              <a:rPr spc="-50" dirty="0"/>
              <a:t> </a:t>
            </a:r>
            <a:r>
              <a:rPr dirty="0"/>
              <a:t>the</a:t>
            </a:r>
            <a:r>
              <a:rPr spc="-50" dirty="0"/>
              <a:t> </a:t>
            </a:r>
            <a:r>
              <a:rPr spc="-10" dirty="0"/>
              <a:t>prompt</a:t>
            </a:r>
            <a:r>
              <a:rPr spc="-55" dirty="0"/>
              <a:t> </a:t>
            </a:r>
            <a:r>
              <a:rPr spc="-25" dirty="0"/>
              <a:t>is </a:t>
            </a:r>
            <a:r>
              <a:rPr spc="-10" dirty="0"/>
              <a:t>structured</a:t>
            </a:r>
            <a:r>
              <a:rPr spc="-105" dirty="0"/>
              <a:t> </a:t>
            </a:r>
            <a:r>
              <a:rPr spc="-229" dirty="0"/>
              <a:t>-</a:t>
            </a:r>
            <a:r>
              <a:rPr spc="-220" dirty="0"/>
              <a:t>-</a:t>
            </a:r>
            <a:r>
              <a:rPr spc="-5" dirty="0"/>
              <a:t> </a:t>
            </a:r>
            <a:r>
              <a:rPr dirty="0"/>
              <a:t>different</a:t>
            </a:r>
            <a:r>
              <a:rPr spc="-70" dirty="0"/>
              <a:t> </a:t>
            </a:r>
            <a:r>
              <a:rPr spc="-10" dirty="0"/>
              <a:t>prompts</a:t>
            </a:r>
            <a:r>
              <a:rPr spc="-60" dirty="0"/>
              <a:t> </a:t>
            </a:r>
            <a:r>
              <a:rPr dirty="0"/>
              <a:t>can</a:t>
            </a:r>
            <a:r>
              <a:rPr spc="-60" dirty="0"/>
              <a:t> </a:t>
            </a:r>
            <a:r>
              <a:rPr dirty="0"/>
              <a:t>lead</a:t>
            </a:r>
            <a:r>
              <a:rPr spc="-55" dirty="0"/>
              <a:t> </a:t>
            </a:r>
            <a:r>
              <a:rPr dirty="0"/>
              <a:t>to</a:t>
            </a:r>
            <a:r>
              <a:rPr spc="-60" dirty="0"/>
              <a:t> </a:t>
            </a:r>
            <a:r>
              <a:rPr spc="-10" dirty="0"/>
              <a:t>vastly</a:t>
            </a:r>
            <a:r>
              <a:rPr spc="-60" dirty="0"/>
              <a:t> </a:t>
            </a:r>
            <a:r>
              <a:rPr dirty="0"/>
              <a:t>different</a:t>
            </a:r>
            <a:r>
              <a:rPr spc="-60" dirty="0"/>
              <a:t> </a:t>
            </a:r>
            <a:r>
              <a:rPr spc="-10" dirty="0"/>
              <a:t>outputs,</a:t>
            </a:r>
            <a:r>
              <a:rPr spc="-60" dirty="0"/>
              <a:t> </a:t>
            </a:r>
            <a:r>
              <a:rPr dirty="0"/>
              <a:t>even</a:t>
            </a:r>
            <a:r>
              <a:rPr spc="-60" dirty="0"/>
              <a:t> </a:t>
            </a:r>
            <a:r>
              <a:rPr dirty="0"/>
              <a:t>with</a:t>
            </a:r>
            <a:r>
              <a:rPr spc="-55" dirty="0"/>
              <a:t> </a:t>
            </a:r>
            <a:r>
              <a:rPr spc="-25" dirty="0"/>
              <a:t>the </a:t>
            </a:r>
            <a:r>
              <a:rPr dirty="0"/>
              <a:t>same</a:t>
            </a:r>
            <a:r>
              <a:rPr spc="-45" dirty="0"/>
              <a:t> </a:t>
            </a:r>
            <a:r>
              <a:rPr spc="-20" dirty="0"/>
              <a:t>underlying</a:t>
            </a:r>
            <a:r>
              <a:rPr spc="-45" dirty="0"/>
              <a:t> </a:t>
            </a:r>
            <a:r>
              <a:rPr dirty="0"/>
              <a:t>question</a:t>
            </a:r>
            <a:r>
              <a:rPr spc="-45" dirty="0"/>
              <a:t> </a:t>
            </a:r>
            <a:r>
              <a:rPr dirty="0"/>
              <a:t>or</a:t>
            </a:r>
            <a:r>
              <a:rPr spc="-45" dirty="0"/>
              <a:t> </a:t>
            </a:r>
            <a:r>
              <a:rPr spc="-10" dirty="0"/>
              <a:t>task.</a:t>
            </a:r>
            <a:endParaRPr spc="-1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LLMs:</a:t>
            </a:r>
            <a:r>
              <a:rPr spc="-40" dirty="0"/>
              <a:t> </a:t>
            </a:r>
            <a:r>
              <a:rPr dirty="0"/>
              <a:t>Retrieval</a:t>
            </a:r>
            <a:r>
              <a:rPr spc="-35" dirty="0"/>
              <a:t> </a:t>
            </a:r>
            <a:r>
              <a:rPr dirty="0"/>
              <a:t>Augmented</a:t>
            </a:r>
            <a:r>
              <a:rPr spc="-35" dirty="0"/>
              <a:t> </a:t>
            </a:r>
            <a:r>
              <a:rPr spc="-10" dirty="0"/>
              <a:t>Generation</a:t>
            </a:r>
            <a:endParaRPr spc="-10" dirty="0"/>
          </a:p>
        </p:txBody>
      </p:sp>
      <p:sp>
        <p:nvSpPr>
          <p:cNvPr id="3" name="object 3"/>
          <p:cNvSpPr txBox="1"/>
          <p:nvPr/>
        </p:nvSpPr>
        <p:spPr>
          <a:xfrm>
            <a:off x="415599" y="2055699"/>
            <a:ext cx="1579033" cy="615950"/>
          </a:xfrm>
          <a:prstGeom prst="rect">
            <a:avLst/>
          </a:prstGeom>
          <a:ln w="9524">
            <a:solidFill>
              <a:srgbClr val="595959"/>
            </a:solidFill>
          </a:ln>
        </p:spPr>
        <p:txBody>
          <a:bodyPr vert="horz" wrap="square" lIns="0" tIns="339513" rIns="0" bIns="0" rtlCol="0">
            <a:spAutoFit/>
          </a:bodyPr>
          <a:lstStyle/>
          <a:p>
            <a:pPr marL="132715">
              <a:lnSpc>
                <a:spcPct val="100000"/>
              </a:lnSpc>
              <a:spcBef>
                <a:spcPts val="2005"/>
              </a:spcBef>
            </a:pPr>
            <a:r>
              <a:rPr spc="-10" dirty="0">
                <a:solidFill>
                  <a:srgbClr val="595959"/>
                </a:solidFill>
                <a:latin typeface="Calibri" panose="020F0502020204030204" charset="0"/>
                <a:cs typeface="Calibri" panose="020F0502020204030204" charset="0"/>
              </a:rPr>
              <a:t>Question</a:t>
            </a:r>
            <a:endParaRPr spc="-10" dirty="0">
              <a:solidFill>
                <a:srgbClr val="595959"/>
              </a:solidFill>
              <a:latin typeface="Calibri" panose="020F0502020204030204" charset="0"/>
              <a:cs typeface="Calibri" panose="020F0502020204030204" charset="0"/>
            </a:endParaRPr>
          </a:p>
        </p:txBody>
      </p:sp>
      <p:sp>
        <p:nvSpPr>
          <p:cNvPr id="4" name="object 4"/>
          <p:cNvSpPr txBox="1"/>
          <p:nvPr/>
        </p:nvSpPr>
        <p:spPr>
          <a:xfrm>
            <a:off x="2344233" y="3249500"/>
            <a:ext cx="1579033" cy="709930"/>
          </a:xfrm>
          <a:prstGeom prst="rect">
            <a:avLst/>
          </a:prstGeom>
          <a:ln w="9524">
            <a:solidFill>
              <a:srgbClr val="595959"/>
            </a:solidFill>
          </a:ln>
        </p:spPr>
        <p:txBody>
          <a:bodyPr vert="horz" wrap="square" lIns="0" tIns="156633" rIns="0" bIns="0" rtlCol="0">
            <a:spAutoFit/>
          </a:bodyPr>
          <a:lstStyle/>
          <a:p>
            <a:pPr marL="290830" marR="137795" indent="-147320">
              <a:lnSpc>
                <a:spcPct val="100000"/>
              </a:lnSpc>
              <a:spcBef>
                <a:spcPts val="925"/>
              </a:spcBef>
            </a:pPr>
            <a:r>
              <a:rPr spc="-10" dirty="0">
                <a:solidFill>
                  <a:srgbClr val="595959"/>
                </a:solidFill>
                <a:latin typeface="Calibri" panose="020F0502020204030204" charset="0"/>
                <a:cs typeface="Calibri" panose="020F0502020204030204" charset="0"/>
              </a:rPr>
              <a:t>Retrieval Query</a:t>
            </a:r>
            <a:endParaRPr spc="-10" dirty="0">
              <a:solidFill>
                <a:srgbClr val="595959"/>
              </a:solidFill>
              <a:latin typeface="Calibri" panose="020F0502020204030204" charset="0"/>
              <a:cs typeface="Calibri" panose="020F0502020204030204" charset="0"/>
            </a:endParaRPr>
          </a:p>
        </p:txBody>
      </p:sp>
      <p:sp>
        <p:nvSpPr>
          <p:cNvPr id="5" name="object 5"/>
          <p:cNvSpPr txBox="1"/>
          <p:nvPr/>
        </p:nvSpPr>
        <p:spPr>
          <a:xfrm>
            <a:off x="4162165" y="3249500"/>
            <a:ext cx="1579033" cy="709930"/>
          </a:xfrm>
          <a:prstGeom prst="rect">
            <a:avLst/>
          </a:prstGeom>
          <a:ln w="9524">
            <a:solidFill>
              <a:srgbClr val="595959"/>
            </a:solidFill>
          </a:ln>
        </p:spPr>
        <p:txBody>
          <a:bodyPr vert="horz" wrap="square" lIns="0" tIns="156633" rIns="0" bIns="0" rtlCol="0">
            <a:spAutoFit/>
          </a:bodyPr>
          <a:lstStyle/>
          <a:p>
            <a:pPr marL="311150" marR="102870" indent="-202565">
              <a:lnSpc>
                <a:spcPct val="100000"/>
              </a:lnSpc>
              <a:spcBef>
                <a:spcPts val="925"/>
              </a:spcBef>
            </a:pPr>
            <a:r>
              <a:rPr spc="-10" dirty="0">
                <a:solidFill>
                  <a:srgbClr val="595959"/>
                </a:solidFill>
                <a:latin typeface="Calibri" panose="020F0502020204030204" charset="0"/>
                <a:cs typeface="Calibri" panose="020F0502020204030204" charset="0"/>
              </a:rPr>
              <a:t>Retrieved Texts</a:t>
            </a:r>
            <a:endParaRPr spc="-10" dirty="0">
              <a:solidFill>
                <a:srgbClr val="595959"/>
              </a:solidFill>
              <a:latin typeface="Calibri" panose="020F0502020204030204" charset="0"/>
              <a:cs typeface="Calibri" panose="020F0502020204030204" charset="0"/>
            </a:endParaRPr>
          </a:p>
        </p:txBody>
      </p:sp>
      <p:sp>
        <p:nvSpPr>
          <p:cNvPr id="6" name="object 6"/>
          <p:cNvSpPr txBox="1"/>
          <p:nvPr/>
        </p:nvSpPr>
        <p:spPr>
          <a:xfrm>
            <a:off x="5526499" y="1928699"/>
            <a:ext cx="2457027" cy="709930"/>
          </a:xfrm>
          <a:prstGeom prst="rect">
            <a:avLst/>
          </a:prstGeom>
          <a:ln w="9524">
            <a:solidFill>
              <a:srgbClr val="595959"/>
            </a:solidFill>
          </a:ln>
        </p:spPr>
        <p:txBody>
          <a:bodyPr vert="horz" wrap="square" lIns="0" tIns="156633" rIns="0" bIns="0" rtlCol="0">
            <a:spAutoFit/>
          </a:bodyPr>
          <a:lstStyle/>
          <a:p>
            <a:pPr marL="192405" marR="88900" indent="-97155">
              <a:lnSpc>
                <a:spcPct val="100000"/>
              </a:lnSpc>
              <a:spcBef>
                <a:spcPts val="925"/>
              </a:spcBef>
            </a:pPr>
            <a:r>
              <a:rPr dirty="0">
                <a:solidFill>
                  <a:srgbClr val="595959"/>
                </a:solidFill>
                <a:latin typeface="Calibri" panose="020F0502020204030204" charset="0"/>
                <a:cs typeface="Calibri" panose="020F0502020204030204" charset="0"/>
              </a:rPr>
              <a:t>Full</a:t>
            </a:r>
            <a:r>
              <a:rPr spc="-8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prompt</a:t>
            </a:r>
            <a:r>
              <a:rPr spc="-75" dirty="0">
                <a:solidFill>
                  <a:srgbClr val="595959"/>
                </a:solidFill>
                <a:latin typeface="Calibri" panose="020F0502020204030204" charset="0"/>
                <a:cs typeface="Calibri" panose="020F0502020204030204" charset="0"/>
              </a:rPr>
              <a:t> </a:t>
            </a:r>
            <a:r>
              <a:rPr spc="-20" dirty="0">
                <a:solidFill>
                  <a:srgbClr val="595959"/>
                </a:solidFill>
                <a:latin typeface="Calibri" panose="020F0502020204030204" charset="0"/>
                <a:cs typeface="Calibri" panose="020F0502020204030204" charset="0"/>
              </a:rPr>
              <a:t>with </a:t>
            </a:r>
            <a:r>
              <a:rPr dirty="0">
                <a:solidFill>
                  <a:srgbClr val="595959"/>
                </a:solidFill>
                <a:latin typeface="Calibri" panose="020F0502020204030204" charset="0"/>
                <a:cs typeface="Calibri" panose="020F0502020204030204" charset="0"/>
              </a:rPr>
              <a:t>added</a:t>
            </a:r>
            <a:r>
              <a:rPr spc="-35"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context</a:t>
            </a:r>
            <a:endParaRPr>
              <a:latin typeface="Calibri" panose="020F0502020204030204" charset="0"/>
              <a:cs typeface="Calibri" panose="020F0502020204030204" charset="0"/>
            </a:endParaRPr>
          </a:p>
        </p:txBody>
      </p:sp>
      <p:sp>
        <p:nvSpPr>
          <p:cNvPr id="7" name="object 7"/>
          <p:cNvSpPr txBox="1"/>
          <p:nvPr/>
        </p:nvSpPr>
        <p:spPr>
          <a:xfrm>
            <a:off x="8527167" y="1968699"/>
            <a:ext cx="1020233" cy="615950"/>
          </a:xfrm>
          <a:prstGeom prst="rect">
            <a:avLst/>
          </a:prstGeom>
          <a:ln w="9524">
            <a:solidFill>
              <a:srgbClr val="595959"/>
            </a:solidFill>
          </a:ln>
        </p:spPr>
        <p:txBody>
          <a:bodyPr vert="horz" wrap="square" lIns="0" tIns="339513" rIns="0" bIns="0" rtlCol="0">
            <a:spAutoFit/>
          </a:bodyPr>
          <a:lstStyle/>
          <a:p>
            <a:pPr marL="158115">
              <a:lnSpc>
                <a:spcPct val="100000"/>
              </a:lnSpc>
              <a:spcBef>
                <a:spcPts val="2005"/>
              </a:spcBef>
            </a:pPr>
            <a:r>
              <a:rPr b="1" spc="-25" dirty="0">
                <a:solidFill>
                  <a:srgbClr val="595959"/>
                </a:solidFill>
                <a:latin typeface="Calibri" panose="020F0502020204030204" charset="0"/>
                <a:cs typeface="Calibri" panose="020F0502020204030204" charset="0"/>
              </a:rPr>
              <a:t>LLM</a:t>
            </a:r>
            <a:endParaRPr b="1" spc="-25" dirty="0">
              <a:solidFill>
                <a:srgbClr val="595959"/>
              </a:solidFill>
              <a:latin typeface="Calibri" panose="020F0502020204030204" charset="0"/>
              <a:cs typeface="Calibri" panose="020F0502020204030204" charset="0"/>
            </a:endParaRPr>
          </a:p>
        </p:txBody>
      </p:sp>
      <p:sp>
        <p:nvSpPr>
          <p:cNvPr id="8" name="object 8"/>
          <p:cNvSpPr txBox="1"/>
          <p:nvPr/>
        </p:nvSpPr>
        <p:spPr>
          <a:xfrm>
            <a:off x="10015000" y="1928699"/>
            <a:ext cx="1963420" cy="615950"/>
          </a:xfrm>
          <a:prstGeom prst="rect">
            <a:avLst/>
          </a:prstGeom>
          <a:ln w="9524">
            <a:solidFill>
              <a:srgbClr val="595959"/>
            </a:solidFill>
          </a:ln>
        </p:spPr>
        <p:txBody>
          <a:bodyPr vert="horz" wrap="square" lIns="0" tIns="339513" rIns="0" bIns="0" rtlCol="0">
            <a:spAutoFit/>
          </a:bodyPr>
          <a:lstStyle/>
          <a:p>
            <a:pPr marL="231140">
              <a:lnSpc>
                <a:spcPct val="100000"/>
              </a:lnSpc>
              <a:spcBef>
                <a:spcPts val="2005"/>
              </a:spcBef>
            </a:pPr>
            <a:r>
              <a:rPr spc="-10" dirty="0">
                <a:solidFill>
                  <a:srgbClr val="595959"/>
                </a:solidFill>
                <a:latin typeface="Calibri" panose="020F0502020204030204" charset="0"/>
                <a:cs typeface="Calibri" panose="020F0502020204030204" charset="0"/>
              </a:rPr>
              <a:t>Response</a:t>
            </a:r>
            <a:endParaRPr spc="-10" dirty="0">
              <a:solidFill>
                <a:srgbClr val="595959"/>
              </a:solidFill>
              <a:latin typeface="Calibri" panose="020F0502020204030204" charset="0"/>
              <a:cs typeface="Calibri" panose="020F0502020204030204" charset="0"/>
            </a:endParaRPr>
          </a:p>
        </p:txBody>
      </p:sp>
      <p:sp>
        <p:nvSpPr>
          <p:cNvPr id="9" name="object 9"/>
          <p:cNvSpPr txBox="1"/>
          <p:nvPr/>
        </p:nvSpPr>
        <p:spPr>
          <a:xfrm>
            <a:off x="2892165" y="4722699"/>
            <a:ext cx="2225040" cy="433070"/>
          </a:xfrm>
          <a:prstGeom prst="rect">
            <a:avLst/>
          </a:prstGeom>
          <a:ln w="9524">
            <a:solidFill>
              <a:srgbClr val="595959"/>
            </a:solidFill>
          </a:ln>
        </p:spPr>
        <p:txBody>
          <a:bodyPr vert="horz" wrap="square" lIns="0" tIns="156633" rIns="0" bIns="0" rtlCol="0">
            <a:spAutoFit/>
          </a:bodyPr>
          <a:lstStyle/>
          <a:p>
            <a:pPr marL="579755" marR="260985" indent="-313055">
              <a:lnSpc>
                <a:spcPct val="100000"/>
              </a:lnSpc>
              <a:spcBef>
                <a:spcPts val="925"/>
              </a:spcBef>
            </a:pPr>
            <a:r>
              <a:rPr spc="-10" dirty="0">
                <a:solidFill>
                  <a:srgbClr val="595959"/>
                </a:solidFill>
                <a:latin typeface="Calibri" panose="020F0502020204030204" charset="0"/>
                <a:cs typeface="Calibri" panose="020F0502020204030204" charset="0"/>
              </a:rPr>
              <a:t>Knowledge </a:t>
            </a:r>
            <a:r>
              <a:rPr spc="-20" dirty="0">
                <a:solidFill>
                  <a:srgbClr val="595959"/>
                </a:solidFill>
                <a:latin typeface="Calibri" panose="020F0502020204030204" charset="0"/>
                <a:cs typeface="Calibri" panose="020F0502020204030204" charset="0"/>
              </a:rPr>
              <a:t>Base</a:t>
            </a:r>
            <a:endParaRPr>
              <a:latin typeface="Calibri" panose="020F0502020204030204" charset="0"/>
              <a:cs typeface="Calibri" panose="020F0502020204030204" charset="0"/>
            </a:endParaRPr>
          </a:p>
        </p:txBody>
      </p:sp>
      <p:sp>
        <p:nvSpPr>
          <p:cNvPr id="10" name="object 10"/>
          <p:cNvSpPr txBox="1"/>
          <p:nvPr/>
        </p:nvSpPr>
        <p:spPr>
          <a:xfrm>
            <a:off x="2757832" y="1834400"/>
            <a:ext cx="2225040" cy="574675"/>
          </a:xfrm>
          <a:prstGeom prst="rect">
            <a:avLst/>
          </a:prstGeom>
          <a:ln w="9524">
            <a:solidFill>
              <a:srgbClr val="595959"/>
            </a:solidFill>
          </a:ln>
        </p:spPr>
        <p:txBody>
          <a:bodyPr vert="horz" wrap="square" lIns="0" tIns="21166" rIns="0" bIns="0" rtlCol="0">
            <a:spAutoFit/>
          </a:bodyPr>
          <a:lstStyle/>
          <a:p>
            <a:pPr marL="213995" marR="207645" indent="635" algn="ctr">
              <a:lnSpc>
                <a:spcPct val="100000"/>
              </a:lnSpc>
              <a:spcBef>
                <a:spcPts val="125"/>
              </a:spcBef>
            </a:pPr>
            <a:r>
              <a:rPr spc="-10" dirty="0">
                <a:solidFill>
                  <a:srgbClr val="595959"/>
                </a:solidFill>
                <a:latin typeface="Calibri" panose="020F0502020204030204" charset="0"/>
                <a:cs typeface="Calibri" panose="020F0502020204030204" charset="0"/>
              </a:rPr>
              <a:t>Custom knowledge </a:t>
            </a:r>
            <a:r>
              <a:rPr dirty="0">
                <a:solidFill>
                  <a:srgbClr val="595959"/>
                </a:solidFill>
                <a:latin typeface="Calibri" panose="020F0502020204030204" charset="0"/>
                <a:cs typeface="Calibri" panose="020F0502020204030204" charset="0"/>
              </a:rPr>
              <a:t>base</a:t>
            </a:r>
            <a:r>
              <a:rPr spc="-2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search</a:t>
            </a:r>
            <a:endParaRPr>
              <a:latin typeface="Calibri" panose="020F0502020204030204" charset="0"/>
              <a:cs typeface="Calibri" panose="020F0502020204030204" charset="0"/>
            </a:endParaRPr>
          </a:p>
        </p:txBody>
      </p:sp>
      <p:grpSp>
        <p:nvGrpSpPr>
          <p:cNvPr id="11" name="object 11"/>
          <p:cNvGrpSpPr/>
          <p:nvPr/>
        </p:nvGrpSpPr>
        <p:grpSpPr>
          <a:xfrm>
            <a:off x="1987649" y="2407017"/>
            <a:ext cx="758613" cy="190500"/>
            <a:chOff x="1490737" y="1805263"/>
            <a:chExt cx="568960" cy="142875"/>
          </a:xfrm>
        </p:grpSpPr>
        <p:sp>
          <p:nvSpPr>
            <p:cNvPr id="12" name="object 12"/>
            <p:cNvSpPr/>
            <p:nvPr/>
          </p:nvSpPr>
          <p:spPr>
            <a:xfrm>
              <a:off x="1495499" y="1825365"/>
              <a:ext cx="517525" cy="118110"/>
            </a:xfrm>
            <a:custGeom>
              <a:avLst/>
              <a:gdLst/>
              <a:ahLst/>
              <a:cxnLst/>
              <a:rect l="l" t="t" r="r" b="b"/>
              <a:pathLst>
                <a:path w="517525" h="118110">
                  <a:moveTo>
                    <a:pt x="0" y="117809"/>
                  </a:moveTo>
                  <a:lnTo>
                    <a:pt x="517276" y="0"/>
                  </a:lnTo>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sp>
          <p:nvSpPr>
            <p:cNvPr id="13" name="object 13"/>
            <p:cNvSpPr/>
            <p:nvPr/>
          </p:nvSpPr>
          <p:spPr>
            <a:xfrm>
              <a:off x="2009283" y="1810025"/>
              <a:ext cx="45720" cy="31115"/>
            </a:xfrm>
            <a:custGeom>
              <a:avLst/>
              <a:gdLst/>
              <a:ahLst/>
              <a:cxnLst/>
              <a:rect l="l" t="t" r="r" b="b"/>
              <a:pathLst>
                <a:path w="45719" h="31114">
                  <a:moveTo>
                    <a:pt x="6987" y="30679"/>
                  </a:moveTo>
                  <a:lnTo>
                    <a:pt x="0" y="0"/>
                  </a:lnTo>
                  <a:lnTo>
                    <a:pt x="45639" y="5741"/>
                  </a:lnTo>
                  <a:lnTo>
                    <a:pt x="6987" y="30679"/>
                  </a:lnTo>
                  <a:close/>
                </a:path>
              </a:pathLst>
            </a:custGeom>
            <a:solidFill>
              <a:srgbClr val="595959"/>
            </a:solidFill>
          </p:spPr>
          <p:txBody>
            <a:bodyPr wrap="square" lIns="0" tIns="0" rIns="0" bIns="0" rtlCol="0"/>
            <a:lstStyle/>
            <a:p>
              <a:endParaRPr>
                <a:latin typeface="Calibri" panose="020F0502020204030204" charset="0"/>
                <a:cs typeface="Calibri" panose="020F0502020204030204" charset="0"/>
              </a:endParaRPr>
            </a:p>
          </p:txBody>
        </p:sp>
        <p:sp>
          <p:nvSpPr>
            <p:cNvPr id="14" name="object 14"/>
            <p:cNvSpPr/>
            <p:nvPr/>
          </p:nvSpPr>
          <p:spPr>
            <a:xfrm>
              <a:off x="2009283" y="1810025"/>
              <a:ext cx="45720" cy="31115"/>
            </a:xfrm>
            <a:custGeom>
              <a:avLst/>
              <a:gdLst/>
              <a:ahLst/>
              <a:cxnLst/>
              <a:rect l="l" t="t" r="r" b="b"/>
              <a:pathLst>
                <a:path w="45719" h="31114">
                  <a:moveTo>
                    <a:pt x="6987" y="30679"/>
                  </a:moveTo>
                  <a:lnTo>
                    <a:pt x="45639" y="5741"/>
                  </a:lnTo>
                  <a:lnTo>
                    <a:pt x="0" y="0"/>
                  </a:lnTo>
                  <a:lnTo>
                    <a:pt x="6987" y="30679"/>
                  </a:lnTo>
                  <a:close/>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grpSp>
      <p:grpSp>
        <p:nvGrpSpPr>
          <p:cNvPr id="15" name="object 15"/>
          <p:cNvGrpSpPr/>
          <p:nvPr/>
        </p:nvGrpSpPr>
        <p:grpSpPr>
          <a:xfrm>
            <a:off x="3127083" y="4313549"/>
            <a:ext cx="1814407" cy="415713"/>
            <a:chOff x="2345312" y="3235162"/>
            <a:chExt cx="1360805" cy="311785"/>
          </a:xfrm>
        </p:grpSpPr>
        <p:sp>
          <p:nvSpPr>
            <p:cNvPr id="16" name="object 16"/>
            <p:cNvSpPr/>
            <p:nvPr/>
          </p:nvSpPr>
          <p:spPr>
            <a:xfrm>
              <a:off x="2350074" y="3239924"/>
              <a:ext cx="601345" cy="278130"/>
            </a:xfrm>
            <a:custGeom>
              <a:avLst/>
              <a:gdLst/>
              <a:ahLst/>
              <a:cxnLst/>
              <a:rect l="l" t="t" r="r" b="b"/>
              <a:pathLst>
                <a:path w="601344" h="278129">
                  <a:moveTo>
                    <a:pt x="0" y="0"/>
                  </a:moveTo>
                  <a:lnTo>
                    <a:pt x="601230" y="278106"/>
                  </a:lnTo>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sp>
          <p:nvSpPr>
            <p:cNvPr id="17" name="object 17"/>
            <p:cNvSpPr/>
            <p:nvPr/>
          </p:nvSpPr>
          <p:spPr>
            <a:xfrm>
              <a:off x="2944700" y="3503752"/>
              <a:ext cx="46355" cy="33020"/>
            </a:xfrm>
            <a:custGeom>
              <a:avLst/>
              <a:gdLst/>
              <a:ahLst/>
              <a:cxnLst/>
              <a:rect l="l" t="t" r="r" b="b"/>
              <a:pathLst>
                <a:path w="46355" h="33020">
                  <a:moveTo>
                    <a:pt x="45836" y="32426"/>
                  </a:moveTo>
                  <a:lnTo>
                    <a:pt x="0" y="28558"/>
                  </a:lnTo>
                  <a:lnTo>
                    <a:pt x="13209" y="0"/>
                  </a:lnTo>
                  <a:lnTo>
                    <a:pt x="45836" y="32426"/>
                  </a:lnTo>
                  <a:close/>
                </a:path>
              </a:pathLst>
            </a:custGeom>
            <a:solidFill>
              <a:srgbClr val="595959"/>
            </a:solidFill>
          </p:spPr>
          <p:txBody>
            <a:bodyPr wrap="square" lIns="0" tIns="0" rIns="0" bIns="0" rtlCol="0"/>
            <a:lstStyle/>
            <a:p>
              <a:endParaRPr>
                <a:latin typeface="Calibri" panose="020F0502020204030204" charset="0"/>
                <a:cs typeface="Calibri" panose="020F0502020204030204" charset="0"/>
              </a:endParaRPr>
            </a:p>
          </p:txBody>
        </p:sp>
        <p:sp>
          <p:nvSpPr>
            <p:cNvPr id="18" name="object 18"/>
            <p:cNvSpPr/>
            <p:nvPr/>
          </p:nvSpPr>
          <p:spPr>
            <a:xfrm>
              <a:off x="2944700" y="3503752"/>
              <a:ext cx="46355" cy="33020"/>
            </a:xfrm>
            <a:custGeom>
              <a:avLst/>
              <a:gdLst/>
              <a:ahLst/>
              <a:cxnLst/>
              <a:rect l="l" t="t" r="r" b="b"/>
              <a:pathLst>
                <a:path w="46355" h="33020">
                  <a:moveTo>
                    <a:pt x="0" y="28558"/>
                  </a:moveTo>
                  <a:lnTo>
                    <a:pt x="45836" y="32426"/>
                  </a:lnTo>
                  <a:lnTo>
                    <a:pt x="13209" y="0"/>
                  </a:lnTo>
                  <a:lnTo>
                    <a:pt x="0" y="28558"/>
                  </a:lnTo>
                  <a:close/>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sp>
          <p:nvSpPr>
            <p:cNvPr id="19" name="object 19"/>
            <p:cNvSpPr/>
            <p:nvPr/>
          </p:nvSpPr>
          <p:spPr>
            <a:xfrm>
              <a:off x="3003274" y="3262289"/>
              <a:ext cx="657860" cy="280035"/>
            </a:xfrm>
            <a:custGeom>
              <a:avLst/>
              <a:gdLst/>
              <a:ahLst/>
              <a:cxnLst/>
              <a:rect l="l" t="t" r="r" b="b"/>
              <a:pathLst>
                <a:path w="657860" h="280035">
                  <a:moveTo>
                    <a:pt x="0" y="279734"/>
                  </a:moveTo>
                  <a:lnTo>
                    <a:pt x="657807" y="0"/>
                  </a:lnTo>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sp>
          <p:nvSpPr>
            <p:cNvPr id="20" name="object 20"/>
            <p:cNvSpPr/>
            <p:nvPr/>
          </p:nvSpPr>
          <p:spPr>
            <a:xfrm>
              <a:off x="3654926" y="3245374"/>
              <a:ext cx="46355" cy="31750"/>
            </a:xfrm>
            <a:custGeom>
              <a:avLst/>
              <a:gdLst/>
              <a:ahLst/>
              <a:cxnLst/>
              <a:rect l="l" t="t" r="r" b="b"/>
              <a:pathLst>
                <a:path w="46354" h="31750">
                  <a:moveTo>
                    <a:pt x="12313" y="31393"/>
                  </a:moveTo>
                  <a:lnTo>
                    <a:pt x="0" y="2437"/>
                  </a:lnTo>
                  <a:lnTo>
                    <a:pt x="45934" y="0"/>
                  </a:lnTo>
                  <a:lnTo>
                    <a:pt x="12313" y="31393"/>
                  </a:lnTo>
                  <a:close/>
                </a:path>
              </a:pathLst>
            </a:custGeom>
            <a:solidFill>
              <a:srgbClr val="595959"/>
            </a:solidFill>
          </p:spPr>
          <p:txBody>
            <a:bodyPr wrap="square" lIns="0" tIns="0" rIns="0" bIns="0" rtlCol="0"/>
            <a:lstStyle/>
            <a:p>
              <a:endParaRPr>
                <a:latin typeface="Calibri" panose="020F0502020204030204" charset="0"/>
                <a:cs typeface="Calibri" panose="020F0502020204030204" charset="0"/>
              </a:endParaRPr>
            </a:p>
          </p:txBody>
        </p:sp>
        <p:sp>
          <p:nvSpPr>
            <p:cNvPr id="21" name="object 21"/>
            <p:cNvSpPr/>
            <p:nvPr/>
          </p:nvSpPr>
          <p:spPr>
            <a:xfrm>
              <a:off x="3654926" y="3245374"/>
              <a:ext cx="46355" cy="31750"/>
            </a:xfrm>
            <a:custGeom>
              <a:avLst/>
              <a:gdLst/>
              <a:ahLst/>
              <a:cxnLst/>
              <a:rect l="l" t="t" r="r" b="b"/>
              <a:pathLst>
                <a:path w="46354" h="31750">
                  <a:moveTo>
                    <a:pt x="12313" y="31393"/>
                  </a:moveTo>
                  <a:lnTo>
                    <a:pt x="45934" y="0"/>
                  </a:lnTo>
                  <a:lnTo>
                    <a:pt x="0" y="2437"/>
                  </a:lnTo>
                  <a:lnTo>
                    <a:pt x="12313" y="31393"/>
                  </a:lnTo>
                  <a:close/>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grpSp>
      <p:grpSp>
        <p:nvGrpSpPr>
          <p:cNvPr id="22" name="object 22"/>
          <p:cNvGrpSpPr/>
          <p:nvPr/>
        </p:nvGrpSpPr>
        <p:grpSpPr>
          <a:xfrm>
            <a:off x="3144860" y="2989505"/>
            <a:ext cx="1813560" cy="266700"/>
            <a:chOff x="2358645" y="2242129"/>
            <a:chExt cx="1360170" cy="200025"/>
          </a:xfrm>
        </p:grpSpPr>
        <p:sp>
          <p:nvSpPr>
            <p:cNvPr id="23" name="object 23"/>
            <p:cNvSpPr/>
            <p:nvPr/>
          </p:nvSpPr>
          <p:spPr>
            <a:xfrm>
              <a:off x="2404332" y="2249400"/>
              <a:ext cx="498475" cy="169545"/>
            </a:xfrm>
            <a:custGeom>
              <a:avLst/>
              <a:gdLst/>
              <a:ahLst/>
              <a:cxnLst/>
              <a:rect l="l" t="t" r="r" b="b"/>
              <a:pathLst>
                <a:path w="498475" h="169544">
                  <a:moveTo>
                    <a:pt x="498192" y="0"/>
                  </a:moveTo>
                  <a:lnTo>
                    <a:pt x="0" y="169401"/>
                  </a:lnTo>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sp>
          <p:nvSpPr>
            <p:cNvPr id="24" name="object 24"/>
            <p:cNvSpPr/>
            <p:nvPr/>
          </p:nvSpPr>
          <p:spPr>
            <a:xfrm>
              <a:off x="2363408" y="2403906"/>
              <a:ext cx="46355" cy="29845"/>
            </a:xfrm>
            <a:custGeom>
              <a:avLst/>
              <a:gdLst/>
              <a:ahLst/>
              <a:cxnLst/>
              <a:rect l="l" t="t" r="r" b="b"/>
              <a:pathLst>
                <a:path w="46355" h="29844">
                  <a:moveTo>
                    <a:pt x="45989" y="29790"/>
                  </a:moveTo>
                  <a:lnTo>
                    <a:pt x="0" y="28810"/>
                  </a:lnTo>
                  <a:lnTo>
                    <a:pt x="35859" y="0"/>
                  </a:lnTo>
                  <a:lnTo>
                    <a:pt x="45989" y="29790"/>
                  </a:lnTo>
                  <a:close/>
                </a:path>
              </a:pathLst>
            </a:custGeom>
            <a:solidFill>
              <a:srgbClr val="595959"/>
            </a:solidFill>
          </p:spPr>
          <p:txBody>
            <a:bodyPr wrap="square" lIns="0" tIns="0" rIns="0" bIns="0" rtlCol="0"/>
            <a:lstStyle/>
            <a:p>
              <a:endParaRPr>
                <a:latin typeface="Calibri" panose="020F0502020204030204" charset="0"/>
                <a:cs typeface="Calibri" panose="020F0502020204030204" charset="0"/>
              </a:endParaRPr>
            </a:p>
          </p:txBody>
        </p:sp>
        <p:sp>
          <p:nvSpPr>
            <p:cNvPr id="25" name="object 25"/>
            <p:cNvSpPr/>
            <p:nvPr/>
          </p:nvSpPr>
          <p:spPr>
            <a:xfrm>
              <a:off x="2363408" y="2403906"/>
              <a:ext cx="46355" cy="29845"/>
            </a:xfrm>
            <a:custGeom>
              <a:avLst/>
              <a:gdLst/>
              <a:ahLst/>
              <a:cxnLst/>
              <a:rect l="l" t="t" r="r" b="b"/>
              <a:pathLst>
                <a:path w="46355" h="29844">
                  <a:moveTo>
                    <a:pt x="35859" y="0"/>
                  </a:moveTo>
                  <a:lnTo>
                    <a:pt x="0" y="28810"/>
                  </a:lnTo>
                  <a:lnTo>
                    <a:pt x="45989" y="29790"/>
                  </a:lnTo>
                  <a:lnTo>
                    <a:pt x="35859" y="0"/>
                  </a:lnTo>
                  <a:close/>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sp>
          <p:nvSpPr>
            <p:cNvPr id="26" name="object 26"/>
            <p:cNvSpPr/>
            <p:nvPr/>
          </p:nvSpPr>
          <p:spPr>
            <a:xfrm>
              <a:off x="2958301" y="2262219"/>
              <a:ext cx="755650" cy="175260"/>
            </a:xfrm>
            <a:custGeom>
              <a:avLst/>
              <a:gdLst/>
              <a:ahLst/>
              <a:cxnLst/>
              <a:rect l="l" t="t" r="r" b="b"/>
              <a:pathLst>
                <a:path w="755650" h="175260">
                  <a:moveTo>
                    <a:pt x="755223" y="174905"/>
                  </a:moveTo>
                  <a:lnTo>
                    <a:pt x="0" y="0"/>
                  </a:lnTo>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sp>
          <p:nvSpPr>
            <p:cNvPr id="27" name="object 27"/>
            <p:cNvSpPr/>
            <p:nvPr/>
          </p:nvSpPr>
          <p:spPr>
            <a:xfrm>
              <a:off x="2916190" y="2246892"/>
              <a:ext cx="45720" cy="31115"/>
            </a:xfrm>
            <a:custGeom>
              <a:avLst/>
              <a:gdLst/>
              <a:ahLst/>
              <a:cxnLst/>
              <a:rect l="l" t="t" r="r" b="b"/>
              <a:pathLst>
                <a:path w="45719" h="31114">
                  <a:moveTo>
                    <a:pt x="38561" y="30654"/>
                  </a:moveTo>
                  <a:lnTo>
                    <a:pt x="0" y="5574"/>
                  </a:lnTo>
                  <a:lnTo>
                    <a:pt x="45660" y="0"/>
                  </a:lnTo>
                  <a:lnTo>
                    <a:pt x="38561" y="30654"/>
                  </a:lnTo>
                  <a:close/>
                </a:path>
              </a:pathLst>
            </a:custGeom>
            <a:solidFill>
              <a:srgbClr val="595959"/>
            </a:solidFill>
          </p:spPr>
          <p:txBody>
            <a:bodyPr wrap="square" lIns="0" tIns="0" rIns="0" bIns="0" rtlCol="0"/>
            <a:lstStyle/>
            <a:p>
              <a:endParaRPr>
                <a:latin typeface="Calibri" panose="020F0502020204030204" charset="0"/>
                <a:cs typeface="Calibri" panose="020F0502020204030204" charset="0"/>
              </a:endParaRPr>
            </a:p>
          </p:txBody>
        </p:sp>
        <p:sp>
          <p:nvSpPr>
            <p:cNvPr id="28" name="object 28"/>
            <p:cNvSpPr/>
            <p:nvPr/>
          </p:nvSpPr>
          <p:spPr>
            <a:xfrm>
              <a:off x="2916190" y="2246892"/>
              <a:ext cx="45720" cy="31115"/>
            </a:xfrm>
            <a:custGeom>
              <a:avLst/>
              <a:gdLst/>
              <a:ahLst/>
              <a:cxnLst/>
              <a:rect l="l" t="t" r="r" b="b"/>
              <a:pathLst>
                <a:path w="45719" h="31114">
                  <a:moveTo>
                    <a:pt x="45660" y="0"/>
                  </a:moveTo>
                  <a:lnTo>
                    <a:pt x="0" y="5574"/>
                  </a:lnTo>
                  <a:lnTo>
                    <a:pt x="38561" y="30654"/>
                  </a:lnTo>
                  <a:lnTo>
                    <a:pt x="45660" y="0"/>
                  </a:lnTo>
                  <a:close/>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grpSp>
      <p:grpSp>
        <p:nvGrpSpPr>
          <p:cNvPr id="29" name="object 29"/>
          <p:cNvGrpSpPr/>
          <p:nvPr/>
        </p:nvGrpSpPr>
        <p:grpSpPr>
          <a:xfrm>
            <a:off x="4975883" y="2410449"/>
            <a:ext cx="539327" cy="74507"/>
            <a:chOff x="3731912" y="1807837"/>
            <a:chExt cx="404495" cy="55880"/>
          </a:xfrm>
        </p:grpSpPr>
        <p:sp>
          <p:nvSpPr>
            <p:cNvPr id="30" name="object 30"/>
            <p:cNvSpPr/>
            <p:nvPr/>
          </p:nvSpPr>
          <p:spPr>
            <a:xfrm>
              <a:off x="3736675" y="1812600"/>
              <a:ext cx="351790" cy="30480"/>
            </a:xfrm>
            <a:custGeom>
              <a:avLst/>
              <a:gdLst/>
              <a:ahLst/>
              <a:cxnLst/>
              <a:rect l="l" t="t" r="r" b="b"/>
              <a:pathLst>
                <a:path w="351789" h="30480">
                  <a:moveTo>
                    <a:pt x="0" y="0"/>
                  </a:moveTo>
                  <a:lnTo>
                    <a:pt x="351363" y="30463"/>
                  </a:lnTo>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sp>
          <p:nvSpPr>
            <p:cNvPr id="31" name="object 31"/>
            <p:cNvSpPr/>
            <p:nvPr/>
          </p:nvSpPr>
          <p:spPr>
            <a:xfrm>
              <a:off x="4086679" y="1827389"/>
              <a:ext cx="44450" cy="31750"/>
            </a:xfrm>
            <a:custGeom>
              <a:avLst/>
              <a:gdLst/>
              <a:ahLst/>
              <a:cxnLst/>
              <a:rect l="l" t="t" r="r" b="b"/>
              <a:pathLst>
                <a:path w="44450" h="31750">
                  <a:moveTo>
                    <a:pt x="0" y="31347"/>
                  </a:moveTo>
                  <a:lnTo>
                    <a:pt x="2717" y="0"/>
                  </a:lnTo>
                  <a:lnTo>
                    <a:pt x="44422" y="19407"/>
                  </a:lnTo>
                  <a:lnTo>
                    <a:pt x="0" y="31347"/>
                  </a:lnTo>
                  <a:close/>
                </a:path>
              </a:pathLst>
            </a:custGeom>
            <a:solidFill>
              <a:srgbClr val="595959"/>
            </a:solidFill>
          </p:spPr>
          <p:txBody>
            <a:bodyPr wrap="square" lIns="0" tIns="0" rIns="0" bIns="0" rtlCol="0"/>
            <a:lstStyle/>
            <a:p>
              <a:endParaRPr>
                <a:latin typeface="Calibri" panose="020F0502020204030204" charset="0"/>
                <a:cs typeface="Calibri" panose="020F0502020204030204" charset="0"/>
              </a:endParaRPr>
            </a:p>
          </p:txBody>
        </p:sp>
        <p:sp>
          <p:nvSpPr>
            <p:cNvPr id="32" name="object 32"/>
            <p:cNvSpPr/>
            <p:nvPr/>
          </p:nvSpPr>
          <p:spPr>
            <a:xfrm>
              <a:off x="4086679" y="1827389"/>
              <a:ext cx="44450" cy="31750"/>
            </a:xfrm>
            <a:custGeom>
              <a:avLst/>
              <a:gdLst/>
              <a:ahLst/>
              <a:cxnLst/>
              <a:rect l="l" t="t" r="r" b="b"/>
              <a:pathLst>
                <a:path w="44450" h="31750">
                  <a:moveTo>
                    <a:pt x="0" y="31347"/>
                  </a:moveTo>
                  <a:lnTo>
                    <a:pt x="44422" y="19407"/>
                  </a:lnTo>
                  <a:lnTo>
                    <a:pt x="2717" y="0"/>
                  </a:lnTo>
                  <a:lnTo>
                    <a:pt x="0" y="31347"/>
                  </a:lnTo>
                  <a:close/>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grpSp>
      <p:grpSp>
        <p:nvGrpSpPr>
          <p:cNvPr id="33" name="object 33"/>
          <p:cNvGrpSpPr/>
          <p:nvPr/>
        </p:nvGrpSpPr>
        <p:grpSpPr>
          <a:xfrm>
            <a:off x="7976549" y="2457549"/>
            <a:ext cx="539327" cy="68580"/>
            <a:chOff x="5982412" y="1843162"/>
            <a:chExt cx="404495" cy="51435"/>
          </a:xfrm>
        </p:grpSpPr>
        <p:sp>
          <p:nvSpPr>
            <p:cNvPr id="34" name="object 34"/>
            <p:cNvSpPr/>
            <p:nvPr/>
          </p:nvSpPr>
          <p:spPr>
            <a:xfrm>
              <a:off x="5987174" y="1847924"/>
              <a:ext cx="351790" cy="26034"/>
            </a:xfrm>
            <a:custGeom>
              <a:avLst/>
              <a:gdLst/>
              <a:ahLst/>
              <a:cxnLst/>
              <a:rect l="l" t="t" r="r" b="b"/>
              <a:pathLst>
                <a:path w="351789" h="26035">
                  <a:moveTo>
                    <a:pt x="0" y="0"/>
                  </a:moveTo>
                  <a:lnTo>
                    <a:pt x="351303" y="25812"/>
                  </a:lnTo>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sp>
          <p:nvSpPr>
            <p:cNvPr id="35" name="object 35"/>
            <p:cNvSpPr/>
            <p:nvPr/>
          </p:nvSpPr>
          <p:spPr>
            <a:xfrm>
              <a:off x="6337325" y="1858046"/>
              <a:ext cx="44450" cy="31750"/>
            </a:xfrm>
            <a:custGeom>
              <a:avLst/>
              <a:gdLst/>
              <a:ahLst/>
              <a:cxnLst/>
              <a:rect l="l" t="t" r="r" b="b"/>
              <a:pathLst>
                <a:path w="44450" h="31750">
                  <a:moveTo>
                    <a:pt x="0" y="31380"/>
                  </a:moveTo>
                  <a:lnTo>
                    <a:pt x="2305" y="0"/>
                  </a:lnTo>
                  <a:lnTo>
                    <a:pt x="44262" y="18857"/>
                  </a:lnTo>
                  <a:lnTo>
                    <a:pt x="0" y="31380"/>
                  </a:lnTo>
                  <a:close/>
                </a:path>
              </a:pathLst>
            </a:custGeom>
            <a:solidFill>
              <a:srgbClr val="595959"/>
            </a:solidFill>
          </p:spPr>
          <p:txBody>
            <a:bodyPr wrap="square" lIns="0" tIns="0" rIns="0" bIns="0" rtlCol="0"/>
            <a:lstStyle/>
            <a:p>
              <a:endParaRPr>
                <a:latin typeface="Calibri" panose="020F0502020204030204" charset="0"/>
                <a:cs typeface="Calibri" panose="020F0502020204030204" charset="0"/>
              </a:endParaRPr>
            </a:p>
          </p:txBody>
        </p:sp>
        <p:sp>
          <p:nvSpPr>
            <p:cNvPr id="36" name="object 36"/>
            <p:cNvSpPr/>
            <p:nvPr/>
          </p:nvSpPr>
          <p:spPr>
            <a:xfrm>
              <a:off x="6337325" y="1858046"/>
              <a:ext cx="44450" cy="31750"/>
            </a:xfrm>
            <a:custGeom>
              <a:avLst/>
              <a:gdLst/>
              <a:ahLst/>
              <a:cxnLst/>
              <a:rect l="l" t="t" r="r" b="b"/>
              <a:pathLst>
                <a:path w="44450" h="31750">
                  <a:moveTo>
                    <a:pt x="0" y="31380"/>
                  </a:moveTo>
                  <a:lnTo>
                    <a:pt x="44262" y="18857"/>
                  </a:lnTo>
                  <a:lnTo>
                    <a:pt x="2305" y="0"/>
                  </a:lnTo>
                  <a:lnTo>
                    <a:pt x="0" y="31380"/>
                  </a:lnTo>
                  <a:close/>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grpSp>
      <p:grpSp>
        <p:nvGrpSpPr>
          <p:cNvPr id="37" name="object 37"/>
          <p:cNvGrpSpPr/>
          <p:nvPr/>
        </p:nvGrpSpPr>
        <p:grpSpPr>
          <a:xfrm>
            <a:off x="9540416" y="2443132"/>
            <a:ext cx="463127" cy="67733"/>
            <a:chOff x="7155312" y="1832349"/>
            <a:chExt cx="347345" cy="50800"/>
          </a:xfrm>
        </p:grpSpPr>
        <p:sp>
          <p:nvSpPr>
            <p:cNvPr id="38" name="object 38"/>
            <p:cNvSpPr/>
            <p:nvPr/>
          </p:nvSpPr>
          <p:spPr>
            <a:xfrm>
              <a:off x="7160075" y="1852787"/>
              <a:ext cx="294640" cy="25400"/>
            </a:xfrm>
            <a:custGeom>
              <a:avLst/>
              <a:gdLst/>
              <a:ahLst/>
              <a:cxnLst/>
              <a:rect l="l" t="t" r="r" b="b"/>
              <a:pathLst>
                <a:path w="294640" h="25400">
                  <a:moveTo>
                    <a:pt x="0" y="25137"/>
                  </a:moveTo>
                  <a:lnTo>
                    <a:pt x="294356" y="0"/>
                  </a:lnTo>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sp>
          <p:nvSpPr>
            <p:cNvPr id="39" name="object 39"/>
            <p:cNvSpPr/>
            <p:nvPr/>
          </p:nvSpPr>
          <p:spPr>
            <a:xfrm>
              <a:off x="7453094" y="1837112"/>
              <a:ext cx="44450" cy="31750"/>
            </a:xfrm>
            <a:custGeom>
              <a:avLst/>
              <a:gdLst/>
              <a:ahLst/>
              <a:cxnLst/>
              <a:rect l="l" t="t" r="r" b="b"/>
              <a:pathLst>
                <a:path w="44450" h="31750">
                  <a:moveTo>
                    <a:pt x="2677" y="31351"/>
                  </a:moveTo>
                  <a:lnTo>
                    <a:pt x="0" y="0"/>
                  </a:lnTo>
                  <a:lnTo>
                    <a:pt x="44406" y="11997"/>
                  </a:lnTo>
                  <a:lnTo>
                    <a:pt x="2677" y="31351"/>
                  </a:lnTo>
                  <a:close/>
                </a:path>
              </a:pathLst>
            </a:custGeom>
            <a:solidFill>
              <a:srgbClr val="595959"/>
            </a:solidFill>
          </p:spPr>
          <p:txBody>
            <a:bodyPr wrap="square" lIns="0" tIns="0" rIns="0" bIns="0" rtlCol="0"/>
            <a:lstStyle/>
            <a:p>
              <a:endParaRPr>
                <a:latin typeface="Calibri" panose="020F0502020204030204" charset="0"/>
                <a:cs typeface="Calibri" panose="020F0502020204030204" charset="0"/>
              </a:endParaRPr>
            </a:p>
          </p:txBody>
        </p:sp>
        <p:sp>
          <p:nvSpPr>
            <p:cNvPr id="40" name="object 40"/>
            <p:cNvSpPr/>
            <p:nvPr/>
          </p:nvSpPr>
          <p:spPr>
            <a:xfrm>
              <a:off x="7453094" y="1837112"/>
              <a:ext cx="44450" cy="31750"/>
            </a:xfrm>
            <a:custGeom>
              <a:avLst/>
              <a:gdLst/>
              <a:ahLst/>
              <a:cxnLst/>
              <a:rect l="l" t="t" r="r" b="b"/>
              <a:pathLst>
                <a:path w="44450" h="31750">
                  <a:moveTo>
                    <a:pt x="2677" y="31351"/>
                  </a:moveTo>
                  <a:lnTo>
                    <a:pt x="44406" y="11997"/>
                  </a:lnTo>
                  <a:lnTo>
                    <a:pt x="0" y="0"/>
                  </a:lnTo>
                  <a:lnTo>
                    <a:pt x="2677" y="31351"/>
                  </a:lnTo>
                  <a:close/>
                </a:path>
              </a:pathLst>
            </a:custGeom>
            <a:ln w="9524">
              <a:solidFill>
                <a:srgbClr val="595959"/>
              </a:solidFill>
            </a:ln>
          </p:spPr>
          <p:txBody>
            <a:bodyPr wrap="square" lIns="0" tIns="0" rIns="0" bIns="0" rtlCol="0"/>
            <a:lstStyle/>
            <a:p>
              <a:endParaRPr>
                <a:latin typeface="Calibri" panose="020F0502020204030204" charset="0"/>
                <a:cs typeface="Calibri" panose="020F0502020204030204" charset="0"/>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4040" y="91758"/>
            <a:ext cx="9352915" cy="627380"/>
          </a:xfrm>
          <a:prstGeom prst="rect">
            <a:avLst/>
          </a:prstGeom>
        </p:spPr>
        <p:txBody>
          <a:bodyPr vert="horz" wrap="square" lIns="0" tIns="12065" rIns="0" bIns="0" rtlCol="0">
            <a:spAutoFit/>
          </a:bodyPr>
          <a:lstStyle/>
          <a:p>
            <a:pPr marL="12700">
              <a:lnSpc>
                <a:spcPct val="100000"/>
              </a:lnSpc>
              <a:spcBef>
                <a:spcPts val="95"/>
              </a:spcBef>
            </a:pPr>
            <a:r>
              <a:rPr spc="-10" dirty="0"/>
              <a:t>Types</a:t>
            </a:r>
            <a:r>
              <a:rPr spc="-90" dirty="0"/>
              <a:t> </a:t>
            </a:r>
            <a:r>
              <a:rPr dirty="0"/>
              <a:t>of</a:t>
            </a:r>
            <a:r>
              <a:rPr spc="-90" dirty="0"/>
              <a:t> </a:t>
            </a:r>
            <a:r>
              <a:rPr dirty="0"/>
              <a:t>artificial</a:t>
            </a:r>
            <a:r>
              <a:rPr spc="-85" dirty="0"/>
              <a:t> </a:t>
            </a:r>
            <a:r>
              <a:rPr spc="-10" dirty="0"/>
              <a:t>intelligence</a:t>
            </a:r>
            <a:endParaRPr spc="-10" dirty="0"/>
          </a:p>
        </p:txBody>
      </p:sp>
      <p:sp>
        <p:nvSpPr>
          <p:cNvPr id="3" name="object 3"/>
          <p:cNvSpPr txBox="1"/>
          <p:nvPr/>
        </p:nvSpPr>
        <p:spPr>
          <a:xfrm>
            <a:off x="1844141" y="521614"/>
            <a:ext cx="8512810" cy="6283325"/>
          </a:xfrm>
          <a:prstGeom prst="rect">
            <a:avLst/>
          </a:prstGeom>
        </p:spPr>
        <p:txBody>
          <a:bodyPr vert="horz" wrap="square" lIns="0" tIns="192405" rIns="0" bIns="0" rtlCol="0">
            <a:spAutoFit/>
          </a:bodyPr>
          <a:lstStyle/>
          <a:p>
            <a:pPr marL="23495">
              <a:lnSpc>
                <a:spcPct val="100000"/>
              </a:lnSpc>
              <a:spcBef>
                <a:spcPts val="1515"/>
              </a:spcBef>
            </a:pPr>
            <a:r>
              <a:rPr sz="2800" b="1" spc="150" dirty="0">
                <a:solidFill>
                  <a:srgbClr val="600A38"/>
                </a:solidFill>
                <a:latin typeface="Cambria" panose="02040503050406030204"/>
                <a:cs typeface="Cambria" panose="02040503050406030204"/>
              </a:rPr>
              <a:t>AI</a:t>
            </a:r>
            <a:r>
              <a:rPr sz="2800" b="1" spc="340" dirty="0">
                <a:solidFill>
                  <a:srgbClr val="600A38"/>
                </a:solidFill>
                <a:latin typeface="Cambria" panose="02040503050406030204"/>
                <a:cs typeface="Cambria" panose="02040503050406030204"/>
              </a:rPr>
              <a:t> </a:t>
            </a:r>
            <a:r>
              <a:rPr sz="2800" b="1" spc="150" dirty="0">
                <a:solidFill>
                  <a:srgbClr val="600A38"/>
                </a:solidFill>
                <a:latin typeface="Cambria" panose="02040503050406030204"/>
                <a:cs typeface="Cambria" panose="02040503050406030204"/>
              </a:rPr>
              <a:t>type-</a:t>
            </a:r>
            <a:r>
              <a:rPr sz="2800" b="1" spc="170" dirty="0">
                <a:solidFill>
                  <a:srgbClr val="600A38"/>
                </a:solidFill>
                <a:latin typeface="Cambria" panose="02040503050406030204"/>
                <a:cs typeface="Cambria" panose="02040503050406030204"/>
              </a:rPr>
              <a:t>1:</a:t>
            </a:r>
            <a:r>
              <a:rPr sz="2800" b="1" spc="355" dirty="0">
                <a:solidFill>
                  <a:srgbClr val="600A38"/>
                </a:solidFill>
                <a:latin typeface="Cambria" panose="02040503050406030204"/>
                <a:cs typeface="Cambria" panose="02040503050406030204"/>
              </a:rPr>
              <a:t> </a:t>
            </a:r>
            <a:r>
              <a:rPr sz="2800" b="1" spc="135" dirty="0">
                <a:solidFill>
                  <a:srgbClr val="600A38"/>
                </a:solidFill>
                <a:latin typeface="Cambria" panose="02040503050406030204"/>
                <a:cs typeface="Cambria" panose="02040503050406030204"/>
              </a:rPr>
              <a:t>Based</a:t>
            </a:r>
            <a:r>
              <a:rPr sz="2800" b="1" spc="325" dirty="0">
                <a:solidFill>
                  <a:srgbClr val="600A38"/>
                </a:solidFill>
                <a:latin typeface="Cambria" panose="02040503050406030204"/>
                <a:cs typeface="Cambria" panose="02040503050406030204"/>
              </a:rPr>
              <a:t> </a:t>
            </a:r>
            <a:r>
              <a:rPr sz="2800" b="1" spc="155" dirty="0">
                <a:solidFill>
                  <a:srgbClr val="600A38"/>
                </a:solidFill>
                <a:latin typeface="Cambria" panose="02040503050406030204"/>
                <a:cs typeface="Cambria" panose="02040503050406030204"/>
              </a:rPr>
              <a:t>on</a:t>
            </a:r>
            <a:r>
              <a:rPr sz="2800" b="1" spc="350" dirty="0">
                <a:solidFill>
                  <a:srgbClr val="600A38"/>
                </a:solidFill>
                <a:latin typeface="Cambria" panose="02040503050406030204"/>
                <a:cs typeface="Cambria" panose="02040503050406030204"/>
              </a:rPr>
              <a:t> </a:t>
            </a:r>
            <a:r>
              <a:rPr sz="2800" b="1" spc="130" dirty="0">
                <a:solidFill>
                  <a:srgbClr val="600A38"/>
                </a:solidFill>
                <a:latin typeface="Cambria" panose="02040503050406030204"/>
                <a:cs typeface="Cambria" panose="02040503050406030204"/>
              </a:rPr>
              <a:t>Capabilities</a:t>
            </a:r>
            <a:endParaRPr sz="2800">
              <a:latin typeface="Cambria" panose="02040503050406030204"/>
              <a:cs typeface="Cambria" panose="02040503050406030204"/>
            </a:endParaRPr>
          </a:p>
          <a:p>
            <a:pPr marL="12700">
              <a:lnSpc>
                <a:spcPct val="100000"/>
              </a:lnSpc>
              <a:spcBef>
                <a:spcPts val="1415"/>
              </a:spcBef>
            </a:pPr>
            <a:r>
              <a:rPr sz="2800" b="1" dirty="0">
                <a:latin typeface="Times New Roman" panose="02020603050405020304"/>
                <a:cs typeface="Times New Roman" panose="02020603050405020304"/>
              </a:rPr>
              <a:t>3.</a:t>
            </a:r>
            <a:r>
              <a:rPr sz="2800" b="1" spc="-5" dirty="0">
                <a:latin typeface="Times New Roman" panose="02020603050405020304"/>
                <a:cs typeface="Times New Roman" panose="02020603050405020304"/>
              </a:rPr>
              <a:t> </a:t>
            </a:r>
            <a:r>
              <a:rPr sz="2800" b="1" spc="-20" dirty="0">
                <a:latin typeface="Times New Roman" panose="02020603050405020304"/>
                <a:cs typeface="Times New Roman" panose="02020603050405020304"/>
              </a:rPr>
              <a:t>Super</a:t>
            </a:r>
            <a:r>
              <a:rPr sz="2800" b="1" spc="-195" dirty="0">
                <a:latin typeface="Times New Roman" panose="02020603050405020304"/>
                <a:cs typeface="Times New Roman" panose="02020603050405020304"/>
              </a:rPr>
              <a:t> </a:t>
            </a:r>
            <a:r>
              <a:rPr sz="2800" b="1" spc="-25" dirty="0">
                <a:latin typeface="Times New Roman" panose="02020603050405020304"/>
                <a:cs typeface="Times New Roman" panose="02020603050405020304"/>
              </a:rPr>
              <a:t>AI:</a:t>
            </a:r>
            <a:endParaRPr sz="2800">
              <a:latin typeface="Times New Roman" panose="02020603050405020304"/>
              <a:cs typeface="Times New Roman" panose="02020603050405020304"/>
            </a:endParaRPr>
          </a:p>
          <a:p>
            <a:pPr marL="584200" marR="5080" indent="-342900" algn="just">
              <a:lnSpc>
                <a:spcPct val="100000"/>
              </a:lnSpc>
              <a:spcBef>
                <a:spcPts val="1195"/>
              </a:spcBef>
              <a:buFont typeface="Microsoft Sans Serif" panose="020B0604020202020204"/>
              <a:buChar char="•"/>
              <a:tabLst>
                <a:tab pos="584200" algn="l"/>
              </a:tabLst>
            </a:pPr>
            <a:r>
              <a:rPr sz="2400" spc="185" dirty="0">
                <a:latin typeface="Cambria" panose="02040503050406030204"/>
                <a:cs typeface="Cambria" panose="02040503050406030204"/>
              </a:rPr>
              <a:t>Super</a:t>
            </a:r>
            <a:r>
              <a:rPr sz="2400" spc="290" dirty="0">
                <a:latin typeface="Cambria" panose="02040503050406030204"/>
                <a:cs typeface="Cambria" panose="02040503050406030204"/>
              </a:rPr>
              <a:t>  </a:t>
            </a:r>
            <a:r>
              <a:rPr sz="2400" spc="75" dirty="0">
                <a:latin typeface="Cambria" panose="02040503050406030204"/>
                <a:cs typeface="Cambria" panose="02040503050406030204"/>
              </a:rPr>
              <a:t>AI</a:t>
            </a:r>
            <a:r>
              <a:rPr sz="2400" spc="295" dirty="0">
                <a:latin typeface="Cambria" panose="02040503050406030204"/>
                <a:cs typeface="Cambria" panose="02040503050406030204"/>
              </a:rPr>
              <a:t>  </a:t>
            </a:r>
            <a:r>
              <a:rPr sz="2400" spc="125" dirty="0">
                <a:latin typeface="Cambria" panose="02040503050406030204"/>
                <a:cs typeface="Cambria" panose="02040503050406030204"/>
              </a:rPr>
              <a:t>is</a:t>
            </a:r>
            <a:r>
              <a:rPr sz="2400" spc="285" dirty="0">
                <a:latin typeface="Cambria" panose="02040503050406030204"/>
                <a:cs typeface="Cambria" panose="02040503050406030204"/>
              </a:rPr>
              <a:t>  </a:t>
            </a:r>
            <a:r>
              <a:rPr sz="2400" spc="210" dirty="0">
                <a:latin typeface="Cambria" panose="02040503050406030204"/>
                <a:cs typeface="Cambria" panose="02040503050406030204"/>
              </a:rPr>
              <a:t>a</a:t>
            </a:r>
            <a:r>
              <a:rPr sz="2400" spc="285" dirty="0">
                <a:latin typeface="Cambria" panose="02040503050406030204"/>
                <a:cs typeface="Cambria" panose="02040503050406030204"/>
              </a:rPr>
              <a:t>  </a:t>
            </a:r>
            <a:r>
              <a:rPr sz="2400" spc="50" dirty="0">
                <a:latin typeface="Cambria" panose="02040503050406030204"/>
                <a:cs typeface="Cambria" panose="02040503050406030204"/>
              </a:rPr>
              <a:t>level</a:t>
            </a:r>
            <a:r>
              <a:rPr sz="2400" spc="295" dirty="0">
                <a:latin typeface="Cambria" panose="02040503050406030204"/>
                <a:cs typeface="Cambria" panose="02040503050406030204"/>
              </a:rPr>
              <a:t>  </a:t>
            </a:r>
            <a:r>
              <a:rPr sz="2400" dirty="0">
                <a:latin typeface="Cambria" panose="02040503050406030204"/>
                <a:cs typeface="Cambria" panose="02040503050406030204"/>
              </a:rPr>
              <a:t>of</a:t>
            </a:r>
            <a:r>
              <a:rPr sz="2400" spc="285" dirty="0">
                <a:latin typeface="Cambria" panose="02040503050406030204"/>
                <a:cs typeface="Cambria" panose="02040503050406030204"/>
              </a:rPr>
              <a:t>  </a:t>
            </a:r>
            <a:r>
              <a:rPr sz="2400" spc="110" dirty="0">
                <a:latin typeface="Cambria" panose="02040503050406030204"/>
                <a:cs typeface="Cambria" panose="02040503050406030204"/>
              </a:rPr>
              <a:t>Intelligence</a:t>
            </a:r>
            <a:r>
              <a:rPr sz="2400" spc="295" dirty="0">
                <a:latin typeface="Cambria" panose="02040503050406030204"/>
                <a:cs typeface="Cambria" panose="02040503050406030204"/>
              </a:rPr>
              <a:t>  </a:t>
            </a:r>
            <a:r>
              <a:rPr sz="2400" spc="55" dirty="0">
                <a:latin typeface="Cambria" panose="02040503050406030204"/>
                <a:cs typeface="Cambria" panose="02040503050406030204"/>
              </a:rPr>
              <a:t>of</a:t>
            </a:r>
            <a:r>
              <a:rPr sz="2400" spc="285" dirty="0">
                <a:latin typeface="Cambria" panose="02040503050406030204"/>
                <a:cs typeface="Cambria" panose="02040503050406030204"/>
              </a:rPr>
              <a:t>  </a:t>
            </a:r>
            <a:r>
              <a:rPr sz="2400" spc="175" dirty="0">
                <a:latin typeface="Cambria" panose="02040503050406030204"/>
                <a:cs typeface="Cambria" panose="02040503050406030204"/>
              </a:rPr>
              <a:t>Systems</a:t>
            </a:r>
            <a:r>
              <a:rPr sz="2400" spc="290" dirty="0">
                <a:latin typeface="Cambria" panose="02040503050406030204"/>
                <a:cs typeface="Cambria" panose="02040503050406030204"/>
              </a:rPr>
              <a:t>  </a:t>
            </a:r>
            <a:r>
              <a:rPr sz="2400" spc="125" dirty="0">
                <a:latin typeface="Cambria" panose="02040503050406030204"/>
                <a:cs typeface="Cambria" panose="02040503050406030204"/>
              </a:rPr>
              <a:t>at </a:t>
            </a:r>
            <a:r>
              <a:rPr sz="2400" spc="145" dirty="0">
                <a:latin typeface="Cambria" panose="02040503050406030204"/>
                <a:cs typeface="Cambria" panose="02040503050406030204"/>
              </a:rPr>
              <a:t>which</a:t>
            </a:r>
            <a:r>
              <a:rPr sz="2400" spc="55" dirty="0">
                <a:latin typeface="Cambria" panose="02040503050406030204"/>
                <a:cs typeface="Cambria" panose="02040503050406030204"/>
              </a:rPr>
              <a:t>  </a:t>
            </a:r>
            <a:r>
              <a:rPr sz="2400" spc="180" dirty="0">
                <a:latin typeface="Cambria" panose="02040503050406030204"/>
                <a:cs typeface="Cambria" panose="02040503050406030204"/>
              </a:rPr>
              <a:t>machines</a:t>
            </a:r>
            <a:r>
              <a:rPr sz="2400" spc="55" dirty="0">
                <a:latin typeface="Cambria" panose="02040503050406030204"/>
                <a:cs typeface="Cambria" panose="02040503050406030204"/>
              </a:rPr>
              <a:t>  </a:t>
            </a:r>
            <a:r>
              <a:rPr sz="2400" spc="145" dirty="0">
                <a:latin typeface="Cambria" panose="02040503050406030204"/>
                <a:cs typeface="Cambria" panose="02040503050406030204"/>
              </a:rPr>
              <a:t>could</a:t>
            </a:r>
            <a:r>
              <a:rPr sz="2400" spc="55" dirty="0">
                <a:latin typeface="Cambria" panose="02040503050406030204"/>
                <a:cs typeface="Cambria" panose="02040503050406030204"/>
              </a:rPr>
              <a:t>  </a:t>
            </a:r>
            <a:r>
              <a:rPr sz="2400" spc="190" dirty="0">
                <a:latin typeface="Cambria" panose="02040503050406030204"/>
                <a:cs typeface="Cambria" panose="02040503050406030204"/>
              </a:rPr>
              <a:t>surpass</a:t>
            </a:r>
            <a:r>
              <a:rPr sz="2400" spc="60" dirty="0">
                <a:latin typeface="Cambria" panose="02040503050406030204"/>
                <a:cs typeface="Cambria" panose="02040503050406030204"/>
              </a:rPr>
              <a:t>  </a:t>
            </a:r>
            <a:r>
              <a:rPr sz="2400" spc="235" dirty="0">
                <a:latin typeface="Cambria" panose="02040503050406030204"/>
                <a:cs typeface="Cambria" panose="02040503050406030204"/>
              </a:rPr>
              <a:t>human</a:t>
            </a:r>
            <a:r>
              <a:rPr sz="2400" spc="55" dirty="0">
                <a:latin typeface="Cambria" panose="02040503050406030204"/>
                <a:cs typeface="Cambria" panose="02040503050406030204"/>
              </a:rPr>
              <a:t>  </a:t>
            </a:r>
            <a:r>
              <a:rPr sz="2400" spc="110" dirty="0">
                <a:latin typeface="Cambria" panose="02040503050406030204"/>
                <a:cs typeface="Cambria" panose="02040503050406030204"/>
              </a:rPr>
              <a:t>intelligence, </a:t>
            </a:r>
            <a:r>
              <a:rPr sz="2400" spc="185" dirty="0">
                <a:latin typeface="Cambria" panose="02040503050406030204"/>
                <a:cs typeface="Cambria" panose="02040503050406030204"/>
              </a:rPr>
              <a:t>and</a:t>
            </a:r>
            <a:r>
              <a:rPr sz="2400" spc="55" dirty="0">
                <a:latin typeface="Cambria" panose="02040503050406030204"/>
                <a:cs typeface="Cambria" panose="02040503050406030204"/>
              </a:rPr>
              <a:t>  </a:t>
            </a:r>
            <a:r>
              <a:rPr sz="2400" spc="210" dirty="0">
                <a:latin typeface="Cambria" panose="02040503050406030204"/>
                <a:cs typeface="Cambria" panose="02040503050406030204"/>
              </a:rPr>
              <a:t>can</a:t>
            </a:r>
            <a:r>
              <a:rPr sz="2400" spc="50" dirty="0">
                <a:latin typeface="Cambria" panose="02040503050406030204"/>
                <a:cs typeface="Cambria" panose="02040503050406030204"/>
              </a:rPr>
              <a:t>  </a:t>
            </a:r>
            <a:r>
              <a:rPr sz="2400" spc="95" dirty="0">
                <a:latin typeface="Cambria" panose="02040503050406030204"/>
                <a:cs typeface="Cambria" panose="02040503050406030204"/>
              </a:rPr>
              <a:t>perform</a:t>
            </a:r>
            <a:r>
              <a:rPr sz="2400" spc="45" dirty="0">
                <a:latin typeface="Cambria" panose="02040503050406030204"/>
                <a:cs typeface="Cambria" panose="02040503050406030204"/>
              </a:rPr>
              <a:t>  </a:t>
            </a:r>
            <a:r>
              <a:rPr sz="2400" spc="165" dirty="0">
                <a:latin typeface="Cambria" panose="02040503050406030204"/>
                <a:cs typeface="Cambria" panose="02040503050406030204"/>
              </a:rPr>
              <a:t>any</a:t>
            </a:r>
            <a:r>
              <a:rPr sz="2400" spc="60" dirty="0">
                <a:latin typeface="Cambria" panose="02040503050406030204"/>
                <a:cs typeface="Cambria" panose="02040503050406030204"/>
              </a:rPr>
              <a:t>  </a:t>
            </a:r>
            <a:r>
              <a:rPr sz="2400" spc="175" dirty="0">
                <a:latin typeface="Cambria" panose="02040503050406030204"/>
                <a:cs typeface="Cambria" panose="02040503050406030204"/>
              </a:rPr>
              <a:t>task</a:t>
            </a:r>
            <a:r>
              <a:rPr sz="2400" spc="60" dirty="0">
                <a:latin typeface="Cambria" panose="02040503050406030204"/>
                <a:cs typeface="Cambria" panose="02040503050406030204"/>
              </a:rPr>
              <a:t>  </a:t>
            </a:r>
            <a:r>
              <a:rPr sz="2400" spc="90" dirty="0">
                <a:latin typeface="Cambria" panose="02040503050406030204"/>
                <a:cs typeface="Cambria" panose="02040503050406030204"/>
              </a:rPr>
              <a:t>better</a:t>
            </a:r>
            <a:r>
              <a:rPr sz="2400" spc="60" dirty="0">
                <a:latin typeface="Cambria" panose="02040503050406030204"/>
                <a:cs typeface="Cambria" panose="02040503050406030204"/>
              </a:rPr>
              <a:t>  </a:t>
            </a:r>
            <a:r>
              <a:rPr sz="2400" spc="190" dirty="0">
                <a:latin typeface="Cambria" panose="02040503050406030204"/>
                <a:cs typeface="Cambria" panose="02040503050406030204"/>
              </a:rPr>
              <a:t>than</a:t>
            </a:r>
            <a:r>
              <a:rPr sz="2400" spc="55" dirty="0">
                <a:latin typeface="Cambria" panose="02040503050406030204"/>
                <a:cs typeface="Cambria" panose="02040503050406030204"/>
              </a:rPr>
              <a:t>  </a:t>
            </a:r>
            <a:r>
              <a:rPr sz="2400" spc="235" dirty="0">
                <a:latin typeface="Cambria" panose="02040503050406030204"/>
                <a:cs typeface="Cambria" panose="02040503050406030204"/>
              </a:rPr>
              <a:t>human</a:t>
            </a:r>
            <a:r>
              <a:rPr sz="2400" spc="50" dirty="0">
                <a:latin typeface="Cambria" panose="02040503050406030204"/>
                <a:cs typeface="Cambria" panose="02040503050406030204"/>
              </a:rPr>
              <a:t>  </a:t>
            </a:r>
            <a:r>
              <a:rPr sz="2400" spc="75" dirty="0">
                <a:latin typeface="Cambria" panose="02040503050406030204"/>
                <a:cs typeface="Cambria" panose="02040503050406030204"/>
              </a:rPr>
              <a:t>with </a:t>
            </a:r>
            <a:r>
              <a:rPr sz="2400" spc="90" dirty="0">
                <a:latin typeface="Cambria" panose="02040503050406030204"/>
                <a:cs typeface="Cambria" panose="02040503050406030204"/>
              </a:rPr>
              <a:t>cognitive</a:t>
            </a:r>
            <a:r>
              <a:rPr sz="2400" spc="290" dirty="0">
                <a:latin typeface="Cambria" panose="02040503050406030204"/>
                <a:cs typeface="Cambria" panose="02040503050406030204"/>
              </a:rPr>
              <a:t> </a:t>
            </a:r>
            <a:r>
              <a:rPr sz="2400" spc="100" dirty="0">
                <a:latin typeface="Cambria" panose="02040503050406030204"/>
                <a:cs typeface="Cambria" panose="02040503050406030204"/>
              </a:rPr>
              <a:t>properties.</a:t>
            </a:r>
            <a:endParaRPr sz="2400">
              <a:latin typeface="Cambria" panose="02040503050406030204"/>
              <a:cs typeface="Cambria" panose="02040503050406030204"/>
            </a:endParaRPr>
          </a:p>
          <a:p>
            <a:pPr marL="583565" indent="-342265" algn="just">
              <a:lnSpc>
                <a:spcPct val="100000"/>
              </a:lnSpc>
              <a:spcBef>
                <a:spcPts val="1200"/>
              </a:spcBef>
              <a:buFont typeface="Microsoft Sans Serif" panose="020B0604020202020204"/>
              <a:buChar char="•"/>
              <a:tabLst>
                <a:tab pos="583565" algn="l"/>
              </a:tabLst>
            </a:pPr>
            <a:r>
              <a:rPr sz="2400" spc="60" dirty="0">
                <a:latin typeface="Cambria" panose="02040503050406030204"/>
                <a:cs typeface="Cambria" panose="02040503050406030204"/>
              </a:rPr>
              <a:t>It</a:t>
            </a:r>
            <a:r>
              <a:rPr sz="2400" spc="240" dirty="0">
                <a:latin typeface="Cambria" panose="02040503050406030204"/>
                <a:cs typeface="Cambria" panose="02040503050406030204"/>
              </a:rPr>
              <a:t> </a:t>
            </a:r>
            <a:r>
              <a:rPr sz="2400" spc="125" dirty="0">
                <a:latin typeface="Cambria" panose="02040503050406030204"/>
                <a:cs typeface="Cambria" panose="02040503050406030204"/>
              </a:rPr>
              <a:t>is</a:t>
            </a:r>
            <a:r>
              <a:rPr sz="2400" spc="254" dirty="0">
                <a:latin typeface="Cambria" panose="02040503050406030204"/>
                <a:cs typeface="Cambria" panose="02040503050406030204"/>
              </a:rPr>
              <a:t> </a:t>
            </a:r>
            <a:r>
              <a:rPr sz="2400" spc="225" dirty="0">
                <a:latin typeface="Cambria" panose="02040503050406030204"/>
                <a:cs typeface="Cambria" panose="02040503050406030204"/>
              </a:rPr>
              <a:t>an</a:t>
            </a:r>
            <a:r>
              <a:rPr sz="2400" spc="254" dirty="0">
                <a:latin typeface="Cambria" panose="02040503050406030204"/>
                <a:cs typeface="Cambria" panose="02040503050406030204"/>
              </a:rPr>
              <a:t> </a:t>
            </a:r>
            <a:r>
              <a:rPr sz="2400" spc="135" dirty="0">
                <a:latin typeface="Cambria" panose="02040503050406030204"/>
                <a:cs typeface="Cambria" panose="02040503050406030204"/>
              </a:rPr>
              <a:t>outcome</a:t>
            </a:r>
            <a:r>
              <a:rPr sz="2400" spc="265" dirty="0">
                <a:latin typeface="Cambria" panose="02040503050406030204"/>
                <a:cs typeface="Cambria" panose="02040503050406030204"/>
              </a:rPr>
              <a:t> </a:t>
            </a:r>
            <a:r>
              <a:rPr sz="2400" dirty="0">
                <a:latin typeface="Cambria" panose="02040503050406030204"/>
                <a:cs typeface="Cambria" panose="02040503050406030204"/>
              </a:rPr>
              <a:t>of</a:t>
            </a:r>
            <a:r>
              <a:rPr sz="2400" spc="245" dirty="0">
                <a:latin typeface="Cambria" panose="02040503050406030204"/>
                <a:cs typeface="Cambria" panose="02040503050406030204"/>
              </a:rPr>
              <a:t> </a:t>
            </a:r>
            <a:r>
              <a:rPr sz="2400" spc="114" dirty="0">
                <a:latin typeface="Cambria" panose="02040503050406030204"/>
                <a:cs typeface="Cambria" panose="02040503050406030204"/>
              </a:rPr>
              <a:t>general</a:t>
            </a:r>
            <a:r>
              <a:rPr sz="2400" spc="254" dirty="0">
                <a:latin typeface="Cambria" panose="02040503050406030204"/>
                <a:cs typeface="Cambria" panose="02040503050406030204"/>
              </a:rPr>
              <a:t> </a:t>
            </a:r>
            <a:r>
              <a:rPr sz="2400" spc="114" dirty="0">
                <a:latin typeface="Cambria" panose="02040503050406030204"/>
                <a:cs typeface="Cambria" panose="02040503050406030204"/>
              </a:rPr>
              <a:t>AI.</a:t>
            </a:r>
            <a:endParaRPr sz="2400">
              <a:latin typeface="Cambria" panose="02040503050406030204"/>
              <a:cs typeface="Cambria" panose="02040503050406030204"/>
            </a:endParaRPr>
          </a:p>
          <a:p>
            <a:pPr marL="584200" marR="5080" indent="-342900" algn="just">
              <a:lnSpc>
                <a:spcPct val="100000"/>
              </a:lnSpc>
              <a:spcBef>
                <a:spcPts val="1205"/>
              </a:spcBef>
              <a:buFont typeface="Microsoft Sans Serif" panose="020B0604020202020204"/>
              <a:buChar char="•"/>
              <a:tabLst>
                <a:tab pos="584200" algn="l"/>
              </a:tabLst>
            </a:pPr>
            <a:r>
              <a:rPr sz="2400" spc="195" dirty="0">
                <a:latin typeface="Cambria" panose="02040503050406030204"/>
                <a:cs typeface="Cambria" panose="02040503050406030204"/>
              </a:rPr>
              <a:t>Some</a:t>
            </a:r>
            <a:r>
              <a:rPr sz="2400" spc="250" dirty="0">
                <a:latin typeface="Cambria" panose="02040503050406030204"/>
                <a:cs typeface="Cambria" panose="02040503050406030204"/>
              </a:rPr>
              <a:t>   </a:t>
            </a:r>
            <a:r>
              <a:rPr sz="2400" spc="114" dirty="0">
                <a:latin typeface="Cambria" panose="02040503050406030204"/>
                <a:cs typeface="Cambria" panose="02040503050406030204"/>
              </a:rPr>
              <a:t>key</a:t>
            </a:r>
            <a:r>
              <a:rPr sz="2400" spc="250" dirty="0">
                <a:latin typeface="Cambria" panose="02040503050406030204"/>
                <a:cs typeface="Cambria" panose="02040503050406030204"/>
              </a:rPr>
              <a:t>   </a:t>
            </a:r>
            <a:r>
              <a:rPr sz="2400" spc="135" dirty="0">
                <a:latin typeface="Cambria" panose="02040503050406030204"/>
                <a:cs typeface="Cambria" panose="02040503050406030204"/>
              </a:rPr>
              <a:t>characteristics</a:t>
            </a:r>
            <a:r>
              <a:rPr sz="2400" spc="250" dirty="0">
                <a:latin typeface="Cambria" panose="02040503050406030204"/>
                <a:cs typeface="Cambria" panose="02040503050406030204"/>
              </a:rPr>
              <a:t>   </a:t>
            </a:r>
            <a:r>
              <a:rPr sz="2400" spc="50" dirty="0">
                <a:latin typeface="Cambria" panose="02040503050406030204"/>
                <a:cs typeface="Cambria" panose="02040503050406030204"/>
              </a:rPr>
              <a:t>of</a:t>
            </a:r>
            <a:r>
              <a:rPr sz="2400" spc="250" dirty="0">
                <a:latin typeface="Cambria" panose="02040503050406030204"/>
                <a:cs typeface="Cambria" panose="02040503050406030204"/>
              </a:rPr>
              <a:t>   </a:t>
            </a:r>
            <a:r>
              <a:rPr sz="2400" spc="125" dirty="0">
                <a:latin typeface="Cambria" panose="02040503050406030204"/>
                <a:cs typeface="Cambria" panose="02040503050406030204"/>
              </a:rPr>
              <a:t>strong</a:t>
            </a:r>
            <a:r>
              <a:rPr sz="2400" spc="250" dirty="0">
                <a:latin typeface="Cambria" panose="02040503050406030204"/>
                <a:cs typeface="Cambria" panose="02040503050406030204"/>
              </a:rPr>
              <a:t>   </a:t>
            </a:r>
            <a:r>
              <a:rPr sz="2400" spc="75" dirty="0">
                <a:latin typeface="Cambria" panose="02040503050406030204"/>
                <a:cs typeface="Cambria" panose="02040503050406030204"/>
              </a:rPr>
              <a:t>AI</a:t>
            </a:r>
            <a:r>
              <a:rPr sz="2400" spc="250" dirty="0">
                <a:latin typeface="Cambria" panose="02040503050406030204"/>
                <a:cs typeface="Cambria" panose="02040503050406030204"/>
              </a:rPr>
              <a:t>   </a:t>
            </a:r>
            <a:r>
              <a:rPr sz="2400" spc="135" dirty="0">
                <a:latin typeface="Cambria" panose="02040503050406030204"/>
                <a:cs typeface="Cambria" panose="02040503050406030204"/>
              </a:rPr>
              <a:t>include </a:t>
            </a:r>
            <a:r>
              <a:rPr sz="2400" spc="125" dirty="0">
                <a:latin typeface="Cambria" panose="02040503050406030204"/>
                <a:cs typeface="Cambria" panose="02040503050406030204"/>
              </a:rPr>
              <a:t>capability</a:t>
            </a:r>
            <a:r>
              <a:rPr sz="2400" spc="270" dirty="0">
                <a:latin typeface="Cambria" panose="02040503050406030204"/>
                <a:cs typeface="Cambria" panose="02040503050406030204"/>
              </a:rPr>
              <a:t>  </a:t>
            </a:r>
            <a:r>
              <a:rPr sz="2400" spc="150" dirty="0">
                <a:latin typeface="Cambria" panose="02040503050406030204"/>
                <a:cs typeface="Cambria" panose="02040503050406030204"/>
              </a:rPr>
              <a:t>include</a:t>
            </a:r>
            <a:r>
              <a:rPr sz="2400" spc="265" dirty="0">
                <a:latin typeface="Cambria" panose="02040503050406030204"/>
                <a:cs typeface="Cambria" panose="02040503050406030204"/>
              </a:rPr>
              <a:t>  </a:t>
            </a:r>
            <a:r>
              <a:rPr sz="2400" spc="140" dirty="0">
                <a:latin typeface="Cambria" panose="02040503050406030204"/>
                <a:cs typeface="Cambria" panose="02040503050406030204"/>
              </a:rPr>
              <a:t>the</a:t>
            </a:r>
            <a:r>
              <a:rPr sz="2400" spc="265" dirty="0">
                <a:latin typeface="Cambria" panose="02040503050406030204"/>
                <a:cs typeface="Cambria" panose="02040503050406030204"/>
              </a:rPr>
              <a:t>  </a:t>
            </a:r>
            <a:r>
              <a:rPr sz="2400" spc="100" dirty="0">
                <a:latin typeface="Cambria" panose="02040503050406030204"/>
                <a:cs typeface="Cambria" panose="02040503050406030204"/>
              </a:rPr>
              <a:t>ability</a:t>
            </a:r>
            <a:r>
              <a:rPr sz="2400" spc="265" dirty="0">
                <a:latin typeface="Cambria" panose="02040503050406030204"/>
                <a:cs typeface="Cambria" panose="02040503050406030204"/>
              </a:rPr>
              <a:t>  </a:t>
            </a:r>
            <a:r>
              <a:rPr sz="2400" spc="80" dirty="0">
                <a:latin typeface="Cambria" panose="02040503050406030204"/>
                <a:cs typeface="Cambria" panose="02040503050406030204"/>
              </a:rPr>
              <a:t>to</a:t>
            </a:r>
            <a:r>
              <a:rPr sz="2400" spc="265" dirty="0">
                <a:latin typeface="Cambria" panose="02040503050406030204"/>
                <a:cs typeface="Cambria" panose="02040503050406030204"/>
              </a:rPr>
              <a:t>  </a:t>
            </a:r>
            <a:r>
              <a:rPr sz="2400" spc="185" dirty="0">
                <a:latin typeface="Cambria" panose="02040503050406030204"/>
                <a:cs typeface="Cambria" panose="02040503050406030204"/>
              </a:rPr>
              <a:t>think,</a:t>
            </a:r>
            <a:r>
              <a:rPr sz="2400" spc="265" dirty="0">
                <a:latin typeface="Cambria" panose="02040503050406030204"/>
                <a:cs typeface="Cambria" panose="02040503050406030204"/>
              </a:rPr>
              <a:t>  </a:t>
            </a:r>
            <a:r>
              <a:rPr sz="2400" spc="80" dirty="0">
                <a:latin typeface="Cambria" panose="02040503050406030204"/>
                <a:cs typeface="Cambria" panose="02040503050406030204"/>
              </a:rPr>
              <a:t>to</a:t>
            </a:r>
            <a:r>
              <a:rPr sz="2400" spc="260" dirty="0">
                <a:latin typeface="Cambria" panose="02040503050406030204"/>
                <a:cs typeface="Cambria" panose="02040503050406030204"/>
              </a:rPr>
              <a:t>  </a:t>
            </a:r>
            <a:r>
              <a:rPr sz="2400" spc="150" dirty="0">
                <a:latin typeface="Cambria" panose="02040503050406030204"/>
                <a:cs typeface="Cambria" panose="02040503050406030204"/>
              </a:rPr>
              <a:t>reason, </a:t>
            </a:r>
            <a:r>
              <a:rPr sz="2400" spc="85" dirty="0">
                <a:latin typeface="Cambria" panose="02040503050406030204"/>
                <a:cs typeface="Cambria" panose="02040503050406030204"/>
              </a:rPr>
              <a:t>solve</a:t>
            </a:r>
            <a:r>
              <a:rPr sz="2400" spc="40" dirty="0">
                <a:latin typeface="Cambria" panose="02040503050406030204"/>
                <a:cs typeface="Cambria" panose="02040503050406030204"/>
              </a:rPr>
              <a:t>  </a:t>
            </a:r>
            <a:r>
              <a:rPr sz="2400" spc="140" dirty="0">
                <a:latin typeface="Cambria" panose="02040503050406030204"/>
                <a:cs typeface="Cambria" panose="02040503050406030204"/>
              </a:rPr>
              <a:t>the</a:t>
            </a:r>
            <a:r>
              <a:rPr sz="2400" spc="45" dirty="0">
                <a:latin typeface="Cambria" panose="02040503050406030204"/>
                <a:cs typeface="Cambria" panose="02040503050406030204"/>
              </a:rPr>
              <a:t>  </a:t>
            </a:r>
            <a:r>
              <a:rPr sz="2400" spc="140" dirty="0">
                <a:latin typeface="Cambria" panose="02040503050406030204"/>
                <a:cs typeface="Cambria" panose="02040503050406030204"/>
              </a:rPr>
              <a:t>puzzle,</a:t>
            </a:r>
            <a:r>
              <a:rPr sz="2400" spc="40" dirty="0">
                <a:latin typeface="Cambria" panose="02040503050406030204"/>
                <a:cs typeface="Cambria" panose="02040503050406030204"/>
              </a:rPr>
              <a:t>  </a:t>
            </a:r>
            <a:r>
              <a:rPr sz="2400" spc="180" dirty="0">
                <a:latin typeface="Cambria" panose="02040503050406030204"/>
                <a:cs typeface="Cambria" panose="02040503050406030204"/>
              </a:rPr>
              <a:t>make</a:t>
            </a:r>
            <a:r>
              <a:rPr sz="2400" spc="40" dirty="0">
                <a:latin typeface="Cambria" panose="02040503050406030204"/>
                <a:cs typeface="Cambria" panose="02040503050406030204"/>
              </a:rPr>
              <a:t>  </a:t>
            </a:r>
            <a:r>
              <a:rPr sz="2400" spc="180" dirty="0">
                <a:latin typeface="Cambria" panose="02040503050406030204"/>
                <a:cs typeface="Cambria" panose="02040503050406030204"/>
              </a:rPr>
              <a:t>judgments,</a:t>
            </a:r>
            <a:r>
              <a:rPr sz="2400" spc="40" dirty="0">
                <a:latin typeface="Cambria" panose="02040503050406030204"/>
                <a:cs typeface="Cambria" panose="02040503050406030204"/>
              </a:rPr>
              <a:t>  </a:t>
            </a:r>
            <a:r>
              <a:rPr sz="2400" spc="185" dirty="0">
                <a:latin typeface="Cambria" panose="02040503050406030204"/>
                <a:cs typeface="Cambria" panose="02040503050406030204"/>
              </a:rPr>
              <a:t>plan,</a:t>
            </a:r>
            <a:r>
              <a:rPr sz="2400" spc="35" dirty="0">
                <a:latin typeface="Cambria" panose="02040503050406030204"/>
                <a:cs typeface="Cambria" panose="02040503050406030204"/>
              </a:rPr>
              <a:t>  </a:t>
            </a:r>
            <a:r>
              <a:rPr sz="2400" spc="155" dirty="0">
                <a:latin typeface="Cambria" panose="02040503050406030204"/>
                <a:cs typeface="Cambria" panose="02040503050406030204"/>
              </a:rPr>
              <a:t>learn,</a:t>
            </a:r>
            <a:r>
              <a:rPr sz="2400" spc="35" dirty="0">
                <a:latin typeface="Cambria" panose="02040503050406030204"/>
                <a:cs typeface="Cambria" panose="02040503050406030204"/>
              </a:rPr>
              <a:t>  </a:t>
            </a:r>
            <a:r>
              <a:rPr sz="2400" spc="160" dirty="0">
                <a:latin typeface="Cambria" panose="02040503050406030204"/>
                <a:cs typeface="Cambria" panose="02040503050406030204"/>
              </a:rPr>
              <a:t>and </a:t>
            </a:r>
            <a:r>
              <a:rPr sz="2400" spc="170" dirty="0">
                <a:latin typeface="Cambria" panose="02040503050406030204"/>
                <a:cs typeface="Cambria" panose="02040503050406030204"/>
              </a:rPr>
              <a:t>communicate</a:t>
            </a:r>
            <a:r>
              <a:rPr sz="2400" spc="254" dirty="0">
                <a:latin typeface="Cambria" panose="02040503050406030204"/>
                <a:cs typeface="Cambria" panose="02040503050406030204"/>
              </a:rPr>
              <a:t> </a:t>
            </a:r>
            <a:r>
              <a:rPr sz="2400" spc="120" dirty="0">
                <a:latin typeface="Cambria" panose="02040503050406030204"/>
                <a:cs typeface="Cambria" panose="02040503050406030204"/>
              </a:rPr>
              <a:t>by</a:t>
            </a:r>
            <a:r>
              <a:rPr sz="2400" spc="254" dirty="0">
                <a:latin typeface="Cambria" panose="02040503050406030204"/>
                <a:cs typeface="Cambria" panose="02040503050406030204"/>
              </a:rPr>
              <a:t> </a:t>
            </a:r>
            <a:r>
              <a:rPr sz="2400" spc="110" dirty="0">
                <a:latin typeface="Cambria" panose="02040503050406030204"/>
                <a:cs typeface="Cambria" panose="02040503050406030204"/>
              </a:rPr>
              <a:t>its</a:t>
            </a:r>
            <a:r>
              <a:rPr sz="2400" spc="260" dirty="0">
                <a:latin typeface="Cambria" panose="02040503050406030204"/>
                <a:cs typeface="Cambria" panose="02040503050406030204"/>
              </a:rPr>
              <a:t> </a:t>
            </a:r>
            <a:r>
              <a:rPr sz="2400" spc="120" dirty="0">
                <a:latin typeface="Cambria" panose="02040503050406030204"/>
                <a:cs typeface="Cambria" panose="02040503050406030204"/>
              </a:rPr>
              <a:t>own.</a:t>
            </a:r>
            <a:endParaRPr sz="2400">
              <a:latin typeface="Cambria" panose="02040503050406030204"/>
              <a:cs typeface="Cambria" panose="02040503050406030204"/>
            </a:endParaRPr>
          </a:p>
          <a:p>
            <a:pPr marL="584200" marR="5080" indent="-342900" algn="just">
              <a:lnSpc>
                <a:spcPct val="100000"/>
              </a:lnSpc>
              <a:spcBef>
                <a:spcPts val="1200"/>
              </a:spcBef>
              <a:buFont typeface="Microsoft Sans Serif" panose="020B0604020202020204"/>
              <a:buChar char="•"/>
              <a:tabLst>
                <a:tab pos="584200" algn="l"/>
              </a:tabLst>
            </a:pPr>
            <a:r>
              <a:rPr sz="2400" spc="190" dirty="0">
                <a:latin typeface="Cambria" panose="02040503050406030204"/>
                <a:cs typeface="Cambria" panose="02040503050406030204"/>
              </a:rPr>
              <a:t>Super</a:t>
            </a:r>
            <a:r>
              <a:rPr sz="2400" spc="75" dirty="0">
                <a:latin typeface="Cambria" panose="02040503050406030204"/>
                <a:cs typeface="Cambria" panose="02040503050406030204"/>
              </a:rPr>
              <a:t>  AI</a:t>
            </a:r>
            <a:r>
              <a:rPr sz="2400" spc="75" dirty="0">
                <a:latin typeface="Cambria" panose="02040503050406030204"/>
                <a:cs typeface="Cambria" panose="02040503050406030204"/>
              </a:rPr>
              <a:t>  </a:t>
            </a:r>
            <a:r>
              <a:rPr sz="2400" spc="125" dirty="0">
                <a:latin typeface="Cambria" panose="02040503050406030204"/>
                <a:cs typeface="Cambria" panose="02040503050406030204"/>
              </a:rPr>
              <a:t>is</a:t>
            </a:r>
            <a:r>
              <a:rPr sz="2400" spc="75" dirty="0">
                <a:latin typeface="Cambria" panose="02040503050406030204"/>
                <a:cs typeface="Cambria" panose="02040503050406030204"/>
              </a:rPr>
              <a:t>  </a:t>
            </a:r>
            <a:r>
              <a:rPr sz="2400" spc="95" dirty="0">
                <a:latin typeface="Cambria" panose="02040503050406030204"/>
                <a:cs typeface="Cambria" panose="02040503050406030204"/>
              </a:rPr>
              <a:t>still</a:t>
            </a:r>
            <a:r>
              <a:rPr sz="2400" spc="75" dirty="0">
                <a:latin typeface="Cambria" panose="02040503050406030204"/>
                <a:cs typeface="Cambria" panose="02040503050406030204"/>
              </a:rPr>
              <a:t>  </a:t>
            </a:r>
            <a:r>
              <a:rPr sz="2400" spc="210" dirty="0">
                <a:latin typeface="Cambria" panose="02040503050406030204"/>
                <a:cs typeface="Cambria" panose="02040503050406030204"/>
              </a:rPr>
              <a:t>a</a:t>
            </a:r>
            <a:r>
              <a:rPr sz="2400" spc="80" dirty="0">
                <a:latin typeface="Cambria" panose="02040503050406030204"/>
                <a:cs typeface="Cambria" panose="02040503050406030204"/>
              </a:rPr>
              <a:t>  </a:t>
            </a:r>
            <a:r>
              <a:rPr sz="2400" spc="125" dirty="0">
                <a:latin typeface="Cambria" panose="02040503050406030204"/>
                <a:cs typeface="Cambria" panose="02040503050406030204"/>
              </a:rPr>
              <a:t>hypothetical</a:t>
            </a:r>
            <a:r>
              <a:rPr sz="2400" spc="75" dirty="0">
                <a:latin typeface="Cambria" panose="02040503050406030204"/>
                <a:cs typeface="Cambria" panose="02040503050406030204"/>
              </a:rPr>
              <a:t>  </a:t>
            </a:r>
            <a:r>
              <a:rPr sz="2400" spc="135" dirty="0">
                <a:latin typeface="Cambria" panose="02040503050406030204"/>
                <a:cs typeface="Cambria" panose="02040503050406030204"/>
              </a:rPr>
              <a:t>concept</a:t>
            </a:r>
            <a:r>
              <a:rPr sz="2400" spc="75" dirty="0">
                <a:latin typeface="Cambria" panose="02040503050406030204"/>
                <a:cs typeface="Cambria" panose="02040503050406030204"/>
              </a:rPr>
              <a:t>  </a:t>
            </a:r>
            <a:r>
              <a:rPr sz="2400" spc="50" dirty="0">
                <a:latin typeface="Cambria" panose="02040503050406030204"/>
                <a:cs typeface="Cambria" panose="02040503050406030204"/>
              </a:rPr>
              <a:t>of</a:t>
            </a:r>
            <a:r>
              <a:rPr sz="2400" spc="75" dirty="0">
                <a:latin typeface="Cambria" panose="02040503050406030204"/>
                <a:cs typeface="Cambria" panose="02040503050406030204"/>
              </a:rPr>
              <a:t>  </a:t>
            </a:r>
            <a:r>
              <a:rPr sz="2400" spc="80" dirty="0">
                <a:latin typeface="Cambria" panose="02040503050406030204"/>
                <a:cs typeface="Cambria" panose="02040503050406030204"/>
              </a:rPr>
              <a:t>Artificial </a:t>
            </a:r>
            <a:r>
              <a:rPr sz="2400" spc="114" dirty="0">
                <a:latin typeface="Cambria" panose="02040503050406030204"/>
                <a:cs typeface="Cambria" panose="02040503050406030204"/>
              </a:rPr>
              <a:t>Intelligence.</a:t>
            </a:r>
            <a:r>
              <a:rPr sz="2400" spc="475" dirty="0">
                <a:latin typeface="Cambria" panose="02040503050406030204"/>
                <a:cs typeface="Cambria" panose="02040503050406030204"/>
              </a:rPr>
              <a:t> </a:t>
            </a:r>
            <a:r>
              <a:rPr sz="2400" spc="120" dirty="0">
                <a:latin typeface="Cambria" panose="02040503050406030204"/>
                <a:cs typeface="Cambria" panose="02040503050406030204"/>
              </a:rPr>
              <a:t>Development</a:t>
            </a:r>
            <a:r>
              <a:rPr sz="2400" spc="490" dirty="0">
                <a:latin typeface="Cambria" panose="02040503050406030204"/>
                <a:cs typeface="Cambria" panose="02040503050406030204"/>
              </a:rPr>
              <a:t> </a:t>
            </a:r>
            <a:r>
              <a:rPr sz="2400" spc="50" dirty="0">
                <a:latin typeface="Cambria" panose="02040503050406030204"/>
                <a:cs typeface="Cambria" panose="02040503050406030204"/>
              </a:rPr>
              <a:t>of</a:t>
            </a:r>
            <a:r>
              <a:rPr sz="2400" spc="480" dirty="0">
                <a:latin typeface="Cambria" panose="02040503050406030204"/>
                <a:cs typeface="Cambria" panose="02040503050406030204"/>
              </a:rPr>
              <a:t> </a:t>
            </a:r>
            <a:r>
              <a:rPr sz="2400" spc="229" dirty="0">
                <a:latin typeface="Cambria" panose="02040503050406030204"/>
                <a:cs typeface="Cambria" panose="02040503050406030204"/>
              </a:rPr>
              <a:t>such</a:t>
            </a:r>
            <a:r>
              <a:rPr sz="2400" spc="484" dirty="0">
                <a:latin typeface="Cambria" panose="02040503050406030204"/>
                <a:cs typeface="Cambria" panose="02040503050406030204"/>
              </a:rPr>
              <a:t> </a:t>
            </a:r>
            <a:r>
              <a:rPr sz="2400" spc="155" dirty="0">
                <a:latin typeface="Cambria" panose="02040503050406030204"/>
                <a:cs typeface="Cambria" panose="02040503050406030204"/>
              </a:rPr>
              <a:t>systems</a:t>
            </a:r>
            <a:r>
              <a:rPr sz="2400" spc="484" dirty="0">
                <a:latin typeface="Cambria" panose="02040503050406030204"/>
                <a:cs typeface="Cambria" panose="02040503050406030204"/>
              </a:rPr>
              <a:t> </a:t>
            </a:r>
            <a:r>
              <a:rPr sz="2400" spc="145" dirty="0">
                <a:latin typeface="Cambria" panose="02040503050406030204"/>
                <a:cs typeface="Cambria" panose="02040503050406030204"/>
              </a:rPr>
              <a:t>in</a:t>
            </a:r>
            <a:r>
              <a:rPr sz="2400" spc="484" dirty="0">
                <a:latin typeface="Cambria" panose="02040503050406030204"/>
                <a:cs typeface="Cambria" panose="02040503050406030204"/>
              </a:rPr>
              <a:t> </a:t>
            </a:r>
            <a:r>
              <a:rPr sz="2400" spc="95" dirty="0">
                <a:latin typeface="Cambria" panose="02040503050406030204"/>
                <a:cs typeface="Cambria" panose="02040503050406030204"/>
              </a:rPr>
              <a:t>real</a:t>
            </a:r>
            <a:r>
              <a:rPr sz="2400" spc="465" dirty="0">
                <a:latin typeface="Cambria" panose="02040503050406030204"/>
                <a:cs typeface="Cambria" panose="02040503050406030204"/>
              </a:rPr>
              <a:t> </a:t>
            </a:r>
            <a:r>
              <a:rPr sz="2400" spc="110" dirty="0">
                <a:latin typeface="Cambria" panose="02040503050406030204"/>
                <a:cs typeface="Cambria" panose="02040503050406030204"/>
              </a:rPr>
              <a:t>is </a:t>
            </a:r>
            <a:r>
              <a:rPr sz="2400" spc="95" dirty="0">
                <a:latin typeface="Cambria" panose="02040503050406030204"/>
                <a:cs typeface="Cambria" panose="02040503050406030204"/>
              </a:rPr>
              <a:t>still</a:t>
            </a:r>
            <a:r>
              <a:rPr sz="2400" spc="270" dirty="0">
                <a:latin typeface="Cambria" panose="02040503050406030204"/>
                <a:cs typeface="Cambria" panose="02040503050406030204"/>
              </a:rPr>
              <a:t> </a:t>
            </a:r>
            <a:r>
              <a:rPr sz="2400" spc="70" dirty="0">
                <a:latin typeface="Cambria" panose="02040503050406030204"/>
                <a:cs typeface="Cambria" panose="02040503050406030204"/>
              </a:rPr>
              <a:t>world</a:t>
            </a:r>
            <a:r>
              <a:rPr sz="2400" spc="254" dirty="0">
                <a:latin typeface="Cambria" panose="02040503050406030204"/>
                <a:cs typeface="Cambria" panose="02040503050406030204"/>
              </a:rPr>
              <a:t> </a:t>
            </a:r>
            <a:r>
              <a:rPr sz="2400" spc="165" dirty="0">
                <a:latin typeface="Cambria" panose="02040503050406030204"/>
                <a:cs typeface="Cambria" panose="02040503050406030204"/>
              </a:rPr>
              <a:t>changing</a:t>
            </a:r>
            <a:r>
              <a:rPr sz="2400" spc="275" dirty="0">
                <a:latin typeface="Cambria" panose="02040503050406030204"/>
                <a:cs typeface="Cambria" panose="02040503050406030204"/>
              </a:rPr>
              <a:t> </a:t>
            </a:r>
            <a:r>
              <a:rPr sz="2400" spc="175" dirty="0">
                <a:latin typeface="Cambria" panose="02040503050406030204"/>
                <a:cs typeface="Cambria" panose="02040503050406030204"/>
              </a:rPr>
              <a:t>task.</a:t>
            </a:r>
            <a:endParaRPr sz="2400">
              <a:latin typeface="Cambria" panose="02040503050406030204"/>
              <a:cs typeface="Cambria" panose="020405030504060302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1340" y="124778"/>
            <a:ext cx="8143240" cy="627380"/>
          </a:xfrm>
          <a:prstGeom prst="rect">
            <a:avLst/>
          </a:prstGeom>
        </p:spPr>
        <p:txBody>
          <a:bodyPr vert="horz" wrap="square" lIns="0" tIns="12065" rIns="0" bIns="0" rtlCol="0">
            <a:spAutoFit/>
          </a:bodyPr>
          <a:lstStyle/>
          <a:p>
            <a:pPr marL="12700">
              <a:lnSpc>
                <a:spcPct val="100000"/>
              </a:lnSpc>
              <a:spcBef>
                <a:spcPts val="95"/>
              </a:spcBef>
            </a:pPr>
            <a:r>
              <a:rPr spc="-10" dirty="0"/>
              <a:t>Types</a:t>
            </a:r>
            <a:r>
              <a:rPr spc="-90" dirty="0"/>
              <a:t> </a:t>
            </a:r>
            <a:r>
              <a:rPr dirty="0"/>
              <a:t>of</a:t>
            </a:r>
            <a:r>
              <a:rPr spc="-90" dirty="0"/>
              <a:t> </a:t>
            </a:r>
            <a:r>
              <a:rPr dirty="0"/>
              <a:t>artificial</a:t>
            </a:r>
            <a:r>
              <a:rPr spc="-85" dirty="0"/>
              <a:t> </a:t>
            </a:r>
            <a:r>
              <a:rPr spc="-10" dirty="0"/>
              <a:t>intelligence</a:t>
            </a:r>
            <a:endParaRPr spc="-10" dirty="0"/>
          </a:p>
        </p:txBody>
      </p:sp>
      <p:sp>
        <p:nvSpPr>
          <p:cNvPr id="3" name="object 3"/>
          <p:cNvSpPr txBox="1"/>
          <p:nvPr/>
        </p:nvSpPr>
        <p:spPr>
          <a:xfrm>
            <a:off x="784860" y="882395"/>
            <a:ext cx="8317865" cy="5099685"/>
          </a:xfrm>
          <a:prstGeom prst="rect">
            <a:avLst/>
          </a:prstGeom>
        </p:spPr>
        <p:txBody>
          <a:bodyPr vert="horz" wrap="square" lIns="0" tIns="12700" rIns="0" bIns="0" rtlCol="0">
            <a:spAutoFit/>
          </a:bodyPr>
          <a:lstStyle/>
          <a:p>
            <a:pPr marL="12700">
              <a:lnSpc>
                <a:spcPct val="100000"/>
              </a:lnSpc>
              <a:spcBef>
                <a:spcPts val="100"/>
              </a:spcBef>
            </a:pPr>
            <a:r>
              <a:rPr sz="2400" b="1" spc="125" dirty="0">
                <a:latin typeface="Cambria" panose="02040503050406030204"/>
                <a:cs typeface="Cambria" panose="02040503050406030204"/>
              </a:rPr>
              <a:t>Artificial</a:t>
            </a:r>
            <a:r>
              <a:rPr sz="2400" b="1" spc="260" dirty="0">
                <a:latin typeface="Cambria" panose="02040503050406030204"/>
                <a:cs typeface="Cambria" panose="02040503050406030204"/>
              </a:rPr>
              <a:t> </a:t>
            </a:r>
            <a:r>
              <a:rPr sz="2400" b="1" spc="135" dirty="0">
                <a:latin typeface="Cambria" panose="02040503050406030204"/>
                <a:cs typeface="Cambria" panose="02040503050406030204"/>
              </a:rPr>
              <a:t>Intelligence</a:t>
            </a:r>
            <a:r>
              <a:rPr sz="2400" b="1" spc="275" dirty="0">
                <a:latin typeface="Cambria" panose="02040503050406030204"/>
                <a:cs typeface="Cambria" panose="02040503050406030204"/>
              </a:rPr>
              <a:t> </a:t>
            </a:r>
            <a:r>
              <a:rPr sz="2400" b="1" spc="130" dirty="0">
                <a:latin typeface="Cambria" panose="02040503050406030204"/>
                <a:cs typeface="Cambria" panose="02040503050406030204"/>
              </a:rPr>
              <a:t>type-</a:t>
            </a:r>
            <a:r>
              <a:rPr sz="2400" b="1" spc="145" dirty="0">
                <a:latin typeface="Cambria" panose="02040503050406030204"/>
                <a:cs typeface="Cambria" panose="02040503050406030204"/>
              </a:rPr>
              <a:t>2:</a:t>
            </a:r>
            <a:r>
              <a:rPr sz="2400" b="1" spc="280" dirty="0">
                <a:latin typeface="Cambria" panose="02040503050406030204"/>
                <a:cs typeface="Cambria" panose="02040503050406030204"/>
              </a:rPr>
              <a:t> </a:t>
            </a:r>
            <a:r>
              <a:rPr sz="2400" b="1" spc="114" dirty="0">
                <a:latin typeface="Cambria" panose="02040503050406030204"/>
                <a:cs typeface="Cambria" panose="02040503050406030204"/>
              </a:rPr>
              <a:t>Based</a:t>
            </a:r>
            <a:r>
              <a:rPr sz="2400" b="1" spc="285" dirty="0">
                <a:latin typeface="Cambria" panose="02040503050406030204"/>
                <a:cs typeface="Cambria" panose="02040503050406030204"/>
              </a:rPr>
              <a:t> </a:t>
            </a:r>
            <a:r>
              <a:rPr sz="2400" b="1" spc="135" dirty="0">
                <a:latin typeface="Cambria" panose="02040503050406030204"/>
                <a:cs typeface="Cambria" panose="02040503050406030204"/>
              </a:rPr>
              <a:t>on</a:t>
            </a:r>
            <a:r>
              <a:rPr sz="2400" b="1" spc="295" dirty="0">
                <a:latin typeface="Cambria" panose="02040503050406030204"/>
                <a:cs typeface="Cambria" panose="02040503050406030204"/>
              </a:rPr>
              <a:t> </a:t>
            </a:r>
            <a:r>
              <a:rPr sz="2400" b="1" spc="135" dirty="0">
                <a:latin typeface="Cambria" panose="02040503050406030204"/>
                <a:cs typeface="Cambria" panose="02040503050406030204"/>
              </a:rPr>
              <a:t>functionality</a:t>
            </a:r>
            <a:endParaRPr sz="2400">
              <a:latin typeface="Cambria" panose="02040503050406030204"/>
              <a:cs typeface="Cambria" panose="02040503050406030204"/>
            </a:endParaRPr>
          </a:p>
          <a:p>
            <a:pPr marL="448310" indent="-407035">
              <a:lnSpc>
                <a:spcPct val="100000"/>
              </a:lnSpc>
              <a:spcBef>
                <a:spcPts val="2135"/>
              </a:spcBef>
              <a:buAutoNum type="arabicPeriod"/>
              <a:tabLst>
                <a:tab pos="447675" algn="l"/>
              </a:tabLst>
            </a:pPr>
            <a:r>
              <a:rPr sz="2400" b="1" spc="160" dirty="0">
                <a:latin typeface="Cambria" panose="02040503050406030204"/>
                <a:cs typeface="Cambria" panose="02040503050406030204"/>
              </a:rPr>
              <a:t>Reactive</a:t>
            </a:r>
            <a:r>
              <a:rPr sz="2400" b="1" spc="265" dirty="0">
                <a:latin typeface="Cambria" panose="02040503050406030204"/>
                <a:cs typeface="Cambria" panose="02040503050406030204"/>
              </a:rPr>
              <a:t> </a:t>
            </a:r>
            <a:r>
              <a:rPr sz="2400" b="1" spc="155" dirty="0">
                <a:latin typeface="Cambria" panose="02040503050406030204"/>
                <a:cs typeface="Cambria" panose="02040503050406030204"/>
              </a:rPr>
              <a:t>Machines</a:t>
            </a:r>
            <a:endParaRPr sz="2400">
              <a:latin typeface="Cambria" panose="02040503050406030204"/>
              <a:cs typeface="Cambria" panose="02040503050406030204"/>
            </a:endParaRPr>
          </a:p>
          <a:p>
            <a:pPr marL="670560" marR="144780" lvl="1" indent="-342900">
              <a:lnSpc>
                <a:spcPct val="100000"/>
              </a:lnSpc>
              <a:spcBef>
                <a:spcPts val="575"/>
              </a:spcBef>
              <a:buFont typeface="Microsoft Sans Serif" panose="020B0604020202020204"/>
              <a:buChar char="•"/>
              <a:tabLst>
                <a:tab pos="670560" algn="l"/>
              </a:tabLst>
            </a:pPr>
            <a:r>
              <a:rPr sz="2400" spc="105" dirty="0">
                <a:latin typeface="Cambria" panose="02040503050406030204"/>
                <a:cs typeface="Cambria" panose="02040503050406030204"/>
              </a:rPr>
              <a:t>Purely</a:t>
            </a:r>
            <a:r>
              <a:rPr sz="2400" spc="300" dirty="0">
                <a:latin typeface="Cambria" panose="02040503050406030204"/>
                <a:cs typeface="Cambria" panose="02040503050406030204"/>
              </a:rPr>
              <a:t> </a:t>
            </a:r>
            <a:r>
              <a:rPr sz="2400" spc="90" dirty="0">
                <a:latin typeface="Cambria" panose="02040503050406030204"/>
                <a:cs typeface="Cambria" panose="02040503050406030204"/>
              </a:rPr>
              <a:t>reactive</a:t>
            </a:r>
            <a:r>
              <a:rPr sz="2400" spc="295" dirty="0">
                <a:latin typeface="Cambria" panose="02040503050406030204"/>
                <a:cs typeface="Cambria" panose="02040503050406030204"/>
              </a:rPr>
              <a:t> </a:t>
            </a:r>
            <a:r>
              <a:rPr sz="2400" spc="180" dirty="0">
                <a:latin typeface="Cambria" panose="02040503050406030204"/>
                <a:cs typeface="Cambria" panose="02040503050406030204"/>
              </a:rPr>
              <a:t>machines</a:t>
            </a:r>
            <a:r>
              <a:rPr sz="2400" spc="280" dirty="0">
                <a:latin typeface="Cambria" panose="02040503050406030204"/>
                <a:cs typeface="Cambria" panose="02040503050406030204"/>
              </a:rPr>
              <a:t> </a:t>
            </a:r>
            <a:r>
              <a:rPr sz="2400" spc="110" dirty="0">
                <a:latin typeface="Cambria" panose="02040503050406030204"/>
                <a:cs typeface="Cambria" panose="02040503050406030204"/>
              </a:rPr>
              <a:t>are</a:t>
            </a:r>
            <a:r>
              <a:rPr sz="2400" spc="295" dirty="0">
                <a:latin typeface="Cambria" panose="02040503050406030204"/>
                <a:cs typeface="Cambria" panose="02040503050406030204"/>
              </a:rPr>
              <a:t> </a:t>
            </a:r>
            <a:r>
              <a:rPr sz="2400" spc="140" dirty="0">
                <a:latin typeface="Cambria" panose="02040503050406030204"/>
                <a:cs typeface="Cambria" panose="02040503050406030204"/>
              </a:rPr>
              <a:t>the</a:t>
            </a:r>
            <a:r>
              <a:rPr sz="2400" spc="295" dirty="0">
                <a:latin typeface="Cambria" panose="02040503050406030204"/>
                <a:cs typeface="Cambria" panose="02040503050406030204"/>
              </a:rPr>
              <a:t> </a:t>
            </a:r>
            <a:r>
              <a:rPr sz="2400" spc="150" dirty="0">
                <a:latin typeface="Cambria" panose="02040503050406030204"/>
                <a:cs typeface="Cambria" panose="02040503050406030204"/>
              </a:rPr>
              <a:t>most</a:t>
            </a:r>
            <a:r>
              <a:rPr sz="2400" spc="295" dirty="0">
                <a:latin typeface="Cambria" panose="02040503050406030204"/>
                <a:cs typeface="Cambria" panose="02040503050406030204"/>
              </a:rPr>
              <a:t> </a:t>
            </a:r>
            <a:r>
              <a:rPr sz="2400" spc="165" dirty="0">
                <a:latin typeface="Cambria" panose="02040503050406030204"/>
                <a:cs typeface="Cambria" panose="02040503050406030204"/>
              </a:rPr>
              <a:t>basic</a:t>
            </a:r>
            <a:r>
              <a:rPr sz="2400" spc="305" dirty="0">
                <a:latin typeface="Cambria" panose="02040503050406030204"/>
                <a:cs typeface="Cambria" panose="02040503050406030204"/>
              </a:rPr>
              <a:t> </a:t>
            </a:r>
            <a:r>
              <a:rPr sz="2400" spc="105" dirty="0">
                <a:latin typeface="Cambria" panose="02040503050406030204"/>
                <a:cs typeface="Cambria" panose="02040503050406030204"/>
              </a:rPr>
              <a:t>types </a:t>
            </a:r>
            <a:r>
              <a:rPr sz="2400" dirty="0">
                <a:latin typeface="Cambria" panose="02040503050406030204"/>
                <a:cs typeface="Cambria" panose="02040503050406030204"/>
              </a:rPr>
              <a:t>of</a:t>
            </a:r>
            <a:r>
              <a:rPr sz="2400" spc="300" dirty="0">
                <a:latin typeface="Cambria" panose="02040503050406030204"/>
                <a:cs typeface="Cambria" panose="02040503050406030204"/>
              </a:rPr>
              <a:t> </a:t>
            </a:r>
            <a:r>
              <a:rPr sz="2400" spc="90" dirty="0">
                <a:latin typeface="Cambria" panose="02040503050406030204"/>
                <a:cs typeface="Cambria" panose="02040503050406030204"/>
              </a:rPr>
              <a:t>Artificial</a:t>
            </a:r>
            <a:r>
              <a:rPr sz="2400" spc="305" dirty="0">
                <a:latin typeface="Cambria" panose="02040503050406030204"/>
                <a:cs typeface="Cambria" panose="02040503050406030204"/>
              </a:rPr>
              <a:t> </a:t>
            </a:r>
            <a:r>
              <a:rPr sz="2400" spc="105" dirty="0">
                <a:latin typeface="Cambria" panose="02040503050406030204"/>
                <a:cs typeface="Cambria" panose="02040503050406030204"/>
              </a:rPr>
              <a:t>Intelligence.</a:t>
            </a:r>
            <a:endParaRPr sz="2400">
              <a:latin typeface="Cambria" panose="02040503050406030204"/>
              <a:cs typeface="Cambria" panose="02040503050406030204"/>
            </a:endParaRPr>
          </a:p>
          <a:p>
            <a:pPr marL="670560" marR="144145" lvl="1" indent="-342900">
              <a:lnSpc>
                <a:spcPct val="100000"/>
              </a:lnSpc>
              <a:spcBef>
                <a:spcPts val="600"/>
              </a:spcBef>
              <a:buFont typeface="Microsoft Sans Serif" panose="020B0604020202020204"/>
              <a:buChar char="•"/>
              <a:tabLst>
                <a:tab pos="670560" algn="l"/>
                <a:tab pos="1594485" algn="l"/>
                <a:tab pos="2060575" algn="l"/>
                <a:tab pos="3416935" algn="l"/>
                <a:tab pos="3931920" algn="l"/>
                <a:tab pos="4575175" algn="l"/>
                <a:tab pos="5468620" algn="l"/>
                <a:tab pos="7067550" algn="l"/>
                <a:tab pos="7526655" algn="l"/>
              </a:tabLst>
            </a:pPr>
            <a:r>
              <a:rPr sz="2400" spc="254" dirty="0">
                <a:latin typeface="Cambria" panose="02040503050406030204"/>
                <a:cs typeface="Cambria" panose="02040503050406030204"/>
              </a:rPr>
              <a:t>Such</a:t>
            </a:r>
            <a:r>
              <a:rPr sz="2400" dirty="0">
                <a:latin typeface="Cambria" panose="02040503050406030204"/>
                <a:cs typeface="Cambria" panose="02040503050406030204"/>
              </a:rPr>
              <a:t>	</a:t>
            </a:r>
            <a:r>
              <a:rPr sz="2400" spc="50" dirty="0">
                <a:latin typeface="Cambria" panose="02040503050406030204"/>
                <a:cs typeface="Cambria" panose="02040503050406030204"/>
              </a:rPr>
              <a:t>AI</a:t>
            </a:r>
            <a:r>
              <a:rPr sz="2400" dirty="0">
                <a:latin typeface="Cambria" panose="02040503050406030204"/>
                <a:cs typeface="Cambria" panose="02040503050406030204"/>
              </a:rPr>
              <a:t>	</a:t>
            </a:r>
            <a:r>
              <a:rPr sz="2400" spc="140" dirty="0">
                <a:latin typeface="Cambria" panose="02040503050406030204"/>
                <a:cs typeface="Cambria" panose="02040503050406030204"/>
              </a:rPr>
              <a:t>systems</a:t>
            </a:r>
            <a:r>
              <a:rPr sz="2400" dirty="0">
                <a:latin typeface="Cambria" panose="02040503050406030204"/>
                <a:cs typeface="Cambria" panose="02040503050406030204"/>
              </a:rPr>
              <a:t>	</a:t>
            </a:r>
            <a:r>
              <a:rPr sz="2400" spc="75" dirty="0">
                <a:latin typeface="Cambria" panose="02040503050406030204"/>
                <a:cs typeface="Cambria" panose="02040503050406030204"/>
              </a:rPr>
              <a:t>do</a:t>
            </a:r>
            <a:r>
              <a:rPr sz="2400" dirty="0">
                <a:latin typeface="Cambria" panose="02040503050406030204"/>
                <a:cs typeface="Cambria" panose="02040503050406030204"/>
              </a:rPr>
              <a:t>	</a:t>
            </a:r>
            <a:r>
              <a:rPr sz="2400" spc="110" dirty="0">
                <a:latin typeface="Cambria" panose="02040503050406030204"/>
                <a:cs typeface="Cambria" panose="02040503050406030204"/>
              </a:rPr>
              <a:t>not</a:t>
            </a:r>
            <a:r>
              <a:rPr sz="2400" dirty="0">
                <a:latin typeface="Cambria" panose="02040503050406030204"/>
                <a:cs typeface="Cambria" panose="02040503050406030204"/>
              </a:rPr>
              <a:t>	</a:t>
            </a:r>
            <a:r>
              <a:rPr sz="2400" spc="85" dirty="0">
                <a:latin typeface="Cambria" panose="02040503050406030204"/>
                <a:cs typeface="Cambria" panose="02040503050406030204"/>
              </a:rPr>
              <a:t>store</a:t>
            </a:r>
            <a:r>
              <a:rPr sz="2400" dirty="0">
                <a:latin typeface="Cambria" panose="02040503050406030204"/>
                <a:cs typeface="Cambria" panose="02040503050406030204"/>
              </a:rPr>
              <a:t>	</a:t>
            </a:r>
            <a:r>
              <a:rPr sz="2400" spc="114" dirty="0">
                <a:latin typeface="Cambria" panose="02040503050406030204"/>
                <a:cs typeface="Cambria" panose="02040503050406030204"/>
              </a:rPr>
              <a:t>memories</a:t>
            </a:r>
            <a:r>
              <a:rPr sz="2400" dirty="0">
                <a:latin typeface="Cambria" panose="02040503050406030204"/>
                <a:cs typeface="Cambria" panose="02040503050406030204"/>
              </a:rPr>
              <a:t>	</a:t>
            </a:r>
            <a:r>
              <a:rPr sz="2400" spc="40" dirty="0">
                <a:latin typeface="Cambria" panose="02040503050406030204"/>
                <a:cs typeface="Cambria" panose="02040503050406030204"/>
              </a:rPr>
              <a:t>or</a:t>
            </a:r>
            <a:r>
              <a:rPr sz="2400" dirty="0">
                <a:latin typeface="Cambria" panose="02040503050406030204"/>
                <a:cs typeface="Cambria" panose="02040503050406030204"/>
              </a:rPr>
              <a:t>	</a:t>
            </a:r>
            <a:r>
              <a:rPr sz="2400" spc="140" dirty="0">
                <a:latin typeface="Cambria" panose="02040503050406030204"/>
                <a:cs typeface="Cambria" panose="02040503050406030204"/>
              </a:rPr>
              <a:t>past </a:t>
            </a:r>
            <a:r>
              <a:rPr sz="2400" spc="120" dirty="0">
                <a:latin typeface="Cambria" panose="02040503050406030204"/>
                <a:cs typeface="Cambria" panose="02040503050406030204"/>
              </a:rPr>
              <a:t>experiences</a:t>
            </a:r>
            <a:r>
              <a:rPr sz="2400" spc="270" dirty="0">
                <a:latin typeface="Cambria" panose="02040503050406030204"/>
                <a:cs typeface="Cambria" panose="02040503050406030204"/>
              </a:rPr>
              <a:t> </a:t>
            </a:r>
            <a:r>
              <a:rPr sz="2400" spc="55" dirty="0">
                <a:latin typeface="Cambria" panose="02040503050406030204"/>
                <a:cs typeface="Cambria" panose="02040503050406030204"/>
              </a:rPr>
              <a:t>for</a:t>
            </a:r>
            <a:r>
              <a:rPr sz="2400" spc="245" dirty="0">
                <a:latin typeface="Cambria" panose="02040503050406030204"/>
                <a:cs typeface="Cambria" panose="02040503050406030204"/>
              </a:rPr>
              <a:t> </a:t>
            </a:r>
            <a:r>
              <a:rPr sz="2400" spc="145" dirty="0">
                <a:latin typeface="Cambria" panose="02040503050406030204"/>
                <a:cs typeface="Cambria" panose="02040503050406030204"/>
              </a:rPr>
              <a:t>future</a:t>
            </a:r>
            <a:r>
              <a:rPr sz="2400" spc="245" dirty="0">
                <a:latin typeface="Cambria" panose="02040503050406030204"/>
                <a:cs typeface="Cambria" panose="02040503050406030204"/>
              </a:rPr>
              <a:t> </a:t>
            </a:r>
            <a:r>
              <a:rPr sz="2400" spc="150" dirty="0">
                <a:latin typeface="Cambria" panose="02040503050406030204"/>
                <a:cs typeface="Cambria" panose="02040503050406030204"/>
              </a:rPr>
              <a:t>actions.</a:t>
            </a:r>
            <a:endParaRPr sz="2400">
              <a:latin typeface="Cambria" panose="02040503050406030204"/>
              <a:cs typeface="Cambria" panose="02040503050406030204"/>
            </a:endParaRPr>
          </a:p>
          <a:p>
            <a:pPr marL="670560" marR="146050" lvl="1" indent="-342900">
              <a:lnSpc>
                <a:spcPct val="100000"/>
              </a:lnSpc>
              <a:spcBef>
                <a:spcPts val="600"/>
              </a:spcBef>
              <a:buFont typeface="Microsoft Sans Serif" panose="020B0604020202020204"/>
              <a:buChar char="•"/>
              <a:tabLst>
                <a:tab pos="670560" algn="l"/>
                <a:tab pos="1682750" algn="l"/>
                <a:tab pos="3263265" algn="l"/>
                <a:tab pos="4039235" algn="l"/>
                <a:tab pos="4979035" algn="l"/>
                <a:tab pos="5499100" algn="l"/>
                <a:tab pos="6755130" algn="l"/>
              </a:tabLst>
            </a:pPr>
            <a:r>
              <a:rPr sz="2400" spc="114" dirty="0">
                <a:latin typeface="Cambria" panose="02040503050406030204"/>
                <a:cs typeface="Cambria" panose="02040503050406030204"/>
              </a:rPr>
              <a:t>These</a:t>
            </a:r>
            <a:r>
              <a:rPr sz="2400" dirty="0">
                <a:latin typeface="Cambria" panose="02040503050406030204"/>
                <a:cs typeface="Cambria" panose="02040503050406030204"/>
              </a:rPr>
              <a:t>	</a:t>
            </a:r>
            <a:r>
              <a:rPr sz="2400" spc="170" dirty="0">
                <a:latin typeface="Cambria" panose="02040503050406030204"/>
                <a:cs typeface="Cambria" panose="02040503050406030204"/>
              </a:rPr>
              <a:t>machines</a:t>
            </a:r>
            <a:r>
              <a:rPr sz="2400" dirty="0">
                <a:latin typeface="Cambria" panose="02040503050406030204"/>
                <a:cs typeface="Cambria" panose="02040503050406030204"/>
              </a:rPr>
              <a:t>	</a:t>
            </a:r>
            <a:r>
              <a:rPr sz="2400" spc="90" dirty="0">
                <a:latin typeface="Cambria" panose="02040503050406030204"/>
                <a:cs typeface="Cambria" panose="02040503050406030204"/>
              </a:rPr>
              <a:t>only</a:t>
            </a:r>
            <a:r>
              <a:rPr sz="2400" dirty="0">
                <a:latin typeface="Cambria" panose="02040503050406030204"/>
                <a:cs typeface="Cambria" panose="02040503050406030204"/>
              </a:rPr>
              <a:t>	</a:t>
            </a:r>
            <a:r>
              <a:rPr sz="2400" spc="150" dirty="0">
                <a:latin typeface="Cambria" panose="02040503050406030204"/>
                <a:cs typeface="Cambria" panose="02040503050406030204"/>
              </a:rPr>
              <a:t>focus</a:t>
            </a:r>
            <a:r>
              <a:rPr sz="2400" dirty="0">
                <a:latin typeface="Cambria" panose="02040503050406030204"/>
                <a:cs typeface="Cambria" panose="02040503050406030204"/>
              </a:rPr>
              <a:t>	</a:t>
            </a:r>
            <a:r>
              <a:rPr sz="2400" spc="135" dirty="0">
                <a:latin typeface="Cambria" panose="02040503050406030204"/>
                <a:cs typeface="Cambria" panose="02040503050406030204"/>
              </a:rPr>
              <a:t>on</a:t>
            </a:r>
            <a:r>
              <a:rPr sz="2400" dirty="0">
                <a:latin typeface="Cambria" panose="02040503050406030204"/>
                <a:cs typeface="Cambria" panose="02040503050406030204"/>
              </a:rPr>
              <a:t>	</a:t>
            </a:r>
            <a:r>
              <a:rPr sz="2400" spc="130" dirty="0">
                <a:latin typeface="Cambria" panose="02040503050406030204"/>
                <a:cs typeface="Cambria" panose="02040503050406030204"/>
              </a:rPr>
              <a:t>current</a:t>
            </a:r>
            <a:r>
              <a:rPr sz="2400" dirty="0">
                <a:latin typeface="Cambria" panose="02040503050406030204"/>
                <a:cs typeface="Cambria" panose="02040503050406030204"/>
              </a:rPr>
              <a:t>	</a:t>
            </a:r>
            <a:r>
              <a:rPr sz="2400" spc="130" dirty="0">
                <a:latin typeface="Cambria" panose="02040503050406030204"/>
                <a:cs typeface="Cambria" panose="02040503050406030204"/>
              </a:rPr>
              <a:t>scenarios </a:t>
            </a:r>
            <a:r>
              <a:rPr sz="2400" spc="200" dirty="0">
                <a:latin typeface="Cambria" panose="02040503050406030204"/>
                <a:cs typeface="Cambria" panose="02040503050406030204"/>
              </a:rPr>
              <a:t>and</a:t>
            </a:r>
            <a:r>
              <a:rPr sz="2400" spc="229" dirty="0">
                <a:latin typeface="Cambria" panose="02040503050406030204"/>
                <a:cs typeface="Cambria" panose="02040503050406030204"/>
              </a:rPr>
              <a:t> </a:t>
            </a:r>
            <a:r>
              <a:rPr sz="2400" spc="120" dirty="0">
                <a:latin typeface="Cambria" panose="02040503050406030204"/>
                <a:cs typeface="Cambria" panose="02040503050406030204"/>
              </a:rPr>
              <a:t>react</a:t>
            </a:r>
            <a:r>
              <a:rPr sz="2400" spc="225" dirty="0">
                <a:latin typeface="Cambria" panose="02040503050406030204"/>
                <a:cs typeface="Cambria" panose="02040503050406030204"/>
              </a:rPr>
              <a:t> </a:t>
            </a:r>
            <a:r>
              <a:rPr sz="2400" spc="150" dirty="0">
                <a:latin typeface="Cambria" panose="02040503050406030204"/>
                <a:cs typeface="Cambria" panose="02040503050406030204"/>
              </a:rPr>
              <a:t>on</a:t>
            </a:r>
            <a:r>
              <a:rPr sz="2400" spc="250" dirty="0">
                <a:latin typeface="Cambria" panose="02040503050406030204"/>
                <a:cs typeface="Cambria" panose="02040503050406030204"/>
              </a:rPr>
              <a:t> </a:t>
            </a:r>
            <a:r>
              <a:rPr sz="2400" spc="70" dirty="0">
                <a:latin typeface="Cambria" panose="02040503050406030204"/>
                <a:cs typeface="Cambria" panose="02040503050406030204"/>
              </a:rPr>
              <a:t>it</a:t>
            </a:r>
            <a:r>
              <a:rPr sz="2400" spc="245" dirty="0">
                <a:latin typeface="Cambria" panose="02040503050406030204"/>
                <a:cs typeface="Cambria" panose="02040503050406030204"/>
              </a:rPr>
              <a:t> </a:t>
            </a:r>
            <a:r>
              <a:rPr sz="2400" spc="210" dirty="0">
                <a:latin typeface="Cambria" panose="02040503050406030204"/>
                <a:cs typeface="Cambria" panose="02040503050406030204"/>
              </a:rPr>
              <a:t>as</a:t>
            </a:r>
            <a:r>
              <a:rPr sz="2400" spc="229" dirty="0">
                <a:latin typeface="Cambria" panose="02040503050406030204"/>
                <a:cs typeface="Cambria" panose="02040503050406030204"/>
              </a:rPr>
              <a:t> </a:t>
            </a:r>
            <a:r>
              <a:rPr sz="2400" spc="90" dirty="0">
                <a:latin typeface="Cambria" panose="02040503050406030204"/>
                <a:cs typeface="Cambria" panose="02040503050406030204"/>
              </a:rPr>
              <a:t>per</a:t>
            </a:r>
            <a:r>
              <a:rPr sz="2400" spc="229" dirty="0">
                <a:latin typeface="Cambria" panose="02040503050406030204"/>
                <a:cs typeface="Cambria" panose="02040503050406030204"/>
              </a:rPr>
              <a:t> </a:t>
            </a:r>
            <a:r>
              <a:rPr sz="2400" spc="120" dirty="0">
                <a:latin typeface="Cambria" panose="02040503050406030204"/>
                <a:cs typeface="Cambria" panose="02040503050406030204"/>
              </a:rPr>
              <a:t>possible</a:t>
            </a:r>
            <a:r>
              <a:rPr sz="2400" spc="270" dirty="0">
                <a:latin typeface="Cambria" panose="02040503050406030204"/>
                <a:cs typeface="Cambria" panose="02040503050406030204"/>
              </a:rPr>
              <a:t> </a:t>
            </a:r>
            <a:r>
              <a:rPr sz="2400" spc="125" dirty="0">
                <a:latin typeface="Cambria" panose="02040503050406030204"/>
                <a:cs typeface="Cambria" panose="02040503050406030204"/>
              </a:rPr>
              <a:t>best</a:t>
            </a:r>
            <a:r>
              <a:rPr sz="2400" spc="229" dirty="0">
                <a:latin typeface="Cambria" panose="02040503050406030204"/>
                <a:cs typeface="Cambria" panose="02040503050406030204"/>
              </a:rPr>
              <a:t> </a:t>
            </a:r>
            <a:r>
              <a:rPr sz="2400" spc="140" dirty="0">
                <a:latin typeface="Cambria" panose="02040503050406030204"/>
                <a:cs typeface="Cambria" panose="02040503050406030204"/>
              </a:rPr>
              <a:t>action.</a:t>
            </a:r>
            <a:endParaRPr sz="2400">
              <a:latin typeface="Cambria" panose="02040503050406030204"/>
              <a:cs typeface="Cambria" panose="02040503050406030204"/>
            </a:endParaRPr>
          </a:p>
          <a:p>
            <a:pPr marL="670560" marR="144145" lvl="1" indent="-342900">
              <a:lnSpc>
                <a:spcPct val="100000"/>
              </a:lnSpc>
              <a:spcBef>
                <a:spcPts val="605"/>
              </a:spcBef>
              <a:buFont typeface="Microsoft Sans Serif" panose="020B0604020202020204"/>
              <a:buChar char="•"/>
              <a:tabLst>
                <a:tab pos="670560" algn="l"/>
                <a:tab pos="1801495" algn="l"/>
                <a:tab pos="2857500" algn="l"/>
                <a:tab pos="3827145" algn="l"/>
                <a:tab pos="5224780" algn="l"/>
                <a:tab pos="5746115" algn="l"/>
                <a:tab pos="6393815" algn="l"/>
                <a:tab pos="7896225" algn="l"/>
              </a:tabLst>
            </a:pPr>
            <a:r>
              <a:rPr sz="2400" b="1" spc="110" dirty="0">
                <a:latin typeface="Cambria" panose="02040503050406030204"/>
                <a:cs typeface="Cambria" panose="02040503050406030204"/>
              </a:rPr>
              <a:t>IBM's</a:t>
            </a:r>
            <a:r>
              <a:rPr sz="2400" b="1" dirty="0">
                <a:latin typeface="Cambria" panose="02040503050406030204"/>
                <a:cs typeface="Cambria" panose="02040503050406030204"/>
              </a:rPr>
              <a:t>	</a:t>
            </a:r>
            <a:r>
              <a:rPr sz="2400" b="1" spc="95" dirty="0">
                <a:latin typeface="Cambria" panose="02040503050406030204"/>
                <a:cs typeface="Cambria" panose="02040503050406030204"/>
              </a:rPr>
              <a:t>Deep</a:t>
            </a:r>
            <a:r>
              <a:rPr sz="2400" b="1" dirty="0">
                <a:latin typeface="Cambria" panose="02040503050406030204"/>
                <a:cs typeface="Cambria" panose="02040503050406030204"/>
              </a:rPr>
              <a:t>	</a:t>
            </a:r>
            <a:r>
              <a:rPr sz="2400" b="1" spc="95" dirty="0">
                <a:latin typeface="Cambria" panose="02040503050406030204"/>
                <a:cs typeface="Cambria" panose="02040503050406030204"/>
              </a:rPr>
              <a:t>Blue</a:t>
            </a:r>
            <a:r>
              <a:rPr sz="2400" b="1" dirty="0">
                <a:latin typeface="Cambria" panose="02040503050406030204"/>
                <a:cs typeface="Cambria" panose="02040503050406030204"/>
              </a:rPr>
              <a:t>	</a:t>
            </a:r>
            <a:r>
              <a:rPr sz="2400" b="1" spc="170" dirty="0">
                <a:latin typeface="Cambria" panose="02040503050406030204"/>
                <a:cs typeface="Cambria" panose="02040503050406030204"/>
              </a:rPr>
              <a:t>system</a:t>
            </a:r>
            <a:r>
              <a:rPr sz="2400" b="1" dirty="0">
                <a:latin typeface="Cambria" panose="02040503050406030204"/>
                <a:cs typeface="Cambria" panose="02040503050406030204"/>
              </a:rPr>
              <a:t>	</a:t>
            </a:r>
            <a:r>
              <a:rPr sz="2400" spc="100" dirty="0">
                <a:latin typeface="Cambria" panose="02040503050406030204"/>
                <a:cs typeface="Cambria" panose="02040503050406030204"/>
              </a:rPr>
              <a:t>is</a:t>
            </a:r>
            <a:r>
              <a:rPr sz="2400" dirty="0">
                <a:latin typeface="Cambria" panose="02040503050406030204"/>
                <a:cs typeface="Cambria" panose="02040503050406030204"/>
              </a:rPr>
              <a:t>	</a:t>
            </a:r>
            <a:r>
              <a:rPr sz="2400" spc="195" dirty="0">
                <a:latin typeface="Cambria" panose="02040503050406030204"/>
                <a:cs typeface="Cambria" panose="02040503050406030204"/>
              </a:rPr>
              <a:t>an</a:t>
            </a:r>
            <a:r>
              <a:rPr sz="2400" dirty="0">
                <a:latin typeface="Cambria" panose="02040503050406030204"/>
                <a:cs typeface="Cambria" panose="02040503050406030204"/>
              </a:rPr>
              <a:t>	</a:t>
            </a:r>
            <a:r>
              <a:rPr sz="2400" spc="125" dirty="0">
                <a:latin typeface="Cambria" panose="02040503050406030204"/>
                <a:cs typeface="Cambria" panose="02040503050406030204"/>
              </a:rPr>
              <a:t>example</a:t>
            </a:r>
            <a:r>
              <a:rPr sz="2400" dirty="0">
                <a:latin typeface="Cambria" panose="02040503050406030204"/>
                <a:cs typeface="Cambria" panose="02040503050406030204"/>
              </a:rPr>
              <a:t>	</a:t>
            </a:r>
            <a:r>
              <a:rPr sz="2400" spc="25" dirty="0">
                <a:latin typeface="Cambria" panose="02040503050406030204"/>
                <a:cs typeface="Cambria" panose="02040503050406030204"/>
              </a:rPr>
              <a:t>of </a:t>
            </a:r>
            <a:r>
              <a:rPr sz="2400" spc="90" dirty="0">
                <a:latin typeface="Cambria" panose="02040503050406030204"/>
                <a:cs typeface="Cambria" panose="02040503050406030204"/>
              </a:rPr>
              <a:t>reactive</a:t>
            </a:r>
            <a:r>
              <a:rPr sz="2400" spc="260" dirty="0">
                <a:latin typeface="Cambria" panose="02040503050406030204"/>
                <a:cs typeface="Cambria" panose="02040503050406030204"/>
              </a:rPr>
              <a:t> </a:t>
            </a:r>
            <a:r>
              <a:rPr sz="2400" spc="180" dirty="0">
                <a:latin typeface="Cambria" panose="02040503050406030204"/>
                <a:cs typeface="Cambria" panose="02040503050406030204"/>
              </a:rPr>
              <a:t>machines.</a:t>
            </a:r>
            <a:endParaRPr sz="2400">
              <a:latin typeface="Cambria" panose="02040503050406030204"/>
              <a:cs typeface="Cambria" panose="02040503050406030204"/>
            </a:endParaRPr>
          </a:p>
          <a:p>
            <a:pPr marL="670560" marR="146050" lvl="1" indent="-342900">
              <a:lnSpc>
                <a:spcPct val="100000"/>
              </a:lnSpc>
              <a:spcBef>
                <a:spcPts val="595"/>
              </a:spcBef>
              <a:buFont typeface="Microsoft Sans Serif" panose="020B0604020202020204"/>
              <a:buChar char="•"/>
              <a:tabLst>
                <a:tab pos="670560" algn="l"/>
                <a:tab pos="2113915" algn="l"/>
                <a:tab pos="3582670" algn="l"/>
                <a:tab pos="3973195" algn="l"/>
                <a:tab pos="4711065" algn="l"/>
                <a:tab pos="5231130" algn="l"/>
                <a:tab pos="6602730" algn="l"/>
                <a:tab pos="7010400" algn="l"/>
              </a:tabLst>
            </a:pPr>
            <a:r>
              <a:rPr sz="2400" b="1" spc="114" dirty="0">
                <a:latin typeface="Cambria" panose="02040503050406030204"/>
                <a:cs typeface="Cambria" panose="02040503050406030204"/>
              </a:rPr>
              <a:t>Google's</a:t>
            </a:r>
            <a:r>
              <a:rPr sz="2400" b="1" dirty="0">
                <a:latin typeface="Cambria" panose="02040503050406030204"/>
                <a:cs typeface="Cambria" panose="02040503050406030204"/>
              </a:rPr>
              <a:t>	</a:t>
            </a:r>
            <a:r>
              <a:rPr sz="2400" b="1" spc="130" dirty="0">
                <a:latin typeface="Cambria" panose="02040503050406030204"/>
                <a:cs typeface="Cambria" panose="02040503050406030204"/>
              </a:rPr>
              <a:t>AlphaGo</a:t>
            </a:r>
            <a:r>
              <a:rPr sz="2400" b="1" dirty="0">
                <a:latin typeface="Cambria" panose="02040503050406030204"/>
                <a:cs typeface="Cambria" panose="02040503050406030204"/>
              </a:rPr>
              <a:t>	</a:t>
            </a:r>
            <a:r>
              <a:rPr sz="2400" spc="100" dirty="0">
                <a:latin typeface="Cambria" panose="02040503050406030204"/>
                <a:cs typeface="Cambria" panose="02040503050406030204"/>
              </a:rPr>
              <a:t>is</a:t>
            </a:r>
            <a:r>
              <a:rPr sz="2400" dirty="0">
                <a:latin typeface="Cambria" panose="02040503050406030204"/>
                <a:cs typeface="Cambria" panose="02040503050406030204"/>
              </a:rPr>
              <a:t>	</a:t>
            </a:r>
            <a:r>
              <a:rPr sz="2400" spc="110" dirty="0">
                <a:latin typeface="Cambria" panose="02040503050406030204"/>
                <a:cs typeface="Cambria" panose="02040503050406030204"/>
              </a:rPr>
              <a:t>also</a:t>
            </a:r>
            <a:r>
              <a:rPr sz="2400" dirty="0">
                <a:latin typeface="Cambria" panose="02040503050406030204"/>
                <a:cs typeface="Cambria" panose="02040503050406030204"/>
              </a:rPr>
              <a:t>	</a:t>
            </a:r>
            <a:r>
              <a:rPr sz="2400" spc="195" dirty="0">
                <a:latin typeface="Cambria" panose="02040503050406030204"/>
                <a:cs typeface="Cambria" panose="02040503050406030204"/>
              </a:rPr>
              <a:t>an</a:t>
            </a:r>
            <a:r>
              <a:rPr sz="2400" dirty="0">
                <a:latin typeface="Cambria" panose="02040503050406030204"/>
                <a:cs typeface="Cambria" panose="02040503050406030204"/>
              </a:rPr>
              <a:t>	</a:t>
            </a:r>
            <a:r>
              <a:rPr sz="2400" spc="125" dirty="0">
                <a:latin typeface="Cambria" panose="02040503050406030204"/>
                <a:cs typeface="Cambria" panose="02040503050406030204"/>
              </a:rPr>
              <a:t>example</a:t>
            </a:r>
            <a:r>
              <a:rPr sz="2400" dirty="0">
                <a:latin typeface="Cambria" panose="02040503050406030204"/>
                <a:cs typeface="Cambria" panose="02040503050406030204"/>
              </a:rPr>
              <a:t>	</a:t>
            </a:r>
            <a:r>
              <a:rPr sz="2400" spc="25" dirty="0">
                <a:latin typeface="Cambria" panose="02040503050406030204"/>
                <a:cs typeface="Cambria" panose="02040503050406030204"/>
              </a:rPr>
              <a:t>of</a:t>
            </a:r>
            <a:r>
              <a:rPr sz="2400" dirty="0">
                <a:latin typeface="Cambria" panose="02040503050406030204"/>
                <a:cs typeface="Cambria" panose="02040503050406030204"/>
              </a:rPr>
              <a:t>	</a:t>
            </a:r>
            <a:r>
              <a:rPr sz="2400" spc="80" dirty="0">
                <a:latin typeface="Cambria" panose="02040503050406030204"/>
                <a:cs typeface="Cambria" panose="02040503050406030204"/>
              </a:rPr>
              <a:t>reactive </a:t>
            </a:r>
            <a:r>
              <a:rPr sz="2400" spc="180" dirty="0">
                <a:latin typeface="Cambria" panose="02040503050406030204"/>
                <a:cs typeface="Cambria" panose="02040503050406030204"/>
              </a:rPr>
              <a:t>machines.</a:t>
            </a:r>
            <a:endParaRPr sz="2400">
              <a:latin typeface="Cambria" panose="02040503050406030204"/>
              <a:cs typeface="Cambria" panose="020405030504060302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5140" y="65723"/>
            <a:ext cx="7531100" cy="627380"/>
          </a:xfrm>
          <a:prstGeom prst="rect">
            <a:avLst/>
          </a:prstGeom>
        </p:spPr>
        <p:txBody>
          <a:bodyPr vert="horz" wrap="square" lIns="0" tIns="12065" rIns="0" bIns="0" rtlCol="0">
            <a:spAutoFit/>
          </a:bodyPr>
          <a:lstStyle/>
          <a:p>
            <a:pPr marL="12700">
              <a:lnSpc>
                <a:spcPct val="100000"/>
              </a:lnSpc>
              <a:spcBef>
                <a:spcPts val="95"/>
              </a:spcBef>
            </a:pPr>
            <a:r>
              <a:rPr spc="-20" dirty="0"/>
              <a:t>Types</a:t>
            </a:r>
            <a:r>
              <a:rPr spc="-85" dirty="0"/>
              <a:t> </a:t>
            </a:r>
            <a:r>
              <a:rPr dirty="0"/>
              <a:t>of</a:t>
            </a:r>
            <a:r>
              <a:rPr spc="-80" dirty="0"/>
              <a:t> </a:t>
            </a:r>
            <a:r>
              <a:rPr dirty="0"/>
              <a:t>artificial</a:t>
            </a:r>
            <a:r>
              <a:rPr spc="-75" dirty="0"/>
              <a:t> </a:t>
            </a:r>
            <a:r>
              <a:rPr spc="-10" dirty="0"/>
              <a:t>intelligence</a:t>
            </a:r>
            <a:endParaRPr spc="-10" dirty="0"/>
          </a:p>
        </p:txBody>
      </p:sp>
      <p:sp>
        <p:nvSpPr>
          <p:cNvPr id="3" name="object 3"/>
          <p:cNvSpPr txBox="1"/>
          <p:nvPr/>
        </p:nvSpPr>
        <p:spPr>
          <a:xfrm>
            <a:off x="1983740" y="740155"/>
            <a:ext cx="8455025" cy="5126355"/>
          </a:xfrm>
          <a:prstGeom prst="rect">
            <a:avLst/>
          </a:prstGeom>
        </p:spPr>
        <p:txBody>
          <a:bodyPr vert="horz" wrap="square" lIns="0" tIns="12700" rIns="0" bIns="0" rtlCol="0">
            <a:spAutoFit/>
          </a:bodyPr>
          <a:lstStyle/>
          <a:p>
            <a:pPr marL="12700">
              <a:lnSpc>
                <a:spcPct val="100000"/>
              </a:lnSpc>
              <a:spcBef>
                <a:spcPts val="100"/>
              </a:spcBef>
            </a:pPr>
            <a:r>
              <a:rPr sz="2400" b="1" spc="125" dirty="0">
                <a:latin typeface="Cambria" panose="02040503050406030204"/>
                <a:cs typeface="Cambria" panose="02040503050406030204"/>
              </a:rPr>
              <a:t>Artificial</a:t>
            </a:r>
            <a:r>
              <a:rPr sz="2400" b="1" spc="260" dirty="0">
                <a:latin typeface="Cambria" panose="02040503050406030204"/>
                <a:cs typeface="Cambria" panose="02040503050406030204"/>
              </a:rPr>
              <a:t> </a:t>
            </a:r>
            <a:r>
              <a:rPr sz="2400" b="1" spc="135" dirty="0">
                <a:latin typeface="Cambria" panose="02040503050406030204"/>
                <a:cs typeface="Cambria" panose="02040503050406030204"/>
              </a:rPr>
              <a:t>Intelligence</a:t>
            </a:r>
            <a:r>
              <a:rPr sz="2400" b="1" spc="275" dirty="0">
                <a:latin typeface="Cambria" panose="02040503050406030204"/>
                <a:cs typeface="Cambria" panose="02040503050406030204"/>
              </a:rPr>
              <a:t> </a:t>
            </a:r>
            <a:r>
              <a:rPr sz="2400" b="1" spc="130" dirty="0">
                <a:latin typeface="Cambria" panose="02040503050406030204"/>
                <a:cs typeface="Cambria" panose="02040503050406030204"/>
              </a:rPr>
              <a:t>type-</a:t>
            </a:r>
            <a:r>
              <a:rPr sz="2400" b="1" spc="145" dirty="0">
                <a:latin typeface="Cambria" panose="02040503050406030204"/>
                <a:cs typeface="Cambria" panose="02040503050406030204"/>
              </a:rPr>
              <a:t>2:</a:t>
            </a:r>
            <a:r>
              <a:rPr sz="2400" b="1" spc="280" dirty="0">
                <a:latin typeface="Cambria" panose="02040503050406030204"/>
                <a:cs typeface="Cambria" panose="02040503050406030204"/>
              </a:rPr>
              <a:t> </a:t>
            </a:r>
            <a:r>
              <a:rPr sz="2400" b="1" spc="114" dirty="0">
                <a:latin typeface="Cambria" panose="02040503050406030204"/>
                <a:cs typeface="Cambria" panose="02040503050406030204"/>
              </a:rPr>
              <a:t>Based</a:t>
            </a:r>
            <a:r>
              <a:rPr sz="2400" b="1" spc="285" dirty="0">
                <a:latin typeface="Cambria" panose="02040503050406030204"/>
                <a:cs typeface="Cambria" panose="02040503050406030204"/>
              </a:rPr>
              <a:t> </a:t>
            </a:r>
            <a:r>
              <a:rPr sz="2400" b="1" spc="135" dirty="0">
                <a:latin typeface="Cambria" panose="02040503050406030204"/>
                <a:cs typeface="Cambria" panose="02040503050406030204"/>
              </a:rPr>
              <a:t>on</a:t>
            </a:r>
            <a:r>
              <a:rPr sz="2400" b="1" spc="295" dirty="0">
                <a:latin typeface="Cambria" panose="02040503050406030204"/>
                <a:cs typeface="Cambria" panose="02040503050406030204"/>
              </a:rPr>
              <a:t> </a:t>
            </a:r>
            <a:r>
              <a:rPr sz="2400" b="1" spc="135" dirty="0">
                <a:latin typeface="Cambria" panose="02040503050406030204"/>
                <a:cs typeface="Cambria" panose="02040503050406030204"/>
              </a:rPr>
              <a:t>functionality</a:t>
            </a:r>
            <a:endParaRPr sz="2400">
              <a:latin typeface="Cambria" panose="02040503050406030204"/>
              <a:cs typeface="Cambria" panose="02040503050406030204"/>
            </a:endParaRPr>
          </a:p>
          <a:p>
            <a:pPr>
              <a:lnSpc>
                <a:spcPct val="100000"/>
              </a:lnSpc>
              <a:spcBef>
                <a:spcPts val="1240"/>
              </a:spcBef>
            </a:pPr>
            <a:endParaRPr sz="2400">
              <a:latin typeface="Cambria" panose="02040503050406030204"/>
              <a:cs typeface="Cambria" panose="02040503050406030204"/>
            </a:endParaRPr>
          </a:p>
          <a:p>
            <a:pPr marL="639445" indent="-474345" algn="just">
              <a:lnSpc>
                <a:spcPct val="100000"/>
              </a:lnSpc>
              <a:buAutoNum type="arabicPeriod" startAt="2"/>
              <a:tabLst>
                <a:tab pos="639445" algn="l"/>
              </a:tabLst>
            </a:pPr>
            <a:r>
              <a:rPr sz="2800" b="1" spc="170" dirty="0">
                <a:latin typeface="Cambria" panose="02040503050406030204"/>
                <a:cs typeface="Cambria" panose="02040503050406030204"/>
              </a:rPr>
              <a:t>Limited</a:t>
            </a:r>
            <a:r>
              <a:rPr sz="2800" b="1" spc="365" dirty="0">
                <a:latin typeface="Cambria" panose="02040503050406030204"/>
                <a:cs typeface="Cambria" panose="02040503050406030204"/>
              </a:rPr>
              <a:t> </a:t>
            </a:r>
            <a:r>
              <a:rPr sz="2800" b="1" spc="150" dirty="0">
                <a:latin typeface="Cambria" panose="02040503050406030204"/>
                <a:cs typeface="Cambria" panose="02040503050406030204"/>
              </a:rPr>
              <a:t>Memory</a:t>
            </a:r>
            <a:endParaRPr sz="2800">
              <a:latin typeface="Cambria" panose="02040503050406030204"/>
              <a:cs typeface="Cambria" panose="02040503050406030204"/>
            </a:endParaRPr>
          </a:p>
          <a:p>
            <a:pPr marL="506730" marR="5080" lvl="1" indent="-342265" algn="just">
              <a:lnSpc>
                <a:spcPct val="100000"/>
              </a:lnSpc>
              <a:spcBef>
                <a:spcPts val="1195"/>
              </a:spcBef>
              <a:buFont typeface="Microsoft Sans Serif" panose="020B0604020202020204"/>
              <a:buChar char="•"/>
              <a:tabLst>
                <a:tab pos="508000" algn="l"/>
              </a:tabLst>
            </a:pPr>
            <a:r>
              <a:rPr sz="2400" spc="105" dirty="0">
                <a:latin typeface="Cambria" panose="02040503050406030204"/>
                <a:cs typeface="Cambria" panose="02040503050406030204"/>
              </a:rPr>
              <a:t>Limited</a:t>
            </a:r>
            <a:r>
              <a:rPr sz="2400" spc="365" dirty="0">
                <a:latin typeface="Cambria" panose="02040503050406030204"/>
                <a:cs typeface="Cambria" panose="02040503050406030204"/>
              </a:rPr>
              <a:t>    </a:t>
            </a:r>
            <a:r>
              <a:rPr sz="2400" spc="120" dirty="0">
                <a:latin typeface="Cambria" panose="02040503050406030204"/>
                <a:cs typeface="Cambria" panose="02040503050406030204"/>
              </a:rPr>
              <a:t>memory</a:t>
            </a:r>
            <a:r>
              <a:rPr sz="2400" spc="365" dirty="0">
                <a:latin typeface="Cambria" panose="02040503050406030204"/>
                <a:cs typeface="Cambria" panose="02040503050406030204"/>
              </a:rPr>
              <a:t>    </a:t>
            </a:r>
            <a:r>
              <a:rPr sz="2400" spc="180" dirty="0">
                <a:latin typeface="Cambria" panose="02040503050406030204"/>
                <a:cs typeface="Cambria" panose="02040503050406030204"/>
              </a:rPr>
              <a:t>machines</a:t>
            </a:r>
            <a:r>
              <a:rPr sz="2400" spc="365" dirty="0">
                <a:latin typeface="Cambria" panose="02040503050406030204"/>
                <a:cs typeface="Cambria" panose="02040503050406030204"/>
              </a:rPr>
              <a:t>    </a:t>
            </a:r>
            <a:r>
              <a:rPr sz="2400" spc="210" dirty="0">
                <a:latin typeface="Cambria" panose="02040503050406030204"/>
                <a:cs typeface="Cambria" panose="02040503050406030204"/>
              </a:rPr>
              <a:t>can</a:t>
            </a:r>
            <a:r>
              <a:rPr sz="2400" spc="365" dirty="0">
                <a:latin typeface="Cambria" panose="02040503050406030204"/>
                <a:cs typeface="Cambria" panose="02040503050406030204"/>
              </a:rPr>
              <a:t>    </a:t>
            </a:r>
            <a:r>
              <a:rPr sz="2400" spc="95" dirty="0">
                <a:latin typeface="Cambria" panose="02040503050406030204"/>
                <a:cs typeface="Cambria" panose="02040503050406030204"/>
              </a:rPr>
              <a:t>store</a:t>
            </a:r>
            <a:r>
              <a:rPr sz="2400" spc="365" dirty="0">
                <a:latin typeface="Cambria" panose="02040503050406030204"/>
                <a:cs typeface="Cambria" panose="02040503050406030204"/>
              </a:rPr>
              <a:t>    </a:t>
            </a:r>
            <a:r>
              <a:rPr sz="2400" spc="140" dirty="0">
                <a:latin typeface="Cambria" panose="02040503050406030204"/>
                <a:cs typeface="Cambria" panose="02040503050406030204"/>
              </a:rPr>
              <a:t>past </a:t>
            </a:r>
            <a:r>
              <a:rPr sz="2400" spc="140" dirty="0">
                <a:latin typeface="Cambria" panose="02040503050406030204"/>
                <a:cs typeface="Cambria" panose="02040503050406030204"/>
              </a:rPr>
              <a:t>	</a:t>
            </a:r>
            <a:r>
              <a:rPr sz="2400" spc="120" dirty="0">
                <a:latin typeface="Cambria" panose="02040503050406030204"/>
                <a:cs typeface="Cambria" panose="02040503050406030204"/>
              </a:rPr>
              <a:t>experiences</a:t>
            </a:r>
            <a:r>
              <a:rPr sz="2400" spc="254" dirty="0">
                <a:latin typeface="Cambria" panose="02040503050406030204"/>
                <a:cs typeface="Cambria" panose="02040503050406030204"/>
              </a:rPr>
              <a:t> </a:t>
            </a:r>
            <a:r>
              <a:rPr sz="2400" spc="65" dirty="0">
                <a:latin typeface="Cambria" panose="02040503050406030204"/>
                <a:cs typeface="Cambria" panose="02040503050406030204"/>
              </a:rPr>
              <a:t>or</a:t>
            </a:r>
            <a:r>
              <a:rPr sz="2400" spc="245" dirty="0">
                <a:latin typeface="Cambria" panose="02040503050406030204"/>
                <a:cs typeface="Cambria" panose="02040503050406030204"/>
              </a:rPr>
              <a:t> </a:t>
            </a:r>
            <a:r>
              <a:rPr sz="2400" spc="150" dirty="0">
                <a:latin typeface="Cambria" panose="02040503050406030204"/>
                <a:cs typeface="Cambria" panose="02040503050406030204"/>
              </a:rPr>
              <a:t>some</a:t>
            </a:r>
            <a:r>
              <a:rPr sz="2400" spc="245" dirty="0">
                <a:latin typeface="Cambria" panose="02040503050406030204"/>
                <a:cs typeface="Cambria" panose="02040503050406030204"/>
              </a:rPr>
              <a:t> </a:t>
            </a:r>
            <a:r>
              <a:rPr sz="2400" spc="165" dirty="0">
                <a:latin typeface="Cambria" panose="02040503050406030204"/>
                <a:cs typeface="Cambria" panose="02040503050406030204"/>
              </a:rPr>
              <a:t>data</a:t>
            </a:r>
            <a:r>
              <a:rPr sz="2400" spc="220" dirty="0">
                <a:latin typeface="Cambria" panose="02040503050406030204"/>
                <a:cs typeface="Cambria" panose="02040503050406030204"/>
              </a:rPr>
              <a:t> </a:t>
            </a:r>
            <a:r>
              <a:rPr sz="2400" spc="55" dirty="0">
                <a:latin typeface="Cambria" panose="02040503050406030204"/>
                <a:cs typeface="Cambria" panose="02040503050406030204"/>
              </a:rPr>
              <a:t>for</a:t>
            </a:r>
            <a:r>
              <a:rPr sz="2400" spc="250" dirty="0">
                <a:latin typeface="Cambria" panose="02040503050406030204"/>
                <a:cs typeface="Cambria" panose="02040503050406030204"/>
              </a:rPr>
              <a:t> </a:t>
            </a:r>
            <a:r>
              <a:rPr sz="2400" spc="210" dirty="0">
                <a:latin typeface="Cambria" panose="02040503050406030204"/>
                <a:cs typeface="Cambria" panose="02040503050406030204"/>
              </a:rPr>
              <a:t>a</a:t>
            </a:r>
            <a:r>
              <a:rPr sz="2400" spc="229" dirty="0">
                <a:latin typeface="Cambria" panose="02040503050406030204"/>
                <a:cs typeface="Cambria" panose="02040503050406030204"/>
              </a:rPr>
              <a:t> </a:t>
            </a:r>
            <a:r>
              <a:rPr sz="2400" spc="130" dirty="0">
                <a:latin typeface="Cambria" panose="02040503050406030204"/>
                <a:cs typeface="Cambria" panose="02040503050406030204"/>
              </a:rPr>
              <a:t>short</a:t>
            </a:r>
            <a:r>
              <a:rPr sz="2400" spc="245" dirty="0">
                <a:latin typeface="Cambria" panose="02040503050406030204"/>
                <a:cs typeface="Cambria" panose="02040503050406030204"/>
              </a:rPr>
              <a:t> </a:t>
            </a:r>
            <a:r>
              <a:rPr sz="2400" spc="85" dirty="0">
                <a:latin typeface="Cambria" panose="02040503050406030204"/>
                <a:cs typeface="Cambria" panose="02040503050406030204"/>
              </a:rPr>
              <a:t>period</a:t>
            </a:r>
            <a:r>
              <a:rPr sz="2400" spc="245" dirty="0">
                <a:latin typeface="Cambria" panose="02040503050406030204"/>
                <a:cs typeface="Cambria" panose="02040503050406030204"/>
              </a:rPr>
              <a:t> </a:t>
            </a:r>
            <a:r>
              <a:rPr sz="2400" spc="50" dirty="0">
                <a:latin typeface="Cambria" panose="02040503050406030204"/>
                <a:cs typeface="Cambria" panose="02040503050406030204"/>
              </a:rPr>
              <a:t>of</a:t>
            </a:r>
            <a:r>
              <a:rPr sz="2400" spc="235" dirty="0">
                <a:latin typeface="Cambria" panose="02040503050406030204"/>
                <a:cs typeface="Cambria" panose="02040503050406030204"/>
              </a:rPr>
              <a:t> </a:t>
            </a:r>
            <a:r>
              <a:rPr sz="2400" spc="135" dirty="0">
                <a:latin typeface="Cambria" panose="02040503050406030204"/>
                <a:cs typeface="Cambria" panose="02040503050406030204"/>
              </a:rPr>
              <a:t>time.</a:t>
            </a:r>
            <a:endParaRPr sz="2400">
              <a:latin typeface="Cambria" panose="02040503050406030204"/>
              <a:cs typeface="Cambria" panose="02040503050406030204"/>
            </a:endParaRPr>
          </a:p>
          <a:p>
            <a:pPr marL="506730" marR="8255" lvl="1" indent="-342265" algn="just">
              <a:lnSpc>
                <a:spcPct val="100000"/>
              </a:lnSpc>
              <a:spcBef>
                <a:spcPts val="1200"/>
              </a:spcBef>
              <a:buFont typeface="Microsoft Sans Serif" panose="020B0604020202020204"/>
              <a:buChar char="•"/>
              <a:tabLst>
                <a:tab pos="508000" algn="l"/>
              </a:tabLst>
            </a:pPr>
            <a:r>
              <a:rPr sz="2400" spc="125" dirty="0">
                <a:latin typeface="Cambria" panose="02040503050406030204"/>
                <a:cs typeface="Cambria" panose="02040503050406030204"/>
              </a:rPr>
              <a:t>These</a:t>
            </a:r>
            <a:r>
              <a:rPr sz="2400" spc="155" dirty="0">
                <a:latin typeface="Cambria" panose="02040503050406030204"/>
                <a:cs typeface="Cambria" panose="02040503050406030204"/>
              </a:rPr>
              <a:t>  </a:t>
            </a:r>
            <a:r>
              <a:rPr sz="2400" spc="175" dirty="0">
                <a:latin typeface="Cambria" panose="02040503050406030204"/>
                <a:cs typeface="Cambria" panose="02040503050406030204"/>
              </a:rPr>
              <a:t>machines</a:t>
            </a:r>
            <a:r>
              <a:rPr sz="2400" spc="160" dirty="0">
                <a:latin typeface="Cambria" panose="02040503050406030204"/>
                <a:cs typeface="Cambria" panose="02040503050406030204"/>
              </a:rPr>
              <a:t>  </a:t>
            </a:r>
            <a:r>
              <a:rPr sz="2400" spc="204" dirty="0">
                <a:latin typeface="Cambria" panose="02040503050406030204"/>
                <a:cs typeface="Cambria" panose="02040503050406030204"/>
              </a:rPr>
              <a:t>can</a:t>
            </a:r>
            <a:r>
              <a:rPr sz="2400" spc="155" dirty="0">
                <a:latin typeface="Cambria" panose="02040503050406030204"/>
                <a:cs typeface="Cambria" panose="02040503050406030204"/>
              </a:rPr>
              <a:t>  </a:t>
            </a:r>
            <a:r>
              <a:rPr sz="2400" spc="185" dirty="0">
                <a:latin typeface="Cambria" panose="02040503050406030204"/>
                <a:cs typeface="Cambria" panose="02040503050406030204"/>
              </a:rPr>
              <a:t>use</a:t>
            </a:r>
            <a:r>
              <a:rPr sz="2400" spc="160" dirty="0">
                <a:latin typeface="Cambria" panose="02040503050406030204"/>
                <a:cs typeface="Cambria" panose="02040503050406030204"/>
              </a:rPr>
              <a:t>  </a:t>
            </a:r>
            <a:r>
              <a:rPr sz="2400" spc="110" dirty="0">
                <a:latin typeface="Cambria" panose="02040503050406030204"/>
                <a:cs typeface="Cambria" panose="02040503050406030204"/>
              </a:rPr>
              <a:t>stored</a:t>
            </a:r>
            <a:r>
              <a:rPr sz="2400" spc="150" dirty="0">
                <a:latin typeface="Cambria" panose="02040503050406030204"/>
                <a:cs typeface="Cambria" panose="02040503050406030204"/>
              </a:rPr>
              <a:t>  </a:t>
            </a:r>
            <a:r>
              <a:rPr sz="2400" spc="155" dirty="0">
                <a:latin typeface="Cambria" panose="02040503050406030204"/>
                <a:cs typeface="Cambria" panose="02040503050406030204"/>
              </a:rPr>
              <a:t>data</a:t>
            </a:r>
            <a:r>
              <a:rPr sz="2400" spc="145" dirty="0">
                <a:latin typeface="Cambria" panose="02040503050406030204"/>
                <a:cs typeface="Cambria" panose="02040503050406030204"/>
              </a:rPr>
              <a:t>  </a:t>
            </a:r>
            <a:r>
              <a:rPr sz="2400" spc="55" dirty="0">
                <a:latin typeface="Cambria" panose="02040503050406030204"/>
                <a:cs typeface="Cambria" panose="02040503050406030204"/>
              </a:rPr>
              <a:t>for</a:t>
            </a:r>
            <a:r>
              <a:rPr sz="2400" spc="150" dirty="0">
                <a:latin typeface="Cambria" panose="02040503050406030204"/>
                <a:cs typeface="Cambria" panose="02040503050406030204"/>
              </a:rPr>
              <a:t>  </a:t>
            </a:r>
            <a:r>
              <a:rPr sz="2400" spc="210" dirty="0">
                <a:latin typeface="Cambria" panose="02040503050406030204"/>
                <a:cs typeface="Cambria" panose="02040503050406030204"/>
              </a:rPr>
              <a:t>a</a:t>
            </a:r>
            <a:r>
              <a:rPr sz="2400" spc="160" dirty="0">
                <a:latin typeface="Cambria" panose="02040503050406030204"/>
                <a:cs typeface="Cambria" panose="02040503050406030204"/>
              </a:rPr>
              <a:t>  </a:t>
            </a:r>
            <a:r>
              <a:rPr sz="2400" spc="90" dirty="0">
                <a:latin typeface="Cambria" panose="02040503050406030204"/>
                <a:cs typeface="Cambria" panose="02040503050406030204"/>
              </a:rPr>
              <a:t>limited </a:t>
            </a:r>
            <a:r>
              <a:rPr sz="2400" spc="90" dirty="0">
                <a:latin typeface="Cambria" panose="02040503050406030204"/>
                <a:cs typeface="Cambria" panose="02040503050406030204"/>
              </a:rPr>
              <a:t>	</a:t>
            </a:r>
            <a:r>
              <a:rPr sz="2400" spc="114" dirty="0">
                <a:latin typeface="Cambria" panose="02040503050406030204"/>
                <a:cs typeface="Cambria" panose="02040503050406030204"/>
              </a:rPr>
              <a:t>time</a:t>
            </a:r>
            <a:r>
              <a:rPr sz="2400" spc="235" dirty="0">
                <a:latin typeface="Cambria" panose="02040503050406030204"/>
                <a:cs typeface="Cambria" panose="02040503050406030204"/>
              </a:rPr>
              <a:t> </a:t>
            </a:r>
            <a:r>
              <a:rPr sz="2400" spc="85" dirty="0">
                <a:latin typeface="Cambria" panose="02040503050406030204"/>
                <a:cs typeface="Cambria" panose="02040503050406030204"/>
              </a:rPr>
              <a:t>period</a:t>
            </a:r>
            <a:r>
              <a:rPr sz="2400" spc="245" dirty="0">
                <a:latin typeface="Cambria" panose="02040503050406030204"/>
                <a:cs typeface="Cambria" panose="02040503050406030204"/>
              </a:rPr>
              <a:t> </a:t>
            </a:r>
            <a:r>
              <a:rPr sz="2400" spc="130" dirty="0">
                <a:latin typeface="Cambria" panose="02040503050406030204"/>
                <a:cs typeface="Cambria" panose="02040503050406030204"/>
              </a:rPr>
              <a:t>only.</a:t>
            </a:r>
            <a:endParaRPr sz="2400">
              <a:latin typeface="Cambria" panose="02040503050406030204"/>
              <a:cs typeface="Cambria" panose="02040503050406030204"/>
            </a:endParaRPr>
          </a:p>
          <a:p>
            <a:pPr marL="506730" marR="6350" lvl="1" indent="-342265" algn="just">
              <a:lnSpc>
                <a:spcPct val="100000"/>
              </a:lnSpc>
              <a:spcBef>
                <a:spcPts val="1200"/>
              </a:spcBef>
              <a:buFont typeface="Microsoft Sans Serif" panose="020B0604020202020204"/>
              <a:buChar char="•"/>
              <a:tabLst>
                <a:tab pos="508000" algn="l"/>
              </a:tabLst>
            </a:pPr>
            <a:r>
              <a:rPr sz="2400" spc="140" dirty="0">
                <a:latin typeface="Cambria" panose="02040503050406030204"/>
                <a:cs typeface="Cambria" panose="02040503050406030204"/>
              </a:rPr>
              <a:t>Self-</a:t>
            </a:r>
            <a:r>
              <a:rPr sz="2400" spc="90" dirty="0">
                <a:latin typeface="Cambria" panose="02040503050406030204"/>
                <a:cs typeface="Cambria" panose="02040503050406030204"/>
              </a:rPr>
              <a:t>driving</a:t>
            </a:r>
            <a:r>
              <a:rPr sz="2400" spc="250" dirty="0">
                <a:latin typeface="Cambria" panose="02040503050406030204"/>
                <a:cs typeface="Cambria" panose="02040503050406030204"/>
              </a:rPr>
              <a:t>  </a:t>
            </a:r>
            <a:r>
              <a:rPr sz="2400" spc="155" dirty="0">
                <a:latin typeface="Cambria" panose="02040503050406030204"/>
                <a:cs typeface="Cambria" panose="02040503050406030204"/>
              </a:rPr>
              <a:t>cars</a:t>
            </a:r>
            <a:r>
              <a:rPr sz="2400" spc="250" dirty="0">
                <a:latin typeface="Cambria" panose="02040503050406030204"/>
                <a:cs typeface="Cambria" panose="02040503050406030204"/>
              </a:rPr>
              <a:t>  </a:t>
            </a:r>
            <a:r>
              <a:rPr sz="2400" spc="100" dirty="0">
                <a:latin typeface="Cambria" panose="02040503050406030204"/>
                <a:cs typeface="Cambria" panose="02040503050406030204"/>
              </a:rPr>
              <a:t>are</a:t>
            </a:r>
            <a:r>
              <a:rPr sz="2400" spc="250" dirty="0">
                <a:latin typeface="Cambria" panose="02040503050406030204"/>
                <a:cs typeface="Cambria" panose="02040503050406030204"/>
              </a:rPr>
              <a:t>  </a:t>
            </a:r>
            <a:r>
              <a:rPr sz="2400" spc="125" dirty="0">
                <a:latin typeface="Cambria" panose="02040503050406030204"/>
                <a:cs typeface="Cambria" panose="02040503050406030204"/>
              </a:rPr>
              <a:t>one</a:t>
            </a:r>
            <a:r>
              <a:rPr sz="2400" spc="254" dirty="0">
                <a:latin typeface="Cambria" panose="02040503050406030204"/>
                <a:cs typeface="Cambria" panose="02040503050406030204"/>
              </a:rPr>
              <a:t>  </a:t>
            </a:r>
            <a:r>
              <a:rPr sz="2400" spc="50" dirty="0">
                <a:latin typeface="Cambria" panose="02040503050406030204"/>
                <a:cs typeface="Cambria" panose="02040503050406030204"/>
              </a:rPr>
              <a:t>of</a:t>
            </a:r>
            <a:r>
              <a:rPr sz="2400" spc="250" dirty="0">
                <a:latin typeface="Cambria" panose="02040503050406030204"/>
                <a:cs typeface="Cambria" panose="02040503050406030204"/>
              </a:rPr>
              <a:t>  </a:t>
            </a:r>
            <a:r>
              <a:rPr sz="2400" spc="140" dirty="0">
                <a:latin typeface="Cambria" panose="02040503050406030204"/>
                <a:cs typeface="Cambria" panose="02040503050406030204"/>
              </a:rPr>
              <a:t>the</a:t>
            </a:r>
            <a:r>
              <a:rPr sz="2400" spc="250" dirty="0">
                <a:latin typeface="Cambria" panose="02040503050406030204"/>
                <a:cs typeface="Cambria" panose="02040503050406030204"/>
              </a:rPr>
              <a:t>  </a:t>
            </a:r>
            <a:r>
              <a:rPr sz="2400" spc="130" dirty="0">
                <a:latin typeface="Cambria" panose="02040503050406030204"/>
                <a:cs typeface="Cambria" panose="02040503050406030204"/>
              </a:rPr>
              <a:t>best</a:t>
            </a:r>
            <a:r>
              <a:rPr sz="2400" spc="245" dirty="0">
                <a:latin typeface="Cambria" panose="02040503050406030204"/>
                <a:cs typeface="Cambria" panose="02040503050406030204"/>
              </a:rPr>
              <a:t>  </a:t>
            </a:r>
            <a:r>
              <a:rPr sz="2400" spc="145" dirty="0">
                <a:latin typeface="Cambria" panose="02040503050406030204"/>
                <a:cs typeface="Cambria" panose="02040503050406030204"/>
              </a:rPr>
              <a:t>examples</a:t>
            </a:r>
            <a:r>
              <a:rPr sz="2400" spc="250" dirty="0">
                <a:latin typeface="Cambria" panose="02040503050406030204"/>
                <a:cs typeface="Cambria" panose="02040503050406030204"/>
              </a:rPr>
              <a:t>  </a:t>
            </a:r>
            <a:r>
              <a:rPr sz="2400" spc="25" dirty="0">
                <a:latin typeface="Cambria" panose="02040503050406030204"/>
                <a:cs typeface="Cambria" panose="02040503050406030204"/>
              </a:rPr>
              <a:t>of </a:t>
            </a:r>
            <a:r>
              <a:rPr sz="2400" spc="25" dirty="0">
                <a:latin typeface="Cambria" panose="02040503050406030204"/>
                <a:cs typeface="Cambria" panose="02040503050406030204"/>
              </a:rPr>
              <a:t>	</a:t>
            </a:r>
            <a:r>
              <a:rPr sz="2400" spc="105" dirty="0">
                <a:latin typeface="Cambria" panose="02040503050406030204"/>
                <a:cs typeface="Cambria" panose="02040503050406030204"/>
              </a:rPr>
              <a:t>Limited</a:t>
            </a:r>
            <a:r>
              <a:rPr sz="2400" spc="495" dirty="0">
                <a:latin typeface="Cambria" panose="02040503050406030204"/>
                <a:cs typeface="Cambria" panose="02040503050406030204"/>
              </a:rPr>
              <a:t>  </a:t>
            </a:r>
            <a:r>
              <a:rPr sz="2400" spc="125" dirty="0">
                <a:latin typeface="Cambria" panose="02040503050406030204"/>
                <a:cs typeface="Cambria" panose="02040503050406030204"/>
              </a:rPr>
              <a:t>Memory</a:t>
            </a:r>
            <a:r>
              <a:rPr sz="2400" spc="495" dirty="0">
                <a:latin typeface="Cambria" panose="02040503050406030204"/>
                <a:cs typeface="Cambria" panose="02040503050406030204"/>
              </a:rPr>
              <a:t>  </a:t>
            </a:r>
            <a:r>
              <a:rPr sz="2400" spc="165" dirty="0">
                <a:latin typeface="Cambria" panose="02040503050406030204"/>
                <a:cs typeface="Cambria" panose="02040503050406030204"/>
              </a:rPr>
              <a:t>systems.</a:t>
            </a:r>
            <a:r>
              <a:rPr sz="2400" spc="495" dirty="0">
                <a:latin typeface="Cambria" panose="02040503050406030204"/>
                <a:cs typeface="Cambria" panose="02040503050406030204"/>
              </a:rPr>
              <a:t>  </a:t>
            </a:r>
            <a:r>
              <a:rPr sz="2400" spc="125" dirty="0">
                <a:latin typeface="Cambria" panose="02040503050406030204"/>
                <a:cs typeface="Cambria" panose="02040503050406030204"/>
              </a:rPr>
              <a:t>These</a:t>
            </a:r>
            <a:r>
              <a:rPr sz="2400" spc="495" dirty="0">
                <a:latin typeface="Cambria" panose="02040503050406030204"/>
                <a:cs typeface="Cambria" panose="02040503050406030204"/>
              </a:rPr>
              <a:t>  </a:t>
            </a:r>
            <a:r>
              <a:rPr sz="2400" spc="155" dirty="0">
                <a:latin typeface="Cambria" panose="02040503050406030204"/>
                <a:cs typeface="Cambria" panose="02040503050406030204"/>
              </a:rPr>
              <a:t>cars</a:t>
            </a:r>
            <a:r>
              <a:rPr sz="2400" spc="500" dirty="0">
                <a:latin typeface="Cambria" panose="02040503050406030204"/>
                <a:cs typeface="Cambria" panose="02040503050406030204"/>
              </a:rPr>
              <a:t>  </a:t>
            </a:r>
            <a:r>
              <a:rPr sz="2400" spc="210" dirty="0">
                <a:latin typeface="Cambria" panose="02040503050406030204"/>
                <a:cs typeface="Cambria" panose="02040503050406030204"/>
              </a:rPr>
              <a:t>can</a:t>
            </a:r>
            <a:r>
              <a:rPr sz="2400" spc="495" dirty="0">
                <a:latin typeface="Cambria" panose="02040503050406030204"/>
                <a:cs typeface="Cambria" panose="02040503050406030204"/>
              </a:rPr>
              <a:t>  </a:t>
            </a:r>
            <a:r>
              <a:rPr sz="2400" spc="85" dirty="0">
                <a:latin typeface="Cambria" panose="02040503050406030204"/>
                <a:cs typeface="Cambria" panose="02040503050406030204"/>
              </a:rPr>
              <a:t>store </a:t>
            </a:r>
            <a:r>
              <a:rPr sz="2400" spc="85" dirty="0">
                <a:latin typeface="Cambria" panose="02040503050406030204"/>
                <a:cs typeface="Cambria" panose="02040503050406030204"/>
              </a:rPr>
              <a:t>	</a:t>
            </a:r>
            <a:r>
              <a:rPr sz="2400" spc="120" dirty="0">
                <a:latin typeface="Cambria" panose="02040503050406030204"/>
                <a:cs typeface="Cambria" panose="02040503050406030204"/>
              </a:rPr>
              <a:t>recent</a:t>
            </a:r>
            <a:r>
              <a:rPr sz="2400" spc="140" dirty="0">
                <a:latin typeface="Cambria" panose="02040503050406030204"/>
                <a:cs typeface="Cambria" panose="02040503050406030204"/>
              </a:rPr>
              <a:t>  </a:t>
            </a:r>
            <a:r>
              <a:rPr sz="2400" spc="114" dirty="0">
                <a:latin typeface="Cambria" panose="02040503050406030204"/>
                <a:cs typeface="Cambria" panose="02040503050406030204"/>
              </a:rPr>
              <a:t>speed</a:t>
            </a:r>
            <a:r>
              <a:rPr sz="2400" spc="145" dirty="0">
                <a:latin typeface="Cambria" panose="02040503050406030204"/>
                <a:cs typeface="Cambria" panose="02040503050406030204"/>
              </a:rPr>
              <a:t>  </a:t>
            </a:r>
            <a:r>
              <a:rPr sz="2400" spc="50" dirty="0">
                <a:latin typeface="Cambria" panose="02040503050406030204"/>
                <a:cs typeface="Cambria" panose="02040503050406030204"/>
              </a:rPr>
              <a:t>of</a:t>
            </a:r>
            <a:r>
              <a:rPr sz="2400" spc="145" dirty="0">
                <a:latin typeface="Cambria" panose="02040503050406030204"/>
                <a:cs typeface="Cambria" panose="02040503050406030204"/>
              </a:rPr>
              <a:t>  </a:t>
            </a:r>
            <a:r>
              <a:rPr sz="2400" spc="130" dirty="0">
                <a:latin typeface="Cambria" panose="02040503050406030204"/>
                <a:cs typeface="Cambria" panose="02040503050406030204"/>
              </a:rPr>
              <a:t>nearby</a:t>
            </a:r>
            <a:r>
              <a:rPr sz="2400" spc="145" dirty="0">
                <a:latin typeface="Cambria" panose="02040503050406030204"/>
                <a:cs typeface="Cambria" panose="02040503050406030204"/>
              </a:rPr>
              <a:t>  </a:t>
            </a:r>
            <a:r>
              <a:rPr sz="2400" spc="180" dirty="0">
                <a:latin typeface="Cambria" panose="02040503050406030204"/>
                <a:cs typeface="Cambria" panose="02040503050406030204"/>
              </a:rPr>
              <a:t>cars,</a:t>
            </a:r>
            <a:r>
              <a:rPr sz="2400" spc="135" dirty="0">
                <a:latin typeface="Cambria" panose="02040503050406030204"/>
                <a:cs typeface="Cambria" panose="02040503050406030204"/>
              </a:rPr>
              <a:t>  </a:t>
            </a:r>
            <a:r>
              <a:rPr sz="2400" spc="140" dirty="0">
                <a:latin typeface="Cambria" panose="02040503050406030204"/>
                <a:cs typeface="Cambria" panose="02040503050406030204"/>
              </a:rPr>
              <a:t>the</a:t>
            </a:r>
            <a:r>
              <a:rPr sz="2400" spc="145" dirty="0">
                <a:latin typeface="Cambria" panose="02040503050406030204"/>
                <a:cs typeface="Cambria" panose="02040503050406030204"/>
              </a:rPr>
              <a:t>  distance</a:t>
            </a:r>
            <a:r>
              <a:rPr sz="2400" spc="145" dirty="0">
                <a:latin typeface="Cambria" panose="02040503050406030204"/>
                <a:cs typeface="Cambria" panose="02040503050406030204"/>
              </a:rPr>
              <a:t>  </a:t>
            </a:r>
            <a:r>
              <a:rPr sz="2400" spc="50" dirty="0">
                <a:latin typeface="Cambria" panose="02040503050406030204"/>
                <a:cs typeface="Cambria" panose="02040503050406030204"/>
              </a:rPr>
              <a:t>of</a:t>
            </a:r>
            <a:r>
              <a:rPr sz="2400" spc="145" dirty="0">
                <a:latin typeface="Cambria" panose="02040503050406030204"/>
                <a:cs typeface="Cambria" panose="02040503050406030204"/>
              </a:rPr>
              <a:t>  </a:t>
            </a:r>
            <a:r>
              <a:rPr sz="2400" spc="100" dirty="0">
                <a:latin typeface="Cambria" panose="02040503050406030204"/>
                <a:cs typeface="Cambria" panose="02040503050406030204"/>
              </a:rPr>
              <a:t>other </a:t>
            </a:r>
            <a:r>
              <a:rPr sz="2400" spc="100" dirty="0">
                <a:latin typeface="Cambria" panose="02040503050406030204"/>
                <a:cs typeface="Cambria" panose="02040503050406030204"/>
              </a:rPr>
              <a:t>	</a:t>
            </a:r>
            <a:r>
              <a:rPr sz="2400" spc="185" dirty="0">
                <a:latin typeface="Cambria" panose="02040503050406030204"/>
                <a:cs typeface="Cambria" panose="02040503050406030204"/>
              </a:rPr>
              <a:t>cars,</a:t>
            </a:r>
            <a:r>
              <a:rPr sz="2400" spc="560" dirty="0">
                <a:latin typeface="Cambria" panose="02040503050406030204"/>
                <a:cs typeface="Cambria" panose="02040503050406030204"/>
              </a:rPr>
              <a:t> </a:t>
            </a:r>
            <a:r>
              <a:rPr sz="2400" spc="114" dirty="0">
                <a:latin typeface="Cambria" panose="02040503050406030204"/>
                <a:cs typeface="Cambria" panose="02040503050406030204"/>
              </a:rPr>
              <a:t>speed</a:t>
            </a:r>
            <a:r>
              <a:rPr sz="2400" spc="560" dirty="0">
                <a:latin typeface="Cambria" panose="02040503050406030204"/>
                <a:cs typeface="Cambria" panose="02040503050406030204"/>
              </a:rPr>
              <a:t> </a:t>
            </a:r>
            <a:r>
              <a:rPr sz="2400" spc="125" dirty="0">
                <a:latin typeface="Cambria" panose="02040503050406030204"/>
                <a:cs typeface="Cambria" panose="02040503050406030204"/>
              </a:rPr>
              <a:t>limit,</a:t>
            </a:r>
            <a:r>
              <a:rPr sz="2400" spc="560" dirty="0">
                <a:latin typeface="Cambria" panose="02040503050406030204"/>
                <a:cs typeface="Cambria" panose="02040503050406030204"/>
              </a:rPr>
              <a:t> </a:t>
            </a:r>
            <a:r>
              <a:rPr sz="2400" spc="200" dirty="0">
                <a:latin typeface="Cambria" panose="02040503050406030204"/>
                <a:cs typeface="Cambria" panose="02040503050406030204"/>
              </a:rPr>
              <a:t>and</a:t>
            </a:r>
            <a:r>
              <a:rPr sz="2400" spc="560" dirty="0">
                <a:latin typeface="Cambria" panose="02040503050406030204"/>
                <a:cs typeface="Cambria" panose="02040503050406030204"/>
              </a:rPr>
              <a:t> </a:t>
            </a:r>
            <a:r>
              <a:rPr sz="2400" spc="105" dirty="0">
                <a:latin typeface="Cambria" panose="02040503050406030204"/>
                <a:cs typeface="Cambria" panose="02040503050406030204"/>
              </a:rPr>
              <a:t>other</a:t>
            </a:r>
            <a:r>
              <a:rPr sz="2400" spc="560" dirty="0">
                <a:latin typeface="Cambria" panose="02040503050406030204"/>
                <a:cs typeface="Cambria" panose="02040503050406030204"/>
              </a:rPr>
              <a:t> </a:t>
            </a:r>
            <a:r>
              <a:rPr sz="2400" spc="120" dirty="0">
                <a:latin typeface="Cambria" panose="02040503050406030204"/>
                <a:cs typeface="Cambria" panose="02040503050406030204"/>
              </a:rPr>
              <a:t>information</a:t>
            </a:r>
            <a:r>
              <a:rPr sz="2400" spc="560" dirty="0">
                <a:latin typeface="Cambria" panose="02040503050406030204"/>
                <a:cs typeface="Cambria" panose="02040503050406030204"/>
              </a:rPr>
              <a:t> </a:t>
            </a:r>
            <a:r>
              <a:rPr sz="2400" spc="80" dirty="0">
                <a:latin typeface="Cambria" panose="02040503050406030204"/>
                <a:cs typeface="Cambria" panose="02040503050406030204"/>
              </a:rPr>
              <a:t>to</a:t>
            </a:r>
            <a:r>
              <a:rPr sz="2400" spc="560" dirty="0">
                <a:latin typeface="Cambria" panose="02040503050406030204"/>
                <a:cs typeface="Cambria" panose="02040503050406030204"/>
              </a:rPr>
              <a:t> </a:t>
            </a:r>
            <a:r>
              <a:rPr sz="2400" spc="114" dirty="0">
                <a:latin typeface="Cambria" panose="02040503050406030204"/>
                <a:cs typeface="Cambria" panose="02040503050406030204"/>
              </a:rPr>
              <a:t>navigate </a:t>
            </a:r>
            <a:r>
              <a:rPr sz="2400" spc="114" dirty="0">
                <a:latin typeface="Cambria" panose="02040503050406030204"/>
                <a:cs typeface="Cambria" panose="02040503050406030204"/>
              </a:rPr>
              <a:t>	</a:t>
            </a:r>
            <a:r>
              <a:rPr sz="2400" spc="140" dirty="0">
                <a:latin typeface="Cambria" panose="02040503050406030204"/>
                <a:cs typeface="Cambria" panose="02040503050406030204"/>
              </a:rPr>
              <a:t>the</a:t>
            </a:r>
            <a:r>
              <a:rPr sz="2400" spc="245" dirty="0">
                <a:latin typeface="Cambria" panose="02040503050406030204"/>
                <a:cs typeface="Cambria" panose="02040503050406030204"/>
              </a:rPr>
              <a:t> </a:t>
            </a:r>
            <a:r>
              <a:rPr sz="2400" spc="135" dirty="0">
                <a:latin typeface="Cambria" panose="02040503050406030204"/>
                <a:cs typeface="Cambria" panose="02040503050406030204"/>
              </a:rPr>
              <a:t>road.</a:t>
            </a:r>
            <a:endParaRPr sz="2400">
              <a:latin typeface="Cambria" panose="02040503050406030204"/>
              <a:cs typeface="Cambria" panose="020405030504060302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5140" y="65723"/>
            <a:ext cx="7552055" cy="627380"/>
          </a:xfrm>
          <a:prstGeom prst="rect">
            <a:avLst/>
          </a:prstGeom>
        </p:spPr>
        <p:txBody>
          <a:bodyPr vert="horz" wrap="square" lIns="0" tIns="12065" rIns="0" bIns="0" rtlCol="0">
            <a:spAutoFit/>
          </a:bodyPr>
          <a:lstStyle/>
          <a:p>
            <a:pPr marL="12700">
              <a:lnSpc>
                <a:spcPct val="100000"/>
              </a:lnSpc>
              <a:spcBef>
                <a:spcPts val="95"/>
              </a:spcBef>
            </a:pPr>
            <a:r>
              <a:rPr spc="-20" dirty="0"/>
              <a:t>Types</a:t>
            </a:r>
            <a:r>
              <a:rPr spc="-85" dirty="0"/>
              <a:t> </a:t>
            </a:r>
            <a:r>
              <a:rPr dirty="0"/>
              <a:t>of</a:t>
            </a:r>
            <a:r>
              <a:rPr spc="-80" dirty="0"/>
              <a:t> </a:t>
            </a:r>
            <a:r>
              <a:rPr dirty="0"/>
              <a:t>artificial</a:t>
            </a:r>
            <a:r>
              <a:rPr spc="-75" dirty="0"/>
              <a:t> </a:t>
            </a:r>
            <a:r>
              <a:rPr spc="-10" dirty="0"/>
              <a:t>intelligence</a:t>
            </a:r>
            <a:endParaRPr spc="-10" dirty="0"/>
          </a:p>
        </p:txBody>
      </p:sp>
      <p:sp>
        <p:nvSpPr>
          <p:cNvPr id="3" name="object 3"/>
          <p:cNvSpPr txBox="1"/>
          <p:nvPr/>
        </p:nvSpPr>
        <p:spPr>
          <a:xfrm>
            <a:off x="1836216" y="716407"/>
            <a:ext cx="8455025" cy="3965575"/>
          </a:xfrm>
          <a:prstGeom prst="rect">
            <a:avLst/>
          </a:prstGeom>
        </p:spPr>
        <p:txBody>
          <a:bodyPr vert="horz" wrap="square" lIns="0" tIns="12700" rIns="0" bIns="0" rtlCol="0">
            <a:spAutoFit/>
          </a:bodyPr>
          <a:lstStyle/>
          <a:p>
            <a:pPr marL="12700">
              <a:lnSpc>
                <a:spcPct val="100000"/>
              </a:lnSpc>
              <a:spcBef>
                <a:spcPts val="100"/>
              </a:spcBef>
            </a:pPr>
            <a:r>
              <a:rPr sz="2400" b="1" spc="125" dirty="0">
                <a:latin typeface="Cambria" panose="02040503050406030204"/>
                <a:cs typeface="Cambria" panose="02040503050406030204"/>
              </a:rPr>
              <a:t>Artificial</a:t>
            </a:r>
            <a:r>
              <a:rPr sz="2400" b="1" spc="260" dirty="0">
                <a:latin typeface="Cambria" panose="02040503050406030204"/>
                <a:cs typeface="Cambria" panose="02040503050406030204"/>
              </a:rPr>
              <a:t> </a:t>
            </a:r>
            <a:r>
              <a:rPr sz="2400" b="1" spc="135" dirty="0">
                <a:latin typeface="Cambria" panose="02040503050406030204"/>
                <a:cs typeface="Cambria" panose="02040503050406030204"/>
              </a:rPr>
              <a:t>Intelligence</a:t>
            </a:r>
            <a:r>
              <a:rPr sz="2400" b="1" spc="275" dirty="0">
                <a:latin typeface="Cambria" panose="02040503050406030204"/>
                <a:cs typeface="Cambria" panose="02040503050406030204"/>
              </a:rPr>
              <a:t> </a:t>
            </a:r>
            <a:r>
              <a:rPr sz="2400" b="1" spc="130" dirty="0">
                <a:latin typeface="Cambria" panose="02040503050406030204"/>
                <a:cs typeface="Cambria" panose="02040503050406030204"/>
              </a:rPr>
              <a:t>type-</a:t>
            </a:r>
            <a:r>
              <a:rPr sz="2400" b="1" spc="145" dirty="0">
                <a:latin typeface="Cambria" panose="02040503050406030204"/>
                <a:cs typeface="Cambria" panose="02040503050406030204"/>
              </a:rPr>
              <a:t>2:</a:t>
            </a:r>
            <a:r>
              <a:rPr sz="2400" b="1" spc="280" dirty="0">
                <a:latin typeface="Cambria" panose="02040503050406030204"/>
                <a:cs typeface="Cambria" panose="02040503050406030204"/>
              </a:rPr>
              <a:t> </a:t>
            </a:r>
            <a:r>
              <a:rPr sz="2400" b="1" spc="114" dirty="0">
                <a:latin typeface="Cambria" panose="02040503050406030204"/>
                <a:cs typeface="Cambria" panose="02040503050406030204"/>
              </a:rPr>
              <a:t>Based</a:t>
            </a:r>
            <a:r>
              <a:rPr sz="2400" b="1" spc="285" dirty="0">
                <a:latin typeface="Cambria" panose="02040503050406030204"/>
                <a:cs typeface="Cambria" panose="02040503050406030204"/>
              </a:rPr>
              <a:t> </a:t>
            </a:r>
            <a:r>
              <a:rPr sz="2400" b="1" spc="135" dirty="0">
                <a:latin typeface="Cambria" panose="02040503050406030204"/>
                <a:cs typeface="Cambria" panose="02040503050406030204"/>
              </a:rPr>
              <a:t>on</a:t>
            </a:r>
            <a:r>
              <a:rPr sz="2400" b="1" spc="295" dirty="0">
                <a:latin typeface="Cambria" panose="02040503050406030204"/>
                <a:cs typeface="Cambria" panose="02040503050406030204"/>
              </a:rPr>
              <a:t> </a:t>
            </a:r>
            <a:r>
              <a:rPr sz="2400" b="1" spc="135" dirty="0">
                <a:latin typeface="Cambria" panose="02040503050406030204"/>
                <a:cs typeface="Cambria" panose="02040503050406030204"/>
              </a:rPr>
              <a:t>functionality</a:t>
            </a:r>
            <a:endParaRPr sz="2400">
              <a:latin typeface="Cambria" panose="02040503050406030204"/>
              <a:cs typeface="Cambria" panose="02040503050406030204"/>
            </a:endParaRPr>
          </a:p>
          <a:p>
            <a:pPr>
              <a:lnSpc>
                <a:spcPct val="100000"/>
              </a:lnSpc>
              <a:spcBef>
                <a:spcPts val="2025"/>
              </a:spcBef>
            </a:pPr>
            <a:endParaRPr sz="2400">
              <a:latin typeface="Cambria" panose="02040503050406030204"/>
              <a:cs typeface="Cambria" panose="02040503050406030204"/>
            </a:endParaRPr>
          </a:p>
          <a:p>
            <a:pPr marL="639445" indent="-474345" algn="just">
              <a:lnSpc>
                <a:spcPct val="100000"/>
              </a:lnSpc>
              <a:buAutoNum type="arabicPeriod" startAt="3"/>
              <a:tabLst>
                <a:tab pos="639445" algn="l"/>
              </a:tabLst>
            </a:pPr>
            <a:r>
              <a:rPr sz="2800" b="1" spc="135" dirty="0">
                <a:latin typeface="Cambria" panose="02040503050406030204"/>
                <a:cs typeface="Cambria" panose="02040503050406030204"/>
              </a:rPr>
              <a:t>Theory</a:t>
            </a:r>
            <a:r>
              <a:rPr sz="2800" b="1" spc="365" dirty="0">
                <a:latin typeface="Cambria" panose="02040503050406030204"/>
                <a:cs typeface="Cambria" panose="02040503050406030204"/>
              </a:rPr>
              <a:t> </a:t>
            </a:r>
            <a:r>
              <a:rPr sz="2800" b="1" spc="135" dirty="0">
                <a:latin typeface="Cambria" panose="02040503050406030204"/>
                <a:cs typeface="Cambria" panose="02040503050406030204"/>
              </a:rPr>
              <a:t>of</a:t>
            </a:r>
            <a:r>
              <a:rPr sz="2800" b="1" spc="330" dirty="0">
                <a:latin typeface="Cambria" panose="02040503050406030204"/>
                <a:cs typeface="Cambria" panose="02040503050406030204"/>
              </a:rPr>
              <a:t> </a:t>
            </a:r>
            <a:r>
              <a:rPr sz="2800" b="1" spc="145" dirty="0">
                <a:latin typeface="Cambria" panose="02040503050406030204"/>
                <a:cs typeface="Cambria" panose="02040503050406030204"/>
              </a:rPr>
              <a:t>Mind</a:t>
            </a:r>
            <a:endParaRPr sz="2800">
              <a:latin typeface="Cambria" panose="02040503050406030204"/>
              <a:cs typeface="Cambria" panose="02040503050406030204"/>
            </a:endParaRPr>
          </a:p>
          <a:p>
            <a:pPr marL="508000" marR="5080" lvl="1" indent="-342900" algn="just">
              <a:lnSpc>
                <a:spcPct val="100000"/>
              </a:lnSpc>
              <a:spcBef>
                <a:spcPts val="1195"/>
              </a:spcBef>
              <a:buFont typeface="Microsoft Sans Serif" panose="020B0604020202020204"/>
              <a:buChar char="•"/>
              <a:tabLst>
                <a:tab pos="508000" algn="l"/>
              </a:tabLst>
            </a:pPr>
            <a:r>
              <a:rPr sz="2400" spc="95" dirty="0">
                <a:latin typeface="Cambria" panose="02040503050406030204"/>
                <a:cs typeface="Cambria" panose="02040503050406030204"/>
              </a:rPr>
              <a:t>Theory</a:t>
            </a:r>
            <a:r>
              <a:rPr sz="2400" spc="190" dirty="0">
                <a:latin typeface="Cambria" panose="02040503050406030204"/>
                <a:cs typeface="Cambria" panose="02040503050406030204"/>
              </a:rPr>
              <a:t>  </a:t>
            </a:r>
            <a:r>
              <a:rPr sz="2400" spc="50" dirty="0">
                <a:latin typeface="Cambria" panose="02040503050406030204"/>
                <a:cs typeface="Cambria" panose="02040503050406030204"/>
              </a:rPr>
              <a:t>of</a:t>
            </a:r>
            <a:r>
              <a:rPr sz="2400" spc="190" dirty="0">
                <a:latin typeface="Cambria" panose="02040503050406030204"/>
                <a:cs typeface="Cambria" panose="02040503050406030204"/>
              </a:rPr>
              <a:t>  </a:t>
            </a:r>
            <a:r>
              <a:rPr sz="2400" spc="165" dirty="0">
                <a:latin typeface="Cambria" panose="02040503050406030204"/>
                <a:cs typeface="Cambria" panose="02040503050406030204"/>
              </a:rPr>
              <a:t>Mind</a:t>
            </a:r>
            <a:r>
              <a:rPr sz="2400" spc="190" dirty="0">
                <a:latin typeface="Cambria" panose="02040503050406030204"/>
                <a:cs typeface="Cambria" panose="02040503050406030204"/>
              </a:rPr>
              <a:t>  </a:t>
            </a:r>
            <a:r>
              <a:rPr sz="2400" spc="75" dirty="0">
                <a:latin typeface="Cambria" panose="02040503050406030204"/>
                <a:cs typeface="Cambria" panose="02040503050406030204"/>
              </a:rPr>
              <a:t>AI</a:t>
            </a:r>
            <a:r>
              <a:rPr sz="2400" spc="195" dirty="0">
                <a:latin typeface="Cambria" panose="02040503050406030204"/>
                <a:cs typeface="Cambria" panose="02040503050406030204"/>
              </a:rPr>
              <a:t>  </a:t>
            </a:r>
            <a:r>
              <a:rPr sz="2400" spc="170" dirty="0">
                <a:latin typeface="Cambria" panose="02040503050406030204"/>
                <a:cs typeface="Cambria" panose="02040503050406030204"/>
              </a:rPr>
              <a:t>should</a:t>
            </a:r>
            <a:r>
              <a:rPr sz="2400" spc="190" dirty="0">
                <a:latin typeface="Cambria" panose="02040503050406030204"/>
                <a:cs typeface="Cambria" panose="02040503050406030204"/>
              </a:rPr>
              <a:t>  </a:t>
            </a:r>
            <a:r>
              <a:rPr sz="2400" spc="160" dirty="0">
                <a:latin typeface="Cambria" panose="02040503050406030204"/>
                <a:cs typeface="Cambria" panose="02040503050406030204"/>
              </a:rPr>
              <a:t>understand</a:t>
            </a:r>
            <a:r>
              <a:rPr sz="2400" spc="190" dirty="0">
                <a:latin typeface="Cambria" panose="02040503050406030204"/>
                <a:cs typeface="Cambria" panose="02040503050406030204"/>
              </a:rPr>
              <a:t>  </a:t>
            </a:r>
            <a:r>
              <a:rPr sz="2400" spc="140" dirty="0">
                <a:latin typeface="Cambria" panose="02040503050406030204"/>
                <a:cs typeface="Cambria" panose="02040503050406030204"/>
              </a:rPr>
              <a:t>the</a:t>
            </a:r>
            <a:r>
              <a:rPr sz="2400" spc="190" dirty="0">
                <a:latin typeface="Cambria" panose="02040503050406030204"/>
                <a:cs typeface="Cambria" panose="02040503050406030204"/>
              </a:rPr>
              <a:t>  </a:t>
            </a:r>
            <a:r>
              <a:rPr sz="2400" spc="229" dirty="0">
                <a:latin typeface="Cambria" panose="02040503050406030204"/>
                <a:cs typeface="Cambria" panose="02040503050406030204"/>
              </a:rPr>
              <a:t>human </a:t>
            </a:r>
            <a:r>
              <a:rPr sz="2400" spc="145" dirty="0">
                <a:latin typeface="Cambria" panose="02040503050406030204"/>
                <a:cs typeface="Cambria" panose="02040503050406030204"/>
              </a:rPr>
              <a:t>emotions,</a:t>
            </a:r>
            <a:r>
              <a:rPr sz="2400" spc="270" dirty="0">
                <a:latin typeface="Cambria" panose="02040503050406030204"/>
                <a:cs typeface="Cambria" panose="02040503050406030204"/>
              </a:rPr>
              <a:t>  </a:t>
            </a:r>
            <a:r>
              <a:rPr sz="2400" spc="114" dirty="0">
                <a:latin typeface="Cambria" panose="02040503050406030204"/>
                <a:cs typeface="Cambria" panose="02040503050406030204"/>
              </a:rPr>
              <a:t>people,</a:t>
            </a:r>
            <a:r>
              <a:rPr sz="2400" spc="265" dirty="0">
                <a:latin typeface="Cambria" panose="02040503050406030204"/>
                <a:cs typeface="Cambria" panose="02040503050406030204"/>
              </a:rPr>
              <a:t>  </a:t>
            </a:r>
            <a:r>
              <a:rPr sz="2400" spc="114" dirty="0">
                <a:latin typeface="Cambria" panose="02040503050406030204"/>
                <a:cs typeface="Cambria" panose="02040503050406030204"/>
              </a:rPr>
              <a:t>beliefs,</a:t>
            </a:r>
            <a:r>
              <a:rPr sz="2400" spc="265" dirty="0">
                <a:latin typeface="Cambria" panose="02040503050406030204"/>
                <a:cs typeface="Cambria" panose="02040503050406030204"/>
              </a:rPr>
              <a:t>  </a:t>
            </a:r>
            <a:r>
              <a:rPr sz="2400" spc="185" dirty="0">
                <a:latin typeface="Cambria" panose="02040503050406030204"/>
                <a:cs typeface="Cambria" panose="02040503050406030204"/>
              </a:rPr>
              <a:t>and</a:t>
            </a:r>
            <a:r>
              <a:rPr sz="2400" spc="270" dirty="0">
                <a:latin typeface="Cambria" panose="02040503050406030204"/>
                <a:cs typeface="Cambria" panose="02040503050406030204"/>
              </a:rPr>
              <a:t>  </a:t>
            </a:r>
            <a:r>
              <a:rPr sz="2400" spc="120" dirty="0">
                <a:latin typeface="Cambria" panose="02040503050406030204"/>
                <a:cs typeface="Cambria" panose="02040503050406030204"/>
              </a:rPr>
              <a:t>be</a:t>
            </a:r>
            <a:r>
              <a:rPr sz="2400" spc="265" dirty="0">
                <a:latin typeface="Cambria" panose="02040503050406030204"/>
                <a:cs typeface="Cambria" panose="02040503050406030204"/>
              </a:rPr>
              <a:t>  </a:t>
            </a:r>
            <a:r>
              <a:rPr sz="2400" spc="120" dirty="0">
                <a:latin typeface="Cambria" panose="02040503050406030204"/>
                <a:cs typeface="Cambria" panose="02040503050406030204"/>
              </a:rPr>
              <a:t>able</a:t>
            </a:r>
            <a:r>
              <a:rPr sz="2400" spc="275" dirty="0">
                <a:latin typeface="Cambria" panose="02040503050406030204"/>
                <a:cs typeface="Cambria" panose="02040503050406030204"/>
              </a:rPr>
              <a:t>  </a:t>
            </a:r>
            <a:r>
              <a:rPr sz="2400" spc="80" dirty="0">
                <a:latin typeface="Cambria" panose="02040503050406030204"/>
                <a:cs typeface="Cambria" panose="02040503050406030204"/>
              </a:rPr>
              <a:t>to</a:t>
            </a:r>
            <a:r>
              <a:rPr sz="2400" spc="270" dirty="0">
                <a:latin typeface="Cambria" panose="02040503050406030204"/>
                <a:cs typeface="Cambria" panose="02040503050406030204"/>
              </a:rPr>
              <a:t>  </a:t>
            </a:r>
            <a:r>
              <a:rPr sz="2400" spc="120" dirty="0">
                <a:latin typeface="Cambria" panose="02040503050406030204"/>
                <a:cs typeface="Cambria" panose="02040503050406030204"/>
              </a:rPr>
              <a:t>interact </a:t>
            </a:r>
            <a:r>
              <a:rPr sz="2400" spc="110" dirty="0">
                <a:latin typeface="Cambria" panose="02040503050406030204"/>
                <a:cs typeface="Cambria" panose="02040503050406030204"/>
              </a:rPr>
              <a:t>socially</a:t>
            </a:r>
            <a:r>
              <a:rPr sz="2400" spc="270" dirty="0">
                <a:latin typeface="Cambria" panose="02040503050406030204"/>
                <a:cs typeface="Cambria" panose="02040503050406030204"/>
              </a:rPr>
              <a:t> </a:t>
            </a:r>
            <a:r>
              <a:rPr sz="2400" spc="100" dirty="0">
                <a:latin typeface="Cambria" panose="02040503050406030204"/>
                <a:cs typeface="Cambria" panose="02040503050406030204"/>
              </a:rPr>
              <a:t>like</a:t>
            </a:r>
            <a:r>
              <a:rPr sz="2400" spc="250" dirty="0">
                <a:latin typeface="Cambria" panose="02040503050406030204"/>
                <a:cs typeface="Cambria" panose="02040503050406030204"/>
              </a:rPr>
              <a:t> </a:t>
            </a:r>
            <a:r>
              <a:rPr sz="2400" spc="240" dirty="0">
                <a:latin typeface="Cambria" panose="02040503050406030204"/>
                <a:cs typeface="Cambria" panose="02040503050406030204"/>
              </a:rPr>
              <a:t>humans.</a:t>
            </a:r>
            <a:endParaRPr sz="2400">
              <a:latin typeface="Cambria" panose="02040503050406030204"/>
              <a:cs typeface="Cambria" panose="02040503050406030204"/>
            </a:endParaRPr>
          </a:p>
          <a:p>
            <a:pPr marL="508000" marR="5080" lvl="1" indent="-342900" algn="just">
              <a:lnSpc>
                <a:spcPct val="100000"/>
              </a:lnSpc>
              <a:spcBef>
                <a:spcPts val="1205"/>
              </a:spcBef>
              <a:buFont typeface="Microsoft Sans Serif" panose="020B0604020202020204"/>
              <a:buChar char="•"/>
              <a:tabLst>
                <a:tab pos="508000" algn="l"/>
              </a:tabLst>
            </a:pPr>
            <a:r>
              <a:rPr sz="2400" spc="135" dirty="0">
                <a:latin typeface="Cambria" panose="02040503050406030204"/>
                <a:cs typeface="Cambria" panose="02040503050406030204"/>
              </a:rPr>
              <a:t>This</a:t>
            </a:r>
            <a:r>
              <a:rPr sz="2400" spc="415" dirty="0">
                <a:latin typeface="Cambria" panose="02040503050406030204"/>
                <a:cs typeface="Cambria" panose="02040503050406030204"/>
              </a:rPr>
              <a:t> </a:t>
            </a:r>
            <a:r>
              <a:rPr sz="2400" spc="90" dirty="0">
                <a:latin typeface="Cambria" panose="02040503050406030204"/>
                <a:cs typeface="Cambria" panose="02040503050406030204"/>
              </a:rPr>
              <a:t>type</a:t>
            </a:r>
            <a:r>
              <a:rPr sz="2400" spc="425" dirty="0">
                <a:latin typeface="Cambria" panose="02040503050406030204"/>
                <a:cs typeface="Cambria" panose="02040503050406030204"/>
              </a:rPr>
              <a:t> </a:t>
            </a:r>
            <a:r>
              <a:rPr sz="2400" spc="50" dirty="0">
                <a:latin typeface="Cambria" panose="02040503050406030204"/>
                <a:cs typeface="Cambria" panose="02040503050406030204"/>
              </a:rPr>
              <a:t>of</a:t>
            </a:r>
            <a:r>
              <a:rPr sz="2400" spc="409" dirty="0">
                <a:latin typeface="Cambria" panose="02040503050406030204"/>
                <a:cs typeface="Cambria" panose="02040503050406030204"/>
              </a:rPr>
              <a:t> </a:t>
            </a:r>
            <a:r>
              <a:rPr sz="2400" spc="75" dirty="0">
                <a:latin typeface="Cambria" panose="02040503050406030204"/>
                <a:cs typeface="Cambria" panose="02040503050406030204"/>
              </a:rPr>
              <a:t>AI</a:t>
            </a:r>
            <a:r>
              <a:rPr sz="2400" spc="409" dirty="0">
                <a:latin typeface="Cambria" panose="02040503050406030204"/>
                <a:cs typeface="Cambria" panose="02040503050406030204"/>
              </a:rPr>
              <a:t> </a:t>
            </a:r>
            <a:r>
              <a:rPr sz="2400" spc="180" dirty="0">
                <a:latin typeface="Cambria" panose="02040503050406030204"/>
                <a:cs typeface="Cambria" panose="02040503050406030204"/>
              </a:rPr>
              <a:t>machines</a:t>
            </a:r>
            <a:r>
              <a:rPr sz="2400" spc="415" dirty="0">
                <a:latin typeface="Cambria" panose="02040503050406030204"/>
                <a:cs typeface="Cambria" panose="02040503050406030204"/>
              </a:rPr>
              <a:t> </a:t>
            </a:r>
            <a:r>
              <a:rPr sz="2400" spc="110" dirty="0">
                <a:latin typeface="Cambria" panose="02040503050406030204"/>
                <a:cs typeface="Cambria" panose="02040503050406030204"/>
              </a:rPr>
              <a:t>are</a:t>
            </a:r>
            <a:r>
              <a:rPr sz="2400" spc="409" dirty="0">
                <a:latin typeface="Cambria" panose="02040503050406030204"/>
                <a:cs typeface="Cambria" panose="02040503050406030204"/>
              </a:rPr>
              <a:t> </a:t>
            </a:r>
            <a:r>
              <a:rPr sz="2400" spc="95" dirty="0">
                <a:latin typeface="Cambria" panose="02040503050406030204"/>
                <a:cs typeface="Cambria" panose="02040503050406030204"/>
              </a:rPr>
              <a:t>still</a:t>
            </a:r>
            <a:r>
              <a:rPr sz="2400" spc="415" dirty="0">
                <a:latin typeface="Cambria" panose="02040503050406030204"/>
                <a:cs typeface="Cambria" panose="02040503050406030204"/>
              </a:rPr>
              <a:t> </a:t>
            </a:r>
            <a:r>
              <a:rPr sz="2400" spc="135" dirty="0">
                <a:latin typeface="Cambria" panose="02040503050406030204"/>
                <a:cs typeface="Cambria" panose="02040503050406030204"/>
              </a:rPr>
              <a:t>not</a:t>
            </a:r>
            <a:r>
              <a:rPr sz="2400" spc="415" dirty="0">
                <a:latin typeface="Cambria" panose="02040503050406030204"/>
                <a:cs typeface="Cambria" panose="02040503050406030204"/>
              </a:rPr>
              <a:t> </a:t>
            </a:r>
            <a:r>
              <a:rPr sz="2400" spc="100" dirty="0">
                <a:latin typeface="Cambria" panose="02040503050406030204"/>
                <a:cs typeface="Cambria" panose="02040503050406030204"/>
              </a:rPr>
              <a:t>developed,</a:t>
            </a:r>
            <a:r>
              <a:rPr sz="2400" spc="420" dirty="0">
                <a:latin typeface="Cambria" panose="02040503050406030204"/>
                <a:cs typeface="Cambria" panose="02040503050406030204"/>
              </a:rPr>
              <a:t> </a:t>
            </a:r>
            <a:r>
              <a:rPr sz="2400" spc="155" dirty="0">
                <a:latin typeface="Cambria" panose="02040503050406030204"/>
                <a:cs typeface="Cambria" panose="02040503050406030204"/>
              </a:rPr>
              <a:t>but </a:t>
            </a:r>
            <a:r>
              <a:rPr sz="2400" spc="130" dirty="0">
                <a:latin typeface="Cambria" panose="02040503050406030204"/>
                <a:cs typeface="Cambria" panose="02040503050406030204"/>
              </a:rPr>
              <a:t>researchers</a:t>
            </a:r>
            <a:r>
              <a:rPr sz="2400" spc="484" dirty="0">
                <a:latin typeface="Cambria" panose="02040503050406030204"/>
                <a:cs typeface="Cambria" panose="02040503050406030204"/>
              </a:rPr>
              <a:t>   </a:t>
            </a:r>
            <a:r>
              <a:rPr sz="2400" spc="105" dirty="0">
                <a:latin typeface="Cambria" panose="02040503050406030204"/>
                <a:cs typeface="Cambria" panose="02040503050406030204"/>
              </a:rPr>
              <a:t>are</a:t>
            </a:r>
            <a:r>
              <a:rPr sz="2400" spc="484" dirty="0">
                <a:latin typeface="Cambria" panose="02040503050406030204"/>
                <a:cs typeface="Cambria" panose="02040503050406030204"/>
              </a:rPr>
              <a:t>   </a:t>
            </a:r>
            <a:r>
              <a:rPr sz="2400" spc="170" dirty="0">
                <a:latin typeface="Cambria" panose="02040503050406030204"/>
                <a:cs typeface="Cambria" panose="02040503050406030204"/>
              </a:rPr>
              <a:t>making</a:t>
            </a:r>
            <a:r>
              <a:rPr sz="2400" spc="490" dirty="0">
                <a:latin typeface="Cambria" panose="02040503050406030204"/>
                <a:cs typeface="Cambria" panose="02040503050406030204"/>
              </a:rPr>
              <a:t>   </a:t>
            </a:r>
            <a:r>
              <a:rPr sz="2400" spc="100" dirty="0">
                <a:latin typeface="Cambria" panose="02040503050406030204"/>
                <a:cs typeface="Cambria" panose="02040503050406030204"/>
              </a:rPr>
              <a:t>lots</a:t>
            </a:r>
            <a:r>
              <a:rPr sz="2400" spc="490" dirty="0">
                <a:latin typeface="Cambria" panose="02040503050406030204"/>
                <a:cs typeface="Cambria" panose="02040503050406030204"/>
              </a:rPr>
              <a:t>   </a:t>
            </a:r>
            <a:r>
              <a:rPr sz="2400" spc="50" dirty="0">
                <a:latin typeface="Cambria" panose="02040503050406030204"/>
                <a:cs typeface="Cambria" panose="02040503050406030204"/>
              </a:rPr>
              <a:t>of</a:t>
            </a:r>
            <a:r>
              <a:rPr sz="2400" spc="490" dirty="0">
                <a:latin typeface="Cambria" panose="02040503050406030204"/>
                <a:cs typeface="Cambria" panose="02040503050406030204"/>
              </a:rPr>
              <a:t>   </a:t>
            </a:r>
            <a:r>
              <a:rPr sz="2400" spc="75" dirty="0">
                <a:latin typeface="Cambria" panose="02040503050406030204"/>
                <a:cs typeface="Cambria" panose="02040503050406030204"/>
              </a:rPr>
              <a:t>efforts</a:t>
            </a:r>
            <a:r>
              <a:rPr sz="2400" spc="484" dirty="0">
                <a:latin typeface="Cambria" panose="02040503050406030204"/>
                <a:cs typeface="Cambria" panose="02040503050406030204"/>
              </a:rPr>
              <a:t>   </a:t>
            </a:r>
            <a:r>
              <a:rPr sz="2400" spc="165" dirty="0">
                <a:latin typeface="Cambria" panose="02040503050406030204"/>
                <a:cs typeface="Cambria" panose="02040503050406030204"/>
              </a:rPr>
              <a:t>and </a:t>
            </a:r>
            <a:r>
              <a:rPr sz="2400" spc="110" dirty="0">
                <a:latin typeface="Cambria" panose="02040503050406030204"/>
                <a:cs typeface="Cambria" panose="02040503050406030204"/>
              </a:rPr>
              <a:t>improvement</a:t>
            </a:r>
            <a:r>
              <a:rPr sz="2400" spc="254" dirty="0">
                <a:latin typeface="Cambria" panose="02040503050406030204"/>
                <a:cs typeface="Cambria" panose="02040503050406030204"/>
              </a:rPr>
              <a:t> </a:t>
            </a:r>
            <a:r>
              <a:rPr sz="2400" spc="55" dirty="0">
                <a:latin typeface="Cambria" panose="02040503050406030204"/>
                <a:cs typeface="Cambria" panose="02040503050406030204"/>
              </a:rPr>
              <a:t>for</a:t>
            </a:r>
            <a:r>
              <a:rPr sz="2400" spc="245" dirty="0">
                <a:latin typeface="Cambria" panose="02040503050406030204"/>
                <a:cs typeface="Cambria" panose="02040503050406030204"/>
              </a:rPr>
              <a:t> </a:t>
            </a:r>
            <a:r>
              <a:rPr sz="2400" spc="95" dirty="0">
                <a:latin typeface="Cambria" panose="02040503050406030204"/>
                <a:cs typeface="Cambria" panose="02040503050406030204"/>
              </a:rPr>
              <a:t>developing</a:t>
            </a:r>
            <a:r>
              <a:rPr sz="2400" spc="285" dirty="0">
                <a:latin typeface="Cambria" panose="02040503050406030204"/>
                <a:cs typeface="Cambria" panose="02040503050406030204"/>
              </a:rPr>
              <a:t> </a:t>
            </a:r>
            <a:r>
              <a:rPr sz="2400" spc="229" dirty="0">
                <a:latin typeface="Cambria" panose="02040503050406030204"/>
                <a:cs typeface="Cambria" panose="02040503050406030204"/>
              </a:rPr>
              <a:t>such</a:t>
            </a:r>
            <a:r>
              <a:rPr sz="2400" spc="265" dirty="0">
                <a:latin typeface="Cambria" panose="02040503050406030204"/>
                <a:cs typeface="Cambria" panose="02040503050406030204"/>
              </a:rPr>
              <a:t> </a:t>
            </a:r>
            <a:r>
              <a:rPr sz="2400" spc="75" dirty="0">
                <a:latin typeface="Cambria" panose="02040503050406030204"/>
                <a:cs typeface="Cambria" panose="02040503050406030204"/>
              </a:rPr>
              <a:t>AI</a:t>
            </a:r>
            <a:r>
              <a:rPr sz="2400" spc="254" dirty="0">
                <a:latin typeface="Cambria" panose="02040503050406030204"/>
                <a:cs typeface="Cambria" panose="02040503050406030204"/>
              </a:rPr>
              <a:t> </a:t>
            </a:r>
            <a:r>
              <a:rPr sz="2400" spc="180" dirty="0">
                <a:latin typeface="Cambria" panose="02040503050406030204"/>
                <a:cs typeface="Cambria" panose="02040503050406030204"/>
              </a:rPr>
              <a:t>machines.</a:t>
            </a:r>
            <a:endParaRPr sz="2400">
              <a:latin typeface="Cambria" panose="02040503050406030204"/>
              <a:cs typeface="Cambria" panose="020405030504060302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5140" y="65723"/>
            <a:ext cx="7614920" cy="627380"/>
          </a:xfrm>
          <a:prstGeom prst="rect">
            <a:avLst/>
          </a:prstGeom>
        </p:spPr>
        <p:txBody>
          <a:bodyPr vert="horz" wrap="square" lIns="0" tIns="12065" rIns="0" bIns="0" rtlCol="0">
            <a:spAutoFit/>
          </a:bodyPr>
          <a:lstStyle/>
          <a:p>
            <a:pPr marL="12700">
              <a:lnSpc>
                <a:spcPct val="100000"/>
              </a:lnSpc>
              <a:spcBef>
                <a:spcPts val="95"/>
              </a:spcBef>
            </a:pPr>
            <a:r>
              <a:rPr spc="-20" dirty="0"/>
              <a:t>Types</a:t>
            </a:r>
            <a:r>
              <a:rPr spc="-85" dirty="0"/>
              <a:t> </a:t>
            </a:r>
            <a:r>
              <a:rPr dirty="0"/>
              <a:t>of</a:t>
            </a:r>
            <a:r>
              <a:rPr spc="-80" dirty="0"/>
              <a:t> </a:t>
            </a:r>
            <a:r>
              <a:rPr dirty="0"/>
              <a:t>artificial</a:t>
            </a:r>
            <a:r>
              <a:rPr spc="-75" dirty="0"/>
              <a:t> </a:t>
            </a:r>
            <a:r>
              <a:rPr spc="-10" dirty="0"/>
              <a:t>intelligence</a:t>
            </a:r>
            <a:endParaRPr spc="-10" dirty="0"/>
          </a:p>
        </p:txBody>
      </p:sp>
      <p:sp>
        <p:nvSpPr>
          <p:cNvPr id="3" name="object 3"/>
          <p:cNvSpPr txBox="1"/>
          <p:nvPr/>
        </p:nvSpPr>
        <p:spPr>
          <a:xfrm>
            <a:off x="1836216" y="716407"/>
            <a:ext cx="8317865" cy="381635"/>
          </a:xfrm>
          <a:prstGeom prst="rect">
            <a:avLst/>
          </a:prstGeom>
        </p:spPr>
        <p:txBody>
          <a:bodyPr vert="horz" wrap="square" lIns="0" tIns="12700" rIns="0" bIns="0" rtlCol="0">
            <a:spAutoFit/>
          </a:bodyPr>
          <a:lstStyle/>
          <a:p>
            <a:pPr marL="12700">
              <a:lnSpc>
                <a:spcPct val="100000"/>
              </a:lnSpc>
              <a:spcBef>
                <a:spcPts val="100"/>
              </a:spcBef>
            </a:pPr>
            <a:r>
              <a:rPr sz="2400" b="1" spc="125" dirty="0">
                <a:latin typeface="Cambria" panose="02040503050406030204"/>
                <a:cs typeface="Cambria" panose="02040503050406030204"/>
              </a:rPr>
              <a:t>Artificial</a:t>
            </a:r>
            <a:r>
              <a:rPr sz="2400" b="1" spc="260" dirty="0">
                <a:latin typeface="Cambria" panose="02040503050406030204"/>
                <a:cs typeface="Cambria" panose="02040503050406030204"/>
              </a:rPr>
              <a:t> </a:t>
            </a:r>
            <a:r>
              <a:rPr sz="2400" b="1" spc="135" dirty="0">
                <a:latin typeface="Cambria" panose="02040503050406030204"/>
                <a:cs typeface="Cambria" panose="02040503050406030204"/>
              </a:rPr>
              <a:t>Intelligence</a:t>
            </a:r>
            <a:r>
              <a:rPr sz="2400" b="1" spc="275" dirty="0">
                <a:latin typeface="Cambria" panose="02040503050406030204"/>
                <a:cs typeface="Cambria" panose="02040503050406030204"/>
              </a:rPr>
              <a:t> </a:t>
            </a:r>
            <a:r>
              <a:rPr sz="2400" b="1" spc="130" dirty="0">
                <a:latin typeface="Cambria" panose="02040503050406030204"/>
                <a:cs typeface="Cambria" panose="02040503050406030204"/>
              </a:rPr>
              <a:t>type-</a:t>
            </a:r>
            <a:r>
              <a:rPr sz="2400" b="1" spc="145" dirty="0">
                <a:latin typeface="Cambria" panose="02040503050406030204"/>
                <a:cs typeface="Cambria" panose="02040503050406030204"/>
              </a:rPr>
              <a:t>2:</a:t>
            </a:r>
            <a:r>
              <a:rPr sz="2400" b="1" spc="280" dirty="0">
                <a:latin typeface="Cambria" panose="02040503050406030204"/>
                <a:cs typeface="Cambria" panose="02040503050406030204"/>
              </a:rPr>
              <a:t> </a:t>
            </a:r>
            <a:r>
              <a:rPr sz="2400" b="1" spc="114" dirty="0">
                <a:latin typeface="Cambria" panose="02040503050406030204"/>
                <a:cs typeface="Cambria" panose="02040503050406030204"/>
              </a:rPr>
              <a:t>Based</a:t>
            </a:r>
            <a:r>
              <a:rPr sz="2400" b="1" spc="285" dirty="0">
                <a:latin typeface="Cambria" panose="02040503050406030204"/>
                <a:cs typeface="Cambria" panose="02040503050406030204"/>
              </a:rPr>
              <a:t> </a:t>
            </a:r>
            <a:r>
              <a:rPr sz="2400" b="1" spc="135" dirty="0">
                <a:latin typeface="Cambria" panose="02040503050406030204"/>
                <a:cs typeface="Cambria" panose="02040503050406030204"/>
              </a:rPr>
              <a:t>on</a:t>
            </a:r>
            <a:r>
              <a:rPr sz="2400" b="1" spc="295" dirty="0">
                <a:latin typeface="Cambria" panose="02040503050406030204"/>
                <a:cs typeface="Cambria" panose="02040503050406030204"/>
              </a:rPr>
              <a:t> </a:t>
            </a:r>
            <a:r>
              <a:rPr sz="2400" b="1" spc="135" dirty="0">
                <a:latin typeface="Cambria" panose="02040503050406030204"/>
                <a:cs typeface="Cambria" panose="02040503050406030204"/>
              </a:rPr>
              <a:t>functionality</a:t>
            </a:r>
            <a:endParaRPr sz="2400">
              <a:latin typeface="Cambria" panose="02040503050406030204"/>
              <a:cs typeface="Cambria" panose="02040503050406030204"/>
            </a:endParaRPr>
          </a:p>
        </p:txBody>
      </p:sp>
      <p:sp>
        <p:nvSpPr>
          <p:cNvPr id="4" name="object 4"/>
          <p:cNvSpPr txBox="1"/>
          <p:nvPr/>
        </p:nvSpPr>
        <p:spPr>
          <a:xfrm>
            <a:off x="5614796" y="2275459"/>
            <a:ext cx="4672965" cy="381635"/>
          </a:xfrm>
          <a:prstGeom prst="rect">
            <a:avLst/>
          </a:prstGeom>
        </p:spPr>
        <p:txBody>
          <a:bodyPr vert="horz" wrap="square" lIns="0" tIns="12700" rIns="0" bIns="0" rtlCol="0">
            <a:spAutoFit/>
          </a:bodyPr>
          <a:lstStyle/>
          <a:p>
            <a:pPr marL="12700">
              <a:lnSpc>
                <a:spcPct val="100000"/>
              </a:lnSpc>
              <a:spcBef>
                <a:spcPts val="100"/>
              </a:spcBef>
              <a:tabLst>
                <a:tab pos="632460" algn="l"/>
                <a:tab pos="1477010" algn="l"/>
                <a:tab pos="2766695" algn="l"/>
                <a:tab pos="3403600" algn="l"/>
              </a:tabLst>
            </a:pPr>
            <a:r>
              <a:rPr sz="2400" spc="100" dirty="0">
                <a:latin typeface="Cambria" panose="02040503050406030204"/>
                <a:cs typeface="Cambria" panose="02040503050406030204"/>
              </a:rPr>
              <a:t>is</a:t>
            </a:r>
            <a:r>
              <a:rPr sz="2400" dirty="0">
                <a:latin typeface="Cambria" panose="02040503050406030204"/>
                <a:cs typeface="Cambria" panose="02040503050406030204"/>
              </a:rPr>
              <a:t>	</a:t>
            </a:r>
            <a:r>
              <a:rPr sz="2400" spc="114" dirty="0">
                <a:latin typeface="Cambria" panose="02040503050406030204"/>
                <a:cs typeface="Cambria" panose="02040503050406030204"/>
              </a:rPr>
              <a:t>the</a:t>
            </a:r>
            <a:r>
              <a:rPr sz="2400" dirty="0">
                <a:latin typeface="Cambria" panose="02040503050406030204"/>
                <a:cs typeface="Cambria" panose="02040503050406030204"/>
              </a:rPr>
              <a:t>	</a:t>
            </a:r>
            <a:r>
              <a:rPr sz="2400" spc="135" dirty="0">
                <a:latin typeface="Cambria" panose="02040503050406030204"/>
                <a:cs typeface="Cambria" panose="02040503050406030204"/>
              </a:rPr>
              <a:t>future</a:t>
            </a:r>
            <a:r>
              <a:rPr sz="2400" dirty="0">
                <a:latin typeface="Cambria" panose="02040503050406030204"/>
                <a:cs typeface="Cambria" panose="02040503050406030204"/>
              </a:rPr>
              <a:t>	</a:t>
            </a:r>
            <a:r>
              <a:rPr sz="2400" spc="25" dirty="0">
                <a:latin typeface="Cambria" panose="02040503050406030204"/>
                <a:cs typeface="Cambria" panose="02040503050406030204"/>
              </a:rPr>
              <a:t>of</a:t>
            </a:r>
            <a:r>
              <a:rPr sz="2400" dirty="0">
                <a:latin typeface="Cambria" panose="02040503050406030204"/>
                <a:cs typeface="Cambria" panose="02040503050406030204"/>
              </a:rPr>
              <a:t>	</a:t>
            </a:r>
            <a:r>
              <a:rPr sz="2400" spc="85" dirty="0">
                <a:latin typeface="Cambria" panose="02040503050406030204"/>
                <a:cs typeface="Cambria" panose="02040503050406030204"/>
              </a:rPr>
              <a:t>Artificial</a:t>
            </a:r>
            <a:endParaRPr sz="2400">
              <a:latin typeface="Cambria" panose="02040503050406030204"/>
              <a:cs typeface="Cambria" panose="02040503050406030204"/>
            </a:endParaRPr>
          </a:p>
        </p:txBody>
      </p:sp>
      <p:sp>
        <p:nvSpPr>
          <p:cNvPr id="5" name="object 5"/>
          <p:cNvSpPr txBox="1"/>
          <p:nvPr/>
        </p:nvSpPr>
        <p:spPr>
          <a:xfrm>
            <a:off x="1988616" y="1520171"/>
            <a:ext cx="3281679" cy="1511935"/>
          </a:xfrm>
          <a:prstGeom prst="rect">
            <a:avLst/>
          </a:prstGeom>
        </p:spPr>
        <p:txBody>
          <a:bodyPr vert="horz" wrap="square" lIns="0" tIns="189230" rIns="0" bIns="0" rtlCol="0">
            <a:spAutoFit/>
          </a:bodyPr>
          <a:lstStyle/>
          <a:p>
            <a:pPr marL="487045" indent="-474345">
              <a:lnSpc>
                <a:spcPct val="100000"/>
              </a:lnSpc>
              <a:spcBef>
                <a:spcPts val="1490"/>
              </a:spcBef>
              <a:buAutoNum type="arabicPeriod" startAt="4"/>
              <a:tabLst>
                <a:tab pos="487045" algn="l"/>
              </a:tabLst>
            </a:pPr>
            <a:r>
              <a:rPr sz="2800" b="1" spc="160" dirty="0">
                <a:latin typeface="Cambria" panose="02040503050406030204"/>
                <a:cs typeface="Cambria" panose="02040503050406030204"/>
              </a:rPr>
              <a:t>Self-</a:t>
            </a:r>
            <a:r>
              <a:rPr sz="2800" b="1" spc="95" dirty="0">
                <a:latin typeface="Cambria" panose="02040503050406030204"/>
                <a:cs typeface="Cambria" panose="02040503050406030204"/>
              </a:rPr>
              <a:t>Awareness</a:t>
            </a:r>
            <a:endParaRPr sz="2800">
              <a:latin typeface="Cambria" panose="02040503050406030204"/>
              <a:cs typeface="Cambria" panose="02040503050406030204"/>
            </a:endParaRPr>
          </a:p>
          <a:p>
            <a:pPr marL="355600" marR="5080" lvl="1" indent="-342900">
              <a:lnSpc>
                <a:spcPct val="100000"/>
              </a:lnSpc>
              <a:spcBef>
                <a:spcPts val="1195"/>
              </a:spcBef>
              <a:buFont typeface="Microsoft Sans Serif" panose="020B0604020202020204"/>
              <a:buChar char="•"/>
              <a:tabLst>
                <a:tab pos="355600" algn="l"/>
                <a:tab pos="2957195" algn="l"/>
              </a:tabLst>
            </a:pPr>
            <a:r>
              <a:rPr sz="2400" spc="140" dirty="0">
                <a:latin typeface="Cambria" panose="02040503050406030204"/>
                <a:cs typeface="Cambria" panose="02040503050406030204"/>
              </a:rPr>
              <a:t>Self-</a:t>
            </a:r>
            <a:r>
              <a:rPr sz="2400" spc="135" dirty="0">
                <a:latin typeface="Cambria" panose="02040503050406030204"/>
                <a:cs typeface="Cambria" panose="02040503050406030204"/>
              </a:rPr>
              <a:t>awareness</a:t>
            </a:r>
            <a:r>
              <a:rPr sz="2400" dirty="0">
                <a:latin typeface="Cambria" panose="02040503050406030204"/>
                <a:cs typeface="Cambria" panose="02040503050406030204"/>
              </a:rPr>
              <a:t>	</a:t>
            </a:r>
            <a:r>
              <a:rPr sz="2400" spc="50" dirty="0">
                <a:latin typeface="Cambria" panose="02040503050406030204"/>
                <a:cs typeface="Cambria" panose="02040503050406030204"/>
              </a:rPr>
              <a:t>AI </a:t>
            </a:r>
            <a:r>
              <a:rPr sz="2400" spc="110" dirty="0">
                <a:latin typeface="Cambria" panose="02040503050406030204"/>
                <a:cs typeface="Cambria" panose="02040503050406030204"/>
              </a:rPr>
              <a:t>Intelligence.</a:t>
            </a:r>
            <a:endParaRPr sz="2400">
              <a:latin typeface="Cambria" panose="02040503050406030204"/>
              <a:cs typeface="Cambria" panose="02040503050406030204"/>
            </a:endParaRPr>
          </a:p>
        </p:txBody>
      </p:sp>
      <p:sp>
        <p:nvSpPr>
          <p:cNvPr id="6" name="object 6"/>
          <p:cNvSpPr txBox="1"/>
          <p:nvPr/>
        </p:nvSpPr>
        <p:spPr>
          <a:xfrm>
            <a:off x="1988616" y="3159378"/>
            <a:ext cx="8299450" cy="2536825"/>
          </a:xfrm>
          <a:prstGeom prst="rect">
            <a:avLst/>
          </a:prstGeom>
        </p:spPr>
        <p:txBody>
          <a:bodyPr vert="horz" wrap="square" lIns="0" tIns="12700" rIns="0" bIns="0" rtlCol="0">
            <a:spAutoFit/>
          </a:bodyPr>
          <a:lstStyle/>
          <a:p>
            <a:pPr marL="355600" marR="5080" indent="-342900" algn="just">
              <a:lnSpc>
                <a:spcPct val="100000"/>
              </a:lnSpc>
              <a:spcBef>
                <a:spcPts val="100"/>
              </a:spcBef>
              <a:buFont typeface="Microsoft Sans Serif" panose="020B0604020202020204"/>
              <a:buChar char="•"/>
              <a:tabLst>
                <a:tab pos="355600" algn="l"/>
              </a:tabLst>
            </a:pPr>
            <a:r>
              <a:rPr sz="2400" spc="125" dirty="0">
                <a:latin typeface="Cambria" panose="02040503050406030204"/>
                <a:cs typeface="Cambria" panose="02040503050406030204"/>
              </a:rPr>
              <a:t>These</a:t>
            </a:r>
            <a:r>
              <a:rPr sz="2400" spc="195" dirty="0">
                <a:latin typeface="Cambria" panose="02040503050406030204"/>
                <a:cs typeface="Cambria" panose="02040503050406030204"/>
              </a:rPr>
              <a:t>  </a:t>
            </a:r>
            <a:r>
              <a:rPr sz="2400" spc="180" dirty="0">
                <a:latin typeface="Cambria" panose="02040503050406030204"/>
                <a:cs typeface="Cambria" panose="02040503050406030204"/>
              </a:rPr>
              <a:t>machines</a:t>
            </a:r>
            <a:r>
              <a:rPr sz="2400" spc="204" dirty="0">
                <a:latin typeface="Cambria" panose="02040503050406030204"/>
                <a:cs typeface="Cambria" panose="02040503050406030204"/>
              </a:rPr>
              <a:t>  </a:t>
            </a:r>
            <a:r>
              <a:rPr sz="2400" dirty="0">
                <a:latin typeface="Cambria" panose="02040503050406030204"/>
                <a:cs typeface="Cambria" panose="02040503050406030204"/>
              </a:rPr>
              <a:t>will</a:t>
            </a:r>
            <a:r>
              <a:rPr sz="2400" spc="200" dirty="0">
                <a:latin typeface="Cambria" panose="02040503050406030204"/>
                <a:cs typeface="Cambria" panose="02040503050406030204"/>
              </a:rPr>
              <a:t>  </a:t>
            </a:r>
            <a:r>
              <a:rPr sz="2400" spc="120" dirty="0">
                <a:latin typeface="Cambria" panose="02040503050406030204"/>
                <a:cs typeface="Cambria" panose="02040503050406030204"/>
              </a:rPr>
              <a:t>be</a:t>
            </a:r>
            <a:r>
              <a:rPr sz="2400" spc="195" dirty="0">
                <a:latin typeface="Cambria" panose="02040503050406030204"/>
                <a:cs typeface="Cambria" panose="02040503050406030204"/>
              </a:rPr>
              <a:t>  </a:t>
            </a:r>
            <a:r>
              <a:rPr sz="2400" spc="155" dirty="0">
                <a:latin typeface="Cambria" panose="02040503050406030204"/>
                <a:cs typeface="Cambria" panose="02040503050406030204"/>
              </a:rPr>
              <a:t>super</a:t>
            </a:r>
            <a:r>
              <a:rPr sz="2400" spc="200" dirty="0">
                <a:latin typeface="Cambria" panose="02040503050406030204"/>
                <a:cs typeface="Cambria" panose="02040503050406030204"/>
              </a:rPr>
              <a:t>  </a:t>
            </a:r>
            <a:r>
              <a:rPr sz="2400" spc="120" dirty="0">
                <a:latin typeface="Cambria" panose="02040503050406030204"/>
                <a:cs typeface="Cambria" panose="02040503050406030204"/>
              </a:rPr>
              <a:t>intelligent,</a:t>
            </a:r>
            <a:r>
              <a:rPr sz="2400" spc="185" dirty="0">
                <a:latin typeface="Cambria" panose="02040503050406030204"/>
                <a:cs typeface="Cambria" panose="02040503050406030204"/>
              </a:rPr>
              <a:t>  and</a:t>
            </a:r>
            <a:r>
              <a:rPr sz="2400" spc="200" dirty="0">
                <a:latin typeface="Cambria" panose="02040503050406030204"/>
                <a:cs typeface="Cambria" panose="02040503050406030204"/>
              </a:rPr>
              <a:t>  </a:t>
            </a:r>
            <a:r>
              <a:rPr sz="2400" spc="-20" dirty="0">
                <a:latin typeface="Cambria" panose="02040503050406030204"/>
                <a:cs typeface="Cambria" panose="02040503050406030204"/>
              </a:rPr>
              <a:t>will </a:t>
            </a:r>
            <a:r>
              <a:rPr sz="2400" spc="130" dirty="0">
                <a:latin typeface="Cambria" panose="02040503050406030204"/>
                <a:cs typeface="Cambria" panose="02040503050406030204"/>
              </a:rPr>
              <a:t>have</a:t>
            </a:r>
            <a:r>
              <a:rPr sz="2400" spc="440" dirty="0">
                <a:latin typeface="Cambria" panose="02040503050406030204"/>
                <a:cs typeface="Cambria" panose="02040503050406030204"/>
              </a:rPr>
              <a:t> </a:t>
            </a:r>
            <a:r>
              <a:rPr sz="2400" spc="105" dirty="0">
                <a:latin typeface="Cambria" panose="02040503050406030204"/>
                <a:cs typeface="Cambria" panose="02040503050406030204"/>
              </a:rPr>
              <a:t>their</a:t>
            </a:r>
            <a:r>
              <a:rPr sz="2400" spc="434" dirty="0">
                <a:latin typeface="Cambria" panose="02040503050406030204"/>
                <a:cs typeface="Cambria" panose="02040503050406030204"/>
              </a:rPr>
              <a:t> </a:t>
            </a:r>
            <a:r>
              <a:rPr sz="2400" spc="100" dirty="0">
                <a:latin typeface="Cambria" panose="02040503050406030204"/>
                <a:cs typeface="Cambria" panose="02040503050406030204"/>
              </a:rPr>
              <a:t>own</a:t>
            </a:r>
            <a:r>
              <a:rPr sz="2400" spc="440" dirty="0">
                <a:latin typeface="Cambria" panose="02040503050406030204"/>
                <a:cs typeface="Cambria" panose="02040503050406030204"/>
              </a:rPr>
              <a:t> </a:t>
            </a:r>
            <a:r>
              <a:rPr sz="2400" spc="180" dirty="0">
                <a:latin typeface="Cambria" panose="02040503050406030204"/>
                <a:cs typeface="Cambria" panose="02040503050406030204"/>
              </a:rPr>
              <a:t>consciousness,</a:t>
            </a:r>
            <a:r>
              <a:rPr sz="2400" spc="450" dirty="0">
                <a:latin typeface="Cambria" panose="02040503050406030204"/>
                <a:cs typeface="Cambria" panose="02040503050406030204"/>
              </a:rPr>
              <a:t> </a:t>
            </a:r>
            <a:r>
              <a:rPr sz="2400" spc="160" dirty="0">
                <a:latin typeface="Cambria" panose="02040503050406030204"/>
                <a:cs typeface="Cambria" panose="02040503050406030204"/>
              </a:rPr>
              <a:t>sentiments,</a:t>
            </a:r>
            <a:r>
              <a:rPr sz="2400" spc="445" dirty="0">
                <a:latin typeface="Cambria" panose="02040503050406030204"/>
                <a:cs typeface="Cambria" panose="02040503050406030204"/>
              </a:rPr>
              <a:t> </a:t>
            </a:r>
            <a:r>
              <a:rPr sz="2400" spc="185" dirty="0">
                <a:latin typeface="Cambria" panose="02040503050406030204"/>
                <a:cs typeface="Cambria" panose="02040503050406030204"/>
              </a:rPr>
              <a:t>and</a:t>
            </a:r>
            <a:r>
              <a:rPr sz="2400" spc="440" dirty="0">
                <a:latin typeface="Cambria" panose="02040503050406030204"/>
                <a:cs typeface="Cambria" panose="02040503050406030204"/>
              </a:rPr>
              <a:t> </a:t>
            </a:r>
            <a:r>
              <a:rPr sz="2400" spc="85" dirty="0">
                <a:latin typeface="Cambria" panose="02040503050406030204"/>
                <a:cs typeface="Cambria" panose="02040503050406030204"/>
              </a:rPr>
              <a:t>self- </a:t>
            </a:r>
            <a:r>
              <a:rPr sz="2400" spc="145" dirty="0">
                <a:latin typeface="Cambria" panose="02040503050406030204"/>
                <a:cs typeface="Cambria" panose="02040503050406030204"/>
              </a:rPr>
              <a:t>awareness.</a:t>
            </a:r>
            <a:endParaRPr sz="2400">
              <a:latin typeface="Cambria" panose="02040503050406030204"/>
              <a:cs typeface="Cambria" panose="02040503050406030204"/>
            </a:endParaRPr>
          </a:p>
          <a:p>
            <a:pPr marL="354965" indent="-342265" algn="just">
              <a:lnSpc>
                <a:spcPct val="100000"/>
              </a:lnSpc>
              <a:spcBef>
                <a:spcPts val="1200"/>
              </a:spcBef>
              <a:buFont typeface="Microsoft Sans Serif" panose="020B0604020202020204"/>
              <a:buChar char="•"/>
              <a:tabLst>
                <a:tab pos="354965" algn="l"/>
              </a:tabLst>
            </a:pPr>
            <a:r>
              <a:rPr sz="2400" spc="130" dirty="0">
                <a:latin typeface="Cambria" panose="02040503050406030204"/>
                <a:cs typeface="Cambria" panose="02040503050406030204"/>
              </a:rPr>
              <a:t>These</a:t>
            </a:r>
            <a:r>
              <a:rPr sz="2400" spc="275" dirty="0">
                <a:latin typeface="Cambria" panose="02040503050406030204"/>
                <a:cs typeface="Cambria" panose="02040503050406030204"/>
              </a:rPr>
              <a:t> </a:t>
            </a:r>
            <a:r>
              <a:rPr sz="2400" spc="180" dirty="0">
                <a:latin typeface="Cambria" panose="02040503050406030204"/>
                <a:cs typeface="Cambria" panose="02040503050406030204"/>
              </a:rPr>
              <a:t>machines</a:t>
            </a:r>
            <a:r>
              <a:rPr sz="2400" spc="275" dirty="0">
                <a:latin typeface="Cambria" panose="02040503050406030204"/>
                <a:cs typeface="Cambria" panose="02040503050406030204"/>
              </a:rPr>
              <a:t> </a:t>
            </a:r>
            <a:r>
              <a:rPr sz="2400" dirty="0">
                <a:latin typeface="Cambria" panose="02040503050406030204"/>
                <a:cs typeface="Cambria" panose="02040503050406030204"/>
              </a:rPr>
              <a:t>will</a:t>
            </a:r>
            <a:r>
              <a:rPr sz="2400" spc="300" dirty="0">
                <a:latin typeface="Cambria" panose="02040503050406030204"/>
                <a:cs typeface="Cambria" panose="02040503050406030204"/>
              </a:rPr>
              <a:t> </a:t>
            </a:r>
            <a:r>
              <a:rPr sz="2400" spc="120" dirty="0">
                <a:latin typeface="Cambria" panose="02040503050406030204"/>
                <a:cs typeface="Cambria" panose="02040503050406030204"/>
              </a:rPr>
              <a:t>be</a:t>
            </a:r>
            <a:r>
              <a:rPr sz="2400" spc="265" dirty="0">
                <a:latin typeface="Cambria" panose="02040503050406030204"/>
                <a:cs typeface="Cambria" panose="02040503050406030204"/>
              </a:rPr>
              <a:t> </a:t>
            </a:r>
            <a:r>
              <a:rPr sz="2400" spc="140" dirty="0">
                <a:latin typeface="Cambria" panose="02040503050406030204"/>
                <a:cs typeface="Cambria" panose="02040503050406030204"/>
              </a:rPr>
              <a:t>smarter</a:t>
            </a:r>
            <a:r>
              <a:rPr sz="2400" spc="250" dirty="0">
                <a:latin typeface="Cambria" panose="02040503050406030204"/>
                <a:cs typeface="Cambria" panose="02040503050406030204"/>
              </a:rPr>
              <a:t> </a:t>
            </a:r>
            <a:r>
              <a:rPr sz="2400" spc="190" dirty="0">
                <a:latin typeface="Cambria" panose="02040503050406030204"/>
                <a:cs typeface="Cambria" panose="02040503050406030204"/>
              </a:rPr>
              <a:t>than</a:t>
            </a:r>
            <a:r>
              <a:rPr sz="2400" spc="280" dirty="0">
                <a:latin typeface="Cambria" panose="02040503050406030204"/>
                <a:cs typeface="Cambria" panose="02040503050406030204"/>
              </a:rPr>
              <a:t> </a:t>
            </a:r>
            <a:r>
              <a:rPr sz="2400" spc="235" dirty="0">
                <a:latin typeface="Cambria" panose="02040503050406030204"/>
                <a:cs typeface="Cambria" panose="02040503050406030204"/>
              </a:rPr>
              <a:t>human</a:t>
            </a:r>
            <a:r>
              <a:rPr sz="2400" spc="275" dirty="0">
                <a:latin typeface="Cambria" panose="02040503050406030204"/>
                <a:cs typeface="Cambria" panose="02040503050406030204"/>
              </a:rPr>
              <a:t> </a:t>
            </a:r>
            <a:r>
              <a:rPr sz="2400" spc="180" dirty="0">
                <a:latin typeface="Cambria" panose="02040503050406030204"/>
                <a:cs typeface="Cambria" panose="02040503050406030204"/>
              </a:rPr>
              <a:t>mind.</a:t>
            </a:r>
            <a:endParaRPr sz="2400">
              <a:latin typeface="Cambria" panose="02040503050406030204"/>
              <a:cs typeface="Cambria" panose="02040503050406030204"/>
            </a:endParaRPr>
          </a:p>
          <a:p>
            <a:pPr marL="354965" indent="-342265" algn="just">
              <a:lnSpc>
                <a:spcPct val="100000"/>
              </a:lnSpc>
              <a:spcBef>
                <a:spcPts val="1200"/>
              </a:spcBef>
              <a:buFont typeface="Microsoft Sans Serif" panose="020B0604020202020204"/>
              <a:buChar char="•"/>
              <a:tabLst>
                <a:tab pos="354965" algn="l"/>
              </a:tabLst>
            </a:pPr>
            <a:r>
              <a:rPr sz="2400" spc="135" dirty="0">
                <a:latin typeface="Cambria" panose="02040503050406030204"/>
                <a:cs typeface="Cambria" panose="02040503050406030204"/>
              </a:rPr>
              <a:t>Self-Awareness</a:t>
            </a:r>
            <a:r>
              <a:rPr sz="2400" spc="295" dirty="0">
                <a:latin typeface="Cambria" panose="02040503050406030204"/>
                <a:cs typeface="Cambria" panose="02040503050406030204"/>
              </a:rPr>
              <a:t> </a:t>
            </a:r>
            <a:r>
              <a:rPr sz="2400" spc="75" dirty="0">
                <a:latin typeface="Cambria" panose="02040503050406030204"/>
                <a:cs typeface="Cambria" panose="02040503050406030204"/>
              </a:rPr>
              <a:t>AI</a:t>
            </a:r>
            <a:r>
              <a:rPr sz="2400" spc="300" dirty="0">
                <a:latin typeface="Cambria" panose="02040503050406030204"/>
                <a:cs typeface="Cambria" panose="02040503050406030204"/>
              </a:rPr>
              <a:t> </a:t>
            </a:r>
            <a:r>
              <a:rPr sz="2400" spc="114" dirty="0">
                <a:latin typeface="Cambria" panose="02040503050406030204"/>
                <a:cs typeface="Cambria" panose="02040503050406030204"/>
              </a:rPr>
              <a:t>does</a:t>
            </a:r>
            <a:r>
              <a:rPr sz="2400" spc="305" dirty="0">
                <a:latin typeface="Cambria" panose="02040503050406030204"/>
                <a:cs typeface="Cambria" panose="02040503050406030204"/>
              </a:rPr>
              <a:t> </a:t>
            </a:r>
            <a:r>
              <a:rPr sz="2400" spc="130" dirty="0">
                <a:latin typeface="Cambria" panose="02040503050406030204"/>
                <a:cs typeface="Cambria" panose="02040503050406030204"/>
              </a:rPr>
              <a:t>not</a:t>
            </a:r>
            <a:r>
              <a:rPr sz="2400" spc="300" dirty="0">
                <a:latin typeface="Cambria" panose="02040503050406030204"/>
                <a:cs typeface="Cambria" panose="02040503050406030204"/>
              </a:rPr>
              <a:t> </a:t>
            </a:r>
            <a:r>
              <a:rPr sz="2400" spc="120" dirty="0">
                <a:latin typeface="Cambria" panose="02040503050406030204"/>
                <a:cs typeface="Cambria" panose="02040503050406030204"/>
              </a:rPr>
              <a:t>exist</a:t>
            </a:r>
            <a:r>
              <a:rPr sz="2400" spc="305" dirty="0">
                <a:latin typeface="Cambria" panose="02040503050406030204"/>
                <a:cs typeface="Cambria" panose="02040503050406030204"/>
              </a:rPr>
              <a:t> </a:t>
            </a:r>
            <a:r>
              <a:rPr sz="2400" spc="150" dirty="0">
                <a:latin typeface="Cambria" panose="02040503050406030204"/>
                <a:cs typeface="Cambria" panose="02040503050406030204"/>
              </a:rPr>
              <a:t>in</a:t>
            </a:r>
            <a:r>
              <a:rPr sz="2400" spc="305" dirty="0">
                <a:latin typeface="Cambria" panose="02040503050406030204"/>
                <a:cs typeface="Cambria" panose="02040503050406030204"/>
              </a:rPr>
              <a:t> </a:t>
            </a:r>
            <a:r>
              <a:rPr sz="2400" spc="90" dirty="0">
                <a:latin typeface="Cambria" panose="02040503050406030204"/>
                <a:cs typeface="Cambria" panose="02040503050406030204"/>
              </a:rPr>
              <a:t>reality</a:t>
            </a:r>
            <a:r>
              <a:rPr sz="2400" spc="305" dirty="0">
                <a:latin typeface="Cambria" panose="02040503050406030204"/>
                <a:cs typeface="Cambria" panose="02040503050406030204"/>
              </a:rPr>
              <a:t> </a:t>
            </a:r>
            <a:r>
              <a:rPr sz="2400" spc="95" dirty="0">
                <a:latin typeface="Cambria" panose="02040503050406030204"/>
                <a:cs typeface="Cambria" panose="02040503050406030204"/>
              </a:rPr>
              <a:t>still</a:t>
            </a:r>
            <a:r>
              <a:rPr sz="2400" spc="305" dirty="0">
                <a:latin typeface="Cambria" panose="02040503050406030204"/>
                <a:cs typeface="Cambria" panose="02040503050406030204"/>
              </a:rPr>
              <a:t> </a:t>
            </a:r>
            <a:r>
              <a:rPr sz="2400" spc="200" dirty="0">
                <a:latin typeface="Cambria" panose="02040503050406030204"/>
                <a:cs typeface="Cambria" panose="02040503050406030204"/>
              </a:rPr>
              <a:t>and</a:t>
            </a:r>
            <a:r>
              <a:rPr sz="2400" spc="300" dirty="0">
                <a:latin typeface="Cambria" panose="02040503050406030204"/>
                <a:cs typeface="Cambria" panose="02040503050406030204"/>
              </a:rPr>
              <a:t> </a:t>
            </a:r>
            <a:r>
              <a:rPr sz="2400" spc="40" dirty="0">
                <a:latin typeface="Cambria" panose="02040503050406030204"/>
                <a:cs typeface="Cambria" panose="02040503050406030204"/>
              </a:rPr>
              <a:t>it</a:t>
            </a:r>
            <a:endParaRPr sz="2400">
              <a:latin typeface="Cambria" panose="02040503050406030204"/>
              <a:cs typeface="Cambria" panose="02040503050406030204"/>
            </a:endParaRPr>
          </a:p>
          <a:p>
            <a:pPr marL="355600" algn="just">
              <a:lnSpc>
                <a:spcPct val="100000"/>
              </a:lnSpc>
              <a:spcBef>
                <a:spcPts val="5"/>
              </a:spcBef>
            </a:pPr>
            <a:r>
              <a:rPr sz="2400" spc="125" dirty="0">
                <a:latin typeface="Cambria" panose="02040503050406030204"/>
                <a:cs typeface="Cambria" panose="02040503050406030204"/>
              </a:rPr>
              <a:t>is</a:t>
            </a:r>
            <a:r>
              <a:rPr sz="2400" spc="254" dirty="0">
                <a:latin typeface="Cambria" panose="02040503050406030204"/>
                <a:cs typeface="Cambria" panose="02040503050406030204"/>
              </a:rPr>
              <a:t> </a:t>
            </a:r>
            <a:r>
              <a:rPr sz="2400" spc="210" dirty="0">
                <a:latin typeface="Cambria" panose="02040503050406030204"/>
                <a:cs typeface="Cambria" panose="02040503050406030204"/>
              </a:rPr>
              <a:t>a</a:t>
            </a:r>
            <a:r>
              <a:rPr sz="2400" spc="240" dirty="0">
                <a:latin typeface="Cambria" panose="02040503050406030204"/>
                <a:cs typeface="Cambria" panose="02040503050406030204"/>
              </a:rPr>
              <a:t> </a:t>
            </a:r>
            <a:r>
              <a:rPr sz="2400" spc="125" dirty="0">
                <a:latin typeface="Cambria" panose="02040503050406030204"/>
                <a:cs typeface="Cambria" panose="02040503050406030204"/>
              </a:rPr>
              <a:t>hypothetical</a:t>
            </a:r>
            <a:r>
              <a:rPr sz="2400" spc="275" dirty="0">
                <a:latin typeface="Cambria" panose="02040503050406030204"/>
                <a:cs typeface="Cambria" panose="02040503050406030204"/>
              </a:rPr>
              <a:t> </a:t>
            </a:r>
            <a:r>
              <a:rPr sz="2400" spc="145" dirty="0">
                <a:latin typeface="Cambria" panose="02040503050406030204"/>
                <a:cs typeface="Cambria" panose="02040503050406030204"/>
              </a:rPr>
              <a:t>concept.</a:t>
            </a:r>
            <a:endParaRPr sz="2400">
              <a:latin typeface="Cambria" panose="02040503050406030204"/>
              <a:cs typeface="Cambria" panose="02040503050406030204"/>
            </a:endParaRPr>
          </a:p>
        </p:txBody>
      </p:sp>
      <p:sp>
        <p:nvSpPr>
          <p:cNvPr id="7" name="Date Placeholder 6"/>
          <p:cNvSpPr>
            <a:spLocks noGrp="1"/>
          </p:cNvSpPr>
          <p:nvPr>
            <p:ph type="dt" sz="half" idx="10"/>
          </p:nvPr>
        </p:nvSpPr>
        <p:spPr/>
        <p:txBody>
          <a:bodyPr/>
          <a:p>
            <a:fld id="{63A1C593-65D0-4073-BCC9-577B9352EA97}" type="datetime1">
              <a:rPr lang="en-US" smtClean="0"/>
            </a:fld>
            <a:endParaRPr lang="en-US"/>
          </a:p>
        </p:txBody>
      </p:sp>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5465" y="244158"/>
            <a:ext cx="9432290" cy="627380"/>
          </a:xfrm>
          <a:prstGeom prst="rect">
            <a:avLst/>
          </a:prstGeom>
        </p:spPr>
        <p:txBody>
          <a:bodyPr vert="horz" wrap="square" lIns="0" tIns="12065" rIns="0" bIns="0" rtlCol="0">
            <a:spAutoFit/>
          </a:bodyPr>
          <a:lstStyle/>
          <a:p>
            <a:pPr marL="12700">
              <a:lnSpc>
                <a:spcPct val="100000"/>
              </a:lnSpc>
              <a:spcBef>
                <a:spcPts val="95"/>
              </a:spcBef>
            </a:pPr>
            <a:r>
              <a:rPr dirty="0"/>
              <a:t>Applications</a:t>
            </a:r>
            <a:r>
              <a:rPr spc="-85" dirty="0"/>
              <a:t> </a:t>
            </a:r>
            <a:r>
              <a:rPr dirty="0"/>
              <a:t>of</a:t>
            </a:r>
            <a:r>
              <a:rPr spc="-90" dirty="0"/>
              <a:t> </a:t>
            </a:r>
            <a:r>
              <a:rPr dirty="0"/>
              <a:t>artificial</a:t>
            </a:r>
            <a:r>
              <a:rPr spc="-55" dirty="0"/>
              <a:t> </a:t>
            </a:r>
            <a:r>
              <a:rPr spc="-10" dirty="0"/>
              <a:t>intelligence</a:t>
            </a:r>
            <a:endParaRPr spc="-10" dirty="0"/>
          </a:p>
        </p:txBody>
      </p:sp>
      <p:pic>
        <p:nvPicPr>
          <p:cNvPr id="3" name="object 3"/>
          <p:cNvPicPr/>
          <p:nvPr/>
        </p:nvPicPr>
        <p:blipFill>
          <a:blip r:embed="rId1" cstate="print"/>
          <a:stretch>
            <a:fillRect/>
          </a:stretch>
        </p:blipFill>
        <p:spPr>
          <a:xfrm>
            <a:off x="2756891" y="1092200"/>
            <a:ext cx="6299608" cy="5410200"/>
          </a:xfrm>
          <a:prstGeom prst="rect">
            <a:avLst/>
          </a:prstGeom>
        </p:spPr>
      </p:pic>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5465" y="244158"/>
            <a:ext cx="8912860" cy="627380"/>
          </a:xfrm>
          <a:prstGeom prst="rect">
            <a:avLst/>
          </a:prstGeom>
        </p:spPr>
        <p:txBody>
          <a:bodyPr vert="horz" wrap="square" lIns="0" tIns="12065" rIns="0" bIns="0" rtlCol="0">
            <a:spAutoFit/>
          </a:bodyPr>
          <a:lstStyle/>
          <a:p>
            <a:pPr marL="12700">
              <a:lnSpc>
                <a:spcPct val="100000"/>
              </a:lnSpc>
              <a:spcBef>
                <a:spcPts val="95"/>
              </a:spcBef>
            </a:pPr>
            <a:r>
              <a:rPr dirty="0"/>
              <a:t>Applications</a:t>
            </a:r>
            <a:r>
              <a:rPr spc="-85" dirty="0"/>
              <a:t> </a:t>
            </a:r>
            <a:r>
              <a:rPr dirty="0"/>
              <a:t>of</a:t>
            </a:r>
            <a:r>
              <a:rPr spc="-90" dirty="0"/>
              <a:t> </a:t>
            </a:r>
            <a:r>
              <a:rPr lang="en-US" spc="-90" dirty="0"/>
              <a:t>A</a:t>
            </a:r>
            <a:r>
              <a:rPr dirty="0"/>
              <a:t>rtificial</a:t>
            </a:r>
            <a:r>
              <a:rPr spc="-55" dirty="0"/>
              <a:t> </a:t>
            </a:r>
            <a:r>
              <a:rPr lang="en-US" spc="-55" dirty="0"/>
              <a:t>I</a:t>
            </a:r>
            <a:r>
              <a:rPr spc="-10" dirty="0"/>
              <a:t>ntelligence</a:t>
            </a:r>
            <a:endParaRPr spc="-10" dirty="0"/>
          </a:p>
        </p:txBody>
      </p:sp>
      <p:sp>
        <p:nvSpPr>
          <p:cNvPr id="3" name="object 3"/>
          <p:cNvSpPr txBox="1"/>
          <p:nvPr/>
        </p:nvSpPr>
        <p:spPr>
          <a:xfrm>
            <a:off x="1907540" y="1015339"/>
            <a:ext cx="8453120" cy="4859655"/>
          </a:xfrm>
          <a:prstGeom prst="rect">
            <a:avLst/>
          </a:prstGeom>
        </p:spPr>
        <p:txBody>
          <a:bodyPr vert="horz" wrap="square" lIns="0" tIns="88900" rIns="0" bIns="0" rtlCol="0">
            <a:spAutoFit/>
          </a:bodyPr>
          <a:lstStyle/>
          <a:p>
            <a:pPr marL="250825" indent="-238125" algn="just">
              <a:lnSpc>
                <a:spcPct val="100000"/>
              </a:lnSpc>
              <a:spcBef>
                <a:spcPts val="700"/>
              </a:spcBef>
              <a:buAutoNum type="arabicPeriod"/>
              <a:tabLst>
                <a:tab pos="250825" algn="l"/>
              </a:tabLst>
            </a:pPr>
            <a:r>
              <a:rPr sz="2000" b="1" dirty="0">
                <a:latin typeface="Times New Roman" panose="02020603050405020304"/>
                <a:cs typeface="Times New Roman" panose="02020603050405020304"/>
              </a:rPr>
              <a:t>AI</a:t>
            </a:r>
            <a:r>
              <a:rPr sz="2000" b="1" spc="-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in</a:t>
            </a:r>
            <a:r>
              <a:rPr sz="2000" b="1" spc="-120"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Astronomy</a:t>
            </a:r>
            <a:endParaRPr sz="2000">
              <a:latin typeface="Times New Roman" panose="02020603050405020304"/>
              <a:cs typeface="Times New Roman" panose="02020603050405020304"/>
            </a:endParaRPr>
          </a:p>
          <a:p>
            <a:pPr marL="299085" marR="5080" lvl="1" indent="-287020" algn="just">
              <a:lnSpc>
                <a:spcPct val="100000"/>
              </a:lnSpc>
              <a:spcBef>
                <a:spcPts val="600"/>
              </a:spcBef>
              <a:buFont typeface="Microsoft Sans Serif" panose="020B0604020202020204"/>
              <a:buChar char="•"/>
              <a:tabLst>
                <a:tab pos="299085" algn="l"/>
                <a:tab pos="300355" algn="l"/>
              </a:tabLst>
            </a:pPr>
            <a:r>
              <a:rPr sz="2000" dirty="0">
                <a:latin typeface="Times New Roman" panose="02020603050405020304"/>
                <a:cs typeface="Times New Roman" panose="02020603050405020304"/>
              </a:rPr>
              <a:t>	Artificial</a:t>
            </a:r>
            <a:r>
              <a:rPr sz="2000" spc="16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Intelligence</a:t>
            </a:r>
            <a:r>
              <a:rPr sz="2000" spc="175"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16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160" dirty="0">
                <a:latin typeface="Times New Roman" panose="02020603050405020304"/>
                <a:cs typeface="Times New Roman" panose="02020603050405020304"/>
              </a:rPr>
              <a:t> </a:t>
            </a:r>
            <a:r>
              <a:rPr sz="2000" dirty="0">
                <a:latin typeface="Times New Roman" panose="02020603050405020304"/>
                <a:cs typeface="Times New Roman" panose="02020603050405020304"/>
              </a:rPr>
              <a:t>very</a:t>
            </a:r>
            <a:r>
              <a:rPr sz="2000" spc="170" dirty="0">
                <a:latin typeface="Times New Roman" panose="02020603050405020304"/>
                <a:cs typeface="Times New Roman" panose="02020603050405020304"/>
              </a:rPr>
              <a:t> </a:t>
            </a:r>
            <a:r>
              <a:rPr sz="2000" dirty="0">
                <a:latin typeface="Times New Roman" panose="02020603050405020304"/>
                <a:cs typeface="Times New Roman" panose="02020603050405020304"/>
              </a:rPr>
              <a:t>useful</a:t>
            </a:r>
            <a:r>
              <a:rPr sz="2000" spc="18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80" dirty="0">
                <a:latin typeface="Times New Roman" panose="02020603050405020304"/>
                <a:cs typeface="Times New Roman" panose="02020603050405020304"/>
              </a:rPr>
              <a:t> </a:t>
            </a:r>
            <a:r>
              <a:rPr sz="2000" dirty="0">
                <a:latin typeface="Times New Roman" panose="02020603050405020304"/>
                <a:cs typeface="Times New Roman" panose="02020603050405020304"/>
              </a:rPr>
              <a:t>solve</a:t>
            </a:r>
            <a:r>
              <a:rPr sz="2000" spc="180" dirty="0">
                <a:latin typeface="Times New Roman" panose="02020603050405020304"/>
                <a:cs typeface="Times New Roman" panose="02020603050405020304"/>
              </a:rPr>
              <a:t> </a:t>
            </a:r>
            <a:r>
              <a:rPr sz="2000" dirty="0">
                <a:latin typeface="Times New Roman" panose="02020603050405020304"/>
                <a:cs typeface="Times New Roman" panose="02020603050405020304"/>
              </a:rPr>
              <a:t>complex</a:t>
            </a:r>
            <a:r>
              <a:rPr sz="2000" spc="170" dirty="0">
                <a:latin typeface="Times New Roman" panose="02020603050405020304"/>
                <a:cs typeface="Times New Roman" panose="02020603050405020304"/>
              </a:rPr>
              <a:t> </a:t>
            </a:r>
            <a:r>
              <a:rPr sz="2000" dirty="0">
                <a:latin typeface="Times New Roman" panose="02020603050405020304"/>
                <a:cs typeface="Times New Roman" panose="02020603050405020304"/>
              </a:rPr>
              <a:t>universe</a:t>
            </a:r>
            <a:r>
              <a:rPr sz="2000" spc="17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problems. </a:t>
            </a:r>
            <a:r>
              <a:rPr sz="2000" dirty="0">
                <a:latin typeface="Times New Roman" panose="02020603050405020304"/>
                <a:cs typeface="Times New Roman" panose="02020603050405020304"/>
              </a:rPr>
              <a:t>AI</a:t>
            </a:r>
            <a:r>
              <a:rPr sz="2000" spc="3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technology</a:t>
            </a:r>
            <a:r>
              <a:rPr sz="2000" spc="315"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32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310" dirty="0">
                <a:latin typeface="Times New Roman" panose="02020603050405020304"/>
                <a:cs typeface="Times New Roman" panose="02020603050405020304"/>
              </a:rPr>
              <a:t> </a:t>
            </a:r>
            <a:r>
              <a:rPr sz="2000" dirty="0">
                <a:latin typeface="Times New Roman" panose="02020603050405020304"/>
                <a:cs typeface="Times New Roman" panose="02020603050405020304"/>
              </a:rPr>
              <a:t>helpful</a:t>
            </a:r>
            <a:r>
              <a:rPr sz="2000" spc="305" dirty="0">
                <a:latin typeface="Times New Roman" panose="02020603050405020304"/>
                <a:cs typeface="Times New Roman" panose="02020603050405020304"/>
              </a:rPr>
              <a:t> </a:t>
            </a:r>
            <a:r>
              <a:rPr sz="2000" dirty="0">
                <a:latin typeface="Times New Roman" panose="02020603050405020304"/>
                <a:cs typeface="Times New Roman" panose="02020603050405020304"/>
              </a:rPr>
              <a:t>for</a:t>
            </a:r>
            <a:r>
              <a:rPr sz="2000" spc="305" dirty="0">
                <a:latin typeface="Times New Roman" panose="02020603050405020304"/>
                <a:cs typeface="Times New Roman" panose="02020603050405020304"/>
              </a:rPr>
              <a:t> </a:t>
            </a:r>
            <a:r>
              <a:rPr sz="2000" dirty="0">
                <a:latin typeface="Times New Roman" panose="02020603050405020304"/>
                <a:cs typeface="Times New Roman" panose="02020603050405020304"/>
              </a:rPr>
              <a:t>understanding</a:t>
            </a:r>
            <a:r>
              <a:rPr sz="2000" spc="3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320" dirty="0">
                <a:latin typeface="Times New Roman" panose="02020603050405020304"/>
                <a:cs typeface="Times New Roman" panose="02020603050405020304"/>
              </a:rPr>
              <a:t> </a:t>
            </a:r>
            <a:r>
              <a:rPr sz="2000" dirty="0">
                <a:latin typeface="Times New Roman" panose="02020603050405020304"/>
                <a:cs typeface="Times New Roman" panose="02020603050405020304"/>
              </a:rPr>
              <a:t>universe</a:t>
            </a:r>
            <a:r>
              <a:rPr sz="2000" spc="320" dirty="0">
                <a:latin typeface="Times New Roman" panose="02020603050405020304"/>
                <a:cs typeface="Times New Roman" panose="02020603050405020304"/>
              </a:rPr>
              <a:t> </a:t>
            </a:r>
            <a:r>
              <a:rPr sz="2000" dirty="0">
                <a:latin typeface="Times New Roman" panose="02020603050405020304"/>
                <a:cs typeface="Times New Roman" panose="02020603050405020304"/>
              </a:rPr>
              <a:t>such</a:t>
            </a:r>
            <a:r>
              <a:rPr sz="2000" spc="3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305" dirty="0">
                <a:latin typeface="Times New Roman" panose="02020603050405020304"/>
                <a:cs typeface="Times New Roman" panose="02020603050405020304"/>
              </a:rPr>
              <a:t> </a:t>
            </a:r>
            <a:r>
              <a:rPr sz="2000" dirty="0">
                <a:latin typeface="Times New Roman" panose="02020603050405020304"/>
                <a:cs typeface="Times New Roman" panose="02020603050405020304"/>
              </a:rPr>
              <a:t>how</a:t>
            </a:r>
            <a:r>
              <a:rPr sz="2000" spc="32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it </a:t>
            </a:r>
            <a:r>
              <a:rPr sz="2000" dirty="0">
                <a:latin typeface="Times New Roman" panose="02020603050405020304"/>
                <a:cs typeface="Times New Roman" panose="02020603050405020304"/>
              </a:rPr>
              <a:t>works,</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origin,</a:t>
            </a:r>
            <a:r>
              <a:rPr sz="2000" spc="-35"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etc.</a:t>
            </a:r>
            <a:endParaRPr sz="2000">
              <a:latin typeface="Times New Roman" panose="02020603050405020304"/>
              <a:cs typeface="Times New Roman" panose="02020603050405020304"/>
            </a:endParaRPr>
          </a:p>
          <a:p>
            <a:pPr marL="250825" indent="-238125" algn="just">
              <a:lnSpc>
                <a:spcPct val="100000"/>
              </a:lnSpc>
              <a:spcBef>
                <a:spcPts val="600"/>
              </a:spcBef>
              <a:buAutoNum type="arabicPeriod" startAt="2"/>
              <a:tabLst>
                <a:tab pos="250825" algn="l"/>
              </a:tabLst>
            </a:pPr>
            <a:r>
              <a:rPr sz="2000" b="1" dirty="0">
                <a:latin typeface="Times New Roman" panose="02020603050405020304"/>
                <a:cs typeface="Times New Roman" panose="02020603050405020304"/>
              </a:rPr>
              <a:t>AI</a:t>
            </a:r>
            <a:r>
              <a:rPr sz="2000" b="1" spc="-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in</a:t>
            </a:r>
            <a:r>
              <a:rPr sz="2000" b="1" spc="-15"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Healthcare</a:t>
            </a:r>
            <a:endParaRPr sz="2000">
              <a:latin typeface="Times New Roman" panose="02020603050405020304"/>
              <a:cs typeface="Times New Roman" panose="02020603050405020304"/>
            </a:endParaRPr>
          </a:p>
          <a:p>
            <a:pPr marL="299085" marR="82550" lvl="1" indent="-287020">
              <a:lnSpc>
                <a:spcPct val="100000"/>
              </a:lnSpc>
              <a:spcBef>
                <a:spcPts val="600"/>
              </a:spcBef>
              <a:buFont typeface="Microsoft Sans Serif" panose="020B0604020202020204"/>
              <a:buChar char="•"/>
              <a:tabLst>
                <a:tab pos="299085" algn="l"/>
              </a:tabLst>
            </a:pPr>
            <a:r>
              <a:rPr sz="2000" dirty="0">
                <a:latin typeface="Times New Roman" panose="02020603050405020304"/>
                <a:cs typeface="Times New Roman" panose="02020603050405020304"/>
              </a:rPr>
              <a:t>In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last,</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five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ten </a:t>
            </a:r>
            <a:r>
              <a:rPr sz="2000" spc="-10" dirty="0">
                <a:latin typeface="Times New Roman" panose="02020603050405020304"/>
                <a:cs typeface="Times New Roman" panose="02020603050405020304"/>
              </a:rPr>
              <a:t>years,</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AI becoming</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more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advantageous</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for</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healthcare </a:t>
            </a:r>
            <a:r>
              <a:rPr sz="2000" dirty="0">
                <a:latin typeface="Times New Roman" panose="02020603050405020304"/>
                <a:cs typeface="Times New Roman" panose="02020603050405020304"/>
              </a:rPr>
              <a:t>industry</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going</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have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significant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impact</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on</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this</a:t>
            </a:r>
            <a:r>
              <a:rPr sz="2000" spc="-3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industry.</a:t>
            </a:r>
            <a:endParaRPr sz="2000">
              <a:latin typeface="Times New Roman" panose="02020603050405020304"/>
              <a:cs typeface="Times New Roman" panose="02020603050405020304"/>
            </a:endParaRPr>
          </a:p>
          <a:p>
            <a:pPr marL="299085" marR="78740" lvl="1" indent="-287020">
              <a:lnSpc>
                <a:spcPct val="100000"/>
              </a:lnSpc>
              <a:spcBef>
                <a:spcPts val="600"/>
              </a:spcBef>
              <a:buFont typeface="Microsoft Sans Serif" panose="020B0604020202020204"/>
              <a:buChar char="•"/>
              <a:tabLst>
                <a:tab pos="299085" algn="l"/>
              </a:tabLst>
            </a:pPr>
            <a:r>
              <a:rPr sz="2000" dirty="0">
                <a:latin typeface="Times New Roman" panose="02020603050405020304"/>
                <a:cs typeface="Times New Roman" panose="02020603050405020304"/>
              </a:rPr>
              <a:t>Healthcare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Industries</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are</a:t>
            </a:r>
            <a:r>
              <a:rPr sz="2000" spc="-1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applying</a:t>
            </a:r>
            <a:r>
              <a:rPr sz="2000" spc="-140" dirty="0">
                <a:latin typeface="Times New Roman" panose="02020603050405020304"/>
                <a:cs typeface="Times New Roman" panose="02020603050405020304"/>
              </a:rPr>
              <a:t> </a:t>
            </a:r>
            <a:r>
              <a:rPr sz="2000" dirty="0">
                <a:latin typeface="Times New Roman" panose="02020603050405020304"/>
                <a:cs typeface="Times New Roman" panose="02020603050405020304"/>
              </a:rPr>
              <a:t>AI</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make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better</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faster</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diagnosis</a:t>
            </a:r>
            <a:r>
              <a:rPr sz="2000" spc="-55"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than </a:t>
            </a:r>
            <a:r>
              <a:rPr sz="2000" spc="-10" dirty="0">
                <a:latin typeface="Times New Roman" panose="02020603050405020304"/>
                <a:cs typeface="Times New Roman" panose="02020603050405020304"/>
              </a:rPr>
              <a:t>humans.</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AI can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help</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doctors</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with</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diagnoses</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inform</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when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patients</a:t>
            </a:r>
            <a:r>
              <a:rPr sz="2000" spc="-1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are </a:t>
            </a:r>
            <a:r>
              <a:rPr sz="2000" dirty="0">
                <a:latin typeface="Times New Roman" panose="02020603050405020304"/>
                <a:cs typeface="Times New Roman" panose="02020603050405020304"/>
              </a:rPr>
              <a:t>worsening</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so</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that</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medical</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help</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reach</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patient</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before</a:t>
            </a:r>
            <a:r>
              <a:rPr sz="2000" spc="-3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hospitalization.</a:t>
            </a:r>
            <a:endParaRPr sz="2000">
              <a:latin typeface="Times New Roman" panose="02020603050405020304"/>
              <a:cs typeface="Times New Roman" panose="02020603050405020304"/>
            </a:endParaRPr>
          </a:p>
          <a:p>
            <a:pPr marL="250825" indent="-238125">
              <a:lnSpc>
                <a:spcPct val="100000"/>
              </a:lnSpc>
              <a:spcBef>
                <a:spcPts val="605"/>
              </a:spcBef>
              <a:buAutoNum type="arabicPeriod" startAt="3"/>
              <a:tabLst>
                <a:tab pos="250825" algn="l"/>
              </a:tabLst>
            </a:pPr>
            <a:r>
              <a:rPr sz="2000" b="1" dirty="0">
                <a:latin typeface="Times New Roman" panose="02020603050405020304"/>
                <a:cs typeface="Times New Roman" panose="02020603050405020304"/>
              </a:rPr>
              <a:t>AI</a:t>
            </a:r>
            <a:r>
              <a:rPr sz="2000" b="1" spc="-1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in</a:t>
            </a:r>
            <a:r>
              <a:rPr sz="2000" b="1" spc="-15"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Gaming</a:t>
            </a:r>
            <a:endParaRPr sz="2000">
              <a:latin typeface="Times New Roman" panose="02020603050405020304"/>
              <a:cs typeface="Times New Roman" panose="02020603050405020304"/>
            </a:endParaRPr>
          </a:p>
          <a:p>
            <a:pPr marL="299085" marR="178435" lvl="1" indent="-287020">
              <a:lnSpc>
                <a:spcPct val="100000"/>
              </a:lnSpc>
              <a:spcBef>
                <a:spcPts val="600"/>
              </a:spcBef>
              <a:buFont typeface="Microsoft Sans Serif" panose="020B0604020202020204"/>
              <a:buChar char="•"/>
              <a:tabLst>
                <a:tab pos="299085" algn="l"/>
              </a:tabLst>
            </a:pPr>
            <a:r>
              <a:rPr sz="2000" dirty="0">
                <a:latin typeface="Times New Roman" panose="02020603050405020304"/>
                <a:cs typeface="Times New Roman" panose="02020603050405020304"/>
              </a:rPr>
              <a:t>AI</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used</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for</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gaming</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purpose.</a:t>
            </a:r>
            <a:r>
              <a:rPr sz="2000" spc="-9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AI</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machines</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play</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strategic</a:t>
            </a:r>
            <a:r>
              <a:rPr sz="2000" spc="-4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games </a:t>
            </a:r>
            <a:r>
              <a:rPr sz="2000" dirty="0">
                <a:latin typeface="Times New Roman" panose="02020603050405020304"/>
                <a:cs typeface="Times New Roman" panose="02020603050405020304"/>
              </a:rPr>
              <a:t>like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chess,</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where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needs</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think</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large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number</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possible places.</a:t>
            </a:r>
            <a:endParaRPr sz="2000">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1340" y="221933"/>
            <a:ext cx="8147685" cy="627380"/>
          </a:xfrm>
          <a:prstGeom prst="rect">
            <a:avLst/>
          </a:prstGeom>
        </p:spPr>
        <p:txBody>
          <a:bodyPr vert="horz" wrap="square" lIns="0" tIns="12065" rIns="0" bIns="0" rtlCol="0">
            <a:spAutoFit/>
          </a:bodyPr>
          <a:lstStyle/>
          <a:p>
            <a:pPr marL="12700">
              <a:lnSpc>
                <a:spcPct val="100000"/>
              </a:lnSpc>
              <a:spcBef>
                <a:spcPts val="95"/>
              </a:spcBef>
            </a:pPr>
            <a:r>
              <a:rPr dirty="0"/>
              <a:t>Applications</a:t>
            </a:r>
            <a:r>
              <a:rPr spc="-85" dirty="0"/>
              <a:t> </a:t>
            </a:r>
            <a:r>
              <a:rPr dirty="0"/>
              <a:t>of</a:t>
            </a:r>
            <a:r>
              <a:rPr spc="-90" dirty="0"/>
              <a:t> </a:t>
            </a:r>
            <a:r>
              <a:rPr lang="en-US" spc="-90" dirty="0"/>
              <a:t>A</a:t>
            </a:r>
            <a:r>
              <a:rPr dirty="0"/>
              <a:t>rtificial</a:t>
            </a:r>
            <a:r>
              <a:rPr spc="-55" dirty="0"/>
              <a:t> </a:t>
            </a:r>
            <a:r>
              <a:rPr lang="en-US" spc="-55" dirty="0"/>
              <a:t>I</a:t>
            </a:r>
            <a:r>
              <a:rPr spc="-10" dirty="0"/>
              <a:t>ntelligence</a:t>
            </a:r>
            <a:endParaRPr spc="-10" dirty="0"/>
          </a:p>
        </p:txBody>
      </p:sp>
      <p:sp>
        <p:nvSpPr>
          <p:cNvPr id="3" name="object 3"/>
          <p:cNvSpPr txBox="1"/>
          <p:nvPr/>
        </p:nvSpPr>
        <p:spPr>
          <a:xfrm>
            <a:off x="1845665" y="1015339"/>
            <a:ext cx="8582660" cy="5243830"/>
          </a:xfrm>
          <a:prstGeom prst="rect">
            <a:avLst/>
          </a:prstGeom>
        </p:spPr>
        <p:txBody>
          <a:bodyPr vert="horz" wrap="square" lIns="0" tIns="165100" rIns="0" bIns="0" rtlCol="0">
            <a:spAutoFit/>
          </a:bodyPr>
          <a:lstStyle/>
          <a:p>
            <a:pPr marL="250825" indent="-238125">
              <a:lnSpc>
                <a:spcPct val="100000"/>
              </a:lnSpc>
              <a:spcBef>
                <a:spcPts val="1300"/>
              </a:spcBef>
              <a:buAutoNum type="arabicPeriod" startAt="4"/>
              <a:tabLst>
                <a:tab pos="250825" algn="l"/>
              </a:tabLst>
            </a:pPr>
            <a:r>
              <a:rPr sz="2000" b="1" dirty="0">
                <a:latin typeface="Times New Roman" panose="02020603050405020304"/>
                <a:cs typeface="Times New Roman" panose="02020603050405020304"/>
              </a:rPr>
              <a:t>AI</a:t>
            </a:r>
            <a:r>
              <a:rPr sz="2000" b="1" spc="-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in</a:t>
            </a:r>
            <a:r>
              <a:rPr sz="2000" b="1" spc="-15"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Finance</a:t>
            </a:r>
            <a:endParaRPr sz="2000">
              <a:latin typeface="Times New Roman" panose="02020603050405020304"/>
              <a:cs typeface="Times New Roman" panose="02020603050405020304"/>
            </a:endParaRPr>
          </a:p>
          <a:p>
            <a:pPr marL="355600" marR="254635" lvl="1" indent="-342900">
              <a:lnSpc>
                <a:spcPct val="100000"/>
              </a:lnSpc>
              <a:spcBef>
                <a:spcPts val="1200"/>
              </a:spcBef>
              <a:buFont typeface="Microsoft Sans Serif" panose="020B0604020202020204"/>
              <a:buChar char="•"/>
              <a:tabLst>
                <a:tab pos="355600" algn="l"/>
              </a:tabLst>
            </a:pPr>
            <a:r>
              <a:rPr sz="2000" dirty="0">
                <a:latin typeface="Times New Roman" panose="02020603050405020304"/>
                <a:cs typeface="Times New Roman" panose="02020603050405020304"/>
              </a:rPr>
              <a:t>AI</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finance</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industries</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are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best</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matches</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for</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each</a:t>
            </a:r>
            <a:r>
              <a:rPr sz="2000" spc="-2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other.</a:t>
            </a:r>
            <a:r>
              <a:rPr sz="2000" spc="-8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finance </a:t>
            </a:r>
            <a:r>
              <a:rPr sz="2000" dirty="0">
                <a:latin typeface="Times New Roman" panose="02020603050405020304"/>
                <a:cs typeface="Times New Roman" panose="02020603050405020304"/>
              </a:rPr>
              <a:t>industry</a:t>
            </a:r>
            <a:r>
              <a:rPr sz="2000" spc="-60"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implementing</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automation,</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chatbot,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adaptive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intelligence,</a:t>
            </a:r>
            <a:r>
              <a:rPr sz="2000" spc="-6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algorithm </a:t>
            </a:r>
            <a:r>
              <a:rPr sz="2000" dirty="0">
                <a:latin typeface="Times New Roman" panose="02020603050405020304"/>
                <a:cs typeface="Times New Roman" panose="02020603050405020304"/>
              </a:rPr>
              <a:t>trading,</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machine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learning</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into</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financial</a:t>
            </a:r>
            <a:r>
              <a:rPr sz="2000" spc="-4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processes.</a:t>
            </a:r>
            <a:endParaRPr sz="2000">
              <a:latin typeface="Times New Roman" panose="02020603050405020304"/>
              <a:cs typeface="Times New Roman" panose="02020603050405020304"/>
            </a:endParaRPr>
          </a:p>
          <a:p>
            <a:pPr marL="250825" indent="-238125">
              <a:lnSpc>
                <a:spcPct val="100000"/>
              </a:lnSpc>
              <a:spcBef>
                <a:spcPts val="1200"/>
              </a:spcBef>
              <a:buAutoNum type="arabicPeriod" startAt="5"/>
              <a:tabLst>
                <a:tab pos="250825" algn="l"/>
              </a:tabLst>
            </a:pPr>
            <a:r>
              <a:rPr sz="2000" b="1" dirty="0">
                <a:latin typeface="Times New Roman" panose="02020603050405020304"/>
                <a:cs typeface="Times New Roman" panose="02020603050405020304"/>
              </a:rPr>
              <a:t>AI</a:t>
            </a:r>
            <a:r>
              <a:rPr sz="2000" b="1" spc="-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in</a:t>
            </a:r>
            <a:r>
              <a:rPr sz="2000" b="1" spc="-2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Data</a:t>
            </a:r>
            <a:r>
              <a:rPr sz="2000" b="1" spc="-30"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Security</a:t>
            </a:r>
            <a:endParaRPr sz="2000">
              <a:latin typeface="Times New Roman" panose="02020603050405020304"/>
              <a:cs typeface="Times New Roman" panose="02020603050405020304"/>
            </a:endParaRPr>
          </a:p>
          <a:p>
            <a:pPr marL="355600" marR="106680" lvl="1" indent="-342900">
              <a:lnSpc>
                <a:spcPct val="100000"/>
              </a:lnSpc>
              <a:spcBef>
                <a:spcPts val="1200"/>
              </a:spcBef>
              <a:buFont typeface="Microsoft Sans Serif" panose="020B0604020202020204"/>
              <a:buChar char="•"/>
              <a:tabLst>
                <a:tab pos="355600" algn="l"/>
              </a:tabLst>
            </a:pPr>
            <a:r>
              <a:rPr sz="2000" dirty="0">
                <a:latin typeface="Times New Roman" panose="02020603050405020304"/>
                <a:cs typeface="Times New Roman" panose="02020603050405020304"/>
              </a:rPr>
              <a:t>The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security</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is</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crucial</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for</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every</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company</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1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cyber-</a:t>
            </a:r>
            <a:r>
              <a:rPr sz="2000" dirty="0">
                <a:latin typeface="Times New Roman" panose="02020603050405020304"/>
                <a:cs typeface="Times New Roman" panose="02020603050405020304"/>
              </a:rPr>
              <a:t>attacks</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are</a:t>
            </a:r>
            <a:r>
              <a:rPr sz="2000" spc="-2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growing </a:t>
            </a:r>
            <a:r>
              <a:rPr sz="2000" dirty="0">
                <a:latin typeface="Times New Roman" panose="02020603050405020304"/>
                <a:cs typeface="Times New Roman" panose="02020603050405020304"/>
              </a:rPr>
              <a:t>very</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rapidly</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digital</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world.</a:t>
            </a:r>
            <a:r>
              <a:rPr sz="2000" spc="-1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AI</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used</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make your</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more</a:t>
            </a:r>
            <a:r>
              <a:rPr sz="2000" spc="-15"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safe </a:t>
            </a:r>
            <a:r>
              <a:rPr sz="2000" dirty="0">
                <a:latin typeface="Times New Roman" panose="02020603050405020304"/>
                <a:cs typeface="Times New Roman" panose="02020603050405020304"/>
              </a:rPr>
              <a:t>and</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secure.</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Some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examples</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such</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125" dirty="0">
                <a:latin typeface="Times New Roman" panose="02020603050405020304"/>
                <a:cs typeface="Times New Roman" panose="02020603050405020304"/>
              </a:rPr>
              <a:t> </a:t>
            </a:r>
            <a:r>
              <a:rPr sz="2000" dirty="0">
                <a:latin typeface="Times New Roman" panose="02020603050405020304"/>
                <a:cs typeface="Times New Roman" panose="02020603050405020304"/>
              </a:rPr>
              <a:t>AEG</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bot,</a:t>
            </a:r>
            <a:r>
              <a:rPr sz="2000" spc="-140" dirty="0">
                <a:latin typeface="Times New Roman" panose="02020603050405020304"/>
                <a:cs typeface="Times New Roman" panose="02020603050405020304"/>
              </a:rPr>
              <a:t> </a:t>
            </a:r>
            <a:r>
              <a:rPr sz="2000" dirty="0">
                <a:latin typeface="Times New Roman" panose="02020603050405020304"/>
                <a:cs typeface="Times New Roman" panose="02020603050405020304"/>
              </a:rPr>
              <a:t>AI2</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Platform,are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used</a:t>
            </a:r>
            <a:r>
              <a:rPr sz="2000" spc="-3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to </a:t>
            </a:r>
            <a:r>
              <a:rPr sz="2000" dirty="0">
                <a:latin typeface="Times New Roman" panose="02020603050405020304"/>
                <a:cs typeface="Times New Roman" panose="02020603050405020304"/>
              </a:rPr>
              <a:t>determine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software</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bug</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20"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cyber-</a:t>
            </a:r>
            <a:r>
              <a:rPr sz="2000" dirty="0">
                <a:latin typeface="Times New Roman" panose="02020603050405020304"/>
                <a:cs typeface="Times New Roman" panose="02020603050405020304"/>
              </a:rPr>
              <a:t>attacks</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better</a:t>
            </a:r>
            <a:r>
              <a:rPr sz="2000" spc="-15"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way.</a:t>
            </a:r>
            <a:endParaRPr sz="2000">
              <a:latin typeface="Times New Roman" panose="02020603050405020304"/>
              <a:cs typeface="Times New Roman" panose="02020603050405020304"/>
            </a:endParaRPr>
          </a:p>
          <a:p>
            <a:pPr marL="250825" indent="-238125">
              <a:lnSpc>
                <a:spcPct val="100000"/>
              </a:lnSpc>
              <a:spcBef>
                <a:spcPts val="1205"/>
              </a:spcBef>
              <a:buAutoNum type="arabicPeriod" startAt="6"/>
              <a:tabLst>
                <a:tab pos="250825" algn="l"/>
              </a:tabLst>
            </a:pPr>
            <a:r>
              <a:rPr sz="2000" b="1" dirty="0">
                <a:latin typeface="Times New Roman" panose="02020603050405020304"/>
                <a:cs typeface="Times New Roman" panose="02020603050405020304"/>
              </a:rPr>
              <a:t>AI</a:t>
            </a:r>
            <a:r>
              <a:rPr sz="2000" b="1" spc="-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in</a:t>
            </a:r>
            <a:r>
              <a:rPr sz="2000" b="1" spc="-20"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Social</a:t>
            </a:r>
            <a:r>
              <a:rPr sz="2000" b="1" spc="-35"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Media</a:t>
            </a:r>
            <a:endParaRPr sz="2000">
              <a:latin typeface="Times New Roman" panose="02020603050405020304"/>
              <a:cs typeface="Times New Roman" panose="02020603050405020304"/>
            </a:endParaRPr>
          </a:p>
          <a:p>
            <a:pPr marL="355600" marR="5080" lvl="1" indent="-342900">
              <a:lnSpc>
                <a:spcPct val="100000"/>
              </a:lnSpc>
              <a:spcBef>
                <a:spcPts val="1200"/>
              </a:spcBef>
              <a:buFont typeface="Microsoft Sans Serif" panose="020B0604020202020204"/>
              <a:buChar char="•"/>
              <a:tabLst>
                <a:tab pos="355600" algn="l"/>
              </a:tabLst>
            </a:pPr>
            <a:r>
              <a:rPr sz="2000" dirty="0">
                <a:latin typeface="Times New Roman" panose="02020603050405020304"/>
                <a:cs typeface="Times New Roman" panose="02020603050405020304"/>
              </a:rPr>
              <a:t>Social</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Media</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sites</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such</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as</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Facebook,</a:t>
            </a:r>
            <a:r>
              <a:rPr sz="2000" spc="-7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Twitter,</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Snapchat</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contain</a:t>
            </a:r>
            <a:r>
              <a:rPr sz="2000" spc="-45" dirty="0">
                <a:latin typeface="Times New Roman" panose="02020603050405020304"/>
                <a:cs typeface="Times New Roman" panose="02020603050405020304"/>
              </a:rPr>
              <a:t> </a:t>
            </a:r>
            <a:r>
              <a:rPr sz="2000" dirty="0">
                <a:latin typeface="Times New Roman" panose="02020603050405020304"/>
                <a:cs typeface="Times New Roman" panose="02020603050405020304"/>
              </a:rPr>
              <a:t>billions</a:t>
            </a:r>
            <a:r>
              <a:rPr sz="2000" spc="-45"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of </a:t>
            </a:r>
            <a:r>
              <a:rPr sz="2000" dirty="0">
                <a:latin typeface="Times New Roman" panose="02020603050405020304"/>
                <a:cs typeface="Times New Roman" panose="02020603050405020304"/>
              </a:rPr>
              <a:t>user</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profiles,</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which</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need</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to</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be</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stored</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managed</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in</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a:t>
            </a:r>
            <a:r>
              <a:rPr sz="2000" spc="-5" dirty="0">
                <a:latin typeface="Times New Roman" panose="02020603050405020304"/>
                <a:cs typeface="Times New Roman" panose="02020603050405020304"/>
              </a:rPr>
              <a:t> </a:t>
            </a:r>
            <a:r>
              <a:rPr sz="2000" dirty="0">
                <a:latin typeface="Times New Roman" panose="02020603050405020304"/>
                <a:cs typeface="Times New Roman" panose="02020603050405020304"/>
              </a:rPr>
              <a:t>very</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efficient</a:t>
            </a:r>
            <a:r>
              <a:rPr sz="2000" spc="-40" dirty="0">
                <a:latin typeface="Times New Roman" panose="02020603050405020304"/>
                <a:cs typeface="Times New Roman" panose="02020603050405020304"/>
              </a:rPr>
              <a:t> </a:t>
            </a:r>
            <a:r>
              <a:rPr sz="2000" spc="-45" dirty="0">
                <a:latin typeface="Times New Roman" panose="02020603050405020304"/>
                <a:cs typeface="Times New Roman" panose="02020603050405020304"/>
              </a:rPr>
              <a:t>way.</a:t>
            </a:r>
            <a:r>
              <a:rPr sz="2000" spc="-114"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AI </a:t>
            </a:r>
            <a:r>
              <a:rPr sz="2000" dirty="0">
                <a:latin typeface="Times New Roman" panose="02020603050405020304"/>
                <a:cs typeface="Times New Roman" panose="02020603050405020304"/>
              </a:rPr>
              <a:t>can</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organize</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manage</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massive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amounts</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130" dirty="0">
                <a:latin typeface="Times New Roman" panose="02020603050405020304"/>
                <a:cs typeface="Times New Roman" panose="02020603050405020304"/>
              </a:rPr>
              <a:t> </a:t>
            </a:r>
            <a:r>
              <a:rPr sz="2000" dirty="0">
                <a:latin typeface="Times New Roman" panose="02020603050405020304"/>
                <a:cs typeface="Times New Roman" panose="02020603050405020304"/>
              </a:rPr>
              <a:t>AI</a:t>
            </a:r>
            <a:r>
              <a:rPr sz="2000" spc="-10" dirty="0">
                <a:latin typeface="Times New Roman" panose="02020603050405020304"/>
                <a:cs typeface="Times New Roman" panose="02020603050405020304"/>
              </a:rPr>
              <a:t> </a:t>
            </a:r>
            <a:r>
              <a:rPr sz="2000" dirty="0">
                <a:latin typeface="Times New Roman" panose="02020603050405020304"/>
                <a:cs typeface="Times New Roman" panose="02020603050405020304"/>
              </a:rPr>
              <a:t>can</a:t>
            </a:r>
            <a:r>
              <a:rPr sz="2000" spc="-1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analyze</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lots</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data</a:t>
            </a:r>
            <a:r>
              <a:rPr sz="2000" spc="-20" dirty="0">
                <a:latin typeface="Times New Roman" panose="02020603050405020304"/>
                <a:cs typeface="Times New Roman" panose="02020603050405020304"/>
              </a:rPr>
              <a:t> </a:t>
            </a:r>
            <a:r>
              <a:rPr sz="2000" spc="-25" dirty="0">
                <a:latin typeface="Times New Roman" panose="02020603050405020304"/>
                <a:cs typeface="Times New Roman" panose="02020603050405020304"/>
              </a:rPr>
              <a:t>to </a:t>
            </a:r>
            <a:r>
              <a:rPr sz="2000" dirty="0">
                <a:latin typeface="Times New Roman" panose="02020603050405020304"/>
                <a:cs typeface="Times New Roman" panose="02020603050405020304"/>
              </a:rPr>
              <a:t>identify</a:t>
            </a:r>
            <a:r>
              <a:rPr sz="2000" spc="-50" dirty="0">
                <a:latin typeface="Times New Roman" panose="02020603050405020304"/>
                <a:cs typeface="Times New Roman" panose="02020603050405020304"/>
              </a:rPr>
              <a:t> </a:t>
            </a:r>
            <a:r>
              <a:rPr sz="2000" dirty="0">
                <a:latin typeface="Times New Roman" panose="02020603050405020304"/>
                <a:cs typeface="Times New Roman" panose="02020603050405020304"/>
              </a:rPr>
              <a:t>the</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latest</a:t>
            </a:r>
            <a:r>
              <a:rPr sz="2000" spc="-20" dirty="0">
                <a:latin typeface="Times New Roman" panose="02020603050405020304"/>
                <a:cs typeface="Times New Roman" panose="02020603050405020304"/>
              </a:rPr>
              <a:t> </a:t>
            </a:r>
            <a:r>
              <a:rPr sz="2000" dirty="0">
                <a:latin typeface="Times New Roman" panose="02020603050405020304"/>
                <a:cs typeface="Times New Roman" panose="02020603050405020304"/>
              </a:rPr>
              <a:t>trends,</a:t>
            </a:r>
            <a:r>
              <a:rPr sz="2000" spc="-55" dirty="0">
                <a:latin typeface="Times New Roman" panose="02020603050405020304"/>
                <a:cs typeface="Times New Roman" panose="02020603050405020304"/>
              </a:rPr>
              <a:t> </a:t>
            </a:r>
            <a:r>
              <a:rPr sz="2000" dirty="0">
                <a:latin typeface="Times New Roman" panose="02020603050405020304"/>
                <a:cs typeface="Times New Roman" panose="02020603050405020304"/>
              </a:rPr>
              <a:t>hashtag,</a:t>
            </a:r>
            <a:r>
              <a:rPr sz="2000" spc="-35" dirty="0">
                <a:latin typeface="Times New Roman" panose="02020603050405020304"/>
                <a:cs typeface="Times New Roman" panose="02020603050405020304"/>
              </a:rPr>
              <a:t> </a:t>
            </a:r>
            <a:r>
              <a:rPr sz="2000" dirty="0">
                <a:latin typeface="Times New Roman" panose="02020603050405020304"/>
                <a:cs typeface="Times New Roman" panose="02020603050405020304"/>
              </a:rPr>
              <a:t>and</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requirement</a:t>
            </a:r>
            <a:r>
              <a:rPr sz="2000" spc="-4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5" dirty="0">
                <a:latin typeface="Times New Roman" panose="02020603050405020304"/>
                <a:cs typeface="Times New Roman" panose="02020603050405020304"/>
              </a:rPr>
              <a:t> </a:t>
            </a:r>
            <a:r>
              <a:rPr sz="2000" dirty="0">
                <a:latin typeface="Times New Roman" panose="02020603050405020304"/>
                <a:cs typeface="Times New Roman" panose="02020603050405020304"/>
              </a:rPr>
              <a:t>different</a:t>
            </a:r>
            <a:r>
              <a:rPr sz="2000" spc="-45" dirty="0">
                <a:latin typeface="Times New Roman" panose="02020603050405020304"/>
                <a:cs typeface="Times New Roman" panose="02020603050405020304"/>
              </a:rPr>
              <a:t> </a:t>
            </a:r>
            <a:r>
              <a:rPr sz="2000" spc="-10" dirty="0">
                <a:latin typeface="Times New Roman" panose="02020603050405020304"/>
                <a:cs typeface="Times New Roman" panose="02020603050405020304"/>
              </a:rPr>
              <a:t>users.</a:t>
            </a:r>
            <a:endParaRPr sz="2000">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5465" y="244158"/>
            <a:ext cx="8328660" cy="627380"/>
          </a:xfrm>
          <a:prstGeom prst="rect">
            <a:avLst/>
          </a:prstGeom>
        </p:spPr>
        <p:txBody>
          <a:bodyPr vert="horz" wrap="square" lIns="0" tIns="12065" rIns="0" bIns="0" rtlCol="0">
            <a:spAutoFit/>
          </a:bodyPr>
          <a:lstStyle/>
          <a:p>
            <a:pPr marL="12700">
              <a:lnSpc>
                <a:spcPct val="100000"/>
              </a:lnSpc>
              <a:spcBef>
                <a:spcPts val="95"/>
              </a:spcBef>
            </a:pPr>
            <a:r>
              <a:rPr dirty="0"/>
              <a:t>Applications</a:t>
            </a:r>
            <a:r>
              <a:rPr spc="-85" dirty="0"/>
              <a:t> </a:t>
            </a:r>
            <a:r>
              <a:rPr dirty="0"/>
              <a:t>of</a:t>
            </a:r>
            <a:r>
              <a:rPr spc="-90" dirty="0"/>
              <a:t> </a:t>
            </a:r>
            <a:r>
              <a:rPr lang="en-US" spc="-90" dirty="0"/>
              <a:t>A</a:t>
            </a:r>
            <a:r>
              <a:rPr dirty="0"/>
              <a:t>rtificial</a:t>
            </a:r>
            <a:r>
              <a:rPr spc="-55" dirty="0"/>
              <a:t> </a:t>
            </a:r>
            <a:r>
              <a:rPr lang="en-US" spc="-55" dirty="0"/>
              <a:t>I</a:t>
            </a:r>
            <a:r>
              <a:rPr spc="-10" dirty="0"/>
              <a:t>ntelligence</a:t>
            </a:r>
            <a:endParaRPr spc="-10" dirty="0"/>
          </a:p>
        </p:txBody>
      </p:sp>
      <p:sp>
        <p:nvSpPr>
          <p:cNvPr id="3" name="object 3"/>
          <p:cNvSpPr txBox="1"/>
          <p:nvPr/>
        </p:nvSpPr>
        <p:spPr>
          <a:xfrm>
            <a:off x="2059940" y="859028"/>
            <a:ext cx="8378825" cy="5899150"/>
          </a:xfrm>
          <a:prstGeom prst="rect">
            <a:avLst/>
          </a:prstGeom>
        </p:spPr>
        <p:txBody>
          <a:bodyPr vert="horz" wrap="square" lIns="0" tIns="50800" rIns="0" bIns="0" rtlCol="0">
            <a:spAutoFit/>
          </a:bodyPr>
          <a:lstStyle/>
          <a:p>
            <a:pPr marL="228600" indent="-215900" algn="just">
              <a:lnSpc>
                <a:spcPct val="100000"/>
              </a:lnSpc>
              <a:spcBef>
                <a:spcPts val="400"/>
              </a:spcBef>
              <a:buAutoNum type="arabicPeriod" startAt="7"/>
              <a:tabLst>
                <a:tab pos="228600" algn="l"/>
              </a:tabLst>
            </a:pPr>
            <a:r>
              <a:rPr sz="1800" b="1" dirty="0">
                <a:latin typeface="Times New Roman" panose="02020603050405020304"/>
                <a:cs typeface="Times New Roman" panose="02020603050405020304"/>
              </a:rPr>
              <a:t>AI</a:t>
            </a:r>
            <a:r>
              <a:rPr sz="1800" b="1" spc="-25" dirty="0">
                <a:latin typeface="Times New Roman" panose="02020603050405020304"/>
                <a:cs typeface="Times New Roman" panose="02020603050405020304"/>
              </a:rPr>
              <a:t> </a:t>
            </a:r>
            <a:r>
              <a:rPr sz="1800" b="1" dirty="0">
                <a:latin typeface="Times New Roman" panose="02020603050405020304"/>
                <a:cs typeface="Times New Roman" panose="02020603050405020304"/>
              </a:rPr>
              <a:t>in</a:t>
            </a:r>
            <a:r>
              <a:rPr sz="1800" b="1" spc="-50" dirty="0">
                <a:latin typeface="Times New Roman" panose="02020603050405020304"/>
                <a:cs typeface="Times New Roman" panose="02020603050405020304"/>
              </a:rPr>
              <a:t> </a:t>
            </a:r>
            <a:r>
              <a:rPr sz="1800" b="1" spc="-20" dirty="0">
                <a:latin typeface="Times New Roman" panose="02020603050405020304"/>
                <a:cs typeface="Times New Roman" panose="02020603050405020304"/>
              </a:rPr>
              <a:t>Travel</a:t>
            </a:r>
            <a:r>
              <a:rPr sz="1800" b="1" spc="-35" dirty="0">
                <a:latin typeface="Times New Roman" panose="02020603050405020304"/>
                <a:cs typeface="Times New Roman" panose="02020603050405020304"/>
              </a:rPr>
              <a:t> </a:t>
            </a:r>
            <a:r>
              <a:rPr sz="1800" b="1" dirty="0">
                <a:latin typeface="Times New Roman" panose="02020603050405020304"/>
                <a:cs typeface="Times New Roman" panose="02020603050405020304"/>
              </a:rPr>
              <a:t>&amp;</a:t>
            </a:r>
            <a:r>
              <a:rPr sz="1800" b="1" spc="-45" dirty="0">
                <a:latin typeface="Times New Roman" panose="02020603050405020304"/>
                <a:cs typeface="Times New Roman" panose="02020603050405020304"/>
              </a:rPr>
              <a:t> </a:t>
            </a:r>
            <a:r>
              <a:rPr sz="1800" b="1" spc="-10" dirty="0">
                <a:latin typeface="Times New Roman" panose="02020603050405020304"/>
                <a:cs typeface="Times New Roman" panose="02020603050405020304"/>
              </a:rPr>
              <a:t>Transport</a:t>
            </a:r>
            <a:endParaRPr sz="1800">
              <a:latin typeface="Times New Roman" panose="02020603050405020304"/>
              <a:cs typeface="Times New Roman" panose="02020603050405020304"/>
            </a:endParaRPr>
          </a:p>
          <a:p>
            <a:pPr marL="639445" marR="5080" lvl="1" indent="-340995" algn="just">
              <a:lnSpc>
                <a:spcPct val="100000"/>
              </a:lnSpc>
              <a:spcBef>
                <a:spcPts val="300"/>
              </a:spcBef>
              <a:buFont typeface="Microsoft Sans Serif" panose="020B0604020202020204"/>
              <a:buChar char="•"/>
              <a:tabLst>
                <a:tab pos="641985" algn="l"/>
              </a:tabLst>
            </a:pPr>
            <a:r>
              <a:rPr sz="1800" dirty="0">
                <a:latin typeface="Times New Roman" panose="02020603050405020304"/>
                <a:cs typeface="Times New Roman" panose="02020603050405020304"/>
              </a:rPr>
              <a:t>AI</a:t>
            </a:r>
            <a:r>
              <a:rPr sz="1800" spc="370" dirty="0">
                <a:latin typeface="Times New Roman" panose="02020603050405020304"/>
                <a:cs typeface="Times New Roman" panose="02020603050405020304"/>
              </a:rPr>
              <a:t> </a:t>
            </a:r>
            <a:r>
              <a:rPr sz="1800" dirty="0">
                <a:latin typeface="Times New Roman" panose="02020603050405020304"/>
                <a:cs typeface="Times New Roman" panose="02020603050405020304"/>
              </a:rPr>
              <a:t>is</a:t>
            </a:r>
            <a:r>
              <a:rPr sz="1800" spc="365" dirty="0">
                <a:latin typeface="Times New Roman" panose="02020603050405020304"/>
                <a:cs typeface="Times New Roman" panose="02020603050405020304"/>
              </a:rPr>
              <a:t> </a:t>
            </a:r>
            <a:r>
              <a:rPr sz="1800" dirty="0">
                <a:latin typeface="Times New Roman" panose="02020603050405020304"/>
                <a:cs typeface="Times New Roman" panose="02020603050405020304"/>
              </a:rPr>
              <a:t>becoming</a:t>
            </a:r>
            <a:r>
              <a:rPr sz="1800" spc="370" dirty="0">
                <a:latin typeface="Times New Roman" panose="02020603050405020304"/>
                <a:cs typeface="Times New Roman" panose="02020603050405020304"/>
              </a:rPr>
              <a:t> </a:t>
            </a:r>
            <a:r>
              <a:rPr sz="1800" dirty="0">
                <a:latin typeface="Times New Roman" panose="02020603050405020304"/>
                <a:cs typeface="Times New Roman" panose="02020603050405020304"/>
              </a:rPr>
              <a:t>highly</a:t>
            </a:r>
            <a:r>
              <a:rPr sz="1800" spc="370" dirty="0">
                <a:latin typeface="Times New Roman" panose="02020603050405020304"/>
                <a:cs typeface="Times New Roman" panose="02020603050405020304"/>
              </a:rPr>
              <a:t> </a:t>
            </a:r>
            <a:r>
              <a:rPr sz="1800" dirty="0">
                <a:latin typeface="Times New Roman" panose="02020603050405020304"/>
                <a:cs typeface="Times New Roman" panose="02020603050405020304"/>
              </a:rPr>
              <a:t>demanding</a:t>
            </a:r>
            <a:r>
              <a:rPr sz="1800" spc="375" dirty="0">
                <a:latin typeface="Times New Roman" panose="02020603050405020304"/>
                <a:cs typeface="Times New Roman" panose="02020603050405020304"/>
              </a:rPr>
              <a:t> </a:t>
            </a:r>
            <a:r>
              <a:rPr sz="1800" dirty="0">
                <a:latin typeface="Times New Roman" panose="02020603050405020304"/>
                <a:cs typeface="Times New Roman" panose="02020603050405020304"/>
              </a:rPr>
              <a:t>for</a:t>
            </a:r>
            <a:r>
              <a:rPr sz="1800" spc="365" dirty="0">
                <a:latin typeface="Times New Roman" panose="02020603050405020304"/>
                <a:cs typeface="Times New Roman" panose="02020603050405020304"/>
              </a:rPr>
              <a:t> </a:t>
            </a:r>
            <a:r>
              <a:rPr sz="1800" dirty="0">
                <a:latin typeface="Times New Roman" panose="02020603050405020304"/>
                <a:cs typeface="Times New Roman" panose="02020603050405020304"/>
              </a:rPr>
              <a:t>travel</a:t>
            </a:r>
            <a:r>
              <a:rPr sz="1800" spc="355" dirty="0">
                <a:latin typeface="Times New Roman" panose="02020603050405020304"/>
                <a:cs typeface="Times New Roman" panose="02020603050405020304"/>
              </a:rPr>
              <a:t> </a:t>
            </a:r>
            <a:r>
              <a:rPr sz="1800" dirty="0">
                <a:latin typeface="Times New Roman" panose="02020603050405020304"/>
                <a:cs typeface="Times New Roman" panose="02020603050405020304"/>
              </a:rPr>
              <a:t>industries.</a:t>
            </a:r>
            <a:r>
              <a:rPr sz="1800" spc="380" dirty="0">
                <a:latin typeface="Times New Roman" panose="02020603050405020304"/>
                <a:cs typeface="Times New Roman" panose="02020603050405020304"/>
              </a:rPr>
              <a:t> </a:t>
            </a:r>
            <a:r>
              <a:rPr sz="1800" dirty="0">
                <a:latin typeface="Times New Roman" panose="02020603050405020304"/>
                <a:cs typeface="Times New Roman" panose="02020603050405020304"/>
              </a:rPr>
              <a:t>AI</a:t>
            </a:r>
            <a:r>
              <a:rPr sz="1800" spc="360" dirty="0">
                <a:latin typeface="Times New Roman" panose="02020603050405020304"/>
                <a:cs typeface="Times New Roman" panose="02020603050405020304"/>
              </a:rPr>
              <a:t> </a:t>
            </a:r>
            <a:r>
              <a:rPr sz="1800" dirty="0">
                <a:latin typeface="Times New Roman" panose="02020603050405020304"/>
                <a:cs typeface="Times New Roman" panose="02020603050405020304"/>
              </a:rPr>
              <a:t>is</a:t>
            </a:r>
            <a:r>
              <a:rPr sz="1800" spc="360" dirty="0">
                <a:latin typeface="Times New Roman" panose="02020603050405020304"/>
                <a:cs typeface="Times New Roman" panose="02020603050405020304"/>
              </a:rPr>
              <a:t> </a:t>
            </a:r>
            <a:r>
              <a:rPr sz="1800" dirty="0">
                <a:latin typeface="Times New Roman" panose="02020603050405020304"/>
                <a:cs typeface="Times New Roman" panose="02020603050405020304"/>
              </a:rPr>
              <a:t>capable</a:t>
            </a:r>
            <a:r>
              <a:rPr sz="1800" spc="365" dirty="0">
                <a:latin typeface="Times New Roman" panose="02020603050405020304"/>
                <a:cs typeface="Times New Roman" panose="02020603050405020304"/>
              </a:rPr>
              <a:t> </a:t>
            </a:r>
            <a:r>
              <a:rPr sz="1800" dirty="0">
                <a:latin typeface="Times New Roman" panose="02020603050405020304"/>
                <a:cs typeface="Times New Roman" panose="02020603050405020304"/>
              </a:rPr>
              <a:t>of</a:t>
            </a:r>
            <a:r>
              <a:rPr sz="1800" spc="37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doing </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various</a:t>
            </a:r>
            <a:r>
              <a:rPr sz="1800" spc="75" dirty="0">
                <a:latin typeface="Times New Roman" panose="02020603050405020304"/>
                <a:cs typeface="Times New Roman" panose="02020603050405020304"/>
              </a:rPr>
              <a:t> </a:t>
            </a:r>
            <a:r>
              <a:rPr sz="1800" dirty="0">
                <a:latin typeface="Times New Roman" panose="02020603050405020304"/>
                <a:cs typeface="Times New Roman" panose="02020603050405020304"/>
              </a:rPr>
              <a:t>travel</a:t>
            </a:r>
            <a:r>
              <a:rPr sz="1800" spc="80" dirty="0">
                <a:latin typeface="Times New Roman" panose="02020603050405020304"/>
                <a:cs typeface="Times New Roman" panose="02020603050405020304"/>
              </a:rPr>
              <a:t> </a:t>
            </a:r>
            <a:r>
              <a:rPr sz="1800" dirty="0">
                <a:latin typeface="Times New Roman" panose="02020603050405020304"/>
                <a:cs typeface="Times New Roman" panose="02020603050405020304"/>
              </a:rPr>
              <a:t>related</a:t>
            </a:r>
            <a:r>
              <a:rPr sz="1800" spc="80" dirty="0">
                <a:latin typeface="Times New Roman" panose="02020603050405020304"/>
                <a:cs typeface="Times New Roman" panose="02020603050405020304"/>
              </a:rPr>
              <a:t> </a:t>
            </a:r>
            <a:r>
              <a:rPr sz="1800" dirty="0">
                <a:latin typeface="Times New Roman" panose="02020603050405020304"/>
                <a:cs typeface="Times New Roman" panose="02020603050405020304"/>
              </a:rPr>
              <a:t>works</a:t>
            </a:r>
            <a:r>
              <a:rPr sz="1800" spc="70" dirty="0">
                <a:latin typeface="Times New Roman" panose="02020603050405020304"/>
                <a:cs typeface="Times New Roman" panose="02020603050405020304"/>
              </a:rPr>
              <a:t> </a:t>
            </a:r>
            <a:r>
              <a:rPr sz="1800" dirty="0">
                <a:latin typeface="Times New Roman" panose="02020603050405020304"/>
                <a:cs typeface="Times New Roman" panose="02020603050405020304"/>
              </a:rPr>
              <a:t>such</a:t>
            </a:r>
            <a:r>
              <a:rPr sz="1800" spc="75" dirty="0">
                <a:latin typeface="Times New Roman" panose="02020603050405020304"/>
                <a:cs typeface="Times New Roman" panose="02020603050405020304"/>
              </a:rPr>
              <a:t> </a:t>
            </a:r>
            <a:r>
              <a:rPr sz="1800" dirty="0">
                <a:latin typeface="Times New Roman" panose="02020603050405020304"/>
                <a:cs typeface="Times New Roman" panose="02020603050405020304"/>
              </a:rPr>
              <a:t>as</a:t>
            </a:r>
            <a:r>
              <a:rPr sz="1800" spc="75" dirty="0">
                <a:latin typeface="Times New Roman" panose="02020603050405020304"/>
                <a:cs typeface="Times New Roman" panose="02020603050405020304"/>
              </a:rPr>
              <a:t> </a:t>
            </a:r>
            <a:r>
              <a:rPr sz="1800" dirty="0">
                <a:latin typeface="Times New Roman" panose="02020603050405020304"/>
                <a:cs typeface="Times New Roman" panose="02020603050405020304"/>
              </a:rPr>
              <a:t>from</a:t>
            </a:r>
            <a:r>
              <a:rPr sz="1800" spc="75" dirty="0">
                <a:latin typeface="Times New Roman" panose="02020603050405020304"/>
                <a:cs typeface="Times New Roman" panose="02020603050405020304"/>
              </a:rPr>
              <a:t> </a:t>
            </a:r>
            <a:r>
              <a:rPr sz="1800" dirty="0">
                <a:latin typeface="Times New Roman" panose="02020603050405020304"/>
                <a:cs typeface="Times New Roman" panose="02020603050405020304"/>
              </a:rPr>
              <a:t>making</a:t>
            </a:r>
            <a:r>
              <a:rPr sz="1800" spc="75" dirty="0">
                <a:latin typeface="Times New Roman" panose="02020603050405020304"/>
                <a:cs typeface="Times New Roman" panose="02020603050405020304"/>
              </a:rPr>
              <a:t> </a:t>
            </a:r>
            <a:r>
              <a:rPr sz="1800" dirty="0">
                <a:latin typeface="Times New Roman" panose="02020603050405020304"/>
                <a:cs typeface="Times New Roman" panose="02020603050405020304"/>
              </a:rPr>
              <a:t>travel</a:t>
            </a:r>
            <a:r>
              <a:rPr sz="1800" spc="75" dirty="0">
                <a:latin typeface="Times New Roman" panose="02020603050405020304"/>
                <a:cs typeface="Times New Roman" panose="02020603050405020304"/>
              </a:rPr>
              <a:t> </a:t>
            </a:r>
            <a:r>
              <a:rPr sz="1800" dirty="0">
                <a:latin typeface="Times New Roman" panose="02020603050405020304"/>
                <a:cs typeface="Times New Roman" panose="02020603050405020304"/>
              </a:rPr>
              <a:t>arrangement</a:t>
            </a:r>
            <a:r>
              <a:rPr sz="1800" spc="90" dirty="0">
                <a:latin typeface="Times New Roman" panose="02020603050405020304"/>
                <a:cs typeface="Times New Roman" panose="02020603050405020304"/>
              </a:rPr>
              <a:t> </a:t>
            </a:r>
            <a:r>
              <a:rPr sz="1800" dirty="0">
                <a:latin typeface="Times New Roman" panose="02020603050405020304"/>
                <a:cs typeface="Times New Roman" panose="02020603050405020304"/>
              </a:rPr>
              <a:t>to</a:t>
            </a:r>
            <a:r>
              <a:rPr sz="1800" spc="7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suggesting </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hotels,</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flights,</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best</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routes</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to</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2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customers.</a:t>
            </a:r>
            <a:endParaRPr sz="1800">
              <a:latin typeface="Times New Roman" panose="02020603050405020304"/>
              <a:cs typeface="Times New Roman" panose="02020603050405020304"/>
            </a:endParaRPr>
          </a:p>
          <a:p>
            <a:pPr marL="641985" marR="5715" lvl="1" indent="-343535" algn="just">
              <a:lnSpc>
                <a:spcPct val="100000"/>
              </a:lnSpc>
              <a:spcBef>
                <a:spcPts val="300"/>
              </a:spcBef>
              <a:buFont typeface="Microsoft Sans Serif" panose="020B0604020202020204"/>
              <a:buChar char="•"/>
              <a:tabLst>
                <a:tab pos="641985" algn="l"/>
                <a:tab pos="692785" algn="l"/>
              </a:tabLst>
            </a:pPr>
            <a:r>
              <a:rPr sz="1800" dirty="0">
                <a:latin typeface="Times New Roman" panose="02020603050405020304"/>
                <a:cs typeface="Times New Roman" panose="02020603050405020304"/>
              </a:rPr>
              <a:t>	Travel</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industries</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are</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using</a:t>
            </a:r>
            <a:r>
              <a:rPr sz="1800" spc="25" dirty="0">
                <a:latin typeface="Times New Roman" panose="02020603050405020304"/>
                <a:cs typeface="Times New Roman" panose="02020603050405020304"/>
              </a:rPr>
              <a:t>  </a:t>
            </a:r>
            <a:r>
              <a:rPr sz="1800" spc="-15" dirty="0">
                <a:latin typeface="Times New Roman" panose="02020603050405020304"/>
                <a:cs typeface="Times New Roman" panose="02020603050405020304"/>
              </a:rPr>
              <a:t>AI-</a:t>
            </a:r>
            <a:r>
              <a:rPr sz="1800" dirty="0">
                <a:latin typeface="Times New Roman" panose="02020603050405020304"/>
                <a:cs typeface="Times New Roman" panose="02020603050405020304"/>
              </a:rPr>
              <a:t>powered</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chatbots</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which</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can</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make</a:t>
            </a:r>
            <a:r>
              <a:rPr sz="1800" spc="3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human-</a:t>
            </a:r>
            <a:r>
              <a:rPr sz="1800" spc="-20" dirty="0">
                <a:latin typeface="Times New Roman" panose="02020603050405020304"/>
                <a:cs typeface="Times New Roman" panose="02020603050405020304"/>
              </a:rPr>
              <a:t>like </a:t>
            </a:r>
            <a:r>
              <a:rPr sz="1800" dirty="0">
                <a:latin typeface="Times New Roman" panose="02020603050405020304"/>
                <a:cs typeface="Times New Roman" panose="02020603050405020304"/>
              </a:rPr>
              <a:t>interaction</a:t>
            </a:r>
            <a:r>
              <a:rPr sz="1800" spc="-60" dirty="0">
                <a:latin typeface="Times New Roman" panose="02020603050405020304"/>
                <a:cs typeface="Times New Roman" panose="02020603050405020304"/>
              </a:rPr>
              <a:t> </a:t>
            </a:r>
            <a:r>
              <a:rPr sz="1800" dirty="0">
                <a:latin typeface="Times New Roman" panose="02020603050405020304"/>
                <a:cs typeface="Times New Roman" panose="02020603050405020304"/>
              </a:rPr>
              <a:t>with</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customers</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for</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better</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fast</a:t>
            </a:r>
            <a:r>
              <a:rPr sz="1800" spc="-4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response.</a:t>
            </a:r>
            <a:endParaRPr sz="1800">
              <a:latin typeface="Times New Roman" panose="02020603050405020304"/>
              <a:cs typeface="Times New Roman" panose="02020603050405020304"/>
            </a:endParaRPr>
          </a:p>
          <a:p>
            <a:pPr marL="228600" indent="-215900" algn="just">
              <a:lnSpc>
                <a:spcPct val="100000"/>
              </a:lnSpc>
              <a:spcBef>
                <a:spcPts val="300"/>
              </a:spcBef>
              <a:buAutoNum type="arabicPeriod" startAt="7"/>
              <a:tabLst>
                <a:tab pos="228600" algn="l"/>
              </a:tabLst>
            </a:pPr>
            <a:r>
              <a:rPr sz="1800" b="1" dirty="0">
                <a:latin typeface="Times New Roman" panose="02020603050405020304"/>
                <a:cs typeface="Times New Roman" panose="02020603050405020304"/>
              </a:rPr>
              <a:t>AI</a:t>
            </a:r>
            <a:r>
              <a:rPr sz="1800" b="1" spc="-60" dirty="0">
                <a:latin typeface="Times New Roman" panose="02020603050405020304"/>
                <a:cs typeface="Times New Roman" panose="02020603050405020304"/>
              </a:rPr>
              <a:t> </a:t>
            </a:r>
            <a:r>
              <a:rPr sz="1800" b="1" dirty="0">
                <a:latin typeface="Times New Roman" panose="02020603050405020304"/>
                <a:cs typeface="Times New Roman" panose="02020603050405020304"/>
              </a:rPr>
              <a:t>in</a:t>
            </a:r>
            <a:r>
              <a:rPr sz="1800" b="1" spc="-110" dirty="0">
                <a:latin typeface="Times New Roman" panose="02020603050405020304"/>
                <a:cs typeface="Times New Roman" panose="02020603050405020304"/>
              </a:rPr>
              <a:t> </a:t>
            </a:r>
            <a:r>
              <a:rPr sz="1800" b="1" dirty="0">
                <a:latin typeface="Times New Roman" panose="02020603050405020304"/>
                <a:cs typeface="Times New Roman" panose="02020603050405020304"/>
              </a:rPr>
              <a:t>Automotive</a:t>
            </a:r>
            <a:r>
              <a:rPr sz="1800" b="1" spc="-30" dirty="0">
                <a:latin typeface="Times New Roman" panose="02020603050405020304"/>
                <a:cs typeface="Times New Roman" panose="02020603050405020304"/>
              </a:rPr>
              <a:t> </a:t>
            </a:r>
            <a:r>
              <a:rPr sz="1800" b="1" spc="-10" dirty="0">
                <a:latin typeface="Times New Roman" panose="02020603050405020304"/>
                <a:cs typeface="Times New Roman" panose="02020603050405020304"/>
              </a:rPr>
              <a:t>Industry</a:t>
            </a:r>
            <a:endParaRPr sz="1800">
              <a:latin typeface="Times New Roman" panose="02020603050405020304"/>
              <a:cs typeface="Times New Roman" panose="02020603050405020304"/>
            </a:endParaRPr>
          </a:p>
          <a:p>
            <a:pPr marL="639445" marR="5080" lvl="1" indent="-340995" algn="just">
              <a:lnSpc>
                <a:spcPct val="100000"/>
              </a:lnSpc>
              <a:spcBef>
                <a:spcPts val="300"/>
              </a:spcBef>
              <a:buFont typeface="Microsoft Sans Serif" panose="020B0604020202020204"/>
              <a:buChar char="•"/>
              <a:tabLst>
                <a:tab pos="641985" algn="l"/>
              </a:tabLst>
            </a:pPr>
            <a:r>
              <a:rPr sz="1800" dirty="0">
                <a:latin typeface="Times New Roman" panose="02020603050405020304"/>
                <a:cs typeface="Times New Roman" panose="02020603050405020304"/>
              </a:rPr>
              <a:t>Some</a:t>
            </a:r>
            <a:r>
              <a:rPr sz="1800" spc="165" dirty="0">
                <a:latin typeface="Times New Roman" panose="02020603050405020304"/>
                <a:cs typeface="Times New Roman" panose="02020603050405020304"/>
              </a:rPr>
              <a:t> </a:t>
            </a:r>
            <a:r>
              <a:rPr sz="1800" dirty="0">
                <a:latin typeface="Times New Roman" panose="02020603050405020304"/>
                <a:cs typeface="Times New Roman" panose="02020603050405020304"/>
              </a:rPr>
              <a:t>Automotive</a:t>
            </a:r>
            <a:r>
              <a:rPr sz="1800" spc="190" dirty="0">
                <a:latin typeface="Times New Roman" panose="02020603050405020304"/>
                <a:cs typeface="Times New Roman" panose="02020603050405020304"/>
              </a:rPr>
              <a:t> </a:t>
            </a:r>
            <a:r>
              <a:rPr sz="1800" dirty="0">
                <a:latin typeface="Times New Roman" panose="02020603050405020304"/>
                <a:cs typeface="Times New Roman" panose="02020603050405020304"/>
              </a:rPr>
              <a:t>industries</a:t>
            </a:r>
            <a:r>
              <a:rPr sz="1800" spc="165" dirty="0">
                <a:latin typeface="Times New Roman" panose="02020603050405020304"/>
                <a:cs typeface="Times New Roman" panose="02020603050405020304"/>
              </a:rPr>
              <a:t> </a:t>
            </a:r>
            <a:r>
              <a:rPr sz="1800" dirty="0">
                <a:latin typeface="Times New Roman" panose="02020603050405020304"/>
                <a:cs typeface="Times New Roman" panose="02020603050405020304"/>
              </a:rPr>
              <a:t>are</a:t>
            </a:r>
            <a:r>
              <a:rPr sz="1800" spc="170" dirty="0">
                <a:latin typeface="Times New Roman" panose="02020603050405020304"/>
                <a:cs typeface="Times New Roman" panose="02020603050405020304"/>
              </a:rPr>
              <a:t> </a:t>
            </a:r>
            <a:r>
              <a:rPr sz="1800" dirty="0">
                <a:latin typeface="Times New Roman" panose="02020603050405020304"/>
                <a:cs typeface="Times New Roman" panose="02020603050405020304"/>
              </a:rPr>
              <a:t>using</a:t>
            </a:r>
            <a:r>
              <a:rPr sz="1800" spc="185" dirty="0">
                <a:latin typeface="Times New Roman" panose="02020603050405020304"/>
                <a:cs typeface="Times New Roman" panose="02020603050405020304"/>
              </a:rPr>
              <a:t> </a:t>
            </a:r>
            <a:r>
              <a:rPr sz="1800" dirty="0">
                <a:latin typeface="Times New Roman" panose="02020603050405020304"/>
                <a:cs typeface="Times New Roman" panose="02020603050405020304"/>
              </a:rPr>
              <a:t>AI</a:t>
            </a:r>
            <a:r>
              <a:rPr sz="1800" spc="170" dirty="0">
                <a:latin typeface="Times New Roman" panose="02020603050405020304"/>
                <a:cs typeface="Times New Roman" panose="02020603050405020304"/>
              </a:rPr>
              <a:t> </a:t>
            </a:r>
            <a:r>
              <a:rPr sz="1800" dirty="0">
                <a:latin typeface="Times New Roman" panose="02020603050405020304"/>
                <a:cs typeface="Times New Roman" panose="02020603050405020304"/>
              </a:rPr>
              <a:t>to</a:t>
            </a:r>
            <a:r>
              <a:rPr sz="1800" spc="180" dirty="0">
                <a:latin typeface="Times New Roman" panose="02020603050405020304"/>
                <a:cs typeface="Times New Roman" panose="02020603050405020304"/>
              </a:rPr>
              <a:t> </a:t>
            </a:r>
            <a:r>
              <a:rPr sz="1800" dirty="0">
                <a:latin typeface="Times New Roman" panose="02020603050405020304"/>
                <a:cs typeface="Times New Roman" panose="02020603050405020304"/>
              </a:rPr>
              <a:t>provide</a:t>
            </a:r>
            <a:r>
              <a:rPr sz="1800" spc="185" dirty="0">
                <a:latin typeface="Times New Roman" panose="02020603050405020304"/>
                <a:cs typeface="Times New Roman" panose="02020603050405020304"/>
              </a:rPr>
              <a:t> </a:t>
            </a:r>
            <a:r>
              <a:rPr sz="1800" dirty="0">
                <a:latin typeface="Times New Roman" panose="02020603050405020304"/>
                <a:cs typeface="Times New Roman" panose="02020603050405020304"/>
              </a:rPr>
              <a:t>virtual</a:t>
            </a:r>
            <a:r>
              <a:rPr sz="1800" spc="185" dirty="0">
                <a:latin typeface="Times New Roman" panose="02020603050405020304"/>
                <a:cs typeface="Times New Roman" panose="02020603050405020304"/>
              </a:rPr>
              <a:t> </a:t>
            </a:r>
            <a:r>
              <a:rPr sz="1800" dirty="0">
                <a:latin typeface="Times New Roman" panose="02020603050405020304"/>
                <a:cs typeface="Times New Roman" panose="02020603050405020304"/>
              </a:rPr>
              <a:t>assistant</a:t>
            </a:r>
            <a:r>
              <a:rPr sz="1800" spc="175" dirty="0">
                <a:latin typeface="Times New Roman" panose="02020603050405020304"/>
                <a:cs typeface="Times New Roman" panose="02020603050405020304"/>
              </a:rPr>
              <a:t> </a:t>
            </a:r>
            <a:r>
              <a:rPr sz="1800" dirty="0">
                <a:latin typeface="Times New Roman" panose="02020603050405020304"/>
                <a:cs typeface="Times New Roman" panose="02020603050405020304"/>
              </a:rPr>
              <a:t>to</a:t>
            </a:r>
            <a:r>
              <a:rPr sz="1800" spc="180"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their</a:t>
            </a:r>
            <a:r>
              <a:rPr sz="1800" spc="175"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user </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for better</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performance.</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Such as</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Tesla</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has</a:t>
            </a:r>
            <a:r>
              <a:rPr sz="1800" spc="5" dirty="0">
                <a:latin typeface="Times New Roman" panose="02020603050405020304"/>
                <a:cs typeface="Times New Roman" panose="02020603050405020304"/>
              </a:rPr>
              <a:t> </a:t>
            </a:r>
            <a:r>
              <a:rPr sz="1800" dirty="0">
                <a:latin typeface="Times New Roman" panose="02020603050405020304"/>
                <a:cs typeface="Times New Roman" panose="02020603050405020304"/>
              </a:rPr>
              <a:t>introduced</a:t>
            </a:r>
            <a:r>
              <a:rPr sz="1800" spc="-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TeslaBot,</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intelligent</a:t>
            </a:r>
            <a:r>
              <a:rPr sz="1800" spc="1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virtual 	assistant.</a:t>
            </a:r>
            <a:endParaRPr sz="1800">
              <a:latin typeface="Times New Roman" panose="02020603050405020304"/>
              <a:cs typeface="Times New Roman" panose="02020603050405020304"/>
            </a:endParaRPr>
          </a:p>
          <a:p>
            <a:pPr marL="639445" marR="5715" lvl="1" indent="-340995" algn="just">
              <a:lnSpc>
                <a:spcPct val="100000"/>
              </a:lnSpc>
              <a:spcBef>
                <a:spcPts val="305"/>
              </a:spcBef>
              <a:buFont typeface="Microsoft Sans Serif" panose="020B0604020202020204"/>
              <a:buChar char="•"/>
              <a:tabLst>
                <a:tab pos="641985" algn="l"/>
              </a:tabLst>
            </a:pPr>
            <a:r>
              <a:rPr sz="1800" dirty="0">
                <a:latin typeface="Times New Roman" panose="02020603050405020304"/>
                <a:cs typeface="Times New Roman" panose="02020603050405020304"/>
              </a:rPr>
              <a:t>Various</a:t>
            </a:r>
            <a:r>
              <a:rPr sz="1800" spc="75" dirty="0">
                <a:latin typeface="Times New Roman" panose="02020603050405020304"/>
                <a:cs typeface="Times New Roman" panose="02020603050405020304"/>
              </a:rPr>
              <a:t> </a:t>
            </a:r>
            <a:r>
              <a:rPr sz="1800" dirty="0">
                <a:latin typeface="Times New Roman" panose="02020603050405020304"/>
                <a:cs typeface="Times New Roman" panose="02020603050405020304"/>
              </a:rPr>
              <a:t>Industries</a:t>
            </a:r>
            <a:r>
              <a:rPr sz="1800" spc="80" dirty="0">
                <a:latin typeface="Times New Roman" panose="02020603050405020304"/>
                <a:cs typeface="Times New Roman" panose="02020603050405020304"/>
              </a:rPr>
              <a:t> </a:t>
            </a:r>
            <a:r>
              <a:rPr sz="1800" dirty="0">
                <a:latin typeface="Times New Roman" panose="02020603050405020304"/>
                <a:cs typeface="Times New Roman" panose="02020603050405020304"/>
              </a:rPr>
              <a:t>are</a:t>
            </a:r>
            <a:r>
              <a:rPr sz="1800" spc="75" dirty="0">
                <a:latin typeface="Times New Roman" panose="02020603050405020304"/>
                <a:cs typeface="Times New Roman" panose="02020603050405020304"/>
              </a:rPr>
              <a:t> </a:t>
            </a:r>
            <a:r>
              <a:rPr sz="1800" dirty="0">
                <a:latin typeface="Times New Roman" panose="02020603050405020304"/>
                <a:cs typeface="Times New Roman" panose="02020603050405020304"/>
              </a:rPr>
              <a:t>currently</a:t>
            </a:r>
            <a:r>
              <a:rPr sz="1800" spc="70" dirty="0">
                <a:latin typeface="Times New Roman" panose="02020603050405020304"/>
                <a:cs typeface="Times New Roman" panose="02020603050405020304"/>
              </a:rPr>
              <a:t> </a:t>
            </a:r>
            <a:r>
              <a:rPr sz="1800" dirty="0">
                <a:latin typeface="Times New Roman" panose="02020603050405020304"/>
                <a:cs typeface="Times New Roman" panose="02020603050405020304"/>
              </a:rPr>
              <a:t>working</a:t>
            </a:r>
            <a:r>
              <a:rPr sz="1800" spc="80" dirty="0">
                <a:latin typeface="Times New Roman" panose="02020603050405020304"/>
                <a:cs typeface="Times New Roman" panose="02020603050405020304"/>
              </a:rPr>
              <a:t> </a:t>
            </a:r>
            <a:r>
              <a:rPr sz="1800" dirty="0">
                <a:latin typeface="Times New Roman" panose="02020603050405020304"/>
                <a:cs typeface="Times New Roman" panose="02020603050405020304"/>
              </a:rPr>
              <a:t>for</a:t>
            </a:r>
            <a:r>
              <a:rPr sz="1800" spc="80" dirty="0">
                <a:latin typeface="Times New Roman" panose="02020603050405020304"/>
                <a:cs typeface="Times New Roman" panose="02020603050405020304"/>
              </a:rPr>
              <a:t> </a:t>
            </a:r>
            <a:r>
              <a:rPr sz="1800" dirty="0">
                <a:latin typeface="Times New Roman" panose="02020603050405020304"/>
                <a:cs typeface="Times New Roman" panose="02020603050405020304"/>
              </a:rPr>
              <a:t>developing</a:t>
            </a:r>
            <a:r>
              <a:rPr sz="1800" spc="7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self-</a:t>
            </a:r>
            <a:r>
              <a:rPr sz="1800" dirty="0">
                <a:latin typeface="Times New Roman" panose="02020603050405020304"/>
                <a:cs typeface="Times New Roman" panose="02020603050405020304"/>
              </a:rPr>
              <a:t>driven</a:t>
            </a:r>
            <a:r>
              <a:rPr sz="1800" spc="90" dirty="0">
                <a:latin typeface="Times New Roman" panose="02020603050405020304"/>
                <a:cs typeface="Times New Roman" panose="02020603050405020304"/>
              </a:rPr>
              <a:t> </a:t>
            </a:r>
            <a:r>
              <a:rPr sz="1800" dirty="0">
                <a:latin typeface="Times New Roman" panose="02020603050405020304"/>
                <a:cs typeface="Times New Roman" panose="02020603050405020304"/>
              </a:rPr>
              <a:t>cars</a:t>
            </a:r>
            <a:r>
              <a:rPr sz="1800" spc="80" dirty="0">
                <a:latin typeface="Times New Roman" panose="02020603050405020304"/>
                <a:cs typeface="Times New Roman" panose="02020603050405020304"/>
              </a:rPr>
              <a:t> </a:t>
            </a:r>
            <a:r>
              <a:rPr sz="1800" dirty="0">
                <a:latin typeface="Times New Roman" panose="02020603050405020304"/>
                <a:cs typeface="Times New Roman" panose="02020603050405020304"/>
              </a:rPr>
              <a:t>which</a:t>
            </a:r>
            <a:r>
              <a:rPr sz="1800" spc="75" dirty="0">
                <a:latin typeface="Times New Roman" panose="02020603050405020304"/>
                <a:cs typeface="Times New Roman" panose="02020603050405020304"/>
              </a:rPr>
              <a:t> </a:t>
            </a:r>
            <a:r>
              <a:rPr sz="1800" spc="-25" dirty="0">
                <a:latin typeface="Times New Roman" panose="02020603050405020304"/>
                <a:cs typeface="Times New Roman" panose="02020603050405020304"/>
              </a:rPr>
              <a:t>can </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make</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your</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journey</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more</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safe</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3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secure.</a:t>
            </a:r>
            <a:endParaRPr sz="1800">
              <a:latin typeface="Times New Roman" panose="02020603050405020304"/>
              <a:cs typeface="Times New Roman" panose="02020603050405020304"/>
            </a:endParaRPr>
          </a:p>
          <a:p>
            <a:pPr marL="228600" indent="-215900">
              <a:lnSpc>
                <a:spcPct val="100000"/>
              </a:lnSpc>
              <a:spcBef>
                <a:spcPts val="300"/>
              </a:spcBef>
              <a:buAutoNum type="arabicPeriod" startAt="7"/>
              <a:tabLst>
                <a:tab pos="228600" algn="l"/>
              </a:tabLst>
            </a:pPr>
            <a:r>
              <a:rPr sz="1800" b="1" dirty="0">
                <a:latin typeface="Times New Roman" panose="02020603050405020304"/>
                <a:cs typeface="Times New Roman" panose="02020603050405020304"/>
              </a:rPr>
              <a:t>AI</a:t>
            </a:r>
            <a:r>
              <a:rPr sz="1800" b="1" spc="-15" dirty="0">
                <a:latin typeface="Times New Roman" panose="02020603050405020304"/>
                <a:cs typeface="Times New Roman" panose="02020603050405020304"/>
              </a:rPr>
              <a:t> </a:t>
            </a:r>
            <a:r>
              <a:rPr sz="1800" b="1" dirty="0">
                <a:latin typeface="Times New Roman" panose="02020603050405020304"/>
                <a:cs typeface="Times New Roman" panose="02020603050405020304"/>
              </a:rPr>
              <a:t>in</a:t>
            </a:r>
            <a:r>
              <a:rPr sz="1800" b="1" spc="-15" dirty="0">
                <a:latin typeface="Times New Roman" panose="02020603050405020304"/>
                <a:cs typeface="Times New Roman" panose="02020603050405020304"/>
              </a:rPr>
              <a:t> </a:t>
            </a:r>
            <a:r>
              <a:rPr sz="1800" b="1" spc="-10" dirty="0">
                <a:latin typeface="Times New Roman" panose="02020603050405020304"/>
                <a:cs typeface="Times New Roman" panose="02020603050405020304"/>
              </a:rPr>
              <a:t>Robotics:</a:t>
            </a:r>
            <a:endParaRPr sz="1800">
              <a:latin typeface="Times New Roman" panose="02020603050405020304"/>
              <a:cs typeface="Times New Roman" panose="02020603050405020304"/>
            </a:endParaRPr>
          </a:p>
          <a:p>
            <a:pPr marL="355600" marR="208280" lvl="1" indent="-342900">
              <a:lnSpc>
                <a:spcPct val="100000"/>
              </a:lnSpc>
              <a:spcBef>
                <a:spcPts val="300"/>
              </a:spcBef>
              <a:buFont typeface="Microsoft Sans Serif" panose="020B0604020202020204"/>
              <a:buChar char="•"/>
              <a:tabLst>
                <a:tab pos="355600" algn="l"/>
              </a:tabLst>
            </a:pPr>
            <a:r>
              <a:rPr sz="1800" dirty="0">
                <a:latin typeface="Times New Roman" panose="02020603050405020304"/>
                <a:cs typeface="Times New Roman" panose="02020603050405020304"/>
              </a:rPr>
              <a:t>Artificial</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Intelligence</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has</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a</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remarkable</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role</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in</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Robotics.</a:t>
            </a:r>
            <a:r>
              <a:rPr sz="1800" spc="-3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Usually,</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general</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robots</a:t>
            </a:r>
            <a:r>
              <a:rPr sz="1800" spc="-35" dirty="0">
                <a:latin typeface="Times New Roman" panose="02020603050405020304"/>
                <a:cs typeface="Times New Roman" panose="02020603050405020304"/>
              </a:rPr>
              <a:t> </a:t>
            </a:r>
            <a:r>
              <a:rPr sz="1800" spc="-25" dirty="0">
                <a:latin typeface="Times New Roman" panose="02020603050405020304"/>
                <a:cs typeface="Times New Roman" panose="02020603050405020304"/>
              </a:rPr>
              <a:t>are </a:t>
            </a:r>
            <a:r>
              <a:rPr sz="1800" dirty="0">
                <a:latin typeface="Times New Roman" panose="02020603050405020304"/>
                <a:cs typeface="Times New Roman" panose="02020603050405020304"/>
              </a:rPr>
              <a:t>programmed</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such</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that</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they</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can</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perform</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some</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repetitive</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task,</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but</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with</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help</a:t>
            </a:r>
            <a:r>
              <a:rPr sz="1800" spc="-2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of</a:t>
            </a:r>
            <a:r>
              <a:rPr sz="1800" spc="-100" dirty="0">
                <a:latin typeface="Times New Roman" panose="02020603050405020304"/>
                <a:cs typeface="Times New Roman" panose="02020603050405020304"/>
              </a:rPr>
              <a:t> </a:t>
            </a:r>
            <a:r>
              <a:rPr sz="1800" spc="-25" dirty="0">
                <a:latin typeface="Times New Roman" panose="02020603050405020304"/>
                <a:cs typeface="Times New Roman" panose="02020603050405020304"/>
              </a:rPr>
              <a:t>AI, </a:t>
            </a:r>
            <a:r>
              <a:rPr sz="1800" dirty="0">
                <a:latin typeface="Times New Roman" panose="02020603050405020304"/>
                <a:cs typeface="Times New Roman" panose="02020603050405020304"/>
              </a:rPr>
              <a:t>we</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can</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create</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intelligent</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robots</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which</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can</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perform</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tasks</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with</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their</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own</a:t>
            </a:r>
            <a:r>
              <a:rPr sz="1800" spc="-1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experiences </a:t>
            </a:r>
            <a:r>
              <a:rPr sz="1800" dirty="0">
                <a:latin typeface="Times New Roman" panose="02020603050405020304"/>
                <a:cs typeface="Times New Roman" panose="02020603050405020304"/>
              </a:rPr>
              <a:t>without</a:t>
            </a:r>
            <a:r>
              <a:rPr sz="1800" spc="1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pre-programmed.</a:t>
            </a:r>
            <a:endParaRPr sz="1800">
              <a:latin typeface="Times New Roman" panose="02020603050405020304"/>
              <a:cs typeface="Times New Roman" panose="02020603050405020304"/>
            </a:endParaRPr>
          </a:p>
          <a:p>
            <a:pPr marL="355600" marR="338455" lvl="1" indent="-342900">
              <a:lnSpc>
                <a:spcPct val="100000"/>
              </a:lnSpc>
              <a:spcBef>
                <a:spcPts val="300"/>
              </a:spcBef>
              <a:buFont typeface="Microsoft Sans Serif" panose="020B0604020202020204"/>
              <a:buChar char="•"/>
              <a:tabLst>
                <a:tab pos="355600" algn="l"/>
              </a:tabLst>
            </a:pPr>
            <a:r>
              <a:rPr sz="1800" dirty="0">
                <a:latin typeface="Times New Roman" panose="02020603050405020304"/>
                <a:cs typeface="Times New Roman" panose="02020603050405020304"/>
              </a:rPr>
              <a:t>Humanoid</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Robots</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are</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best</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examples</a:t>
            </a:r>
            <a:r>
              <a:rPr sz="1800" spc="-2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for</a:t>
            </a:r>
            <a:r>
              <a:rPr sz="1800" spc="-100" dirty="0">
                <a:latin typeface="Times New Roman" panose="02020603050405020304"/>
                <a:cs typeface="Times New Roman" panose="02020603050405020304"/>
              </a:rPr>
              <a:t> </a:t>
            </a:r>
            <a:r>
              <a:rPr sz="1800" dirty="0">
                <a:latin typeface="Times New Roman" panose="02020603050405020304"/>
                <a:cs typeface="Times New Roman" panose="02020603050405020304"/>
              </a:rPr>
              <a:t>AI</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in</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robotics,</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recently</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10" dirty="0">
                <a:latin typeface="Times New Roman" panose="02020603050405020304"/>
                <a:cs typeface="Times New Roman" panose="02020603050405020304"/>
              </a:rPr>
              <a:t> intelligent </a:t>
            </a:r>
            <a:r>
              <a:rPr sz="1800" dirty="0">
                <a:latin typeface="Times New Roman" panose="02020603050405020304"/>
                <a:cs typeface="Times New Roman" panose="02020603050405020304"/>
              </a:rPr>
              <a:t>Humanoid</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robot</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named</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as</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Erica</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Sophia</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has</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been</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developed</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which</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can</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talk</a:t>
            </a:r>
            <a:r>
              <a:rPr sz="1800" spc="-25" dirty="0">
                <a:latin typeface="Times New Roman" panose="02020603050405020304"/>
                <a:cs typeface="Times New Roman" panose="02020603050405020304"/>
              </a:rPr>
              <a:t> and </a:t>
            </a:r>
            <a:r>
              <a:rPr sz="1800" dirty="0">
                <a:latin typeface="Times New Roman" panose="02020603050405020304"/>
                <a:cs typeface="Times New Roman" panose="02020603050405020304"/>
              </a:rPr>
              <a:t>behave</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like</a:t>
            </a:r>
            <a:r>
              <a:rPr sz="1800" spc="-2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humans.</a:t>
            </a:r>
            <a:endParaRPr sz="1800">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5465" y="244158"/>
            <a:ext cx="8455660" cy="627380"/>
          </a:xfrm>
          <a:prstGeom prst="rect">
            <a:avLst/>
          </a:prstGeom>
        </p:spPr>
        <p:txBody>
          <a:bodyPr vert="horz" wrap="square" lIns="0" tIns="12065" rIns="0" bIns="0" rtlCol="0">
            <a:spAutoFit/>
          </a:bodyPr>
          <a:lstStyle/>
          <a:p>
            <a:pPr marL="12700">
              <a:lnSpc>
                <a:spcPct val="100000"/>
              </a:lnSpc>
              <a:spcBef>
                <a:spcPts val="95"/>
              </a:spcBef>
            </a:pPr>
            <a:r>
              <a:rPr dirty="0"/>
              <a:t>Applications</a:t>
            </a:r>
            <a:r>
              <a:rPr spc="-85" dirty="0"/>
              <a:t> </a:t>
            </a:r>
            <a:r>
              <a:rPr dirty="0"/>
              <a:t>of</a:t>
            </a:r>
            <a:r>
              <a:rPr spc="-90" dirty="0"/>
              <a:t> </a:t>
            </a:r>
            <a:r>
              <a:rPr lang="en-US" spc="-90" dirty="0"/>
              <a:t>A</a:t>
            </a:r>
            <a:r>
              <a:rPr dirty="0"/>
              <a:t>rtificial</a:t>
            </a:r>
            <a:r>
              <a:rPr spc="-55" dirty="0"/>
              <a:t> </a:t>
            </a:r>
            <a:r>
              <a:rPr lang="en-US" spc="-55" dirty="0"/>
              <a:t>I</a:t>
            </a:r>
            <a:r>
              <a:rPr spc="-10" dirty="0"/>
              <a:t>ntelligence</a:t>
            </a:r>
            <a:endParaRPr spc="-10" dirty="0"/>
          </a:p>
        </p:txBody>
      </p:sp>
      <p:sp>
        <p:nvSpPr>
          <p:cNvPr id="3" name="object 3"/>
          <p:cNvSpPr txBox="1"/>
          <p:nvPr/>
        </p:nvSpPr>
        <p:spPr>
          <a:xfrm>
            <a:off x="1983740" y="1206753"/>
            <a:ext cx="8376284" cy="2105025"/>
          </a:xfrm>
          <a:prstGeom prst="rect">
            <a:avLst/>
          </a:prstGeom>
        </p:spPr>
        <p:txBody>
          <a:bodyPr vert="horz" wrap="square" lIns="0" tIns="50800" rIns="0" bIns="0" rtlCol="0">
            <a:spAutoFit/>
          </a:bodyPr>
          <a:lstStyle/>
          <a:p>
            <a:pPr marL="342900" indent="-330200">
              <a:lnSpc>
                <a:spcPct val="100000"/>
              </a:lnSpc>
              <a:spcBef>
                <a:spcPts val="400"/>
              </a:spcBef>
              <a:buAutoNum type="arabicPeriod" startAt="10"/>
              <a:tabLst>
                <a:tab pos="342900" algn="l"/>
              </a:tabLst>
            </a:pPr>
            <a:r>
              <a:rPr sz="1800" b="1" dirty="0">
                <a:latin typeface="Times New Roman" panose="02020603050405020304"/>
                <a:cs typeface="Times New Roman" panose="02020603050405020304"/>
              </a:rPr>
              <a:t>AI</a:t>
            </a:r>
            <a:r>
              <a:rPr sz="1800" b="1" spc="-10" dirty="0">
                <a:latin typeface="Times New Roman" panose="02020603050405020304"/>
                <a:cs typeface="Times New Roman" panose="02020603050405020304"/>
              </a:rPr>
              <a:t> </a:t>
            </a:r>
            <a:r>
              <a:rPr sz="1800" b="1" dirty="0">
                <a:latin typeface="Times New Roman" panose="02020603050405020304"/>
                <a:cs typeface="Times New Roman" panose="02020603050405020304"/>
              </a:rPr>
              <a:t>in</a:t>
            </a:r>
            <a:r>
              <a:rPr sz="1800" b="1" spc="-15" dirty="0">
                <a:latin typeface="Times New Roman" panose="02020603050405020304"/>
                <a:cs typeface="Times New Roman" panose="02020603050405020304"/>
              </a:rPr>
              <a:t> </a:t>
            </a:r>
            <a:r>
              <a:rPr sz="1800" b="1" spc="-10" dirty="0">
                <a:latin typeface="Times New Roman" panose="02020603050405020304"/>
                <a:cs typeface="Times New Roman" panose="02020603050405020304"/>
              </a:rPr>
              <a:t>Entertainment</a:t>
            </a:r>
            <a:endParaRPr sz="1800">
              <a:latin typeface="Times New Roman" panose="02020603050405020304"/>
              <a:cs typeface="Times New Roman" panose="02020603050405020304"/>
            </a:endParaRPr>
          </a:p>
          <a:p>
            <a:pPr marL="355600" marR="77470" lvl="1" indent="-342900">
              <a:lnSpc>
                <a:spcPct val="100000"/>
              </a:lnSpc>
              <a:spcBef>
                <a:spcPts val="300"/>
              </a:spcBef>
              <a:buFont typeface="Microsoft Sans Serif" panose="020B0604020202020204"/>
              <a:buChar char="•"/>
              <a:tabLst>
                <a:tab pos="355600" algn="l"/>
              </a:tabLst>
            </a:pPr>
            <a:r>
              <a:rPr sz="1800" spc="-60" dirty="0">
                <a:latin typeface="Times New Roman" panose="02020603050405020304"/>
                <a:cs typeface="Times New Roman" panose="02020603050405020304"/>
              </a:rPr>
              <a:t>We</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are</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currently</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using</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some</a:t>
            </a:r>
            <a:r>
              <a:rPr sz="1800" spc="-105" dirty="0">
                <a:latin typeface="Times New Roman" panose="02020603050405020304"/>
                <a:cs typeface="Times New Roman" panose="02020603050405020304"/>
              </a:rPr>
              <a:t> </a:t>
            </a:r>
            <a:r>
              <a:rPr sz="1800" dirty="0">
                <a:latin typeface="Times New Roman" panose="02020603050405020304"/>
                <a:cs typeface="Times New Roman" panose="02020603050405020304"/>
              </a:rPr>
              <a:t>AI</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based</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applications</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in</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our</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daily</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life</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with</a:t>
            </a:r>
            <a:r>
              <a:rPr sz="1800" spc="-20" dirty="0">
                <a:latin typeface="Times New Roman" panose="02020603050405020304"/>
                <a:cs typeface="Times New Roman" panose="02020603050405020304"/>
              </a:rPr>
              <a:t> some </a:t>
            </a:r>
            <a:r>
              <a:rPr sz="1800" dirty="0">
                <a:latin typeface="Times New Roman" panose="02020603050405020304"/>
                <a:cs typeface="Times New Roman" panose="02020603050405020304"/>
              </a:rPr>
              <a:t>entertainment</a:t>
            </a:r>
            <a:r>
              <a:rPr sz="1800" spc="-90" dirty="0">
                <a:latin typeface="Times New Roman" panose="02020603050405020304"/>
                <a:cs typeface="Times New Roman" panose="02020603050405020304"/>
              </a:rPr>
              <a:t> </a:t>
            </a:r>
            <a:r>
              <a:rPr sz="1800" dirty="0">
                <a:latin typeface="Times New Roman" panose="02020603050405020304"/>
                <a:cs typeface="Times New Roman" panose="02020603050405020304"/>
              </a:rPr>
              <a:t>services</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such</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as</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Netflix</a:t>
            </a:r>
            <a:r>
              <a:rPr sz="1800" spc="-4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or</a:t>
            </a:r>
            <a:r>
              <a:rPr sz="1800" spc="-105" dirty="0">
                <a:latin typeface="Times New Roman" panose="02020603050405020304"/>
                <a:cs typeface="Times New Roman" panose="02020603050405020304"/>
              </a:rPr>
              <a:t> </a:t>
            </a:r>
            <a:r>
              <a:rPr sz="1800" dirty="0">
                <a:latin typeface="Times New Roman" panose="02020603050405020304"/>
                <a:cs typeface="Times New Roman" panose="02020603050405020304"/>
              </a:rPr>
              <a:t>Amazon.</a:t>
            </a:r>
            <a:r>
              <a:rPr sz="1800" spc="-65" dirty="0">
                <a:latin typeface="Times New Roman" panose="02020603050405020304"/>
                <a:cs typeface="Times New Roman" panose="02020603050405020304"/>
              </a:rPr>
              <a:t> </a:t>
            </a:r>
            <a:r>
              <a:rPr sz="1800" dirty="0">
                <a:latin typeface="Times New Roman" panose="02020603050405020304"/>
                <a:cs typeface="Times New Roman" panose="02020603050405020304"/>
              </a:rPr>
              <a:t>With</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help</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of</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ML/AI</a:t>
            </a:r>
            <a:r>
              <a:rPr sz="1800" spc="-4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algorithms, </a:t>
            </a:r>
            <a:r>
              <a:rPr sz="1800" dirty="0">
                <a:latin typeface="Times New Roman" panose="02020603050405020304"/>
                <a:cs typeface="Times New Roman" panose="02020603050405020304"/>
              </a:rPr>
              <a:t>these</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services</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show</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recommendations</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for</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programs</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or</a:t>
            </a:r>
            <a:r>
              <a:rPr sz="1800" spc="-3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shows.</a:t>
            </a:r>
            <a:endParaRPr sz="1800">
              <a:latin typeface="Times New Roman" panose="02020603050405020304"/>
              <a:cs typeface="Times New Roman" panose="02020603050405020304"/>
            </a:endParaRPr>
          </a:p>
          <a:p>
            <a:pPr marL="328930" indent="-316230">
              <a:lnSpc>
                <a:spcPct val="100000"/>
              </a:lnSpc>
              <a:spcBef>
                <a:spcPts val="300"/>
              </a:spcBef>
              <a:buAutoNum type="arabicPeriod" startAt="11"/>
              <a:tabLst>
                <a:tab pos="328930" algn="l"/>
              </a:tabLst>
            </a:pPr>
            <a:r>
              <a:rPr sz="1800" b="1" dirty="0">
                <a:latin typeface="Times New Roman" panose="02020603050405020304"/>
                <a:cs typeface="Times New Roman" panose="02020603050405020304"/>
              </a:rPr>
              <a:t>AI</a:t>
            </a:r>
            <a:r>
              <a:rPr sz="1800" b="1" spc="-5" dirty="0">
                <a:latin typeface="Times New Roman" panose="02020603050405020304"/>
                <a:cs typeface="Times New Roman" panose="02020603050405020304"/>
              </a:rPr>
              <a:t> </a:t>
            </a:r>
            <a:r>
              <a:rPr sz="1800" b="1" dirty="0">
                <a:latin typeface="Times New Roman" panose="02020603050405020304"/>
                <a:cs typeface="Times New Roman" panose="02020603050405020304"/>
              </a:rPr>
              <a:t>in</a:t>
            </a:r>
            <a:r>
              <a:rPr sz="1800" b="1" spc="-105" dirty="0">
                <a:latin typeface="Times New Roman" panose="02020603050405020304"/>
                <a:cs typeface="Times New Roman" panose="02020603050405020304"/>
              </a:rPr>
              <a:t> </a:t>
            </a:r>
            <a:r>
              <a:rPr sz="1800" b="1" spc="-10" dirty="0">
                <a:latin typeface="Times New Roman" panose="02020603050405020304"/>
                <a:cs typeface="Times New Roman" panose="02020603050405020304"/>
              </a:rPr>
              <a:t>Agriculture</a:t>
            </a:r>
            <a:endParaRPr sz="1800">
              <a:latin typeface="Times New Roman" panose="02020603050405020304"/>
              <a:cs typeface="Times New Roman" panose="02020603050405020304"/>
            </a:endParaRPr>
          </a:p>
          <a:p>
            <a:pPr marL="355600" marR="5080" lvl="1" indent="-342900">
              <a:lnSpc>
                <a:spcPct val="100000"/>
              </a:lnSpc>
              <a:spcBef>
                <a:spcPts val="300"/>
              </a:spcBef>
              <a:buFont typeface="Microsoft Sans Serif" panose="020B0604020202020204"/>
              <a:buChar char="•"/>
              <a:tabLst>
                <a:tab pos="355600" algn="l"/>
              </a:tabLst>
            </a:pPr>
            <a:r>
              <a:rPr sz="1800" dirty="0">
                <a:latin typeface="Times New Roman" panose="02020603050405020304"/>
                <a:cs typeface="Times New Roman" panose="02020603050405020304"/>
              </a:rPr>
              <a:t>Agriculture</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is</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an</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area</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which</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requires</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various</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resources,</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labor,</a:t>
            </a:r>
            <a:r>
              <a:rPr sz="1800" spc="-2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money,</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time</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for</a:t>
            </a:r>
            <a:r>
              <a:rPr sz="1800" spc="-40"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best </a:t>
            </a:r>
            <a:r>
              <a:rPr sz="1800" dirty="0">
                <a:latin typeface="Times New Roman" panose="02020603050405020304"/>
                <a:cs typeface="Times New Roman" panose="02020603050405020304"/>
              </a:rPr>
              <a:t>result.</a:t>
            </a:r>
            <a:r>
              <a:rPr sz="1800" spc="190" dirty="0">
                <a:latin typeface="Times New Roman" panose="02020603050405020304"/>
                <a:cs typeface="Times New Roman" panose="02020603050405020304"/>
              </a:rPr>
              <a:t> </a:t>
            </a:r>
            <a:r>
              <a:rPr sz="1800" dirty="0">
                <a:latin typeface="Times New Roman" panose="02020603050405020304"/>
                <a:cs typeface="Times New Roman" panose="02020603050405020304"/>
              </a:rPr>
              <a:t>Now</a:t>
            </a:r>
            <a:r>
              <a:rPr sz="1800" spc="185" dirty="0">
                <a:latin typeface="Times New Roman" panose="02020603050405020304"/>
                <a:cs typeface="Times New Roman" panose="02020603050405020304"/>
              </a:rPr>
              <a:t> </a:t>
            </a:r>
            <a:r>
              <a:rPr sz="1800" dirty="0">
                <a:latin typeface="Times New Roman" panose="02020603050405020304"/>
                <a:cs typeface="Times New Roman" panose="02020603050405020304"/>
              </a:rPr>
              <a:t>a</a:t>
            </a:r>
            <a:r>
              <a:rPr sz="1800" spc="190" dirty="0">
                <a:latin typeface="Times New Roman" panose="02020603050405020304"/>
                <a:cs typeface="Times New Roman" panose="02020603050405020304"/>
              </a:rPr>
              <a:t> </a:t>
            </a:r>
            <a:r>
              <a:rPr sz="1800" dirty="0">
                <a:latin typeface="Times New Roman" panose="02020603050405020304"/>
                <a:cs typeface="Times New Roman" panose="02020603050405020304"/>
              </a:rPr>
              <a:t>day's</a:t>
            </a:r>
            <a:r>
              <a:rPr sz="1800" spc="185" dirty="0">
                <a:latin typeface="Times New Roman" panose="02020603050405020304"/>
                <a:cs typeface="Times New Roman" panose="02020603050405020304"/>
              </a:rPr>
              <a:t> </a:t>
            </a:r>
            <a:r>
              <a:rPr sz="1800" dirty="0">
                <a:latin typeface="Times New Roman" panose="02020603050405020304"/>
                <a:cs typeface="Times New Roman" panose="02020603050405020304"/>
              </a:rPr>
              <a:t>agriculture</a:t>
            </a:r>
            <a:r>
              <a:rPr sz="1800" spc="195" dirty="0">
                <a:latin typeface="Times New Roman" panose="02020603050405020304"/>
                <a:cs typeface="Times New Roman" panose="02020603050405020304"/>
              </a:rPr>
              <a:t> </a:t>
            </a:r>
            <a:r>
              <a:rPr sz="1800" dirty="0">
                <a:latin typeface="Times New Roman" panose="02020603050405020304"/>
                <a:cs typeface="Times New Roman" panose="02020603050405020304"/>
              </a:rPr>
              <a:t>is</a:t>
            </a:r>
            <a:r>
              <a:rPr sz="1800" spc="190" dirty="0">
                <a:latin typeface="Times New Roman" panose="02020603050405020304"/>
                <a:cs typeface="Times New Roman" panose="02020603050405020304"/>
              </a:rPr>
              <a:t> </a:t>
            </a:r>
            <a:r>
              <a:rPr sz="1800" dirty="0">
                <a:latin typeface="Times New Roman" panose="02020603050405020304"/>
                <a:cs typeface="Times New Roman" panose="02020603050405020304"/>
              </a:rPr>
              <a:t>becoming</a:t>
            </a:r>
            <a:r>
              <a:rPr sz="1800" spc="195" dirty="0">
                <a:latin typeface="Times New Roman" panose="02020603050405020304"/>
                <a:cs typeface="Times New Roman" panose="02020603050405020304"/>
              </a:rPr>
              <a:t> </a:t>
            </a:r>
            <a:r>
              <a:rPr sz="1800" dirty="0">
                <a:latin typeface="Times New Roman" panose="02020603050405020304"/>
                <a:cs typeface="Times New Roman" panose="02020603050405020304"/>
              </a:rPr>
              <a:t>digital,</a:t>
            </a:r>
            <a:r>
              <a:rPr sz="1800" spc="19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200" dirty="0">
                <a:latin typeface="Times New Roman" panose="02020603050405020304"/>
                <a:cs typeface="Times New Roman" panose="02020603050405020304"/>
              </a:rPr>
              <a:t> </a:t>
            </a:r>
            <a:r>
              <a:rPr sz="1800" dirty="0">
                <a:latin typeface="Times New Roman" panose="02020603050405020304"/>
                <a:cs typeface="Times New Roman" panose="02020603050405020304"/>
              </a:rPr>
              <a:t>AI</a:t>
            </a:r>
            <a:r>
              <a:rPr sz="1800" spc="190" dirty="0">
                <a:latin typeface="Times New Roman" panose="02020603050405020304"/>
                <a:cs typeface="Times New Roman" panose="02020603050405020304"/>
              </a:rPr>
              <a:t> </a:t>
            </a:r>
            <a:r>
              <a:rPr sz="1800" dirty="0">
                <a:latin typeface="Times New Roman" panose="02020603050405020304"/>
                <a:cs typeface="Times New Roman" panose="02020603050405020304"/>
              </a:rPr>
              <a:t>is</a:t>
            </a:r>
            <a:r>
              <a:rPr sz="1800" spc="180" dirty="0">
                <a:latin typeface="Times New Roman" panose="02020603050405020304"/>
                <a:cs typeface="Times New Roman" panose="02020603050405020304"/>
              </a:rPr>
              <a:t> </a:t>
            </a:r>
            <a:r>
              <a:rPr sz="1800" dirty="0">
                <a:latin typeface="Times New Roman" panose="02020603050405020304"/>
                <a:cs typeface="Times New Roman" panose="02020603050405020304"/>
              </a:rPr>
              <a:t>emerging</a:t>
            </a:r>
            <a:r>
              <a:rPr sz="1800" spc="200" dirty="0">
                <a:latin typeface="Times New Roman" panose="02020603050405020304"/>
                <a:cs typeface="Times New Roman" panose="02020603050405020304"/>
              </a:rPr>
              <a:t> </a:t>
            </a:r>
            <a:r>
              <a:rPr sz="1800" dirty="0">
                <a:latin typeface="Times New Roman" panose="02020603050405020304"/>
                <a:cs typeface="Times New Roman" panose="02020603050405020304"/>
              </a:rPr>
              <a:t>in</a:t>
            </a:r>
            <a:r>
              <a:rPr sz="1800" spc="190" dirty="0">
                <a:latin typeface="Times New Roman" panose="02020603050405020304"/>
                <a:cs typeface="Times New Roman" panose="02020603050405020304"/>
              </a:rPr>
              <a:t> </a:t>
            </a:r>
            <a:r>
              <a:rPr sz="1800" dirty="0">
                <a:latin typeface="Times New Roman" panose="02020603050405020304"/>
                <a:cs typeface="Times New Roman" panose="02020603050405020304"/>
              </a:rPr>
              <a:t>this</a:t>
            </a:r>
            <a:r>
              <a:rPr sz="1800" spc="18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field.</a:t>
            </a:r>
            <a:endParaRPr sz="1800">
              <a:latin typeface="Times New Roman" panose="02020603050405020304"/>
              <a:cs typeface="Times New Roman" panose="02020603050405020304"/>
            </a:endParaRPr>
          </a:p>
        </p:txBody>
      </p:sp>
      <p:sp>
        <p:nvSpPr>
          <p:cNvPr id="4" name="object 4"/>
          <p:cNvSpPr txBox="1"/>
          <p:nvPr/>
        </p:nvSpPr>
        <p:spPr>
          <a:xfrm>
            <a:off x="9262109" y="3279775"/>
            <a:ext cx="1097915" cy="28956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Times New Roman" panose="02020603050405020304"/>
                <a:cs typeface="Times New Roman" panose="02020603050405020304"/>
              </a:rPr>
              <a:t>monitoring,</a:t>
            </a:r>
            <a:endParaRPr sz="1800">
              <a:latin typeface="Times New Roman" panose="02020603050405020304"/>
              <a:cs typeface="Times New Roman" panose="02020603050405020304"/>
            </a:endParaRPr>
          </a:p>
        </p:txBody>
      </p:sp>
      <p:sp>
        <p:nvSpPr>
          <p:cNvPr id="5" name="object 5"/>
          <p:cNvSpPr txBox="1"/>
          <p:nvPr/>
        </p:nvSpPr>
        <p:spPr>
          <a:xfrm>
            <a:off x="1983740" y="3279775"/>
            <a:ext cx="7151370" cy="882015"/>
          </a:xfrm>
          <a:prstGeom prst="rect">
            <a:avLst/>
          </a:prstGeom>
        </p:spPr>
        <p:txBody>
          <a:bodyPr vert="horz" wrap="square" lIns="0" tIns="12700" rIns="0" bIns="0" rtlCol="0">
            <a:spAutoFit/>
          </a:bodyPr>
          <a:lstStyle/>
          <a:p>
            <a:pPr marL="355600">
              <a:lnSpc>
                <a:spcPct val="100000"/>
              </a:lnSpc>
              <a:spcBef>
                <a:spcPts val="100"/>
              </a:spcBef>
              <a:tabLst>
                <a:tab pos="1564005" algn="l"/>
                <a:tab pos="1867535" algn="l"/>
                <a:tab pos="2821940" algn="l"/>
                <a:tab pos="3216275" algn="l"/>
                <a:tab pos="3559175" algn="l"/>
                <a:tab pos="4704080" algn="l"/>
                <a:tab pos="5650230" algn="l"/>
                <a:tab pos="6247765" algn="l"/>
                <a:tab pos="6731000" algn="l"/>
              </a:tabLst>
            </a:pPr>
            <a:r>
              <a:rPr sz="1800" spc="-10" dirty="0">
                <a:latin typeface="Times New Roman" panose="02020603050405020304"/>
                <a:cs typeface="Times New Roman" panose="02020603050405020304"/>
              </a:rPr>
              <a:t>Agriculture</a:t>
            </a:r>
            <a:r>
              <a:rPr sz="1800" dirty="0">
                <a:latin typeface="Times New Roman" panose="02020603050405020304"/>
                <a:cs typeface="Times New Roman" panose="02020603050405020304"/>
              </a:rPr>
              <a:t>	</a:t>
            </a:r>
            <a:r>
              <a:rPr sz="1800" spc="-25" dirty="0">
                <a:latin typeface="Times New Roman" panose="02020603050405020304"/>
                <a:cs typeface="Times New Roman" panose="02020603050405020304"/>
              </a:rPr>
              <a:t>is</a:t>
            </a:r>
            <a:r>
              <a:rPr sz="180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applying</a:t>
            </a:r>
            <a:r>
              <a:rPr sz="1800" dirty="0">
                <a:latin typeface="Times New Roman" panose="02020603050405020304"/>
                <a:cs typeface="Times New Roman" panose="02020603050405020304"/>
              </a:rPr>
              <a:t>	</a:t>
            </a:r>
            <a:r>
              <a:rPr sz="1800" spc="-25" dirty="0">
                <a:latin typeface="Times New Roman" panose="02020603050405020304"/>
                <a:cs typeface="Times New Roman" panose="02020603050405020304"/>
              </a:rPr>
              <a:t>AI</a:t>
            </a:r>
            <a:r>
              <a:rPr sz="1800" dirty="0">
                <a:latin typeface="Times New Roman" panose="02020603050405020304"/>
                <a:cs typeface="Times New Roman" panose="02020603050405020304"/>
              </a:rPr>
              <a:t>	</a:t>
            </a:r>
            <a:r>
              <a:rPr sz="1800" spc="-25" dirty="0">
                <a:latin typeface="Times New Roman" panose="02020603050405020304"/>
                <a:cs typeface="Times New Roman" panose="02020603050405020304"/>
              </a:rPr>
              <a:t>as</a:t>
            </a:r>
            <a:r>
              <a:rPr sz="180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agriculture</a:t>
            </a:r>
            <a:r>
              <a:rPr sz="180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robotics,</a:t>
            </a:r>
            <a:r>
              <a:rPr sz="180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solid</a:t>
            </a:r>
            <a:r>
              <a:rPr sz="1800" dirty="0">
                <a:latin typeface="Times New Roman" panose="02020603050405020304"/>
                <a:cs typeface="Times New Roman" panose="02020603050405020304"/>
              </a:rPr>
              <a:t>	</a:t>
            </a:r>
            <a:r>
              <a:rPr sz="1800" spc="-25" dirty="0">
                <a:latin typeface="Times New Roman" panose="02020603050405020304"/>
                <a:cs typeface="Times New Roman" panose="02020603050405020304"/>
              </a:rPr>
              <a:t>and</a:t>
            </a:r>
            <a:r>
              <a:rPr sz="1800"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crop</a:t>
            </a:r>
            <a:endParaRPr sz="1800">
              <a:latin typeface="Times New Roman" panose="02020603050405020304"/>
              <a:cs typeface="Times New Roman" panose="02020603050405020304"/>
            </a:endParaRPr>
          </a:p>
          <a:p>
            <a:pPr marL="355600">
              <a:lnSpc>
                <a:spcPct val="100000"/>
              </a:lnSpc>
            </a:pPr>
            <a:r>
              <a:rPr sz="1800" dirty="0">
                <a:latin typeface="Times New Roman" panose="02020603050405020304"/>
                <a:cs typeface="Times New Roman" panose="02020603050405020304"/>
              </a:rPr>
              <a:t>predictive</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analysis.</a:t>
            </a:r>
            <a:r>
              <a:rPr sz="1800" spc="-125" dirty="0">
                <a:latin typeface="Times New Roman" panose="02020603050405020304"/>
                <a:cs typeface="Times New Roman" panose="02020603050405020304"/>
              </a:rPr>
              <a:t> </a:t>
            </a:r>
            <a:r>
              <a:rPr sz="1800" dirty="0">
                <a:latin typeface="Times New Roman" panose="02020603050405020304"/>
                <a:cs typeface="Times New Roman" panose="02020603050405020304"/>
              </a:rPr>
              <a:t>AI</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in</a:t>
            </a:r>
            <a:r>
              <a:rPr sz="1800" spc="5" dirty="0">
                <a:latin typeface="Times New Roman" panose="02020603050405020304"/>
                <a:cs typeface="Times New Roman" panose="02020603050405020304"/>
              </a:rPr>
              <a:t> </a:t>
            </a:r>
            <a:r>
              <a:rPr sz="1800" dirty="0">
                <a:latin typeface="Times New Roman" panose="02020603050405020304"/>
                <a:cs typeface="Times New Roman" panose="02020603050405020304"/>
              </a:rPr>
              <a:t>agriculture</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can</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be</a:t>
            </a:r>
            <a:r>
              <a:rPr sz="1800" spc="-5" dirty="0">
                <a:latin typeface="Times New Roman" panose="02020603050405020304"/>
                <a:cs typeface="Times New Roman" panose="02020603050405020304"/>
              </a:rPr>
              <a:t> </a:t>
            </a:r>
            <a:r>
              <a:rPr sz="1800" dirty="0">
                <a:latin typeface="Times New Roman" panose="02020603050405020304"/>
                <a:cs typeface="Times New Roman" panose="02020603050405020304"/>
              </a:rPr>
              <a:t>very</a:t>
            </a:r>
            <a:r>
              <a:rPr sz="1800" spc="-5" dirty="0">
                <a:latin typeface="Times New Roman" panose="02020603050405020304"/>
                <a:cs typeface="Times New Roman" panose="02020603050405020304"/>
              </a:rPr>
              <a:t> </a:t>
            </a:r>
            <a:r>
              <a:rPr sz="1800" dirty="0">
                <a:latin typeface="Times New Roman" panose="02020603050405020304"/>
                <a:cs typeface="Times New Roman" panose="02020603050405020304"/>
              </a:rPr>
              <a:t>helpful</a:t>
            </a:r>
            <a:r>
              <a:rPr sz="1800" spc="-5" dirty="0">
                <a:latin typeface="Times New Roman" panose="02020603050405020304"/>
                <a:cs typeface="Times New Roman" panose="02020603050405020304"/>
              </a:rPr>
              <a:t> </a:t>
            </a:r>
            <a:r>
              <a:rPr sz="1800" dirty="0">
                <a:latin typeface="Times New Roman" panose="02020603050405020304"/>
                <a:cs typeface="Times New Roman" panose="02020603050405020304"/>
              </a:rPr>
              <a:t>for</a:t>
            </a:r>
            <a:r>
              <a:rPr sz="1800" spc="-10" dirty="0">
                <a:latin typeface="Times New Roman" panose="02020603050405020304"/>
                <a:cs typeface="Times New Roman" panose="02020603050405020304"/>
              </a:rPr>
              <a:t> farmers.</a:t>
            </a:r>
            <a:endParaRPr sz="1800">
              <a:latin typeface="Times New Roman" panose="02020603050405020304"/>
              <a:cs typeface="Times New Roman" panose="02020603050405020304"/>
            </a:endParaRPr>
          </a:p>
          <a:p>
            <a:pPr marL="12700">
              <a:lnSpc>
                <a:spcPct val="100000"/>
              </a:lnSpc>
              <a:spcBef>
                <a:spcPts val="300"/>
              </a:spcBef>
            </a:pPr>
            <a:r>
              <a:rPr sz="1800" dirty="0">
                <a:latin typeface="Times New Roman" panose="02020603050405020304"/>
                <a:cs typeface="Times New Roman" panose="02020603050405020304"/>
              </a:rPr>
              <a:t>12.</a:t>
            </a:r>
            <a:r>
              <a:rPr sz="1800" spc="-105" dirty="0">
                <a:latin typeface="Times New Roman" panose="02020603050405020304"/>
                <a:cs typeface="Times New Roman" panose="02020603050405020304"/>
              </a:rPr>
              <a:t> </a:t>
            </a:r>
            <a:r>
              <a:rPr sz="1800" dirty="0">
                <a:latin typeface="Times New Roman" panose="02020603050405020304"/>
                <a:cs typeface="Times New Roman" panose="02020603050405020304"/>
              </a:rPr>
              <a:t>AI in</a:t>
            </a:r>
            <a:r>
              <a:rPr sz="1800" spc="-1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E-commerce</a:t>
            </a:r>
            <a:endParaRPr sz="1800">
              <a:latin typeface="Times New Roman" panose="02020603050405020304"/>
              <a:cs typeface="Times New Roman" panose="02020603050405020304"/>
            </a:endParaRPr>
          </a:p>
        </p:txBody>
      </p:sp>
      <p:sp>
        <p:nvSpPr>
          <p:cNvPr id="6" name="object 6"/>
          <p:cNvSpPr txBox="1"/>
          <p:nvPr/>
        </p:nvSpPr>
        <p:spPr>
          <a:xfrm>
            <a:off x="1983740" y="4179189"/>
            <a:ext cx="8378190" cy="2343785"/>
          </a:xfrm>
          <a:prstGeom prst="rect">
            <a:avLst/>
          </a:prstGeom>
        </p:spPr>
        <p:txBody>
          <a:bodyPr vert="horz" wrap="square" lIns="0" tIns="12700" rIns="0" bIns="0" rtlCol="0">
            <a:spAutoFit/>
          </a:bodyPr>
          <a:lstStyle/>
          <a:p>
            <a:pPr marL="353695" marR="5080" indent="-340995" algn="just">
              <a:lnSpc>
                <a:spcPct val="100000"/>
              </a:lnSpc>
              <a:spcBef>
                <a:spcPts val="100"/>
              </a:spcBef>
              <a:buFont typeface="Microsoft Sans Serif" panose="020B0604020202020204"/>
              <a:buChar char="•"/>
              <a:tabLst>
                <a:tab pos="355600" algn="l"/>
              </a:tabLst>
            </a:pPr>
            <a:r>
              <a:rPr sz="1800" dirty="0">
                <a:latin typeface="Times New Roman" panose="02020603050405020304"/>
                <a:cs typeface="Times New Roman" panose="02020603050405020304"/>
              </a:rPr>
              <a:t>AI</a:t>
            </a:r>
            <a:r>
              <a:rPr sz="1800" spc="265" dirty="0">
                <a:latin typeface="Times New Roman" panose="02020603050405020304"/>
                <a:cs typeface="Times New Roman" panose="02020603050405020304"/>
              </a:rPr>
              <a:t> </a:t>
            </a:r>
            <a:r>
              <a:rPr sz="1800" dirty="0">
                <a:latin typeface="Times New Roman" panose="02020603050405020304"/>
                <a:cs typeface="Times New Roman" panose="02020603050405020304"/>
              </a:rPr>
              <a:t>is</a:t>
            </a:r>
            <a:r>
              <a:rPr sz="1800" spc="265" dirty="0">
                <a:latin typeface="Times New Roman" panose="02020603050405020304"/>
                <a:cs typeface="Times New Roman" panose="02020603050405020304"/>
              </a:rPr>
              <a:t> </a:t>
            </a:r>
            <a:r>
              <a:rPr sz="1800" dirty="0">
                <a:latin typeface="Times New Roman" panose="02020603050405020304"/>
                <a:cs typeface="Times New Roman" panose="02020603050405020304"/>
              </a:rPr>
              <a:t>providing</a:t>
            </a:r>
            <a:r>
              <a:rPr sz="1800" spc="254" dirty="0">
                <a:latin typeface="Times New Roman" panose="02020603050405020304"/>
                <a:cs typeface="Times New Roman" panose="02020603050405020304"/>
              </a:rPr>
              <a:t> </a:t>
            </a:r>
            <a:r>
              <a:rPr sz="1800" dirty="0">
                <a:latin typeface="Times New Roman" panose="02020603050405020304"/>
                <a:cs typeface="Times New Roman" panose="02020603050405020304"/>
              </a:rPr>
              <a:t>a</a:t>
            </a:r>
            <a:r>
              <a:rPr sz="1800" spc="270" dirty="0">
                <a:latin typeface="Times New Roman" panose="02020603050405020304"/>
                <a:cs typeface="Times New Roman" panose="02020603050405020304"/>
              </a:rPr>
              <a:t> </a:t>
            </a:r>
            <a:r>
              <a:rPr sz="1800" dirty="0">
                <a:latin typeface="Times New Roman" panose="02020603050405020304"/>
                <a:cs typeface="Times New Roman" panose="02020603050405020304"/>
              </a:rPr>
              <a:t>competitive</a:t>
            </a:r>
            <a:r>
              <a:rPr sz="1800" spc="265" dirty="0">
                <a:latin typeface="Times New Roman" panose="02020603050405020304"/>
                <a:cs typeface="Times New Roman" panose="02020603050405020304"/>
              </a:rPr>
              <a:t> </a:t>
            </a:r>
            <a:r>
              <a:rPr sz="1800" dirty="0">
                <a:latin typeface="Times New Roman" panose="02020603050405020304"/>
                <a:cs typeface="Times New Roman" panose="02020603050405020304"/>
              </a:rPr>
              <a:t>edge</a:t>
            </a:r>
            <a:r>
              <a:rPr sz="1800" spc="275" dirty="0">
                <a:latin typeface="Times New Roman" panose="02020603050405020304"/>
                <a:cs typeface="Times New Roman" panose="02020603050405020304"/>
              </a:rPr>
              <a:t> </a:t>
            </a:r>
            <a:r>
              <a:rPr sz="1800" dirty="0">
                <a:latin typeface="Times New Roman" panose="02020603050405020304"/>
                <a:cs typeface="Times New Roman" panose="02020603050405020304"/>
              </a:rPr>
              <a:t>to</a:t>
            </a:r>
            <a:r>
              <a:rPr sz="1800" spc="254"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26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e-</a:t>
            </a:r>
            <a:r>
              <a:rPr sz="1800" dirty="0">
                <a:latin typeface="Times New Roman" panose="02020603050405020304"/>
                <a:cs typeface="Times New Roman" panose="02020603050405020304"/>
              </a:rPr>
              <a:t>commerce</a:t>
            </a:r>
            <a:r>
              <a:rPr sz="1800" spc="275" dirty="0">
                <a:latin typeface="Times New Roman" panose="02020603050405020304"/>
                <a:cs typeface="Times New Roman" panose="02020603050405020304"/>
              </a:rPr>
              <a:t> </a:t>
            </a:r>
            <a:r>
              <a:rPr sz="1800" dirty="0">
                <a:latin typeface="Times New Roman" panose="02020603050405020304"/>
                <a:cs typeface="Times New Roman" panose="02020603050405020304"/>
              </a:rPr>
              <a:t>industry,</a:t>
            </a:r>
            <a:r>
              <a:rPr sz="1800" spc="26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254" dirty="0">
                <a:latin typeface="Times New Roman" panose="02020603050405020304"/>
                <a:cs typeface="Times New Roman" panose="02020603050405020304"/>
              </a:rPr>
              <a:t> </a:t>
            </a:r>
            <a:r>
              <a:rPr sz="1800" dirty="0">
                <a:latin typeface="Times New Roman" panose="02020603050405020304"/>
                <a:cs typeface="Times New Roman" panose="02020603050405020304"/>
              </a:rPr>
              <a:t>it</a:t>
            </a:r>
            <a:r>
              <a:rPr sz="1800" spc="260" dirty="0">
                <a:latin typeface="Times New Roman" panose="02020603050405020304"/>
                <a:cs typeface="Times New Roman" panose="02020603050405020304"/>
              </a:rPr>
              <a:t> </a:t>
            </a:r>
            <a:r>
              <a:rPr sz="1800" dirty="0">
                <a:latin typeface="Times New Roman" panose="02020603050405020304"/>
                <a:cs typeface="Times New Roman" panose="02020603050405020304"/>
              </a:rPr>
              <a:t>is</a:t>
            </a:r>
            <a:r>
              <a:rPr sz="1800" spc="26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becoming </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more</a:t>
            </a:r>
            <a:r>
              <a:rPr sz="1800" spc="415" dirty="0">
                <a:latin typeface="Times New Roman" panose="02020603050405020304"/>
                <a:cs typeface="Times New Roman" panose="02020603050405020304"/>
              </a:rPr>
              <a:t> </a:t>
            </a:r>
            <a:r>
              <a:rPr sz="1800" dirty="0">
                <a:latin typeface="Times New Roman" panose="02020603050405020304"/>
                <a:cs typeface="Times New Roman" panose="02020603050405020304"/>
              </a:rPr>
              <a:t>demanding</a:t>
            </a:r>
            <a:r>
              <a:rPr sz="1800" spc="420" dirty="0">
                <a:latin typeface="Times New Roman" panose="02020603050405020304"/>
                <a:cs typeface="Times New Roman" panose="02020603050405020304"/>
              </a:rPr>
              <a:t> </a:t>
            </a:r>
            <a:r>
              <a:rPr sz="1800" dirty="0">
                <a:latin typeface="Times New Roman" panose="02020603050405020304"/>
                <a:cs typeface="Times New Roman" panose="02020603050405020304"/>
              </a:rPr>
              <a:t>in</a:t>
            </a:r>
            <a:r>
              <a:rPr sz="1800" spc="415"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425" dirty="0">
                <a:latin typeface="Times New Roman" panose="02020603050405020304"/>
                <a:cs typeface="Times New Roman" panose="02020603050405020304"/>
              </a:rPr>
              <a:t> </a:t>
            </a:r>
            <a:r>
              <a:rPr sz="1800" spc="-20" dirty="0">
                <a:latin typeface="Times New Roman" panose="02020603050405020304"/>
                <a:cs typeface="Times New Roman" panose="02020603050405020304"/>
              </a:rPr>
              <a:t>e-</a:t>
            </a:r>
            <a:r>
              <a:rPr sz="1800" dirty="0">
                <a:latin typeface="Times New Roman" panose="02020603050405020304"/>
                <a:cs typeface="Times New Roman" panose="02020603050405020304"/>
              </a:rPr>
              <a:t>commerce</a:t>
            </a:r>
            <a:r>
              <a:rPr sz="1800" spc="420" dirty="0">
                <a:latin typeface="Times New Roman" panose="02020603050405020304"/>
                <a:cs typeface="Times New Roman" panose="02020603050405020304"/>
              </a:rPr>
              <a:t> </a:t>
            </a:r>
            <a:r>
              <a:rPr sz="1800" dirty="0">
                <a:latin typeface="Times New Roman" panose="02020603050405020304"/>
                <a:cs typeface="Times New Roman" panose="02020603050405020304"/>
              </a:rPr>
              <a:t>business.</a:t>
            </a:r>
            <a:r>
              <a:rPr sz="1800" spc="409" dirty="0">
                <a:latin typeface="Times New Roman" panose="02020603050405020304"/>
                <a:cs typeface="Times New Roman" panose="02020603050405020304"/>
              </a:rPr>
              <a:t> </a:t>
            </a:r>
            <a:r>
              <a:rPr sz="1800" dirty="0">
                <a:latin typeface="Times New Roman" panose="02020603050405020304"/>
                <a:cs typeface="Times New Roman" panose="02020603050405020304"/>
              </a:rPr>
              <a:t>AI</a:t>
            </a:r>
            <a:r>
              <a:rPr sz="1800" spc="415" dirty="0">
                <a:latin typeface="Times New Roman" panose="02020603050405020304"/>
                <a:cs typeface="Times New Roman" panose="02020603050405020304"/>
              </a:rPr>
              <a:t> </a:t>
            </a:r>
            <a:r>
              <a:rPr sz="1800" dirty="0">
                <a:latin typeface="Times New Roman" panose="02020603050405020304"/>
                <a:cs typeface="Times New Roman" panose="02020603050405020304"/>
              </a:rPr>
              <a:t>is</a:t>
            </a:r>
            <a:r>
              <a:rPr sz="1800" spc="409" dirty="0">
                <a:latin typeface="Times New Roman" panose="02020603050405020304"/>
                <a:cs typeface="Times New Roman" panose="02020603050405020304"/>
              </a:rPr>
              <a:t> </a:t>
            </a:r>
            <a:r>
              <a:rPr sz="1800" dirty="0">
                <a:latin typeface="Times New Roman" panose="02020603050405020304"/>
                <a:cs typeface="Times New Roman" panose="02020603050405020304"/>
              </a:rPr>
              <a:t>helping</a:t>
            </a:r>
            <a:r>
              <a:rPr sz="1800" spc="405" dirty="0">
                <a:latin typeface="Times New Roman" panose="02020603050405020304"/>
                <a:cs typeface="Times New Roman" panose="02020603050405020304"/>
              </a:rPr>
              <a:t> </a:t>
            </a:r>
            <a:r>
              <a:rPr sz="1800" dirty="0">
                <a:latin typeface="Times New Roman" panose="02020603050405020304"/>
                <a:cs typeface="Times New Roman" panose="02020603050405020304"/>
              </a:rPr>
              <a:t>shoppers</a:t>
            </a:r>
            <a:r>
              <a:rPr sz="1800" spc="415" dirty="0">
                <a:latin typeface="Times New Roman" panose="02020603050405020304"/>
                <a:cs typeface="Times New Roman" panose="02020603050405020304"/>
              </a:rPr>
              <a:t> </a:t>
            </a:r>
            <a:r>
              <a:rPr sz="1800" dirty="0">
                <a:latin typeface="Times New Roman" panose="02020603050405020304"/>
                <a:cs typeface="Times New Roman" panose="02020603050405020304"/>
              </a:rPr>
              <a:t>to</a:t>
            </a:r>
            <a:r>
              <a:rPr sz="1800" spc="41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discover </a:t>
            </a:r>
            <a:r>
              <a:rPr sz="1800" spc="-10" dirty="0">
                <a:latin typeface="Times New Roman" panose="02020603050405020304"/>
                <a:cs typeface="Times New Roman" panose="02020603050405020304"/>
              </a:rPr>
              <a:t>	</a:t>
            </a:r>
            <a:r>
              <a:rPr sz="1800" dirty="0">
                <a:latin typeface="Times New Roman" panose="02020603050405020304"/>
                <a:cs typeface="Times New Roman" panose="02020603050405020304"/>
              </a:rPr>
              <a:t>associated</a:t>
            </a:r>
            <a:r>
              <a:rPr sz="1800" spc="-60" dirty="0">
                <a:latin typeface="Times New Roman" panose="02020603050405020304"/>
                <a:cs typeface="Times New Roman" panose="02020603050405020304"/>
              </a:rPr>
              <a:t> </a:t>
            </a:r>
            <a:r>
              <a:rPr sz="1800" dirty="0">
                <a:latin typeface="Times New Roman" panose="02020603050405020304"/>
                <a:cs typeface="Times New Roman" panose="02020603050405020304"/>
              </a:rPr>
              <a:t>products</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with</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recommended</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size,</a:t>
            </a:r>
            <a:r>
              <a:rPr sz="1800" spc="-55" dirty="0">
                <a:latin typeface="Times New Roman" panose="02020603050405020304"/>
                <a:cs typeface="Times New Roman" panose="02020603050405020304"/>
              </a:rPr>
              <a:t> </a:t>
            </a:r>
            <a:r>
              <a:rPr sz="1800" dirty="0">
                <a:latin typeface="Times New Roman" panose="02020603050405020304"/>
                <a:cs typeface="Times New Roman" panose="02020603050405020304"/>
              </a:rPr>
              <a:t>color,</a:t>
            </a:r>
            <a:r>
              <a:rPr sz="1800" spc="-45" dirty="0">
                <a:latin typeface="Times New Roman" panose="02020603050405020304"/>
                <a:cs typeface="Times New Roman" panose="02020603050405020304"/>
              </a:rPr>
              <a:t> </a:t>
            </a:r>
            <a:r>
              <a:rPr sz="1800" dirty="0">
                <a:latin typeface="Times New Roman" panose="02020603050405020304"/>
                <a:cs typeface="Times New Roman" panose="02020603050405020304"/>
              </a:rPr>
              <a:t>or</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even</a:t>
            </a:r>
            <a:r>
              <a:rPr sz="1800" spc="-5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brand.</a:t>
            </a:r>
            <a:endParaRPr sz="1800">
              <a:latin typeface="Times New Roman" panose="02020603050405020304"/>
              <a:cs typeface="Times New Roman" panose="02020603050405020304"/>
            </a:endParaRPr>
          </a:p>
          <a:p>
            <a:pPr marL="342900" indent="-330200" algn="just">
              <a:lnSpc>
                <a:spcPct val="100000"/>
              </a:lnSpc>
              <a:spcBef>
                <a:spcPts val="300"/>
              </a:spcBef>
              <a:buAutoNum type="arabicPeriod" startAt="13"/>
              <a:tabLst>
                <a:tab pos="342900" algn="l"/>
              </a:tabLst>
            </a:pPr>
            <a:r>
              <a:rPr sz="1800" b="1" dirty="0">
                <a:latin typeface="Times New Roman" panose="02020603050405020304"/>
                <a:cs typeface="Times New Roman" panose="02020603050405020304"/>
              </a:rPr>
              <a:t>AI</a:t>
            </a:r>
            <a:r>
              <a:rPr sz="1800" b="1" spc="-25" dirty="0">
                <a:latin typeface="Times New Roman" panose="02020603050405020304"/>
                <a:cs typeface="Times New Roman" panose="02020603050405020304"/>
              </a:rPr>
              <a:t> </a:t>
            </a:r>
            <a:r>
              <a:rPr sz="1800" b="1" dirty="0">
                <a:latin typeface="Times New Roman" panose="02020603050405020304"/>
                <a:cs typeface="Times New Roman" panose="02020603050405020304"/>
              </a:rPr>
              <a:t>in</a:t>
            </a:r>
            <a:r>
              <a:rPr sz="1800" b="1" spc="-15" dirty="0">
                <a:latin typeface="Times New Roman" panose="02020603050405020304"/>
                <a:cs typeface="Times New Roman" panose="02020603050405020304"/>
              </a:rPr>
              <a:t> </a:t>
            </a:r>
            <a:r>
              <a:rPr sz="1800" b="1" spc="-10" dirty="0">
                <a:latin typeface="Times New Roman" panose="02020603050405020304"/>
                <a:cs typeface="Times New Roman" panose="02020603050405020304"/>
              </a:rPr>
              <a:t>education:</a:t>
            </a:r>
            <a:endParaRPr sz="1800">
              <a:latin typeface="Times New Roman" panose="02020603050405020304"/>
              <a:cs typeface="Times New Roman" panose="02020603050405020304"/>
            </a:endParaRPr>
          </a:p>
          <a:p>
            <a:pPr marL="355600" marR="182880" lvl="1" indent="-342900">
              <a:lnSpc>
                <a:spcPct val="100000"/>
              </a:lnSpc>
              <a:spcBef>
                <a:spcPts val="300"/>
              </a:spcBef>
              <a:buFont typeface="Microsoft Sans Serif" panose="020B0604020202020204"/>
              <a:buChar char="•"/>
              <a:tabLst>
                <a:tab pos="355600" algn="l"/>
              </a:tabLst>
            </a:pPr>
            <a:r>
              <a:rPr sz="1800" dirty="0">
                <a:latin typeface="Times New Roman" panose="02020603050405020304"/>
                <a:cs typeface="Times New Roman" panose="02020603050405020304"/>
              </a:rPr>
              <a:t>AI</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can</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automate</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grading</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so</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that</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tutor</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can</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have</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more</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time</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to</a:t>
            </a:r>
            <a:r>
              <a:rPr sz="1800" spc="-1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teach.</a:t>
            </a:r>
            <a:r>
              <a:rPr sz="1800" spc="-120" dirty="0">
                <a:latin typeface="Times New Roman" panose="02020603050405020304"/>
                <a:cs typeface="Times New Roman" panose="02020603050405020304"/>
              </a:rPr>
              <a:t> </a:t>
            </a:r>
            <a:r>
              <a:rPr sz="1800" dirty="0">
                <a:latin typeface="Times New Roman" panose="02020603050405020304"/>
                <a:cs typeface="Times New Roman" panose="02020603050405020304"/>
              </a:rPr>
              <a:t>AI</a:t>
            </a:r>
            <a:r>
              <a:rPr sz="1800" spc="15" dirty="0">
                <a:latin typeface="Times New Roman" panose="02020603050405020304"/>
                <a:cs typeface="Times New Roman" panose="02020603050405020304"/>
              </a:rPr>
              <a:t> </a:t>
            </a:r>
            <a:r>
              <a:rPr sz="1800" dirty="0">
                <a:latin typeface="Times New Roman" panose="02020603050405020304"/>
                <a:cs typeface="Times New Roman" panose="02020603050405020304"/>
              </a:rPr>
              <a:t>chatbot</a:t>
            </a:r>
            <a:r>
              <a:rPr sz="1800" spc="-30" dirty="0">
                <a:latin typeface="Times New Roman" panose="02020603050405020304"/>
                <a:cs typeface="Times New Roman" panose="02020603050405020304"/>
              </a:rPr>
              <a:t> </a:t>
            </a:r>
            <a:r>
              <a:rPr sz="1800" spc="-25" dirty="0">
                <a:latin typeface="Times New Roman" panose="02020603050405020304"/>
                <a:cs typeface="Times New Roman" panose="02020603050405020304"/>
              </a:rPr>
              <a:t>can </a:t>
            </a:r>
            <a:r>
              <a:rPr sz="1800" dirty="0">
                <a:latin typeface="Times New Roman" panose="02020603050405020304"/>
                <a:cs typeface="Times New Roman" panose="02020603050405020304"/>
              </a:rPr>
              <a:t>communicate</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with</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students</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as</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a</a:t>
            </a:r>
            <a:r>
              <a:rPr sz="1800" spc="-30" dirty="0">
                <a:latin typeface="Times New Roman" panose="02020603050405020304"/>
                <a:cs typeface="Times New Roman" panose="02020603050405020304"/>
              </a:rPr>
              <a:t> </a:t>
            </a:r>
            <a:r>
              <a:rPr sz="1800" dirty="0">
                <a:latin typeface="Times New Roman" panose="02020603050405020304"/>
                <a:cs typeface="Times New Roman" panose="02020603050405020304"/>
              </a:rPr>
              <a:t>teaching</a:t>
            </a:r>
            <a:r>
              <a:rPr sz="1800" spc="-45"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assistant.</a:t>
            </a:r>
            <a:endParaRPr sz="1800">
              <a:latin typeface="Times New Roman" panose="02020603050405020304"/>
              <a:cs typeface="Times New Roman" panose="02020603050405020304"/>
            </a:endParaRPr>
          </a:p>
          <a:p>
            <a:pPr marL="355600" marR="554355" lvl="1" indent="-342900">
              <a:lnSpc>
                <a:spcPct val="100000"/>
              </a:lnSpc>
              <a:spcBef>
                <a:spcPts val="300"/>
              </a:spcBef>
              <a:buFont typeface="Microsoft Sans Serif" panose="020B0604020202020204"/>
              <a:buChar char="•"/>
              <a:tabLst>
                <a:tab pos="355600" algn="l"/>
              </a:tabLst>
            </a:pPr>
            <a:r>
              <a:rPr sz="1800" dirty="0">
                <a:latin typeface="Times New Roman" panose="02020603050405020304"/>
                <a:cs typeface="Times New Roman" panose="02020603050405020304"/>
              </a:rPr>
              <a:t>AI</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in</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the</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future</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can</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be</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work</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as</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a</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personal</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virtual</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tutor</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for</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students,</a:t>
            </a:r>
            <a:r>
              <a:rPr sz="1800" spc="-35" dirty="0">
                <a:latin typeface="Times New Roman" panose="02020603050405020304"/>
                <a:cs typeface="Times New Roman" panose="02020603050405020304"/>
              </a:rPr>
              <a:t> </a:t>
            </a:r>
            <a:r>
              <a:rPr sz="1800" dirty="0">
                <a:latin typeface="Times New Roman" panose="02020603050405020304"/>
                <a:cs typeface="Times New Roman" panose="02020603050405020304"/>
              </a:rPr>
              <a:t>which</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will</a:t>
            </a:r>
            <a:r>
              <a:rPr sz="1800" spc="-30" dirty="0">
                <a:latin typeface="Times New Roman" panose="02020603050405020304"/>
                <a:cs typeface="Times New Roman" panose="02020603050405020304"/>
              </a:rPr>
              <a:t> </a:t>
            </a:r>
            <a:r>
              <a:rPr sz="1800" spc="-25" dirty="0">
                <a:latin typeface="Times New Roman" panose="02020603050405020304"/>
                <a:cs typeface="Times New Roman" panose="02020603050405020304"/>
              </a:rPr>
              <a:t>be </a:t>
            </a:r>
            <a:r>
              <a:rPr sz="1800" dirty="0">
                <a:latin typeface="Times New Roman" panose="02020603050405020304"/>
                <a:cs typeface="Times New Roman" panose="02020603050405020304"/>
              </a:rPr>
              <a:t>accessible</a:t>
            </a:r>
            <a:r>
              <a:rPr sz="1800" spc="-50" dirty="0">
                <a:latin typeface="Times New Roman" panose="02020603050405020304"/>
                <a:cs typeface="Times New Roman" panose="02020603050405020304"/>
              </a:rPr>
              <a:t> </a:t>
            </a:r>
            <a:r>
              <a:rPr sz="1800" dirty="0">
                <a:latin typeface="Times New Roman" panose="02020603050405020304"/>
                <a:cs typeface="Times New Roman" panose="02020603050405020304"/>
              </a:rPr>
              <a:t>easily</a:t>
            </a:r>
            <a:r>
              <a:rPr sz="1800" spc="-40" dirty="0">
                <a:latin typeface="Times New Roman" panose="02020603050405020304"/>
                <a:cs typeface="Times New Roman" panose="02020603050405020304"/>
              </a:rPr>
              <a:t> </a:t>
            </a:r>
            <a:r>
              <a:rPr sz="1800" dirty="0">
                <a:latin typeface="Times New Roman" panose="02020603050405020304"/>
                <a:cs typeface="Times New Roman" panose="02020603050405020304"/>
              </a:rPr>
              <a:t>at</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any</a:t>
            </a:r>
            <a:r>
              <a:rPr sz="1800" spc="-25" dirty="0">
                <a:latin typeface="Times New Roman" panose="02020603050405020304"/>
                <a:cs typeface="Times New Roman" panose="02020603050405020304"/>
              </a:rPr>
              <a:t> </a:t>
            </a:r>
            <a:r>
              <a:rPr sz="1800" dirty="0">
                <a:latin typeface="Times New Roman" panose="02020603050405020304"/>
                <a:cs typeface="Times New Roman" panose="02020603050405020304"/>
              </a:rPr>
              <a:t>time</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and</a:t>
            </a:r>
            <a:r>
              <a:rPr sz="1800" spc="-20" dirty="0">
                <a:latin typeface="Times New Roman" panose="02020603050405020304"/>
                <a:cs typeface="Times New Roman" panose="02020603050405020304"/>
              </a:rPr>
              <a:t> </a:t>
            </a:r>
            <a:r>
              <a:rPr sz="1800" dirty="0">
                <a:latin typeface="Times New Roman" panose="02020603050405020304"/>
                <a:cs typeface="Times New Roman" panose="02020603050405020304"/>
              </a:rPr>
              <a:t>any</a:t>
            </a:r>
            <a:r>
              <a:rPr sz="1800" spc="-30" dirty="0">
                <a:latin typeface="Times New Roman" panose="02020603050405020304"/>
                <a:cs typeface="Times New Roman" panose="02020603050405020304"/>
              </a:rPr>
              <a:t> </a:t>
            </a:r>
            <a:r>
              <a:rPr sz="1800" spc="-10" dirty="0">
                <a:latin typeface="Times New Roman" panose="02020603050405020304"/>
                <a:cs typeface="Times New Roman" panose="02020603050405020304"/>
              </a:rPr>
              <a:t>place.</a:t>
            </a:r>
            <a:endParaRPr sz="1800">
              <a:latin typeface="Times New Roman" panose="02020603050405020304"/>
              <a:cs typeface="Times New Roman" panose="02020603050405020304"/>
            </a:endParaRPr>
          </a:p>
        </p:txBody>
      </p:sp>
      <p:sp>
        <p:nvSpPr>
          <p:cNvPr id="7" name="Date Placeholder 6"/>
          <p:cNvSpPr>
            <a:spLocks noGrp="1"/>
          </p:cNvSpPr>
          <p:nvPr>
            <p:ph type="dt" sz="half" idx="10"/>
          </p:nvPr>
        </p:nvSpPr>
        <p:spPr/>
        <p:txBody>
          <a:bodyPr/>
          <a:p>
            <a:fld id="{63A1C593-65D0-4073-BCC9-577B9352EA97}" type="datetime1">
              <a:rPr lang="en-US" smtClean="0"/>
            </a:fld>
            <a:endParaRPr lang="en-US"/>
          </a:p>
        </p:txBody>
      </p:sp>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8540" y="1029208"/>
            <a:ext cx="3356610" cy="627380"/>
          </a:xfrm>
          <a:prstGeom prst="rect">
            <a:avLst/>
          </a:prstGeom>
        </p:spPr>
        <p:txBody>
          <a:bodyPr vert="horz" wrap="square" lIns="0" tIns="12065" rIns="0" bIns="0" rtlCol="0">
            <a:spAutoFit/>
          </a:bodyPr>
          <a:lstStyle/>
          <a:p>
            <a:pPr marL="12700">
              <a:lnSpc>
                <a:spcPct val="100000"/>
              </a:lnSpc>
              <a:spcBef>
                <a:spcPts val="95"/>
              </a:spcBef>
            </a:pPr>
            <a:r>
              <a:rPr sz="4000" dirty="0"/>
              <a:t>AI</a:t>
            </a:r>
            <a:r>
              <a:rPr sz="4000" spc="-220" dirty="0"/>
              <a:t> </a:t>
            </a:r>
            <a:r>
              <a:rPr sz="4000" spc="-10" dirty="0"/>
              <a:t>Applications</a:t>
            </a:r>
            <a:endParaRPr sz="4000"/>
          </a:p>
        </p:txBody>
      </p:sp>
      <p:sp>
        <p:nvSpPr>
          <p:cNvPr id="3" name="object 3"/>
          <p:cNvSpPr txBox="1"/>
          <p:nvPr/>
        </p:nvSpPr>
        <p:spPr>
          <a:xfrm>
            <a:off x="1068705" y="2005965"/>
            <a:ext cx="7668895" cy="879475"/>
          </a:xfrm>
          <a:prstGeom prst="rect">
            <a:avLst/>
          </a:prstGeom>
        </p:spPr>
        <p:txBody>
          <a:bodyPr vert="horz" wrap="square" lIns="0" tIns="12065" rIns="0" bIns="0" rtlCol="0">
            <a:spAutoFit/>
          </a:bodyPr>
          <a:lstStyle/>
          <a:p>
            <a:pPr marL="283210" marR="1123950" indent="-271145">
              <a:lnSpc>
                <a:spcPct val="100000"/>
              </a:lnSpc>
              <a:spcBef>
                <a:spcPts val="95"/>
              </a:spcBef>
              <a:buClr>
                <a:srgbClr val="D24717"/>
              </a:buClr>
              <a:buSzPct val="84000"/>
              <a:buFont typeface="Segoe UI Symbol" panose="020B0502040204020203"/>
              <a:buChar char="⚫"/>
              <a:tabLst>
                <a:tab pos="285750" algn="l"/>
              </a:tabLst>
            </a:pPr>
            <a:r>
              <a:rPr sz="2800" spc="-10" dirty="0">
                <a:latin typeface="Arial MT"/>
                <a:cs typeface="Arial MT"/>
              </a:rPr>
              <a:t>Autonomous </a:t>
            </a:r>
            <a:r>
              <a:rPr sz="2800" spc="-10" dirty="0">
                <a:latin typeface="Arial MT"/>
                <a:cs typeface="Arial MT"/>
              </a:rPr>
              <a:t>	</a:t>
            </a:r>
            <a:r>
              <a:rPr sz="2800" dirty="0">
                <a:latin typeface="Arial MT"/>
                <a:cs typeface="Arial MT"/>
              </a:rPr>
              <a:t>Planning</a:t>
            </a:r>
            <a:r>
              <a:rPr sz="2800" spc="-110" dirty="0">
                <a:latin typeface="Arial MT"/>
                <a:cs typeface="Arial MT"/>
              </a:rPr>
              <a:t> </a:t>
            </a:r>
            <a:r>
              <a:rPr sz="2800" spc="-50" dirty="0">
                <a:latin typeface="Arial MT"/>
                <a:cs typeface="Arial MT"/>
              </a:rPr>
              <a:t>&amp; </a:t>
            </a:r>
            <a:r>
              <a:rPr sz="2800" spc="-50" dirty="0">
                <a:latin typeface="Arial MT"/>
                <a:cs typeface="Arial MT"/>
              </a:rPr>
              <a:t>	</a:t>
            </a:r>
            <a:r>
              <a:rPr sz="2800" spc="-10" dirty="0">
                <a:latin typeface="Arial MT"/>
                <a:cs typeface="Arial MT"/>
              </a:rPr>
              <a:t>Scheduling:</a:t>
            </a:r>
            <a:endParaRPr sz="2800">
              <a:latin typeface="Arial MT"/>
              <a:cs typeface="Arial MT"/>
            </a:endParaRPr>
          </a:p>
          <a:p>
            <a:pPr marL="560705" lvl="1" indent="-238125">
              <a:lnSpc>
                <a:spcPct val="100000"/>
              </a:lnSpc>
              <a:spcBef>
                <a:spcPts val="405"/>
              </a:spcBef>
              <a:buClr>
                <a:srgbClr val="9B2C1F"/>
              </a:buClr>
              <a:buSzPct val="84000"/>
              <a:buFont typeface="Segoe UI Symbol" panose="020B0502040204020203"/>
              <a:buChar char="⚫"/>
              <a:tabLst>
                <a:tab pos="560705" algn="l"/>
              </a:tabLst>
            </a:pPr>
            <a:r>
              <a:rPr sz="2500" dirty="0">
                <a:latin typeface="Arial MT"/>
                <a:cs typeface="Arial MT"/>
              </a:rPr>
              <a:t>Autonomous</a:t>
            </a:r>
            <a:r>
              <a:rPr sz="2500" spc="-10" dirty="0">
                <a:latin typeface="Arial MT"/>
                <a:cs typeface="Arial MT"/>
              </a:rPr>
              <a:t> rovers.</a:t>
            </a:r>
            <a:endParaRPr sz="2500">
              <a:latin typeface="Arial MT"/>
              <a:cs typeface="Arial MT"/>
            </a:endParaRPr>
          </a:p>
        </p:txBody>
      </p:sp>
      <p:pic>
        <p:nvPicPr>
          <p:cNvPr id="4" name="object 4"/>
          <p:cNvPicPr/>
          <p:nvPr/>
        </p:nvPicPr>
        <p:blipFill>
          <a:blip r:embed="rId1" cstate="print"/>
          <a:stretch>
            <a:fillRect/>
          </a:stretch>
        </p:blipFill>
        <p:spPr>
          <a:xfrm>
            <a:off x="3238500" y="4495800"/>
            <a:ext cx="2209800" cy="1624584"/>
          </a:xfrm>
          <a:prstGeom prst="rect">
            <a:avLst/>
          </a:prstGeom>
        </p:spPr>
      </p:pic>
      <p:pic>
        <p:nvPicPr>
          <p:cNvPr id="5" name="object 5"/>
          <p:cNvPicPr/>
          <p:nvPr/>
        </p:nvPicPr>
        <p:blipFill>
          <a:blip r:embed="rId2" cstate="print"/>
          <a:stretch>
            <a:fillRect/>
          </a:stretch>
        </p:blipFill>
        <p:spPr>
          <a:xfrm>
            <a:off x="6781800" y="4495800"/>
            <a:ext cx="2043683" cy="1680972"/>
          </a:xfrm>
          <a:prstGeom prst="rect">
            <a:avLst/>
          </a:prstGeom>
        </p:spPr>
      </p:pic>
      <p:sp>
        <p:nvSpPr>
          <p:cNvPr id="6" name="Date Placeholder 5"/>
          <p:cNvSpPr>
            <a:spLocks noGrp="1"/>
          </p:cNvSpPr>
          <p:nvPr>
            <p:ph type="dt" sz="half" idx="10"/>
          </p:nvPr>
        </p:nvSpPr>
        <p:spPr/>
        <p:txBody>
          <a:bodyPr/>
          <a:p>
            <a:fld id="{63A1C593-65D0-4073-BCC9-577B9352EA97}" type="datetime1">
              <a:rPr lang="en-US" smtClean="0"/>
            </a:fld>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94308"/>
            <a:ext cx="3354704" cy="627380"/>
          </a:xfrm>
          <a:prstGeom prst="rect">
            <a:avLst/>
          </a:prstGeom>
        </p:spPr>
        <p:txBody>
          <a:bodyPr vert="horz" wrap="square" lIns="0" tIns="12065" rIns="0" bIns="0" rtlCol="0">
            <a:spAutoFit/>
          </a:bodyPr>
          <a:lstStyle/>
          <a:p>
            <a:pPr marL="12700">
              <a:lnSpc>
                <a:spcPct val="100000"/>
              </a:lnSpc>
              <a:spcBef>
                <a:spcPts val="95"/>
              </a:spcBef>
            </a:pPr>
            <a:r>
              <a:rPr sz="4000" dirty="0"/>
              <a:t>AI</a:t>
            </a:r>
            <a:r>
              <a:rPr sz="4000" spc="-225" dirty="0"/>
              <a:t> </a:t>
            </a:r>
            <a:r>
              <a:rPr sz="4000" spc="-10" dirty="0"/>
              <a:t>Applications</a:t>
            </a:r>
            <a:endParaRPr sz="4000"/>
          </a:p>
        </p:txBody>
      </p:sp>
      <p:sp>
        <p:nvSpPr>
          <p:cNvPr id="3" name="object 3"/>
          <p:cNvSpPr txBox="1"/>
          <p:nvPr/>
        </p:nvSpPr>
        <p:spPr>
          <a:xfrm>
            <a:off x="2517444" y="1428404"/>
            <a:ext cx="5669280" cy="951865"/>
          </a:xfrm>
          <a:prstGeom prst="rect">
            <a:avLst/>
          </a:prstGeom>
        </p:spPr>
        <p:txBody>
          <a:bodyPr vert="horz" wrap="square" lIns="0" tIns="56515" rIns="0" bIns="0" rtlCol="0">
            <a:spAutoFit/>
          </a:bodyPr>
          <a:lstStyle/>
          <a:p>
            <a:pPr marL="283845" indent="-271145">
              <a:lnSpc>
                <a:spcPct val="100000"/>
              </a:lnSpc>
              <a:spcBef>
                <a:spcPts val="445"/>
              </a:spcBef>
              <a:buClr>
                <a:srgbClr val="D24717"/>
              </a:buClr>
              <a:buSzPct val="85000"/>
              <a:buFont typeface="Segoe UI Symbol" panose="020B0502040204020203"/>
              <a:buChar char="⚫"/>
              <a:tabLst>
                <a:tab pos="283845" algn="l"/>
              </a:tabLst>
            </a:pPr>
            <a:r>
              <a:rPr sz="2600" dirty="0">
                <a:latin typeface="Arial MT"/>
                <a:cs typeface="Arial MT"/>
              </a:rPr>
              <a:t>Autonomous</a:t>
            </a:r>
            <a:r>
              <a:rPr sz="2600" spc="-95" dirty="0">
                <a:latin typeface="Arial MT"/>
                <a:cs typeface="Arial MT"/>
              </a:rPr>
              <a:t> </a:t>
            </a:r>
            <a:r>
              <a:rPr sz="2600" dirty="0">
                <a:latin typeface="Arial MT"/>
                <a:cs typeface="Arial MT"/>
              </a:rPr>
              <a:t>Planning</a:t>
            </a:r>
            <a:r>
              <a:rPr sz="2600" spc="-85" dirty="0">
                <a:latin typeface="Arial MT"/>
                <a:cs typeface="Arial MT"/>
              </a:rPr>
              <a:t> </a:t>
            </a:r>
            <a:r>
              <a:rPr sz="2600" dirty="0">
                <a:latin typeface="Arial MT"/>
                <a:cs typeface="Arial MT"/>
              </a:rPr>
              <a:t>&amp;</a:t>
            </a:r>
            <a:r>
              <a:rPr sz="2600" spc="-75" dirty="0">
                <a:latin typeface="Arial MT"/>
                <a:cs typeface="Arial MT"/>
              </a:rPr>
              <a:t> </a:t>
            </a:r>
            <a:r>
              <a:rPr sz="2600" spc="-10" dirty="0">
                <a:latin typeface="Arial MT"/>
                <a:cs typeface="Arial MT"/>
              </a:rPr>
              <a:t>Scheduling:</a:t>
            </a:r>
            <a:endParaRPr sz="2600">
              <a:latin typeface="Arial MT"/>
              <a:cs typeface="Arial MT"/>
            </a:endParaRPr>
          </a:p>
          <a:p>
            <a:pPr marL="560705" lvl="1" indent="-274320">
              <a:lnSpc>
                <a:spcPct val="100000"/>
              </a:lnSpc>
              <a:spcBef>
                <a:spcPts val="385"/>
              </a:spcBef>
              <a:buClr>
                <a:srgbClr val="9B2C1F"/>
              </a:buClr>
              <a:buSzPct val="84000"/>
              <a:buFont typeface="Segoe UI Symbol" panose="020B0502040204020203"/>
              <a:buChar char="⚫"/>
              <a:tabLst>
                <a:tab pos="560705" algn="l"/>
              </a:tabLst>
            </a:pPr>
            <a:r>
              <a:rPr sz="2900" spc="-30" dirty="0">
                <a:latin typeface="Arial MT"/>
                <a:cs typeface="Arial MT"/>
              </a:rPr>
              <a:t>Telescope</a:t>
            </a:r>
            <a:r>
              <a:rPr sz="2900" spc="-145" dirty="0">
                <a:latin typeface="Arial MT"/>
                <a:cs typeface="Arial MT"/>
              </a:rPr>
              <a:t> </a:t>
            </a:r>
            <a:r>
              <a:rPr sz="2900" spc="-10" dirty="0">
                <a:latin typeface="Arial MT"/>
                <a:cs typeface="Arial MT"/>
              </a:rPr>
              <a:t>scheduling</a:t>
            </a:r>
            <a:endParaRPr sz="2900">
              <a:latin typeface="Arial MT"/>
              <a:cs typeface="Arial MT"/>
            </a:endParaRPr>
          </a:p>
        </p:txBody>
      </p:sp>
      <p:pic>
        <p:nvPicPr>
          <p:cNvPr id="4" name="object 4"/>
          <p:cNvPicPr/>
          <p:nvPr/>
        </p:nvPicPr>
        <p:blipFill>
          <a:blip r:embed="rId1" cstate="print"/>
          <a:stretch>
            <a:fillRect/>
          </a:stretch>
        </p:blipFill>
        <p:spPr>
          <a:xfrm>
            <a:off x="2467355" y="3520440"/>
            <a:ext cx="2976372" cy="2286000"/>
          </a:xfrm>
          <a:prstGeom prst="rect">
            <a:avLst/>
          </a:prstGeom>
        </p:spPr>
      </p:pic>
      <p:pic>
        <p:nvPicPr>
          <p:cNvPr id="5" name="object 5"/>
          <p:cNvPicPr/>
          <p:nvPr/>
        </p:nvPicPr>
        <p:blipFill>
          <a:blip r:embed="rId2" cstate="print"/>
          <a:stretch>
            <a:fillRect/>
          </a:stretch>
        </p:blipFill>
        <p:spPr>
          <a:xfrm>
            <a:off x="6676644" y="3378708"/>
            <a:ext cx="2540507" cy="2570988"/>
          </a:xfrm>
          <a:prstGeom prst="rect">
            <a:avLst/>
          </a:prstGeom>
        </p:spPr>
      </p:pic>
      <p:sp>
        <p:nvSpPr>
          <p:cNvPr id="6" name="Date Placeholder 5"/>
          <p:cNvSpPr>
            <a:spLocks noGrp="1"/>
          </p:cNvSpPr>
          <p:nvPr>
            <p:ph type="dt" sz="half" idx="10"/>
          </p:nvPr>
        </p:nvSpPr>
        <p:spPr/>
        <p:txBody>
          <a:bodyPr/>
          <a:p>
            <a:fld id="{63A1C593-65D0-4073-BCC9-577B9352EA97}" type="datetime1">
              <a:rPr lang="en-US" smtClean="0"/>
            </a:fld>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94308"/>
            <a:ext cx="3354704" cy="627380"/>
          </a:xfrm>
          <a:prstGeom prst="rect">
            <a:avLst/>
          </a:prstGeom>
        </p:spPr>
        <p:txBody>
          <a:bodyPr vert="horz" wrap="square" lIns="0" tIns="12065" rIns="0" bIns="0" rtlCol="0">
            <a:spAutoFit/>
          </a:bodyPr>
          <a:lstStyle/>
          <a:p>
            <a:pPr marL="12700">
              <a:lnSpc>
                <a:spcPct val="100000"/>
              </a:lnSpc>
              <a:spcBef>
                <a:spcPts val="95"/>
              </a:spcBef>
            </a:pPr>
            <a:r>
              <a:rPr sz="4000" dirty="0"/>
              <a:t>AI</a:t>
            </a:r>
            <a:r>
              <a:rPr sz="4000" spc="-225" dirty="0"/>
              <a:t> </a:t>
            </a:r>
            <a:r>
              <a:rPr sz="4000" spc="-10" dirty="0"/>
              <a:t>Applications</a:t>
            </a:r>
            <a:endParaRPr sz="4000"/>
          </a:p>
        </p:txBody>
      </p:sp>
      <p:sp>
        <p:nvSpPr>
          <p:cNvPr id="3" name="object 3"/>
          <p:cNvSpPr txBox="1"/>
          <p:nvPr/>
        </p:nvSpPr>
        <p:spPr>
          <a:xfrm>
            <a:off x="2517444" y="1428404"/>
            <a:ext cx="5669280" cy="951865"/>
          </a:xfrm>
          <a:prstGeom prst="rect">
            <a:avLst/>
          </a:prstGeom>
        </p:spPr>
        <p:txBody>
          <a:bodyPr vert="horz" wrap="square" lIns="0" tIns="56515" rIns="0" bIns="0" rtlCol="0">
            <a:spAutoFit/>
          </a:bodyPr>
          <a:lstStyle/>
          <a:p>
            <a:pPr marL="283845" indent="-271145">
              <a:lnSpc>
                <a:spcPct val="100000"/>
              </a:lnSpc>
              <a:spcBef>
                <a:spcPts val="445"/>
              </a:spcBef>
              <a:buClr>
                <a:srgbClr val="D24717"/>
              </a:buClr>
              <a:buSzPct val="85000"/>
              <a:buFont typeface="Segoe UI Symbol" panose="020B0502040204020203"/>
              <a:buChar char="⚫"/>
              <a:tabLst>
                <a:tab pos="283845" algn="l"/>
              </a:tabLst>
            </a:pPr>
            <a:r>
              <a:rPr sz="2600" dirty="0">
                <a:latin typeface="Arial MT"/>
                <a:cs typeface="Arial MT"/>
              </a:rPr>
              <a:t>Autonomous</a:t>
            </a:r>
            <a:r>
              <a:rPr sz="2600" spc="-95" dirty="0">
                <a:latin typeface="Arial MT"/>
                <a:cs typeface="Arial MT"/>
              </a:rPr>
              <a:t> </a:t>
            </a:r>
            <a:r>
              <a:rPr sz="2600" dirty="0">
                <a:latin typeface="Arial MT"/>
                <a:cs typeface="Arial MT"/>
              </a:rPr>
              <a:t>Planning</a:t>
            </a:r>
            <a:r>
              <a:rPr sz="2600" spc="-85" dirty="0">
                <a:latin typeface="Arial MT"/>
                <a:cs typeface="Arial MT"/>
              </a:rPr>
              <a:t> </a:t>
            </a:r>
            <a:r>
              <a:rPr sz="2600" dirty="0">
                <a:latin typeface="Arial MT"/>
                <a:cs typeface="Arial MT"/>
              </a:rPr>
              <a:t>&amp;</a:t>
            </a:r>
            <a:r>
              <a:rPr sz="2600" spc="-75" dirty="0">
                <a:latin typeface="Arial MT"/>
                <a:cs typeface="Arial MT"/>
              </a:rPr>
              <a:t> </a:t>
            </a:r>
            <a:r>
              <a:rPr sz="2600" spc="-10" dirty="0">
                <a:latin typeface="Arial MT"/>
                <a:cs typeface="Arial MT"/>
              </a:rPr>
              <a:t>Scheduling:</a:t>
            </a:r>
            <a:endParaRPr sz="2600">
              <a:latin typeface="Arial MT"/>
              <a:cs typeface="Arial MT"/>
            </a:endParaRPr>
          </a:p>
          <a:p>
            <a:pPr marL="560705" lvl="1" indent="-274320">
              <a:lnSpc>
                <a:spcPct val="100000"/>
              </a:lnSpc>
              <a:spcBef>
                <a:spcPts val="385"/>
              </a:spcBef>
              <a:buClr>
                <a:srgbClr val="9B2C1F"/>
              </a:buClr>
              <a:buSzPct val="84000"/>
              <a:buFont typeface="Segoe UI Symbol" panose="020B0502040204020203"/>
              <a:buChar char="⚫"/>
              <a:tabLst>
                <a:tab pos="560705" algn="l"/>
              </a:tabLst>
            </a:pPr>
            <a:r>
              <a:rPr sz="2900" dirty="0">
                <a:latin typeface="Arial MT"/>
                <a:cs typeface="Arial MT"/>
              </a:rPr>
              <a:t>Analysis</a:t>
            </a:r>
            <a:r>
              <a:rPr sz="2900" spc="-15" dirty="0">
                <a:latin typeface="Arial MT"/>
                <a:cs typeface="Arial MT"/>
              </a:rPr>
              <a:t> </a:t>
            </a:r>
            <a:r>
              <a:rPr sz="2900" dirty="0">
                <a:latin typeface="Arial MT"/>
                <a:cs typeface="Arial MT"/>
              </a:rPr>
              <a:t>of</a:t>
            </a:r>
            <a:r>
              <a:rPr sz="2900" spc="-30" dirty="0">
                <a:latin typeface="Arial MT"/>
                <a:cs typeface="Arial MT"/>
              </a:rPr>
              <a:t> </a:t>
            </a:r>
            <a:r>
              <a:rPr sz="2900" spc="-10" dirty="0">
                <a:latin typeface="Arial MT"/>
                <a:cs typeface="Arial MT"/>
              </a:rPr>
              <a:t>data:</a:t>
            </a:r>
            <a:endParaRPr sz="2900">
              <a:latin typeface="Arial MT"/>
              <a:cs typeface="Arial MT"/>
            </a:endParaRPr>
          </a:p>
        </p:txBody>
      </p:sp>
      <p:pic>
        <p:nvPicPr>
          <p:cNvPr id="4" name="object 4"/>
          <p:cNvPicPr/>
          <p:nvPr/>
        </p:nvPicPr>
        <p:blipFill>
          <a:blip r:embed="rId1" cstate="print"/>
          <a:stretch>
            <a:fillRect/>
          </a:stretch>
        </p:blipFill>
        <p:spPr>
          <a:xfrm>
            <a:off x="2135123" y="3212592"/>
            <a:ext cx="2220468" cy="2785872"/>
          </a:xfrm>
          <a:prstGeom prst="rect">
            <a:avLst/>
          </a:prstGeom>
        </p:spPr>
      </p:pic>
      <p:pic>
        <p:nvPicPr>
          <p:cNvPr id="5" name="object 5"/>
          <p:cNvPicPr/>
          <p:nvPr/>
        </p:nvPicPr>
        <p:blipFill>
          <a:blip r:embed="rId2" cstate="print"/>
          <a:stretch>
            <a:fillRect/>
          </a:stretch>
        </p:blipFill>
        <p:spPr>
          <a:xfrm>
            <a:off x="4727448" y="3645408"/>
            <a:ext cx="2685288" cy="1978152"/>
          </a:xfrm>
          <a:prstGeom prst="rect">
            <a:avLst/>
          </a:prstGeom>
        </p:spPr>
      </p:pic>
      <p:pic>
        <p:nvPicPr>
          <p:cNvPr id="6" name="object 6"/>
          <p:cNvPicPr/>
          <p:nvPr/>
        </p:nvPicPr>
        <p:blipFill>
          <a:blip r:embed="rId3" cstate="print"/>
          <a:stretch>
            <a:fillRect/>
          </a:stretch>
        </p:blipFill>
        <p:spPr>
          <a:xfrm>
            <a:off x="7895844" y="3645408"/>
            <a:ext cx="2176272" cy="2142743"/>
          </a:xfrm>
          <a:prstGeom prst="rect">
            <a:avLst/>
          </a:prstGeom>
        </p:spPr>
      </p:pic>
      <p:sp>
        <p:nvSpPr>
          <p:cNvPr id="7" name="Date Placeholder 6"/>
          <p:cNvSpPr>
            <a:spLocks noGrp="1"/>
          </p:cNvSpPr>
          <p:nvPr>
            <p:ph type="dt" sz="half" idx="10"/>
          </p:nvPr>
        </p:nvSpPr>
        <p:spPr/>
        <p:txBody>
          <a:bodyPr/>
          <a:p>
            <a:fld id="{63A1C593-65D0-4073-BCC9-577B9352EA97}" type="datetime1">
              <a:rPr lang="en-US" smtClean="0"/>
            </a:fld>
            <a:endParaRPr lang="en-US"/>
          </a:p>
        </p:txBody>
      </p:sp>
      <p:sp>
        <p:nvSpPr>
          <p:cNvPr id="8" name="Slide Number Placeholder 7"/>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94308"/>
            <a:ext cx="3354704" cy="627380"/>
          </a:xfrm>
          <a:prstGeom prst="rect">
            <a:avLst/>
          </a:prstGeom>
        </p:spPr>
        <p:txBody>
          <a:bodyPr vert="horz" wrap="square" lIns="0" tIns="12065" rIns="0" bIns="0" rtlCol="0">
            <a:spAutoFit/>
          </a:bodyPr>
          <a:lstStyle/>
          <a:p>
            <a:pPr marL="12700">
              <a:lnSpc>
                <a:spcPct val="100000"/>
              </a:lnSpc>
              <a:spcBef>
                <a:spcPts val="95"/>
              </a:spcBef>
            </a:pPr>
            <a:r>
              <a:rPr sz="4000" dirty="0"/>
              <a:t>AI</a:t>
            </a:r>
            <a:r>
              <a:rPr sz="4000" spc="-225" dirty="0"/>
              <a:t> </a:t>
            </a:r>
            <a:r>
              <a:rPr sz="4000" spc="-10" dirty="0"/>
              <a:t>Applications</a:t>
            </a:r>
            <a:endParaRPr sz="4000"/>
          </a:p>
        </p:txBody>
      </p:sp>
      <p:sp>
        <p:nvSpPr>
          <p:cNvPr id="3" name="object 3"/>
          <p:cNvSpPr txBox="1"/>
          <p:nvPr/>
        </p:nvSpPr>
        <p:spPr>
          <a:xfrm>
            <a:off x="2517444" y="1428404"/>
            <a:ext cx="4136390" cy="951865"/>
          </a:xfrm>
          <a:prstGeom prst="rect">
            <a:avLst/>
          </a:prstGeom>
        </p:spPr>
        <p:txBody>
          <a:bodyPr vert="horz" wrap="square" lIns="0" tIns="56515" rIns="0" bIns="0" rtlCol="0">
            <a:spAutoFit/>
          </a:bodyPr>
          <a:lstStyle/>
          <a:p>
            <a:pPr marL="283845" indent="-271145">
              <a:lnSpc>
                <a:spcPct val="100000"/>
              </a:lnSpc>
              <a:spcBef>
                <a:spcPts val="445"/>
              </a:spcBef>
              <a:buClr>
                <a:srgbClr val="D24717"/>
              </a:buClr>
              <a:buSzPct val="85000"/>
              <a:buFont typeface="Segoe UI Symbol" panose="020B0502040204020203"/>
              <a:buChar char="⚫"/>
              <a:tabLst>
                <a:tab pos="283845" algn="l"/>
              </a:tabLst>
            </a:pPr>
            <a:r>
              <a:rPr sz="2600" b="1" spc="-10" dirty="0">
                <a:latin typeface="Arial" panose="020B0604020202020204"/>
                <a:cs typeface="Arial" panose="020B0604020202020204"/>
              </a:rPr>
              <a:t>Medicine</a:t>
            </a:r>
            <a:r>
              <a:rPr sz="2600" spc="-10" dirty="0">
                <a:latin typeface="Arial MT"/>
                <a:cs typeface="Arial MT"/>
              </a:rPr>
              <a:t>:</a:t>
            </a:r>
            <a:endParaRPr sz="2600">
              <a:latin typeface="Arial MT"/>
              <a:cs typeface="Arial MT"/>
            </a:endParaRPr>
          </a:p>
          <a:p>
            <a:pPr marL="560705" lvl="1" indent="-274320">
              <a:lnSpc>
                <a:spcPct val="100000"/>
              </a:lnSpc>
              <a:spcBef>
                <a:spcPts val="385"/>
              </a:spcBef>
              <a:buClr>
                <a:srgbClr val="9B2C1F"/>
              </a:buClr>
              <a:buSzPct val="84000"/>
              <a:buFont typeface="Segoe UI Symbol" panose="020B0502040204020203"/>
              <a:buChar char="⚫"/>
              <a:tabLst>
                <a:tab pos="560705" algn="l"/>
              </a:tabLst>
            </a:pPr>
            <a:r>
              <a:rPr sz="2900" dirty="0">
                <a:latin typeface="Arial MT"/>
                <a:cs typeface="Arial MT"/>
              </a:rPr>
              <a:t>Image</a:t>
            </a:r>
            <a:r>
              <a:rPr sz="2900" spc="-55" dirty="0">
                <a:latin typeface="Arial MT"/>
                <a:cs typeface="Arial MT"/>
              </a:rPr>
              <a:t> </a:t>
            </a:r>
            <a:r>
              <a:rPr sz="2900" dirty="0">
                <a:latin typeface="Arial MT"/>
                <a:cs typeface="Arial MT"/>
              </a:rPr>
              <a:t>guided</a:t>
            </a:r>
            <a:r>
              <a:rPr sz="2900" spc="-40" dirty="0">
                <a:latin typeface="Arial MT"/>
                <a:cs typeface="Arial MT"/>
              </a:rPr>
              <a:t> </a:t>
            </a:r>
            <a:r>
              <a:rPr sz="2900" spc="-10" dirty="0">
                <a:latin typeface="Arial MT"/>
                <a:cs typeface="Arial MT"/>
              </a:rPr>
              <a:t>surgery</a:t>
            </a:r>
            <a:endParaRPr sz="2900">
              <a:latin typeface="Arial MT"/>
              <a:cs typeface="Arial MT"/>
            </a:endParaRPr>
          </a:p>
        </p:txBody>
      </p:sp>
      <p:pic>
        <p:nvPicPr>
          <p:cNvPr id="4" name="object 4"/>
          <p:cNvPicPr/>
          <p:nvPr/>
        </p:nvPicPr>
        <p:blipFill>
          <a:blip r:embed="rId1" cstate="print"/>
          <a:stretch>
            <a:fillRect/>
          </a:stretch>
        </p:blipFill>
        <p:spPr>
          <a:xfrm>
            <a:off x="3008375" y="3243072"/>
            <a:ext cx="3048000" cy="2561843"/>
          </a:xfrm>
          <a:prstGeom prst="rect">
            <a:avLst/>
          </a:prstGeom>
        </p:spPr>
      </p:pic>
      <p:pic>
        <p:nvPicPr>
          <p:cNvPr id="5" name="object 5"/>
          <p:cNvPicPr/>
          <p:nvPr/>
        </p:nvPicPr>
        <p:blipFill>
          <a:blip r:embed="rId2" cstate="print"/>
          <a:stretch>
            <a:fillRect/>
          </a:stretch>
        </p:blipFill>
        <p:spPr>
          <a:xfrm>
            <a:off x="6347459" y="3243072"/>
            <a:ext cx="3409188" cy="2511552"/>
          </a:xfrm>
          <a:prstGeom prst="rect">
            <a:avLst/>
          </a:prstGeom>
        </p:spPr>
      </p:pic>
      <p:sp>
        <p:nvSpPr>
          <p:cNvPr id="6" name="Date Placeholder 5"/>
          <p:cNvSpPr>
            <a:spLocks noGrp="1"/>
          </p:cNvSpPr>
          <p:nvPr>
            <p:ph type="dt" sz="half" idx="10"/>
          </p:nvPr>
        </p:nvSpPr>
        <p:spPr/>
        <p:txBody>
          <a:bodyPr/>
          <a:p>
            <a:fld id="{63A1C593-65D0-4073-BCC9-577B9352EA97}" type="datetime1">
              <a:rPr lang="en-US" smtClean="0"/>
            </a:fld>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94308"/>
            <a:ext cx="3354704" cy="627380"/>
          </a:xfrm>
          <a:prstGeom prst="rect">
            <a:avLst/>
          </a:prstGeom>
        </p:spPr>
        <p:txBody>
          <a:bodyPr vert="horz" wrap="square" lIns="0" tIns="12065" rIns="0" bIns="0" rtlCol="0">
            <a:spAutoFit/>
          </a:bodyPr>
          <a:lstStyle/>
          <a:p>
            <a:pPr marL="12700">
              <a:lnSpc>
                <a:spcPct val="100000"/>
              </a:lnSpc>
              <a:spcBef>
                <a:spcPts val="95"/>
              </a:spcBef>
            </a:pPr>
            <a:r>
              <a:rPr sz="4000" dirty="0"/>
              <a:t>AI</a:t>
            </a:r>
            <a:r>
              <a:rPr sz="4000" spc="-225" dirty="0"/>
              <a:t> </a:t>
            </a:r>
            <a:r>
              <a:rPr sz="4000" spc="-10" dirty="0"/>
              <a:t>Applications</a:t>
            </a:r>
            <a:endParaRPr sz="4000"/>
          </a:p>
        </p:txBody>
      </p:sp>
      <p:sp>
        <p:nvSpPr>
          <p:cNvPr id="3" name="object 3"/>
          <p:cNvSpPr txBox="1"/>
          <p:nvPr/>
        </p:nvSpPr>
        <p:spPr>
          <a:xfrm>
            <a:off x="2517444" y="1428404"/>
            <a:ext cx="6081395" cy="951865"/>
          </a:xfrm>
          <a:prstGeom prst="rect">
            <a:avLst/>
          </a:prstGeom>
        </p:spPr>
        <p:txBody>
          <a:bodyPr vert="horz" wrap="square" lIns="0" tIns="56515" rIns="0" bIns="0" rtlCol="0">
            <a:spAutoFit/>
          </a:bodyPr>
          <a:lstStyle/>
          <a:p>
            <a:pPr marL="283845" indent="-271145">
              <a:lnSpc>
                <a:spcPct val="100000"/>
              </a:lnSpc>
              <a:spcBef>
                <a:spcPts val="445"/>
              </a:spcBef>
              <a:buClr>
                <a:srgbClr val="D24717"/>
              </a:buClr>
              <a:buSzPct val="85000"/>
              <a:buFont typeface="Segoe UI Symbol" panose="020B0502040204020203"/>
              <a:buChar char="⚫"/>
              <a:tabLst>
                <a:tab pos="283845" algn="l"/>
              </a:tabLst>
            </a:pPr>
            <a:r>
              <a:rPr sz="2600" b="1" spc="-10" dirty="0">
                <a:latin typeface="Arial" panose="020B0604020202020204"/>
                <a:cs typeface="Arial" panose="020B0604020202020204"/>
              </a:rPr>
              <a:t>Medicine</a:t>
            </a:r>
            <a:r>
              <a:rPr sz="2600" spc="-10" dirty="0">
                <a:latin typeface="Arial MT"/>
                <a:cs typeface="Arial MT"/>
              </a:rPr>
              <a:t>:</a:t>
            </a:r>
            <a:endParaRPr sz="2600">
              <a:latin typeface="Arial MT"/>
              <a:cs typeface="Arial MT"/>
            </a:endParaRPr>
          </a:p>
          <a:p>
            <a:pPr marL="560705" lvl="1" indent="-274320">
              <a:lnSpc>
                <a:spcPct val="100000"/>
              </a:lnSpc>
              <a:spcBef>
                <a:spcPts val="385"/>
              </a:spcBef>
              <a:buClr>
                <a:srgbClr val="9B2C1F"/>
              </a:buClr>
              <a:buSzPct val="84000"/>
              <a:buFont typeface="Segoe UI Symbol" panose="020B0502040204020203"/>
              <a:buChar char="⚫"/>
              <a:tabLst>
                <a:tab pos="560705" algn="l"/>
              </a:tabLst>
            </a:pPr>
            <a:r>
              <a:rPr sz="2900" dirty="0">
                <a:latin typeface="Arial MT"/>
                <a:cs typeface="Arial MT"/>
              </a:rPr>
              <a:t>Image</a:t>
            </a:r>
            <a:r>
              <a:rPr sz="2900" spc="-80" dirty="0">
                <a:latin typeface="Arial MT"/>
                <a:cs typeface="Arial MT"/>
              </a:rPr>
              <a:t> </a:t>
            </a:r>
            <a:r>
              <a:rPr sz="2900" dirty="0">
                <a:latin typeface="Arial MT"/>
                <a:cs typeface="Arial MT"/>
              </a:rPr>
              <a:t>analysis</a:t>
            </a:r>
            <a:r>
              <a:rPr sz="2900" spc="-55" dirty="0">
                <a:latin typeface="Arial MT"/>
                <a:cs typeface="Arial MT"/>
              </a:rPr>
              <a:t> </a:t>
            </a:r>
            <a:r>
              <a:rPr sz="2900" dirty="0">
                <a:latin typeface="Arial MT"/>
                <a:cs typeface="Arial MT"/>
              </a:rPr>
              <a:t>and</a:t>
            </a:r>
            <a:r>
              <a:rPr sz="2900" spc="-50" dirty="0">
                <a:latin typeface="Arial MT"/>
                <a:cs typeface="Arial MT"/>
              </a:rPr>
              <a:t> </a:t>
            </a:r>
            <a:r>
              <a:rPr sz="2900" spc="-10" dirty="0">
                <a:latin typeface="Arial MT"/>
                <a:cs typeface="Arial MT"/>
              </a:rPr>
              <a:t>enhancement</a:t>
            </a:r>
            <a:endParaRPr sz="2900">
              <a:latin typeface="Arial MT"/>
              <a:cs typeface="Arial MT"/>
            </a:endParaRPr>
          </a:p>
        </p:txBody>
      </p:sp>
      <p:pic>
        <p:nvPicPr>
          <p:cNvPr id="4" name="object 4"/>
          <p:cNvPicPr/>
          <p:nvPr/>
        </p:nvPicPr>
        <p:blipFill>
          <a:blip r:embed="rId1" cstate="print"/>
          <a:stretch>
            <a:fillRect/>
          </a:stretch>
        </p:blipFill>
        <p:spPr>
          <a:xfrm>
            <a:off x="2286000" y="3124200"/>
            <a:ext cx="2894076" cy="1347216"/>
          </a:xfrm>
          <a:prstGeom prst="rect">
            <a:avLst/>
          </a:prstGeom>
        </p:spPr>
      </p:pic>
      <p:grpSp>
        <p:nvGrpSpPr>
          <p:cNvPr id="5" name="object 5"/>
          <p:cNvGrpSpPr/>
          <p:nvPr/>
        </p:nvGrpSpPr>
        <p:grpSpPr>
          <a:xfrm>
            <a:off x="5547359" y="3476244"/>
            <a:ext cx="954405" cy="510540"/>
            <a:chOff x="4023359" y="3476244"/>
            <a:chExt cx="954405" cy="510540"/>
          </a:xfrm>
        </p:grpSpPr>
        <p:sp>
          <p:nvSpPr>
            <p:cNvPr id="6" name="object 6"/>
            <p:cNvSpPr/>
            <p:nvPr/>
          </p:nvSpPr>
          <p:spPr>
            <a:xfrm>
              <a:off x="4027931" y="3480816"/>
              <a:ext cx="944880" cy="501650"/>
            </a:xfrm>
            <a:custGeom>
              <a:avLst/>
              <a:gdLst/>
              <a:ahLst/>
              <a:cxnLst/>
              <a:rect l="l" t="t" r="r" b="b"/>
              <a:pathLst>
                <a:path w="944879" h="501650">
                  <a:moveTo>
                    <a:pt x="708151" y="0"/>
                  </a:moveTo>
                  <a:lnTo>
                    <a:pt x="708151" y="125349"/>
                  </a:lnTo>
                  <a:lnTo>
                    <a:pt x="0" y="125349"/>
                  </a:lnTo>
                  <a:lnTo>
                    <a:pt x="118363" y="250698"/>
                  </a:lnTo>
                  <a:lnTo>
                    <a:pt x="0" y="376047"/>
                  </a:lnTo>
                  <a:lnTo>
                    <a:pt x="708151" y="376047"/>
                  </a:lnTo>
                  <a:lnTo>
                    <a:pt x="708151" y="501396"/>
                  </a:lnTo>
                  <a:lnTo>
                    <a:pt x="944879" y="250698"/>
                  </a:lnTo>
                  <a:lnTo>
                    <a:pt x="708151" y="0"/>
                  </a:lnTo>
                  <a:close/>
                </a:path>
              </a:pathLst>
            </a:custGeom>
            <a:solidFill>
              <a:srgbClr val="D24717"/>
            </a:solidFill>
          </p:spPr>
          <p:txBody>
            <a:bodyPr wrap="square" lIns="0" tIns="0" rIns="0" bIns="0" rtlCol="0"/>
            <a:lstStyle/>
            <a:p/>
          </p:txBody>
        </p:sp>
        <p:sp>
          <p:nvSpPr>
            <p:cNvPr id="7" name="object 7"/>
            <p:cNvSpPr/>
            <p:nvPr/>
          </p:nvSpPr>
          <p:spPr>
            <a:xfrm>
              <a:off x="4027931" y="3480816"/>
              <a:ext cx="944880" cy="501650"/>
            </a:xfrm>
            <a:custGeom>
              <a:avLst/>
              <a:gdLst/>
              <a:ahLst/>
              <a:cxnLst/>
              <a:rect l="l" t="t" r="r" b="b"/>
              <a:pathLst>
                <a:path w="944879" h="501650">
                  <a:moveTo>
                    <a:pt x="0" y="125349"/>
                  </a:moveTo>
                  <a:lnTo>
                    <a:pt x="708151" y="125349"/>
                  </a:lnTo>
                  <a:lnTo>
                    <a:pt x="708151" y="0"/>
                  </a:lnTo>
                  <a:lnTo>
                    <a:pt x="944879" y="250698"/>
                  </a:lnTo>
                  <a:lnTo>
                    <a:pt x="708151" y="501396"/>
                  </a:lnTo>
                  <a:lnTo>
                    <a:pt x="708151" y="376047"/>
                  </a:lnTo>
                  <a:lnTo>
                    <a:pt x="0" y="376047"/>
                  </a:lnTo>
                  <a:lnTo>
                    <a:pt x="118363" y="250698"/>
                  </a:lnTo>
                  <a:lnTo>
                    <a:pt x="0" y="125349"/>
                  </a:lnTo>
                  <a:close/>
                </a:path>
              </a:pathLst>
            </a:custGeom>
            <a:ln w="9144">
              <a:solidFill>
                <a:srgbClr val="000000"/>
              </a:solidFill>
            </a:ln>
          </p:spPr>
          <p:txBody>
            <a:bodyPr wrap="square" lIns="0" tIns="0" rIns="0" bIns="0" rtlCol="0"/>
            <a:lstStyle/>
            <a:p/>
          </p:txBody>
        </p:sp>
      </p:grpSp>
      <p:pic>
        <p:nvPicPr>
          <p:cNvPr id="8" name="object 8"/>
          <p:cNvPicPr/>
          <p:nvPr/>
        </p:nvPicPr>
        <p:blipFill>
          <a:blip r:embed="rId2" cstate="print"/>
          <a:stretch>
            <a:fillRect/>
          </a:stretch>
        </p:blipFill>
        <p:spPr>
          <a:xfrm>
            <a:off x="6784847" y="3124200"/>
            <a:ext cx="2894076" cy="1347216"/>
          </a:xfrm>
          <a:prstGeom prst="rect">
            <a:avLst/>
          </a:prstGeom>
        </p:spPr>
      </p:pic>
      <p:pic>
        <p:nvPicPr>
          <p:cNvPr id="9" name="object 9"/>
          <p:cNvPicPr/>
          <p:nvPr/>
        </p:nvPicPr>
        <p:blipFill>
          <a:blip r:embed="rId3" cstate="print"/>
          <a:stretch>
            <a:fillRect/>
          </a:stretch>
        </p:blipFill>
        <p:spPr>
          <a:xfrm>
            <a:off x="2577083" y="4910328"/>
            <a:ext cx="2031491" cy="1751076"/>
          </a:xfrm>
          <a:prstGeom prst="rect">
            <a:avLst/>
          </a:prstGeom>
        </p:spPr>
      </p:pic>
      <p:pic>
        <p:nvPicPr>
          <p:cNvPr id="10" name="object 10"/>
          <p:cNvPicPr/>
          <p:nvPr/>
        </p:nvPicPr>
        <p:blipFill>
          <a:blip r:embed="rId4" cstate="print"/>
          <a:stretch>
            <a:fillRect/>
          </a:stretch>
        </p:blipFill>
        <p:spPr>
          <a:xfrm>
            <a:off x="7255764" y="4773167"/>
            <a:ext cx="1815084" cy="1601724"/>
          </a:xfrm>
          <a:prstGeom prst="rect">
            <a:avLst/>
          </a:prstGeom>
        </p:spPr>
      </p:pic>
      <p:sp>
        <p:nvSpPr>
          <p:cNvPr id="11" name="Date Placeholder 10"/>
          <p:cNvSpPr>
            <a:spLocks noGrp="1"/>
          </p:cNvSpPr>
          <p:nvPr>
            <p:ph type="dt" sz="half" idx="10"/>
          </p:nvPr>
        </p:nvSpPr>
        <p:spPr/>
        <p:txBody>
          <a:bodyPr/>
          <a:p>
            <a:fld id="{63A1C593-65D0-4073-BCC9-577B9352EA97}" type="datetime1">
              <a:rPr lang="en-US" smtClean="0"/>
            </a:fld>
            <a:endParaRPr lang="en-US"/>
          </a:p>
        </p:txBody>
      </p:sp>
      <p:sp>
        <p:nvSpPr>
          <p:cNvPr id="12" name="Slide Number Placeholder 11"/>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8540" y="1029208"/>
            <a:ext cx="3356610" cy="627380"/>
          </a:xfrm>
          <a:prstGeom prst="rect">
            <a:avLst/>
          </a:prstGeom>
        </p:spPr>
        <p:txBody>
          <a:bodyPr vert="horz" wrap="square" lIns="0" tIns="12065" rIns="0" bIns="0" rtlCol="0">
            <a:spAutoFit/>
          </a:bodyPr>
          <a:lstStyle/>
          <a:p>
            <a:pPr marL="12700">
              <a:lnSpc>
                <a:spcPct val="100000"/>
              </a:lnSpc>
              <a:spcBef>
                <a:spcPts val="95"/>
              </a:spcBef>
            </a:pPr>
            <a:r>
              <a:rPr sz="4000" dirty="0"/>
              <a:t>AI</a:t>
            </a:r>
            <a:r>
              <a:rPr sz="4000" spc="-220" dirty="0"/>
              <a:t> </a:t>
            </a:r>
            <a:r>
              <a:rPr sz="4000" spc="-10" dirty="0"/>
              <a:t>Applications</a:t>
            </a:r>
            <a:endParaRPr sz="4000"/>
          </a:p>
        </p:txBody>
      </p:sp>
      <p:sp>
        <p:nvSpPr>
          <p:cNvPr id="3" name="object 3"/>
          <p:cNvSpPr txBox="1"/>
          <p:nvPr/>
        </p:nvSpPr>
        <p:spPr>
          <a:xfrm>
            <a:off x="2288540" y="1946984"/>
            <a:ext cx="2919095" cy="1323340"/>
          </a:xfrm>
          <a:prstGeom prst="rect">
            <a:avLst/>
          </a:prstGeom>
        </p:spPr>
        <p:txBody>
          <a:bodyPr vert="horz" wrap="square" lIns="0" tIns="70485" rIns="0" bIns="0" rtlCol="0">
            <a:spAutoFit/>
          </a:bodyPr>
          <a:lstStyle/>
          <a:p>
            <a:pPr marL="283845" indent="-271145">
              <a:lnSpc>
                <a:spcPct val="100000"/>
              </a:lnSpc>
              <a:spcBef>
                <a:spcPts val="555"/>
              </a:spcBef>
              <a:buClr>
                <a:srgbClr val="D24717"/>
              </a:buClr>
              <a:buSzPct val="84000"/>
              <a:buFont typeface="Segoe UI Symbol" panose="020B0502040204020203"/>
              <a:buChar char="⚫"/>
              <a:tabLst>
                <a:tab pos="283845" algn="l"/>
              </a:tabLst>
            </a:pPr>
            <a:r>
              <a:rPr sz="2800" b="1" spc="-10" dirty="0">
                <a:latin typeface="Arial" panose="020B0604020202020204"/>
                <a:cs typeface="Arial" panose="020B0604020202020204"/>
              </a:rPr>
              <a:t>Transportation</a:t>
            </a:r>
            <a:r>
              <a:rPr sz="2800" spc="-10" dirty="0">
                <a:latin typeface="Arial MT"/>
                <a:cs typeface="Arial MT"/>
              </a:rPr>
              <a:t>:</a:t>
            </a:r>
            <a:endParaRPr sz="2800">
              <a:latin typeface="Arial MT"/>
              <a:cs typeface="Arial MT"/>
            </a:endParaRPr>
          </a:p>
          <a:p>
            <a:pPr marL="561340" marR="5080" lvl="1" indent="-238760">
              <a:lnSpc>
                <a:spcPct val="100000"/>
              </a:lnSpc>
              <a:spcBef>
                <a:spcPts val="410"/>
              </a:spcBef>
              <a:buClr>
                <a:srgbClr val="9B2C1F"/>
              </a:buClr>
              <a:buSzPct val="84000"/>
              <a:buFont typeface="Segoe UI Symbol" panose="020B0502040204020203"/>
              <a:buChar char="⚫"/>
              <a:tabLst>
                <a:tab pos="561340" algn="l"/>
              </a:tabLst>
            </a:pPr>
            <a:r>
              <a:rPr sz="2500" b="1" spc="-10" dirty="0">
                <a:latin typeface="Arial" panose="020B0604020202020204"/>
                <a:cs typeface="Arial" panose="020B0604020202020204"/>
              </a:rPr>
              <a:t>Autonomous </a:t>
            </a:r>
            <a:r>
              <a:rPr sz="2500" b="1" dirty="0">
                <a:latin typeface="Arial" panose="020B0604020202020204"/>
                <a:cs typeface="Arial" panose="020B0604020202020204"/>
              </a:rPr>
              <a:t>vehicle</a:t>
            </a:r>
            <a:r>
              <a:rPr sz="2500" b="1" spc="-80" dirty="0">
                <a:latin typeface="Arial" panose="020B0604020202020204"/>
                <a:cs typeface="Arial" panose="020B0604020202020204"/>
              </a:rPr>
              <a:t> </a:t>
            </a:r>
            <a:r>
              <a:rPr sz="2500" b="1" spc="-10" dirty="0">
                <a:latin typeface="Arial" panose="020B0604020202020204"/>
                <a:cs typeface="Arial" panose="020B0604020202020204"/>
              </a:rPr>
              <a:t>control:</a:t>
            </a:r>
            <a:endParaRPr sz="2500">
              <a:latin typeface="Arial" panose="020B0604020202020204"/>
              <a:cs typeface="Arial" panose="020B0604020202020204"/>
            </a:endParaRPr>
          </a:p>
        </p:txBody>
      </p:sp>
      <p:pic>
        <p:nvPicPr>
          <p:cNvPr id="4" name="object 4"/>
          <p:cNvPicPr/>
          <p:nvPr/>
        </p:nvPicPr>
        <p:blipFill>
          <a:blip r:embed="rId1" cstate="print"/>
          <a:stretch>
            <a:fillRect/>
          </a:stretch>
        </p:blipFill>
        <p:spPr>
          <a:xfrm>
            <a:off x="2971800" y="3355847"/>
            <a:ext cx="5943600" cy="2578608"/>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94308"/>
            <a:ext cx="3354704" cy="627380"/>
          </a:xfrm>
          <a:prstGeom prst="rect">
            <a:avLst/>
          </a:prstGeom>
        </p:spPr>
        <p:txBody>
          <a:bodyPr vert="horz" wrap="square" lIns="0" tIns="12065" rIns="0" bIns="0" rtlCol="0">
            <a:spAutoFit/>
          </a:bodyPr>
          <a:lstStyle/>
          <a:p>
            <a:pPr marL="12700">
              <a:lnSpc>
                <a:spcPct val="100000"/>
              </a:lnSpc>
              <a:spcBef>
                <a:spcPts val="95"/>
              </a:spcBef>
            </a:pPr>
            <a:r>
              <a:rPr sz="4000" dirty="0"/>
              <a:t>AI</a:t>
            </a:r>
            <a:r>
              <a:rPr sz="4000" spc="-225" dirty="0"/>
              <a:t> </a:t>
            </a:r>
            <a:r>
              <a:rPr sz="4000" spc="-10" dirty="0"/>
              <a:t>Applications</a:t>
            </a:r>
            <a:endParaRPr sz="4000"/>
          </a:p>
        </p:txBody>
      </p:sp>
      <p:sp>
        <p:nvSpPr>
          <p:cNvPr id="3" name="object 3"/>
          <p:cNvSpPr txBox="1"/>
          <p:nvPr/>
        </p:nvSpPr>
        <p:spPr>
          <a:xfrm>
            <a:off x="2517444" y="1428404"/>
            <a:ext cx="4323080" cy="951865"/>
          </a:xfrm>
          <a:prstGeom prst="rect">
            <a:avLst/>
          </a:prstGeom>
        </p:spPr>
        <p:txBody>
          <a:bodyPr vert="horz" wrap="square" lIns="0" tIns="56515" rIns="0" bIns="0" rtlCol="0">
            <a:spAutoFit/>
          </a:bodyPr>
          <a:lstStyle/>
          <a:p>
            <a:pPr marL="283845" indent="-271145">
              <a:lnSpc>
                <a:spcPct val="100000"/>
              </a:lnSpc>
              <a:spcBef>
                <a:spcPts val="445"/>
              </a:spcBef>
              <a:buClr>
                <a:srgbClr val="D24717"/>
              </a:buClr>
              <a:buSzPct val="85000"/>
              <a:buFont typeface="Segoe UI Symbol" panose="020B0502040204020203"/>
              <a:buChar char="⚫"/>
              <a:tabLst>
                <a:tab pos="283845" algn="l"/>
              </a:tabLst>
            </a:pPr>
            <a:r>
              <a:rPr sz="2600" b="1" spc="-10" dirty="0">
                <a:latin typeface="Arial" panose="020B0604020202020204"/>
                <a:cs typeface="Arial" panose="020B0604020202020204"/>
              </a:rPr>
              <a:t>Transportation</a:t>
            </a:r>
            <a:r>
              <a:rPr sz="2600" spc="-10" dirty="0">
                <a:latin typeface="Arial MT"/>
                <a:cs typeface="Arial MT"/>
              </a:rPr>
              <a:t>:</a:t>
            </a:r>
            <a:endParaRPr sz="2600">
              <a:latin typeface="Arial MT"/>
              <a:cs typeface="Arial MT"/>
            </a:endParaRPr>
          </a:p>
          <a:p>
            <a:pPr marL="560705" lvl="1" indent="-274320">
              <a:lnSpc>
                <a:spcPct val="100000"/>
              </a:lnSpc>
              <a:spcBef>
                <a:spcPts val="385"/>
              </a:spcBef>
              <a:buClr>
                <a:srgbClr val="9B2C1F"/>
              </a:buClr>
              <a:buSzPct val="84000"/>
              <a:buFont typeface="Segoe UI Symbol" panose="020B0502040204020203"/>
              <a:buChar char="⚫"/>
              <a:tabLst>
                <a:tab pos="560705" algn="l"/>
              </a:tabLst>
            </a:pPr>
            <a:r>
              <a:rPr sz="2900" b="1" dirty="0">
                <a:latin typeface="Arial" panose="020B0604020202020204"/>
                <a:cs typeface="Arial" panose="020B0604020202020204"/>
              </a:rPr>
              <a:t>Pedestrian</a:t>
            </a:r>
            <a:r>
              <a:rPr sz="2900" b="1" spc="-70" dirty="0">
                <a:latin typeface="Arial" panose="020B0604020202020204"/>
                <a:cs typeface="Arial" panose="020B0604020202020204"/>
              </a:rPr>
              <a:t> </a:t>
            </a:r>
            <a:r>
              <a:rPr sz="2900" b="1" spc="-10" dirty="0">
                <a:latin typeface="Arial" panose="020B0604020202020204"/>
                <a:cs typeface="Arial" panose="020B0604020202020204"/>
              </a:rPr>
              <a:t>detection:</a:t>
            </a:r>
            <a:endParaRPr sz="2900">
              <a:latin typeface="Arial" panose="020B0604020202020204"/>
              <a:cs typeface="Arial" panose="020B0604020202020204"/>
            </a:endParaRPr>
          </a:p>
        </p:txBody>
      </p:sp>
      <p:pic>
        <p:nvPicPr>
          <p:cNvPr id="4" name="object 4"/>
          <p:cNvPicPr/>
          <p:nvPr/>
        </p:nvPicPr>
        <p:blipFill>
          <a:blip r:embed="rId1" cstate="print"/>
          <a:stretch>
            <a:fillRect/>
          </a:stretch>
        </p:blipFill>
        <p:spPr>
          <a:xfrm>
            <a:off x="2743200" y="3276600"/>
            <a:ext cx="6603492" cy="3043428"/>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17444" y="690498"/>
            <a:ext cx="3354704" cy="627380"/>
          </a:xfrm>
          <a:prstGeom prst="rect">
            <a:avLst/>
          </a:prstGeom>
        </p:spPr>
        <p:txBody>
          <a:bodyPr vert="horz" wrap="square" lIns="0" tIns="12065" rIns="0" bIns="0" rtlCol="0">
            <a:spAutoFit/>
          </a:bodyPr>
          <a:lstStyle/>
          <a:p>
            <a:pPr marL="12700">
              <a:lnSpc>
                <a:spcPct val="100000"/>
              </a:lnSpc>
              <a:spcBef>
                <a:spcPts val="95"/>
              </a:spcBef>
            </a:pPr>
            <a:r>
              <a:rPr sz="4000" dirty="0">
                <a:solidFill>
                  <a:srgbClr val="696363"/>
                </a:solidFill>
                <a:latin typeface="Arial MT"/>
                <a:cs typeface="Arial MT"/>
              </a:rPr>
              <a:t>AI</a:t>
            </a:r>
            <a:r>
              <a:rPr sz="4000" spc="-225" dirty="0">
                <a:solidFill>
                  <a:srgbClr val="696363"/>
                </a:solidFill>
                <a:latin typeface="Arial MT"/>
                <a:cs typeface="Arial MT"/>
              </a:rPr>
              <a:t> </a:t>
            </a:r>
            <a:r>
              <a:rPr sz="4000" spc="-10" dirty="0">
                <a:solidFill>
                  <a:srgbClr val="696363"/>
                </a:solidFill>
                <a:latin typeface="Arial MT"/>
                <a:cs typeface="Arial MT"/>
              </a:rPr>
              <a:t>Applications</a:t>
            </a:r>
            <a:endParaRPr sz="4000">
              <a:latin typeface="Arial MT"/>
              <a:cs typeface="Arial MT"/>
            </a:endParaRPr>
          </a:p>
        </p:txBody>
      </p:sp>
      <p:pic>
        <p:nvPicPr>
          <p:cNvPr id="3" name="object 3"/>
          <p:cNvPicPr/>
          <p:nvPr/>
        </p:nvPicPr>
        <p:blipFill>
          <a:blip r:embed="rId1" cstate="print"/>
          <a:stretch>
            <a:fillRect/>
          </a:stretch>
        </p:blipFill>
        <p:spPr>
          <a:xfrm>
            <a:off x="2895600" y="2438400"/>
            <a:ext cx="5734811" cy="4232148"/>
          </a:xfrm>
          <a:prstGeom prst="rect">
            <a:avLst/>
          </a:prstGeom>
        </p:spPr>
      </p:pic>
      <p:sp>
        <p:nvSpPr>
          <p:cNvPr id="4" name="object 4"/>
          <p:cNvSpPr txBox="1"/>
          <p:nvPr/>
        </p:nvSpPr>
        <p:spPr>
          <a:xfrm>
            <a:off x="3203194" y="1849577"/>
            <a:ext cx="1169670" cy="442595"/>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Times New Roman" panose="02020603050405020304"/>
                <a:cs typeface="Times New Roman" panose="02020603050405020304"/>
              </a:rPr>
              <a:t>Games</a:t>
            </a:r>
            <a:r>
              <a:rPr sz="2800" spc="-10" dirty="0">
                <a:latin typeface="Times New Roman" panose="02020603050405020304"/>
                <a:cs typeface="Times New Roman" panose="02020603050405020304"/>
              </a:rPr>
              <a:t>:</a:t>
            </a:r>
            <a:endParaRPr sz="2800">
              <a:latin typeface="Times New Roman" panose="02020603050405020304"/>
              <a:cs typeface="Times New Roman" panose="02020603050405020304"/>
            </a:endParaRPr>
          </a:p>
        </p:txBody>
      </p:sp>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94308"/>
            <a:ext cx="3354704" cy="627380"/>
          </a:xfrm>
          <a:prstGeom prst="rect">
            <a:avLst/>
          </a:prstGeom>
        </p:spPr>
        <p:txBody>
          <a:bodyPr vert="horz" wrap="square" lIns="0" tIns="12065" rIns="0" bIns="0" rtlCol="0">
            <a:spAutoFit/>
          </a:bodyPr>
          <a:lstStyle/>
          <a:p>
            <a:pPr marL="12700">
              <a:lnSpc>
                <a:spcPct val="100000"/>
              </a:lnSpc>
              <a:spcBef>
                <a:spcPts val="95"/>
              </a:spcBef>
            </a:pPr>
            <a:r>
              <a:rPr sz="4000" dirty="0"/>
              <a:t>AI</a:t>
            </a:r>
            <a:r>
              <a:rPr sz="4000" spc="-225" dirty="0"/>
              <a:t> </a:t>
            </a:r>
            <a:r>
              <a:rPr sz="4000" spc="-10" dirty="0"/>
              <a:t>Applications</a:t>
            </a:r>
            <a:endParaRPr sz="4000"/>
          </a:p>
        </p:txBody>
      </p:sp>
      <p:sp>
        <p:nvSpPr>
          <p:cNvPr id="3" name="object 3"/>
          <p:cNvSpPr txBox="1"/>
          <p:nvPr/>
        </p:nvSpPr>
        <p:spPr>
          <a:xfrm>
            <a:off x="2517444" y="1471930"/>
            <a:ext cx="1495425" cy="413385"/>
          </a:xfrm>
          <a:prstGeom prst="rect">
            <a:avLst/>
          </a:prstGeom>
        </p:spPr>
        <p:txBody>
          <a:bodyPr vert="horz" wrap="square" lIns="0" tIns="13335" rIns="0" bIns="0" rtlCol="0">
            <a:spAutoFit/>
          </a:bodyPr>
          <a:lstStyle/>
          <a:p>
            <a:pPr marL="283845" indent="-271145">
              <a:lnSpc>
                <a:spcPct val="100000"/>
              </a:lnSpc>
              <a:spcBef>
                <a:spcPts val="105"/>
              </a:spcBef>
              <a:buClr>
                <a:srgbClr val="D24717"/>
              </a:buClr>
              <a:buSzPct val="85000"/>
              <a:buFont typeface="Segoe UI Symbol" panose="020B0502040204020203"/>
              <a:buChar char="⚫"/>
              <a:tabLst>
                <a:tab pos="283845" algn="l"/>
              </a:tabLst>
            </a:pPr>
            <a:r>
              <a:rPr sz="2600" b="1" spc="-10" dirty="0">
                <a:latin typeface="Arial" panose="020B0604020202020204"/>
                <a:cs typeface="Arial" panose="020B0604020202020204"/>
              </a:rPr>
              <a:t>Games</a:t>
            </a:r>
            <a:r>
              <a:rPr sz="2600" spc="-10" dirty="0">
                <a:latin typeface="Arial MT"/>
                <a:cs typeface="Arial MT"/>
              </a:rPr>
              <a:t>:</a:t>
            </a:r>
            <a:endParaRPr sz="2600">
              <a:latin typeface="Arial MT"/>
              <a:cs typeface="Arial MT"/>
            </a:endParaRPr>
          </a:p>
        </p:txBody>
      </p:sp>
      <p:pic>
        <p:nvPicPr>
          <p:cNvPr id="4" name="object 4"/>
          <p:cNvPicPr/>
          <p:nvPr/>
        </p:nvPicPr>
        <p:blipFill>
          <a:blip r:embed="rId1" cstate="print"/>
          <a:stretch>
            <a:fillRect/>
          </a:stretch>
        </p:blipFill>
        <p:spPr>
          <a:xfrm>
            <a:off x="4038600" y="2286000"/>
            <a:ext cx="4354067" cy="4277868"/>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7444" y="694308"/>
            <a:ext cx="3354704" cy="627380"/>
          </a:xfrm>
          <a:prstGeom prst="rect">
            <a:avLst/>
          </a:prstGeom>
        </p:spPr>
        <p:txBody>
          <a:bodyPr vert="horz" wrap="square" lIns="0" tIns="12065" rIns="0" bIns="0" rtlCol="0">
            <a:spAutoFit/>
          </a:bodyPr>
          <a:lstStyle/>
          <a:p>
            <a:pPr marL="12700">
              <a:lnSpc>
                <a:spcPct val="100000"/>
              </a:lnSpc>
              <a:spcBef>
                <a:spcPts val="95"/>
              </a:spcBef>
            </a:pPr>
            <a:r>
              <a:rPr sz="4000" dirty="0"/>
              <a:t>AI</a:t>
            </a:r>
            <a:r>
              <a:rPr sz="4000" spc="-225" dirty="0"/>
              <a:t> </a:t>
            </a:r>
            <a:r>
              <a:rPr sz="4000" spc="-10" dirty="0"/>
              <a:t>Applications</a:t>
            </a:r>
            <a:endParaRPr sz="4000"/>
          </a:p>
        </p:txBody>
      </p:sp>
      <p:sp>
        <p:nvSpPr>
          <p:cNvPr id="3" name="object 3"/>
          <p:cNvSpPr txBox="1"/>
          <p:nvPr/>
        </p:nvSpPr>
        <p:spPr>
          <a:xfrm>
            <a:off x="2517444" y="1471930"/>
            <a:ext cx="2390140" cy="413385"/>
          </a:xfrm>
          <a:prstGeom prst="rect">
            <a:avLst/>
          </a:prstGeom>
        </p:spPr>
        <p:txBody>
          <a:bodyPr vert="horz" wrap="square" lIns="0" tIns="13335" rIns="0" bIns="0" rtlCol="0">
            <a:spAutoFit/>
          </a:bodyPr>
          <a:lstStyle/>
          <a:p>
            <a:pPr marL="283845" indent="-271145">
              <a:lnSpc>
                <a:spcPct val="100000"/>
              </a:lnSpc>
              <a:spcBef>
                <a:spcPts val="105"/>
              </a:spcBef>
              <a:buClr>
                <a:srgbClr val="D24717"/>
              </a:buClr>
              <a:buSzPct val="85000"/>
              <a:buFont typeface="Segoe UI Symbol" panose="020B0502040204020203"/>
              <a:buChar char="⚫"/>
              <a:tabLst>
                <a:tab pos="283845" algn="l"/>
              </a:tabLst>
            </a:pPr>
            <a:r>
              <a:rPr sz="2600" b="1" dirty="0">
                <a:latin typeface="Arial" panose="020B0604020202020204"/>
                <a:cs typeface="Arial" panose="020B0604020202020204"/>
              </a:rPr>
              <a:t>Robotic</a:t>
            </a:r>
            <a:r>
              <a:rPr sz="2600" b="1" spc="-35" dirty="0">
                <a:latin typeface="Arial" panose="020B0604020202020204"/>
                <a:cs typeface="Arial" panose="020B0604020202020204"/>
              </a:rPr>
              <a:t> </a:t>
            </a:r>
            <a:r>
              <a:rPr sz="2600" b="1" spc="-10" dirty="0">
                <a:latin typeface="Arial" panose="020B0604020202020204"/>
                <a:cs typeface="Arial" panose="020B0604020202020204"/>
              </a:rPr>
              <a:t>toys</a:t>
            </a:r>
            <a:r>
              <a:rPr sz="2600" spc="-10" dirty="0">
                <a:latin typeface="Arial MT"/>
                <a:cs typeface="Arial MT"/>
              </a:rPr>
              <a:t>:</a:t>
            </a:r>
            <a:endParaRPr sz="2600">
              <a:latin typeface="Arial MT"/>
              <a:cs typeface="Arial MT"/>
            </a:endParaRPr>
          </a:p>
        </p:txBody>
      </p:sp>
      <p:pic>
        <p:nvPicPr>
          <p:cNvPr id="4" name="object 4"/>
          <p:cNvPicPr/>
          <p:nvPr/>
        </p:nvPicPr>
        <p:blipFill>
          <a:blip r:embed="rId1" cstate="print"/>
          <a:stretch>
            <a:fillRect/>
          </a:stretch>
        </p:blipFill>
        <p:spPr>
          <a:xfrm>
            <a:off x="3723132" y="2807207"/>
            <a:ext cx="1356359" cy="1427988"/>
          </a:xfrm>
          <a:prstGeom prst="rect">
            <a:avLst/>
          </a:prstGeom>
        </p:spPr>
      </p:pic>
      <p:pic>
        <p:nvPicPr>
          <p:cNvPr id="5" name="object 5"/>
          <p:cNvPicPr/>
          <p:nvPr/>
        </p:nvPicPr>
        <p:blipFill>
          <a:blip r:embed="rId2" cstate="print"/>
          <a:stretch>
            <a:fillRect/>
          </a:stretch>
        </p:blipFill>
        <p:spPr>
          <a:xfrm>
            <a:off x="6408420" y="3450335"/>
            <a:ext cx="1487424" cy="2642616"/>
          </a:xfrm>
          <a:prstGeom prst="rect">
            <a:avLst/>
          </a:prstGeom>
        </p:spPr>
      </p:pic>
      <p:sp>
        <p:nvSpPr>
          <p:cNvPr id="6" name="Date Placeholder 5"/>
          <p:cNvSpPr>
            <a:spLocks noGrp="1"/>
          </p:cNvSpPr>
          <p:nvPr>
            <p:ph type="dt" sz="half" idx="10"/>
          </p:nvPr>
        </p:nvSpPr>
        <p:spPr/>
        <p:txBody>
          <a:bodyPr/>
          <a:p>
            <a:fld id="{63A1C593-65D0-4073-BCC9-577B9352EA97}" type="datetime1">
              <a:rPr lang="en-US" smtClean="0"/>
            </a:fld>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Types</a:t>
            </a:r>
            <a:r>
              <a:rPr spc="-20" dirty="0"/>
              <a:t> </a:t>
            </a:r>
            <a:r>
              <a:rPr dirty="0"/>
              <a:t>of</a:t>
            </a:r>
            <a:r>
              <a:rPr spc="-20" dirty="0"/>
              <a:t> </a:t>
            </a:r>
            <a:r>
              <a:rPr dirty="0"/>
              <a:t>bias</a:t>
            </a:r>
            <a:r>
              <a:rPr spc="-15" dirty="0"/>
              <a:t> </a:t>
            </a:r>
            <a:r>
              <a:rPr dirty="0"/>
              <a:t>in</a:t>
            </a:r>
            <a:r>
              <a:rPr spc="-20" dirty="0"/>
              <a:t> </a:t>
            </a:r>
            <a:r>
              <a:rPr dirty="0"/>
              <a:t>machine</a:t>
            </a:r>
            <a:r>
              <a:rPr spc="-15" dirty="0"/>
              <a:t> </a:t>
            </a:r>
            <a:r>
              <a:rPr spc="-10" dirty="0"/>
              <a:t>learning</a:t>
            </a:r>
            <a:endParaRPr spc="-10" dirty="0"/>
          </a:p>
        </p:txBody>
      </p:sp>
      <p:graphicFrame>
        <p:nvGraphicFramePr>
          <p:cNvPr id="3" name="object 3"/>
          <p:cNvGraphicFramePr>
            <a:graphicFrameLocks noGrp="1"/>
          </p:cNvGraphicFramePr>
          <p:nvPr/>
        </p:nvGraphicFramePr>
        <p:xfrm>
          <a:off x="409249" y="1470083"/>
          <a:ext cx="11166475" cy="5171440"/>
        </p:xfrm>
        <a:graphic>
          <a:graphicData uri="http://schemas.openxmlformats.org/drawingml/2006/table">
            <a:tbl>
              <a:tblPr firstRow="1" bandRow="1">
                <a:tableStyleId>{2D5ABB26-0587-4C30-8999-92F81FD0307C}</a:tableStyleId>
              </a:tblPr>
              <a:tblGrid>
                <a:gridCol w="2225040"/>
                <a:gridCol w="8941435"/>
              </a:tblGrid>
              <a:tr h="455295">
                <a:tc>
                  <a:txBody>
                    <a:bodyPr/>
                    <a:lstStyle/>
                    <a:p>
                      <a:pPr marL="85725">
                        <a:lnSpc>
                          <a:spcPct val="100000"/>
                        </a:lnSpc>
                        <a:spcBef>
                          <a:spcPts val="620"/>
                        </a:spcBef>
                      </a:pPr>
                      <a:r>
                        <a:rPr sz="1800" spc="-20" dirty="0">
                          <a:latin typeface="Calibri" panose="020F0502020204030204" charset="0"/>
                          <a:cs typeface="Calibri" panose="020F0502020204030204" charset="0"/>
                        </a:rPr>
                        <a:t>Type</a:t>
                      </a:r>
                      <a:endParaRPr sz="1800" spc="-2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20"/>
                        </a:spcBef>
                      </a:pPr>
                      <a:r>
                        <a:rPr sz="1800" spc="-10" dirty="0">
                          <a:latin typeface="Calibri" panose="020F0502020204030204" charset="0"/>
                          <a:cs typeface="Calibri" panose="020F0502020204030204" charset="0"/>
                        </a:rPr>
                        <a:t>Definition</a:t>
                      </a:r>
                      <a:endParaRPr sz="1800" spc="-1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r h="654685">
                <a:tc>
                  <a:txBody>
                    <a:bodyPr/>
                    <a:lstStyle/>
                    <a:p>
                      <a:pPr marL="85725">
                        <a:lnSpc>
                          <a:spcPct val="100000"/>
                        </a:lnSpc>
                        <a:spcBef>
                          <a:spcPts val="620"/>
                        </a:spcBef>
                      </a:pPr>
                      <a:r>
                        <a:rPr sz="1800" dirty="0">
                          <a:latin typeface="Calibri" panose="020F0502020204030204" charset="0"/>
                          <a:cs typeface="Calibri" panose="020F0502020204030204" charset="0"/>
                        </a:rPr>
                        <a:t>Prejudice</a:t>
                      </a:r>
                      <a:r>
                        <a:rPr sz="1800" spc="-55" dirty="0">
                          <a:latin typeface="Calibri" panose="020F0502020204030204" charset="0"/>
                          <a:cs typeface="Calibri" panose="020F0502020204030204" charset="0"/>
                        </a:rPr>
                        <a:t> </a:t>
                      </a:r>
                      <a:r>
                        <a:rPr sz="1800" spc="-20" dirty="0">
                          <a:latin typeface="Calibri" panose="020F0502020204030204" charset="0"/>
                          <a:cs typeface="Calibri" panose="020F0502020204030204" charset="0"/>
                        </a:rPr>
                        <a:t>bias</a:t>
                      </a:r>
                      <a:endParaRPr sz="180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713105">
                        <a:lnSpc>
                          <a:spcPct val="100000"/>
                        </a:lnSpc>
                        <a:spcBef>
                          <a:spcPts val="620"/>
                        </a:spcBef>
                      </a:pPr>
                      <a:r>
                        <a:rPr sz="1800" dirty="0">
                          <a:latin typeface="Calibri" panose="020F0502020204030204" charset="0"/>
                          <a:cs typeface="Calibri" panose="020F0502020204030204" charset="0"/>
                        </a:rPr>
                        <a:t>Arises</a:t>
                      </a:r>
                      <a:r>
                        <a:rPr sz="1800" spc="-4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when</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data</a:t>
                      </a:r>
                      <a:r>
                        <a:rPr sz="1800" spc="-4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incorporates</a:t>
                      </a:r>
                      <a:r>
                        <a:rPr sz="1800" spc="-3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cultural,</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race,</a:t>
                      </a:r>
                      <a:r>
                        <a:rPr sz="1800" spc="-4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gender</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or</a:t>
                      </a:r>
                      <a:r>
                        <a:rPr sz="1800" spc="-3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stereotypes</a:t>
                      </a:r>
                      <a:r>
                        <a:rPr sz="1800" spc="-4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it</a:t>
                      </a:r>
                      <a:r>
                        <a:rPr sz="1800" spc="-3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should</a:t>
                      </a:r>
                      <a:r>
                        <a:rPr sz="1800" spc="-35"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be </a:t>
                      </a:r>
                      <a:r>
                        <a:rPr sz="1800" spc="-10" dirty="0">
                          <a:latin typeface="Calibri" panose="020F0502020204030204" charset="0"/>
                          <a:cs typeface="Calibri" panose="020F0502020204030204" charset="0"/>
                        </a:rPr>
                        <a:t>ignorant</a:t>
                      </a:r>
                      <a:r>
                        <a:rPr sz="1800" spc="-65"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of</a:t>
                      </a:r>
                      <a:endParaRPr sz="180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r h="1475740">
                <a:tc>
                  <a:txBody>
                    <a:bodyPr/>
                    <a:lstStyle/>
                    <a:p>
                      <a:pPr marL="85725">
                        <a:lnSpc>
                          <a:spcPct val="100000"/>
                        </a:lnSpc>
                        <a:spcBef>
                          <a:spcPts val="620"/>
                        </a:spcBef>
                      </a:pPr>
                      <a:r>
                        <a:rPr sz="1800" spc="-10" dirty="0">
                          <a:latin typeface="Calibri" panose="020F0502020204030204" charset="0"/>
                          <a:cs typeface="Calibri" panose="020F0502020204030204" charset="0"/>
                        </a:rPr>
                        <a:t>Selection </a:t>
                      </a:r>
                      <a:r>
                        <a:rPr sz="1800" spc="-20" dirty="0">
                          <a:latin typeface="Calibri" panose="020F0502020204030204" charset="0"/>
                          <a:cs typeface="Calibri" panose="020F0502020204030204" charset="0"/>
                        </a:rPr>
                        <a:t>bias</a:t>
                      </a:r>
                      <a:endParaRPr sz="180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102870">
                        <a:lnSpc>
                          <a:spcPct val="100000"/>
                        </a:lnSpc>
                        <a:spcBef>
                          <a:spcPts val="620"/>
                        </a:spcBef>
                      </a:pPr>
                      <a:r>
                        <a:rPr sz="1800" spc="-10" dirty="0">
                          <a:latin typeface="Calibri" panose="020F0502020204030204" charset="0"/>
                          <a:cs typeface="Calibri" panose="020F0502020204030204" charset="0"/>
                        </a:rPr>
                        <a:t>Introduced</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by</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the</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selection</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of</a:t>
                      </a:r>
                      <a:r>
                        <a:rPr sz="1800" spc="-30" dirty="0">
                          <a:latin typeface="Calibri" panose="020F0502020204030204" charset="0"/>
                          <a:cs typeface="Calibri" panose="020F0502020204030204" charset="0"/>
                        </a:rPr>
                        <a:t> </a:t>
                      </a:r>
                      <a:r>
                        <a:rPr sz="1800" spc="-20" dirty="0">
                          <a:latin typeface="Calibri" panose="020F0502020204030204" charset="0"/>
                          <a:cs typeface="Calibri" panose="020F0502020204030204" charset="0"/>
                        </a:rPr>
                        <a:t>individuals,</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groups</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or</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data</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for</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analysis</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in</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such</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a</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way</a:t>
                      </a:r>
                      <a:r>
                        <a:rPr sz="1800" spc="-30" dirty="0">
                          <a:latin typeface="Calibri" panose="020F0502020204030204" charset="0"/>
                          <a:cs typeface="Calibri" panose="020F0502020204030204" charset="0"/>
                        </a:rPr>
                        <a:t> </a:t>
                      </a:r>
                      <a:r>
                        <a:rPr sz="1800" spc="-20" dirty="0">
                          <a:latin typeface="Calibri" panose="020F0502020204030204" charset="0"/>
                          <a:cs typeface="Calibri" panose="020F0502020204030204" charset="0"/>
                        </a:rPr>
                        <a:t>that </a:t>
                      </a:r>
                      <a:r>
                        <a:rPr sz="1800" dirty="0">
                          <a:latin typeface="Calibri" panose="020F0502020204030204" charset="0"/>
                          <a:cs typeface="Calibri" panose="020F0502020204030204" charset="0"/>
                        </a:rPr>
                        <a:t>proper</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randomization</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is</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not</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achieved,</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thereby</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ensuring</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that</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the</a:t>
                      </a:r>
                      <a:r>
                        <a:rPr sz="1800" spc="-2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sample</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obtained</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is</a:t>
                      </a:r>
                      <a:r>
                        <a:rPr sz="1800" spc="-30"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not </a:t>
                      </a:r>
                      <a:r>
                        <a:rPr sz="1800" spc="-10" dirty="0">
                          <a:latin typeface="Calibri" panose="020F0502020204030204" charset="0"/>
                          <a:cs typeface="Calibri" panose="020F0502020204030204" charset="0"/>
                        </a:rPr>
                        <a:t>representative </a:t>
                      </a:r>
                      <a:r>
                        <a:rPr sz="1800" dirty="0">
                          <a:latin typeface="Calibri" panose="020F0502020204030204" charset="0"/>
                          <a:cs typeface="Calibri" panose="020F0502020204030204" charset="0"/>
                        </a:rPr>
                        <a:t>of</a:t>
                      </a:r>
                      <a:r>
                        <a:rPr sz="1800" spc="-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the</a:t>
                      </a:r>
                      <a:r>
                        <a:rPr sz="1800" spc="-5" dirty="0">
                          <a:latin typeface="Calibri" panose="020F0502020204030204" charset="0"/>
                          <a:cs typeface="Calibri" panose="020F0502020204030204" charset="0"/>
                        </a:rPr>
                        <a:t> </a:t>
                      </a:r>
                      <a:r>
                        <a:rPr sz="1800" spc="-20" dirty="0">
                          <a:latin typeface="Calibri" panose="020F0502020204030204" charset="0"/>
                          <a:cs typeface="Calibri" panose="020F0502020204030204" charset="0"/>
                        </a:rPr>
                        <a:t>population</a:t>
                      </a:r>
                      <a:r>
                        <a:rPr sz="1800" spc="-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intended </a:t>
                      </a:r>
                      <a:r>
                        <a:rPr sz="1800" dirty="0">
                          <a:latin typeface="Calibri" panose="020F0502020204030204" charset="0"/>
                          <a:cs typeface="Calibri" panose="020F0502020204030204" charset="0"/>
                        </a:rPr>
                        <a:t>to</a:t>
                      </a:r>
                      <a:r>
                        <a:rPr sz="1800" spc="-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be</a:t>
                      </a:r>
                      <a:r>
                        <a:rPr sz="1800" spc="-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analyzed</a:t>
                      </a:r>
                      <a:endParaRPr sz="180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r h="928370">
                <a:tc>
                  <a:txBody>
                    <a:bodyPr/>
                    <a:lstStyle/>
                    <a:p>
                      <a:pPr marL="85725">
                        <a:lnSpc>
                          <a:spcPct val="100000"/>
                        </a:lnSpc>
                        <a:spcBef>
                          <a:spcPts val="620"/>
                        </a:spcBef>
                      </a:pPr>
                      <a:r>
                        <a:rPr sz="1800" spc="-10" dirty="0">
                          <a:latin typeface="Calibri" panose="020F0502020204030204" charset="0"/>
                          <a:cs typeface="Calibri" panose="020F0502020204030204" charset="0"/>
                        </a:rPr>
                        <a:t>Confirmation</a:t>
                      </a:r>
                      <a:r>
                        <a:rPr sz="1800" spc="-20" dirty="0">
                          <a:latin typeface="Calibri" panose="020F0502020204030204" charset="0"/>
                          <a:cs typeface="Calibri" panose="020F0502020204030204" charset="0"/>
                        </a:rPr>
                        <a:t> bias</a:t>
                      </a:r>
                      <a:endParaRPr sz="180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254000">
                        <a:lnSpc>
                          <a:spcPct val="100000"/>
                        </a:lnSpc>
                        <a:spcBef>
                          <a:spcPts val="620"/>
                        </a:spcBef>
                      </a:pPr>
                      <a:r>
                        <a:rPr sz="1800" dirty="0">
                          <a:latin typeface="Calibri" panose="020F0502020204030204" charset="0"/>
                          <a:cs typeface="Calibri" panose="020F0502020204030204" charset="0"/>
                        </a:rPr>
                        <a:t>In</a:t>
                      </a:r>
                      <a:r>
                        <a:rPr sz="1800" spc="-2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the</a:t>
                      </a:r>
                      <a:r>
                        <a:rPr sz="1800" spc="-2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process</a:t>
                      </a:r>
                      <a:r>
                        <a:rPr sz="1800" spc="-2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of</a:t>
                      </a:r>
                      <a:r>
                        <a:rPr sz="1800" spc="-2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refining</a:t>
                      </a:r>
                      <a:r>
                        <a:rPr sz="1800" spc="-2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and</a:t>
                      </a:r>
                      <a:r>
                        <a:rPr sz="1800" spc="-2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reinforcing</a:t>
                      </a:r>
                      <a:r>
                        <a:rPr sz="1800" spc="-2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a</a:t>
                      </a:r>
                      <a:r>
                        <a:rPr sz="1800" spc="-2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models</a:t>
                      </a:r>
                      <a:r>
                        <a:rPr sz="1800" spc="-2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learning,</a:t>
                      </a:r>
                      <a:r>
                        <a:rPr sz="1800" spc="-25" dirty="0">
                          <a:latin typeface="Calibri" panose="020F0502020204030204" charset="0"/>
                          <a:cs typeface="Calibri" panose="020F0502020204030204" charset="0"/>
                        </a:rPr>
                        <a:t> </a:t>
                      </a:r>
                      <a:r>
                        <a:rPr sz="1800" spc="-20" dirty="0">
                          <a:latin typeface="Calibri" panose="020F0502020204030204" charset="0"/>
                          <a:cs typeface="Calibri" panose="020F0502020204030204" charset="0"/>
                        </a:rPr>
                        <a:t>unconsciously</a:t>
                      </a:r>
                      <a:r>
                        <a:rPr sz="1800" spc="-25" dirty="0">
                          <a:latin typeface="Calibri" panose="020F0502020204030204" charset="0"/>
                          <a:cs typeface="Calibri" panose="020F0502020204030204" charset="0"/>
                        </a:rPr>
                        <a:t> or </a:t>
                      </a:r>
                      <a:r>
                        <a:rPr sz="1800" spc="-10" dirty="0">
                          <a:latin typeface="Calibri" panose="020F0502020204030204" charset="0"/>
                          <a:cs typeface="Calibri" panose="020F0502020204030204" charset="0"/>
                        </a:rPr>
                        <a:t>consciously</a:t>
                      </a:r>
                      <a:r>
                        <a:rPr sz="1800" spc="-4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processing</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data</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in</a:t>
                      </a:r>
                      <a:r>
                        <a:rPr sz="1800" spc="-3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ways</a:t>
                      </a:r>
                      <a:r>
                        <a:rPr sz="1800" spc="-3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that</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confirm</a:t>
                      </a:r>
                      <a:r>
                        <a:rPr sz="1800" spc="-3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preexisting</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beliefs</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and</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hypotheses.</a:t>
                      </a:r>
                      <a:endParaRPr sz="180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r h="1202055">
                <a:tc>
                  <a:txBody>
                    <a:bodyPr/>
                    <a:lstStyle/>
                    <a:p>
                      <a:pPr marL="85725">
                        <a:lnSpc>
                          <a:spcPct val="100000"/>
                        </a:lnSpc>
                        <a:spcBef>
                          <a:spcPts val="620"/>
                        </a:spcBef>
                      </a:pPr>
                      <a:r>
                        <a:rPr sz="1800" spc="-10" dirty="0">
                          <a:latin typeface="Calibri" panose="020F0502020204030204" charset="0"/>
                          <a:cs typeface="Calibri" panose="020F0502020204030204" charset="0"/>
                        </a:rPr>
                        <a:t>Correlation</a:t>
                      </a:r>
                      <a:r>
                        <a:rPr sz="1800" spc="5" dirty="0">
                          <a:latin typeface="Calibri" panose="020F0502020204030204" charset="0"/>
                          <a:cs typeface="Calibri" panose="020F0502020204030204" charset="0"/>
                        </a:rPr>
                        <a:t> </a:t>
                      </a:r>
                      <a:r>
                        <a:rPr sz="1800" spc="-20" dirty="0">
                          <a:latin typeface="Calibri" panose="020F0502020204030204" charset="0"/>
                          <a:cs typeface="Calibri" panose="020F0502020204030204" charset="0"/>
                        </a:rPr>
                        <a:t>bias</a:t>
                      </a:r>
                      <a:endParaRPr sz="180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468630">
                        <a:lnSpc>
                          <a:spcPct val="100000"/>
                        </a:lnSpc>
                        <a:spcBef>
                          <a:spcPts val="620"/>
                        </a:spcBef>
                      </a:pPr>
                      <a:r>
                        <a:rPr sz="1800" spc="-10" dirty="0">
                          <a:latin typeface="Calibri" panose="020F0502020204030204" charset="0"/>
                          <a:cs typeface="Calibri" panose="020F0502020204030204" charset="0"/>
                        </a:rPr>
                        <a:t>Correlation</a:t>
                      </a:r>
                      <a:r>
                        <a:rPr sz="1800" spc="-2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is</a:t>
                      </a:r>
                      <a:r>
                        <a:rPr sz="1800" spc="-2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not</a:t>
                      </a:r>
                      <a:r>
                        <a:rPr sz="1800" spc="-25" dirty="0">
                          <a:latin typeface="Calibri" panose="020F0502020204030204" charset="0"/>
                          <a:cs typeface="Calibri" panose="020F0502020204030204" charset="0"/>
                        </a:rPr>
                        <a:t> </a:t>
                      </a:r>
                      <a:r>
                        <a:rPr sz="1800" spc="-20" dirty="0">
                          <a:latin typeface="Calibri" panose="020F0502020204030204" charset="0"/>
                          <a:cs typeface="Calibri" panose="020F0502020204030204" charset="0"/>
                        </a:rPr>
                        <a:t>causation.</a:t>
                      </a:r>
                      <a:r>
                        <a:rPr sz="1800" spc="-2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Correlation</a:t>
                      </a:r>
                      <a:r>
                        <a:rPr sz="1800" spc="-2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implies</a:t>
                      </a:r>
                      <a:r>
                        <a:rPr sz="1800" spc="-2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the</a:t>
                      </a:r>
                      <a:r>
                        <a:rPr sz="1800" spc="-2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mutual</a:t>
                      </a:r>
                      <a:r>
                        <a:rPr sz="1800" spc="-2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relation,</a:t>
                      </a:r>
                      <a:r>
                        <a:rPr sz="1800" spc="-25"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covariation,</a:t>
                      </a:r>
                      <a:r>
                        <a:rPr sz="1800" spc="-20" dirty="0">
                          <a:latin typeface="Calibri" panose="020F0502020204030204" charset="0"/>
                          <a:cs typeface="Calibri" panose="020F0502020204030204" charset="0"/>
                        </a:rPr>
                        <a:t> </a:t>
                      </a:r>
                      <a:r>
                        <a:rPr sz="1800" spc="-25" dirty="0">
                          <a:latin typeface="Calibri" panose="020F0502020204030204" charset="0"/>
                          <a:cs typeface="Calibri" panose="020F0502020204030204" charset="0"/>
                        </a:rPr>
                        <a:t>or </a:t>
                      </a:r>
                      <a:r>
                        <a:rPr sz="1800" spc="-10" dirty="0">
                          <a:latin typeface="Calibri" panose="020F0502020204030204" charset="0"/>
                          <a:cs typeface="Calibri" panose="020F0502020204030204" charset="0"/>
                        </a:rPr>
                        <a:t>association</a:t>
                      </a:r>
                      <a:r>
                        <a:rPr sz="1800" spc="-35"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between</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two</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or</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more</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variables.</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It</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only</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questions</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whether</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the</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variable varies</a:t>
                      </a:r>
                      <a:r>
                        <a:rPr sz="1800" spc="-4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together</a:t>
                      </a:r>
                      <a:r>
                        <a:rPr sz="1800" spc="-4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or</a:t>
                      </a:r>
                      <a:r>
                        <a:rPr sz="1800" spc="-40" dirty="0">
                          <a:latin typeface="Calibri" panose="020F0502020204030204" charset="0"/>
                          <a:cs typeface="Calibri" panose="020F0502020204030204" charset="0"/>
                        </a:rPr>
                        <a:t> </a:t>
                      </a:r>
                      <a:r>
                        <a:rPr sz="1800" spc="-20" dirty="0">
                          <a:latin typeface="Calibri" panose="020F0502020204030204" charset="0"/>
                          <a:cs typeface="Calibri" panose="020F0502020204030204" charset="0"/>
                        </a:rPr>
                        <a:t>not.</a:t>
                      </a:r>
                      <a:endParaRPr sz="180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r h="455295">
                <a:tc>
                  <a:txBody>
                    <a:bodyPr/>
                    <a:lstStyle/>
                    <a:p>
                      <a:pPr marL="85725">
                        <a:lnSpc>
                          <a:spcPct val="100000"/>
                        </a:lnSpc>
                        <a:spcBef>
                          <a:spcPts val="620"/>
                        </a:spcBef>
                      </a:pPr>
                      <a:r>
                        <a:rPr sz="1800" spc="-10" dirty="0">
                          <a:latin typeface="Calibri" panose="020F0502020204030204" charset="0"/>
                          <a:cs typeface="Calibri" panose="020F0502020204030204" charset="0"/>
                        </a:rPr>
                        <a:t>Exclusion </a:t>
                      </a:r>
                      <a:r>
                        <a:rPr sz="1800" spc="-20" dirty="0">
                          <a:latin typeface="Calibri" panose="020F0502020204030204" charset="0"/>
                          <a:cs typeface="Calibri" panose="020F0502020204030204" charset="0"/>
                        </a:rPr>
                        <a:t>bias</a:t>
                      </a:r>
                      <a:endParaRPr sz="180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nSpc>
                          <a:spcPct val="100000"/>
                        </a:lnSpc>
                        <a:spcBef>
                          <a:spcPts val="620"/>
                        </a:spcBef>
                      </a:pPr>
                      <a:r>
                        <a:rPr sz="1800" spc="-10" dirty="0">
                          <a:latin typeface="Calibri" panose="020F0502020204030204" charset="0"/>
                          <a:cs typeface="Calibri" panose="020F0502020204030204" charset="0"/>
                        </a:rPr>
                        <a:t>Removing</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data</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from</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a</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set</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that</a:t>
                      </a:r>
                      <a:r>
                        <a:rPr sz="1800" spc="-30" dirty="0">
                          <a:latin typeface="Calibri" panose="020F0502020204030204" charset="0"/>
                          <a:cs typeface="Calibri" panose="020F0502020204030204" charset="0"/>
                        </a:rPr>
                        <a:t> </a:t>
                      </a:r>
                      <a:r>
                        <a:rPr sz="1800" dirty="0">
                          <a:latin typeface="Calibri" panose="020F0502020204030204" charset="0"/>
                          <a:cs typeface="Calibri" panose="020F0502020204030204" charset="0"/>
                        </a:rPr>
                        <a:t>we</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think</a:t>
                      </a:r>
                      <a:r>
                        <a:rPr sz="1800" spc="-30" dirty="0">
                          <a:latin typeface="Calibri" panose="020F0502020204030204" charset="0"/>
                          <a:cs typeface="Calibri" panose="020F0502020204030204" charset="0"/>
                        </a:rPr>
                        <a:t> </a:t>
                      </a:r>
                      <a:r>
                        <a:rPr sz="1800" spc="-35" dirty="0">
                          <a:latin typeface="Calibri" panose="020F0502020204030204" charset="0"/>
                          <a:cs typeface="Calibri" panose="020F0502020204030204" charset="0"/>
                        </a:rPr>
                        <a:t>isn’t</a:t>
                      </a:r>
                      <a:r>
                        <a:rPr sz="1800" spc="-30" dirty="0">
                          <a:latin typeface="Calibri" panose="020F0502020204030204" charset="0"/>
                          <a:cs typeface="Calibri" panose="020F0502020204030204" charset="0"/>
                        </a:rPr>
                        <a:t> </a:t>
                      </a:r>
                      <a:r>
                        <a:rPr sz="1800" spc="-10" dirty="0">
                          <a:latin typeface="Calibri" panose="020F0502020204030204" charset="0"/>
                          <a:cs typeface="Calibri" panose="020F0502020204030204" charset="0"/>
                        </a:rPr>
                        <a:t>relevant</a:t>
                      </a:r>
                      <a:endParaRPr sz="1800" dirty="0">
                        <a:latin typeface="Calibri" panose="020F0502020204030204" charset="0"/>
                        <a:cs typeface="Calibri" panose="020F0502020204030204" charset="0"/>
                      </a:endParaRPr>
                    </a:p>
                  </a:txBody>
                  <a:tcPr marL="0" marR="0" marT="104986"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Bias</a:t>
            </a:r>
            <a:r>
              <a:rPr spc="-45" dirty="0"/>
              <a:t> </a:t>
            </a:r>
            <a:r>
              <a:rPr dirty="0"/>
              <a:t>in</a:t>
            </a:r>
            <a:r>
              <a:rPr spc="-45" dirty="0"/>
              <a:t> </a:t>
            </a:r>
            <a:r>
              <a:rPr spc="-25" dirty="0"/>
              <a:t>ML</a:t>
            </a:r>
            <a:endParaRPr spc="-25" dirty="0"/>
          </a:p>
        </p:txBody>
      </p:sp>
      <p:pic>
        <p:nvPicPr>
          <p:cNvPr id="3" name="object 3"/>
          <p:cNvPicPr/>
          <p:nvPr/>
        </p:nvPicPr>
        <p:blipFill>
          <a:blip r:embed="rId1" cstate="print"/>
          <a:stretch>
            <a:fillRect/>
          </a:stretch>
        </p:blipFill>
        <p:spPr>
          <a:xfrm>
            <a:off x="1487983" y="1846395"/>
            <a:ext cx="9216032" cy="4360271"/>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Mitigating</a:t>
            </a:r>
            <a:r>
              <a:rPr spc="-45" dirty="0"/>
              <a:t> </a:t>
            </a:r>
            <a:r>
              <a:rPr spc="-20" dirty="0"/>
              <a:t>bias</a:t>
            </a:r>
            <a:endParaRPr spc="-20" dirty="0"/>
          </a:p>
        </p:txBody>
      </p:sp>
      <p:pic>
        <p:nvPicPr>
          <p:cNvPr id="3" name="object 3"/>
          <p:cNvPicPr/>
          <p:nvPr/>
        </p:nvPicPr>
        <p:blipFill>
          <a:blip r:embed="rId1" cstate="print"/>
          <a:stretch>
            <a:fillRect/>
          </a:stretch>
        </p:blipFill>
        <p:spPr>
          <a:xfrm>
            <a:off x="1487983" y="1593128"/>
            <a:ext cx="9216032" cy="4360271"/>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Risk</a:t>
            </a:r>
            <a:r>
              <a:rPr spc="-20" dirty="0"/>
              <a:t> </a:t>
            </a:r>
            <a:r>
              <a:rPr dirty="0"/>
              <a:t>and</a:t>
            </a:r>
            <a:r>
              <a:rPr spc="-15" dirty="0"/>
              <a:t> </a:t>
            </a:r>
            <a:r>
              <a:rPr dirty="0"/>
              <a:t>Ethics</a:t>
            </a:r>
            <a:r>
              <a:rPr spc="-15" dirty="0"/>
              <a:t> </a:t>
            </a:r>
            <a:r>
              <a:rPr dirty="0"/>
              <a:t>in</a:t>
            </a:r>
            <a:r>
              <a:rPr spc="-20" dirty="0"/>
              <a:t> </a:t>
            </a:r>
            <a:r>
              <a:rPr dirty="0"/>
              <a:t>AI</a:t>
            </a:r>
            <a:r>
              <a:rPr spc="-15" dirty="0"/>
              <a:t> </a:t>
            </a:r>
            <a:r>
              <a:rPr dirty="0"/>
              <a:t>Projects:</a:t>
            </a:r>
            <a:r>
              <a:rPr spc="-15" dirty="0"/>
              <a:t> </a:t>
            </a:r>
            <a:r>
              <a:rPr dirty="0"/>
              <a:t>SI</a:t>
            </a:r>
            <a:r>
              <a:rPr spc="-20" dirty="0"/>
              <a:t> </a:t>
            </a:r>
            <a:r>
              <a:rPr dirty="0"/>
              <a:t>AI</a:t>
            </a:r>
            <a:r>
              <a:rPr spc="-15" dirty="0"/>
              <a:t> </a:t>
            </a:r>
            <a:r>
              <a:rPr dirty="0"/>
              <a:t>Values</a:t>
            </a:r>
            <a:r>
              <a:rPr spc="-15" dirty="0"/>
              <a:t> </a:t>
            </a:r>
            <a:r>
              <a:rPr spc="-10" dirty="0"/>
              <a:t>Statement</a:t>
            </a:r>
            <a:endParaRPr spc="-10" dirty="0"/>
          </a:p>
        </p:txBody>
      </p:sp>
      <p:sp>
        <p:nvSpPr>
          <p:cNvPr id="5" name="Content Placeholder 4"/>
          <p:cNvSpPr>
            <a:spLocks noGrp="1"/>
          </p:cNvSpPr>
          <p:nvPr>
            <p:ph idx="1"/>
          </p:nvPr>
        </p:nvSpPr>
        <p:spPr/>
        <p:txBody>
          <a:bodyPr/>
          <a:p>
            <a:pPr marL="332105" indent="-319405">
              <a:lnSpc>
                <a:spcPts val="1230"/>
              </a:lnSpc>
              <a:spcBef>
                <a:spcPts val="140"/>
              </a:spcBef>
              <a:buFont typeface="Arial MT"/>
              <a:buChar char="●"/>
              <a:tabLst>
                <a:tab pos="332105" algn="l"/>
              </a:tabLst>
            </a:pPr>
            <a:r>
              <a:rPr spc="-10" dirty="0">
                <a:sym typeface="+mn-ea"/>
              </a:rPr>
              <a:t>Partnerships</a:t>
            </a:r>
            <a:endParaRPr>
              <a:latin typeface="Calibri" panose="020F0502020204030204" charset="0"/>
              <a:cs typeface="Calibri" panose="020F0502020204030204" charset="0"/>
            </a:endParaRPr>
          </a:p>
          <a:p>
            <a:pPr marL="789305" marR="4011295" lvl="1" indent="-323850">
              <a:lnSpc>
                <a:spcPct val="79000"/>
              </a:lnSpc>
              <a:spcBef>
                <a:spcPts val="160"/>
              </a:spcBef>
              <a:buFont typeface="Arial MT"/>
              <a:buChar char="○"/>
              <a:tabLst>
                <a:tab pos="789305" algn="l"/>
              </a:tabLst>
            </a:pPr>
            <a:r>
              <a:rPr dirty="0">
                <a:sym typeface="+mn-ea"/>
              </a:rPr>
              <a:t>Seek</a:t>
            </a:r>
            <a:r>
              <a:rPr spc="-50" dirty="0">
                <a:sym typeface="+mn-ea"/>
              </a:rPr>
              <a:t> </a:t>
            </a:r>
            <a:r>
              <a:rPr spc="-10" dirty="0">
                <a:sym typeface="+mn-ea"/>
              </a:rPr>
              <a:t>projects</a:t>
            </a:r>
            <a:r>
              <a:rPr spc="-45" dirty="0">
                <a:sym typeface="+mn-ea"/>
              </a:rPr>
              <a:t> </a:t>
            </a:r>
            <a:r>
              <a:rPr dirty="0">
                <a:sym typeface="+mn-ea"/>
              </a:rPr>
              <a:t>and</a:t>
            </a:r>
            <a:r>
              <a:rPr spc="-45" dirty="0">
                <a:sym typeface="+mn-ea"/>
              </a:rPr>
              <a:t> </a:t>
            </a:r>
            <a:r>
              <a:rPr spc="-10" dirty="0">
                <a:sym typeface="+mn-ea"/>
              </a:rPr>
              <a:t>partnerships</a:t>
            </a:r>
            <a:r>
              <a:rPr spc="-45" dirty="0">
                <a:sym typeface="+mn-ea"/>
              </a:rPr>
              <a:t> </a:t>
            </a:r>
            <a:r>
              <a:rPr spc="-10" dirty="0">
                <a:sym typeface="+mn-ea"/>
              </a:rPr>
              <a:t>that</a:t>
            </a:r>
            <a:r>
              <a:rPr spc="-45" dirty="0">
                <a:sym typeface="+mn-ea"/>
              </a:rPr>
              <a:t> </a:t>
            </a:r>
            <a:r>
              <a:rPr dirty="0">
                <a:sym typeface="+mn-ea"/>
              </a:rPr>
              <a:t>adhere</a:t>
            </a:r>
            <a:r>
              <a:rPr spc="-45" dirty="0">
                <a:sym typeface="+mn-ea"/>
              </a:rPr>
              <a:t> </a:t>
            </a:r>
            <a:r>
              <a:rPr dirty="0">
                <a:sym typeface="+mn-ea"/>
              </a:rPr>
              <a:t>to</a:t>
            </a:r>
            <a:r>
              <a:rPr spc="-45" dirty="0">
                <a:sym typeface="+mn-ea"/>
              </a:rPr>
              <a:t> </a:t>
            </a:r>
            <a:r>
              <a:rPr spc="-25" dirty="0">
                <a:sym typeface="+mn-ea"/>
              </a:rPr>
              <a:t>our </a:t>
            </a:r>
            <a:r>
              <a:rPr spc="-20" dirty="0">
                <a:sym typeface="+mn-ea"/>
              </a:rPr>
              <a:t>institutional</a:t>
            </a:r>
            <a:r>
              <a:rPr spc="-10" dirty="0">
                <a:sym typeface="+mn-ea"/>
              </a:rPr>
              <a:t> values.</a:t>
            </a:r>
            <a:endParaRPr>
              <a:latin typeface="Calibri" panose="020F0502020204030204" charset="0"/>
              <a:cs typeface="Calibri" panose="020F0502020204030204" charset="0"/>
            </a:endParaRPr>
          </a:p>
          <a:p>
            <a:pPr marL="789305" marR="3462020" lvl="1" indent="-323850">
              <a:lnSpc>
                <a:spcPct val="79000"/>
              </a:lnSpc>
              <a:buFont typeface="Arial MT"/>
              <a:buChar char="○"/>
              <a:tabLst>
                <a:tab pos="789305" algn="l"/>
              </a:tabLst>
            </a:pPr>
            <a:r>
              <a:rPr spc="-10" dirty="0">
                <a:sym typeface="+mn-ea"/>
              </a:rPr>
              <a:t>Partnerships</a:t>
            </a:r>
            <a:r>
              <a:rPr spc="-30" dirty="0">
                <a:sym typeface="+mn-ea"/>
              </a:rPr>
              <a:t> </a:t>
            </a:r>
            <a:r>
              <a:rPr spc="-20" dirty="0">
                <a:sym typeface="+mn-ea"/>
              </a:rPr>
              <a:t>should</a:t>
            </a:r>
            <a:r>
              <a:rPr spc="-30" dirty="0">
                <a:sym typeface="+mn-ea"/>
              </a:rPr>
              <a:t> </a:t>
            </a:r>
            <a:r>
              <a:rPr spc="-10" dirty="0">
                <a:sym typeface="+mn-ea"/>
              </a:rPr>
              <a:t>avoid</a:t>
            </a:r>
            <a:r>
              <a:rPr spc="-30" dirty="0">
                <a:sym typeface="+mn-ea"/>
              </a:rPr>
              <a:t> </a:t>
            </a:r>
            <a:r>
              <a:rPr spc="-20" dirty="0">
                <a:sym typeface="+mn-ea"/>
              </a:rPr>
              <a:t>using</a:t>
            </a:r>
            <a:r>
              <a:rPr spc="-30" dirty="0">
                <a:sym typeface="+mn-ea"/>
              </a:rPr>
              <a:t> </a:t>
            </a:r>
            <a:r>
              <a:rPr spc="-10" dirty="0">
                <a:sym typeface="+mn-ea"/>
              </a:rPr>
              <a:t>tools</a:t>
            </a:r>
            <a:r>
              <a:rPr spc="-30" dirty="0">
                <a:sym typeface="+mn-ea"/>
              </a:rPr>
              <a:t> </a:t>
            </a:r>
            <a:r>
              <a:rPr spc="-10" dirty="0">
                <a:sym typeface="+mn-ea"/>
              </a:rPr>
              <a:t>with</a:t>
            </a:r>
            <a:r>
              <a:rPr spc="-25" dirty="0">
                <a:sym typeface="+mn-ea"/>
              </a:rPr>
              <a:t> </a:t>
            </a:r>
            <a:r>
              <a:rPr spc="-20" dirty="0">
                <a:sym typeface="+mn-ea"/>
              </a:rPr>
              <a:t>unspecified</a:t>
            </a:r>
            <a:r>
              <a:rPr spc="-30" dirty="0">
                <a:sym typeface="+mn-ea"/>
              </a:rPr>
              <a:t> </a:t>
            </a:r>
            <a:r>
              <a:rPr spc="-25" dirty="0">
                <a:sym typeface="+mn-ea"/>
              </a:rPr>
              <a:t>or </a:t>
            </a:r>
            <a:r>
              <a:rPr spc="-20" dirty="0">
                <a:sym typeface="+mn-ea"/>
              </a:rPr>
              <a:t>undisclosed</a:t>
            </a:r>
            <a:r>
              <a:rPr spc="-35" dirty="0">
                <a:sym typeface="+mn-ea"/>
              </a:rPr>
              <a:t> </a:t>
            </a:r>
            <a:r>
              <a:rPr spc="-10" dirty="0">
                <a:sym typeface="+mn-ea"/>
              </a:rPr>
              <a:t>methods</a:t>
            </a:r>
            <a:r>
              <a:rPr spc="-30" dirty="0">
                <a:sym typeface="+mn-ea"/>
              </a:rPr>
              <a:t> </a:t>
            </a:r>
            <a:r>
              <a:rPr dirty="0">
                <a:sym typeface="+mn-ea"/>
              </a:rPr>
              <a:t>and</a:t>
            </a:r>
            <a:r>
              <a:rPr spc="-30" dirty="0">
                <a:sym typeface="+mn-ea"/>
              </a:rPr>
              <a:t> </a:t>
            </a:r>
            <a:r>
              <a:rPr spc="-10" dirty="0">
                <a:sym typeface="+mn-ea"/>
              </a:rPr>
              <a:t>biases.</a:t>
            </a:r>
            <a:endParaRPr>
              <a:latin typeface="Calibri" panose="020F0502020204030204" charset="0"/>
              <a:cs typeface="Calibri" panose="020F0502020204030204" charset="0"/>
            </a:endParaRPr>
          </a:p>
          <a:p>
            <a:pPr marL="789305" marR="3499485" lvl="1" indent="-323850">
              <a:lnSpc>
                <a:spcPct val="79000"/>
              </a:lnSpc>
              <a:buFont typeface="Arial MT"/>
              <a:buChar char="○"/>
              <a:tabLst>
                <a:tab pos="789305" algn="l"/>
              </a:tabLst>
            </a:pPr>
            <a:r>
              <a:rPr spc="-10" dirty="0">
                <a:sym typeface="+mn-ea"/>
              </a:rPr>
              <a:t>Partnerships</a:t>
            </a:r>
            <a:r>
              <a:rPr spc="-30" dirty="0">
                <a:sym typeface="+mn-ea"/>
              </a:rPr>
              <a:t> </a:t>
            </a:r>
            <a:r>
              <a:rPr spc="-25" dirty="0">
                <a:sym typeface="+mn-ea"/>
              </a:rPr>
              <a:t>involving </a:t>
            </a:r>
            <a:r>
              <a:rPr spc="-10" dirty="0">
                <a:sym typeface="+mn-ea"/>
              </a:rPr>
              <a:t>artificial</a:t>
            </a:r>
            <a:r>
              <a:rPr spc="-25" dirty="0">
                <a:sym typeface="+mn-ea"/>
              </a:rPr>
              <a:t> </a:t>
            </a:r>
            <a:r>
              <a:rPr spc="-10" dirty="0">
                <a:sym typeface="+mn-ea"/>
              </a:rPr>
              <a:t>intelligence</a:t>
            </a:r>
            <a:r>
              <a:rPr spc="-30" dirty="0">
                <a:sym typeface="+mn-ea"/>
              </a:rPr>
              <a:t> </a:t>
            </a:r>
            <a:r>
              <a:rPr dirty="0">
                <a:sym typeface="+mn-ea"/>
              </a:rPr>
              <a:t>and</a:t>
            </a:r>
            <a:r>
              <a:rPr spc="-25" dirty="0">
                <a:sym typeface="+mn-ea"/>
              </a:rPr>
              <a:t> </a:t>
            </a:r>
            <a:r>
              <a:rPr spc="-10" dirty="0">
                <a:sym typeface="+mn-ea"/>
              </a:rPr>
              <a:t>machine learning</a:t>
            </a:r>
            <a:r>
              <a:rPr spc="-45" dirty="0">
                <a:sym typeface="+mn-ea"/>
              </a:rPr>
              <a:t> </a:t>
            </a:r>
            <a:r>
              <a:rPr spc="-10" dirty="0">
                <a:sym typeface="+mn-ea"/>
              </a:rPr>
              <a:t>tools</a:t>
            </a:r>
            <a:r>
              <a:rPr spc="-45" dirty="0">
                <a:sym typeface="+mn-ea"/>
              </a:rPr>
              <a:t> </a:t>
            </a:r>
            <a:r>
              <a:rPr spc="-20" dirty="0">
                <a:sym typeface="+mn-ea"/>
              </a:rPr>
              <a:t>should</a:t>
            </a:r>
            <a:r>
              <a:rPr spc="-45" dirty="0">
                <a:sym typeface="+mn-ea"/>
              </a:rPr>
              <a:t> </a:t>
            </a:r>
            <a:r>
              <a:rPr spc="-10" dirty="0">
                <a:sym typeface="+mn-ea"/>
              </a:rPr>
              <a:t>explicitly</a:t>
            </a:r>
            <a:r>
              <a:rPr spc="-40" dirty="0">
                <a:sym typeface="+mn-ea"/>
              </a:rPr>
              <a:t> </a:t>
            </a:r>
            <a:r>
              <a:rPr spc="-10" dirty="0">
                <a:sym typeface="+mn-ea"/>
              </a:rPr>
              <a:t>evaluate</a:t>
            </a:r>
            <a:r>
              <a:rPr spc="-45" dirty="0">
                <a:sym typeface="+mn-ea"/>
              </a:rPr>
              <a:t> </a:t>
            </a:r>
            <a:r>
              <a:rPr dirty="0">
                <a:sym typeface="+mn-ea"/>
              </a:rPr>
              <a:t>and</a:t>
            </a:r>
            <a:r>
              <a:rPr spc="-45" dirty="0">
                <a:sym typeface="+mn-ea"/>
              </a:rPr>
              <a:t> </a:t>
            </a:r>
            <a:r>
              <a:rPr dirty="0">
                <a:sym typeface="+mn-ea"/>
              </a:rPr>
              <a:t>state</a:t>
            </a:r>
            <a:r>
              <a:rPr spc="-45" dirty="0">
                <a:sym typeface="+mn-ea"/>
              </a:rPr>
              <a:t> </a:t>
            </a:r>
            <a:r>
              <a:rPr dirty="0">
                <a:sym typeface="+mn-ea"/>
              </a:rPr>
              <a:t>if</a:t>
            </a:r>
            <a:r>
              <a:rPr spc="-40" dirty="0">
                <a:sym typeface="+mn-ea"/>
              </a:rPr>
              <a:t> </a:t>
            </a:r>
            <a:r>
              <a:rPr spc="-25" dirty="0">
                <a:sym typeface="+mn-ea"/>
              </a:rPr>
              <a:t>the </a:t>
            </a:r>
            <a:r>
              <a:rPr spc="-10" dirty="0">
                <a:sym typeface="+mn-ea"/>
              </a:rPr>
              <a:t>datasets</a:t>
            </a:r>
            <a:r>
              <a:rPr spc="-40" dirty="0">
                <a:sym typeface="+mn-ea"/>
              </a:rPr>
              <a:t> </a:t>
            </a:r>
            <a:r>
              <a:rPr dirty="0">
                <a:sym typeface="+mn-ea"/>
              </a:rPr>
              <a:t>or</a:t>
            </a:r>
            <a:r>
              <a:rPr spc="-40" dirty="0">
                <a:sym typeface="+mn-ea"/>
              </a:rPr>
              <a:t> </a:t>
            </a:r>
            <a:r>
              <a:rPr dirty="0">
                <a:sym typeface="+mn-ea"/>
              </a:rPr>
              <a:t>data</a:t>
            </a:r>
            <a:r>
              <a:rPr spc="-40" dirty="0">
                <a:sym typeface="+mn-ea"/>
              </a:rPr>
              <a:t> </a:t>
            </a:r>
            <a:r>
              <a:rPr spc="-20" dirty="0">
                <a:sym typeface="+mn-ea"/>
              </a:rPr>
              <a:t>descriptions</a:t>
            </a:r>
            <a:r>
              <a:rPr spc="-40" dirty="0">
                <a:sym typeface="+mn-ea"/>
              </a:rPr>
              <a:t> </a:t>
            </a:r>
            <a:r>
              <a:rPr dirty="0">
                <a:sym typeface="+mn-ea"/>
              </a:rPr>
              <a:t>used</a:t>
            </a:r>
            <a:r>
              <a:rPr spc="-40" dirty="0">
                <a:sym typeface="+mn-ea"/>
              </a:rPr>
              <a:t> </a:t>
            </a:r>
            <a:r>
              <a:rPr dirty="0">
                <a:sym typeface="+mn-ea"/>
              </a:rPr>
              <a:t>in</a:t>
            </a:r>
            <a:r>
              <a:rPr spc="-40" dirty="0">
                <a:sym typeface="+mn-ea"/>
              </a:rPr>
              <a:t> </a:t>
            </a:r>
            <a:r>
              <a:rPr dirty="0">
                <a:sym typeface="+mn-ea"/>
              </a:rPr>
              <a:t>these</a:t>
            </a:r>
            <a:r>
              <a:rPr spc="-40" dirty="0">
                <a:sym typeface="+mn-ea"/>
              </a:rPr>
              <a:t> </a:t>
            </a:r>
            <a:r>
              <a:rPr spc="-10" dirty="0">
                <a:sym typeface="+mn-ea"/>
              </a:rPr>
              <a:t>tools</a:t>
            </a:r>
            <a:r>
              <a:rPr spc="-35" dirty="0">
                <a:sym typeface="+mn-ea"/>
              </a:rPr>
              <a:t> </a:t>
            </a:r>
            <a:r>
              <a:rPr spc="-25" dirty="0">
                <a:sym typeface="+mn-ea"/>
              </a:rPr>
              <a:t>was </a:t>
            </a:r>
            <a:r>
              <a:rPr spc="-10" dirty="0">
                <a:sym typeface="+mn-ea"/>
              </a:rPr>
              <a:t>collected</a:t>
            </a:r>
            <a:r>
              <a:rPr spc="-30" dirty="0">
                <a:sym typeface="+mn-ea"/>
              </a:rPr>
              <a:t> </a:t>
            </a:r>
            <a:r>
              <a:rPr spc="-20" dirty="0">
                <a:sym typeface="+mn-ea"/>
              </a:rPr>
              <a:t>without</a:t>
            </a:r>
            <a:r>
              <a:rPr spc="-25" dirty="0">
                <a:sym typeface="+mn-ea"/>
              </a:rPr>
              <a:t> </a:t>
            </a:r>
            <a:r>
              <a:rPr spc="-10" dirty="0">
                <a:sym typeface="+mn-ea"/>
              </a:rPr>
              <a:t>consent,</a:t>
            </a:r>
            <a:r>
              <a:rPr spc="-25" dirty="0">
                <a:sym typeface="+mn-ea"/>
              </a:rPr>
              <a:t> </a:t>
            </a:r>
            <a:r>
              <a:rPr dirty="0">
                <a:sym typeface="+mn-ea"/>
              </a:rPr>
              <a:t>or</a:t>
            </a:r>
            <a:r>
              <a:rPr spc="-30" dirty="0">
                <a:sym typeface="+mn-ea"/>
              </a:rPr>
              <a:t> </a:t>
            </a:r>
            <a:r>
              <a:rPr spc="-10" dirty="0">
                <a:sym typeface="+mn-ea"/>
              </a:rPr>
              <a:t>contains</a:t>
            </a:r>
            <a:r>
              <a:rPr spc="-25" dirty="0">
                <a:sym typeface="+mn-ea"/>
              </a:rPr>
              <a:t> </a:t>
            </a:r>
            <a:r>
              <a:rPr spc="-10" dirty="0">
                <a:sym typeface="+mn-ea"/>
              </a:rPr>
              <a:t>offensive</a:t>
            </a:r>
            <a:r>
              <a:rPr spc="-25" dirty="0">
                <a:sym typeface="+mn-ea"/>
              </a:rPr>
              <a:t> </a:t>
            </a:r>
            <a:r>
              <a:rPr dirty="0">
                <a:sym typeface="+mn-ea"/>
              </a:rPr>
              <a:t>or</a:t>
            </a:r>
            <a:r>
              <a:rPr spc="-30" dirty="0">
                <a:sym typeface="+mn-ea"/>
              </a:rPr>
              <a:t> </a:t>
            </a:r>
            <a:r>
              <a:rPr spc="-10" dirty="0">
                <a:sym typeface="+mn-ea"/>
              </a:rPr>
              <a:t>racist </a:t>
            </a:r>
            <a:r>
              <a:rPr spc="-20" dirty="0">
                <a:sym typeface="+mn-ea"/>
              </a:rPr>
              <a:t>descriptions</a:t>
            </a:r>
            <a:r>
              <a:rPr spc="-25" dirty="0">
                <a:sym typeface="+mn-ea"/>
              </a:rPr>
              <a:t> </a:t>
            </a:r>
            <a:r>
              <a:rPr dirty="0">
                <a:sym typeface="+mn-ea"/>
              </a:rPr>
              <a:t>before</a:t>
            </a:r>
            <a:r>
              <a:rPr spc="-25" dirty="0">
                <a:sym typeface="+mn-ea"/>
              </a:rPr>
              <a:t> </a:t>
            </a:r>
            <a:r>
              <a:rPr dirty="0">
                <a:sym typeface="+mn-ea"/>
              </a:rPr>
              <a:t>we</a:t>
            </a:r>
            <a:r>
              <a:rPr spc="-20" dirty="0">
                <a:sym typeface="+mn-ea"/>
              </a:rPr>
              <a:t> </a:t>
            </a:r>
            <a:r>
              <a:rPr dirty="0">
                <a:sym typeface="+mn-ea"/>
              </a:rPr>
              <a:t>agree</a:t>
            </a:r>
            <a:r>
              <a:rPr spc="-25" dirty="0">
                <a:sym typeface="+mn-ea"/>
              </a:rPr>
              <a:t> </a:t>
            </a:r>
            <a:r>
              <a:rPr dirty="0">
                <a:sym typeface="+mn-ea"/>
              </a:rPr>
              <a:t>to</a:t>
            </a:r>
            <a:r>
              <a:rPr spc="-20" dirty="0">
                <a:sym typeface="+mn-ea"/>
              </a:rPr>
              <a:t> </a:t>
            </a:r>
            <a:r>
              <a:rPr dirty="0">
                <a:sym typeface="+mn-ea"/>
              </a:rPr>
              <a:t>use</a:t>
            </a:r>
            <a:r>
              <a:rPr spc="-25" dirty="0">
                <a:sym typeface="+mn-ea"/>
              </a:rPr>
              <a:t> </a:t>
            </a:r>
            <a:r>
              <a:rPr dirty="0">
                <a:sym typeface="+mn-ea"/>
              </a:rPr>
              <a:t>these</a:t>
            </a:r>
            <a:r>
              <a:rPr spc="-20" dirty="0">
                <a:sym typeface="+mn-ea"/>
              </a:rPr>
              <a:t> </a:t>
            </a:r>
            <a:r>
              <a:rPr spc="-10" dirty="0">
                <a:sym typeface="+mn-ea"/>
              </a:rPr>
              <a:t>tools.</a:t>
            </a:r>
            <a:endParaRPr spc="-10" dirty="0">
              <a:latin typeface="Calibri" panose="020F0502020204030204" charset="0"/>
              <a:cs typeface="Calibri" panose="020F0502020204030204" charset="0"/>
            </a:endParaRPr>
          </a:p>
          <a:p>
            <a:pPr marL="465455" marR="3499485" lvl="1" indent="0">
              <a:lnSpc>
                <a:spcPct val="79000"/>
              </a:lnSpc>
              <a:buFont typeface="Arial MT"/>
              <a:buNone/>
              <a:tabLst>
                <a:tab pos="789305" algn="l"/>
              </a:tabLst>
            </a:pPr>
            <a:endParaRPr>
              <a:latin typeface="Calibri" panose="020F0502020204030204" charset="0"/>
              <a:cs typeface="Calibri" panose="020F0502020204030204" charset="0"/>
            </a:endParaRPr>
          </a:p>
          <a:p>
            <a:pPr marL="332105" indent="-319405">
              <a:lnSpc>
                <a:spcPts val="985"/>
              </a:lnSpc>
              <a:buFont typeface="Arial MT"/>
              <a:buChar char="●"/>
              <a:tabLst>
                <a:tab pos="332105" algn="l"/>
              </a:tabLst>
            </a:pPr>
            <a:r>
              <a:rPr spc="-10" dirty="0">
                <a:sym typeface="+mn-ea"/>
              </a:rPr>
              <a:t>Actions</a:t>
            </a:r>
            <a:endParaRPr>
              <a:latin typeface="Calibri" panose="020F0502020204030204" charset="0"/>
              <a:cs typeface="Calibri" panose="020F0502020204030204" charset="0"/>
            </a:endParaRPr>
          </a:p>
          <a:p>
            <a:pPr marL="789305" lvl="1" indent="-323850">
              <a:lnSpc>
                <a:spcPts val="1195"/>
              </a:lnSpc>
              <a:buFont typeface="Arial MT"/>
              <a:buChar char="○"/>
              <a:tabLst>
                <a:tab pos="789305" algn="l"/>
              </a:tabLst>
            </a:pPr>
            <a:r>
              <a:rPr spc="-20" dirty="0">
                <a:sym typeface="+mn-ea"/>
              </a:rPr>
              <a:t>Documentation</a:t>
            </a:r>
            <a:r>
              <a:rPr spc="-25" dirty="0">
                <a:sym typeface="+mn-ea"/>
              </a:rPr>
              <a:t> </a:t>
            </a:r>
            <a:r>
              <a:rPr dirty="0">
                <a:sym typeface="+mn-ea"/>
              </a:rPr>
              <a:t>of</a:t>
            </a:r>
            <a:r>
              <a:rPr spc="-20" dirty="0">
                <a:sym typeface="+mn-ea"/>
              </a:rPr>
              <a:t> </a:t>
            </a:r>
            <a:r>
              <a:rPr dirty="0">
                <a:sym typeface="+mn-ea"/>
              </a:rPr>
              <a:t>dataset</a:t>
            </a:r>
            <a:r>
              <a:rPr spc="-20" dirty="0">
                <a:sym typeface="+mn-ea"/>
              </a:rPr>
              <a:t> </a:t>
            </a:r>
            <a:r>
              <a:rPr spc="-10" dirty="0">
                <a:sym typeface="+mn-ea"/>
              </a:rPr>
              <a:t>biases.</a:t>
            </a:r>
            <a:endParaRPr>
              <a:latin typeface="Calibri" panose="020F0502020204030204" charset="0"/>
              <a:cs typeface="Calibri" panose="020F0502020204030204" charset="0"/>
            </a:endParaRPr>
          </a:p>
          <a:p>
            <a:pPr marL="789305" marR="3803015" lvl="1" indent="-323850">
              <a:lnSpc>
                <a:spcPct val="79000"/>
              </a:lnSpc>
              <a:spcBef>
                <a:spcPts val="150"/>
              </a:spcBef>
              <a:buFont typeface="Arial MT"/>
              <a:buChar char="○"/>
              <a:tabLst>
                <a:tab pos="789305" algn="l"/>
              </a:tabLst>
            </a:pPr>
            <a:r>
              <a:rPr spc="-20" dirty="0">
                <a:sym typeface="+mn-ea"/>
              </a:rPr>
              <a:t>Documentation</a:t>
            </a:r>
            <a:r>
              <a:rPr spc="-10" dirty="0">
                <a:sym typeface="+mn-ea"/>
              </a:rPr>
              <a:t> </a:t>
            </a:r>
            <a:r>
              <a:rPr dirty="0">
                <a:sym typeface="+mn-ea"/>
              </a:rPr>
              <a:t>of</a:t>
            </a:r>
            <a:r>
              <a:rPr spc="-5" dirty="0">
                <a:sym typeface="+mn-ea"/>
              </a:rPr>
              <a:t> </a:t>
            </a:r>
            <a:r>
              <a:rPr spc="-10" dirty="0">
                <a:sym typeface="+mn-ea"/>
              </a:rPr>
              <a:t>intent</a:t>
            </a:r>
            <a:r>
              <a:rPr spc="-5" dirty="0">
                <a:sym typeface="+mn-ea"/>
              </a:rPr>
              <a:t> </a:t>
            </a:r>
            <a:r>
              <a:rPr dirty="0">
                <a:sym typeface="+mn-ea"/>
              </a:rPr>
              <a:t>in</a:t>
            </a:r>
            <a:r>
              <a:rPr spc="-5" dirty="0">
                <a:sym typeface="+mn-ea"/>
              </a:rPr>
              <a:t> </a:t>
            </a:r>
            <a:r>
              <a:rPr spc="-20" dirty="0">
                <a:sym typeface="+mn-ea"/>
              </a:rPr>
              <a:t>methodologies,</a:t>
            </a:r>
            <a:r>
              <a:rPr spc="-5" dirty="0">
                <a:sym typeface="+mn-ea"/>
              </a:rPr>
              <a:t> </a:t>
            </a:r>
            <a:r>
              <a:rPr spc="-10" dirty="0">
                <a:sym typeface="+mn-ea"/>
              </a:rPr>
              <a:t>datasets, </a:t>
            </a:r>
            <a:r>
              <a:rPr spc="-20" dirty="0">
                <a:sym typeface="+mn-ea"/>
              </a:rPr>
              <a:t>collections,</a:t>
            </a:r>
            <a:r>
              <a:rPr spc="20" dirty="0">
                <a:sym typeface="+mn-ea"/>
              </a:rPr>
              <a:t> </a:t>
            </a:r>
            <a:r>
              <a:rPr spc="-20" dirty="0">
                <a:sym typeface="+mn-ea"/>
              </a:rPr>
              <a:t>algorithms,</a:t>
            </a:r>
            <a:r>
              <a:rPr spc="25" dirty="0">
                <a:sym typeface="+mn-ea"/>
              </a:rPr>
              <a:t> </a:t>
            </a:r>
            <a:r>
              <a:rPr dirty="0">
                <a:sym typeface="+mn-ea"/>
              </a:rPr>
              <a:t>or</a:t>
            </a:r>
            <a:r>
              <a:rPr spc="20" dirty="0">
                <a:sym typeface="+mn-ea"/>
              </a:rPr>
              <a:t> </a:t>
            </a:r>
            <a:r>
              <a:rPr spc="-10" dirty="0">
                <a:sym typeface="+mn-ea"/>
              </a:rPr>
              <a:t>tools.</a:t>
            </a:r>
            <a:endParaRPr>
              <a:latin typeface="Calibri" panose="020F0502020204030204" charset="0"/>
              <a:cs typeface="Calibri" panose="020F0502020204030204" charset="0"/>
            </a:endParaRPr>
          </a:p>
          <a:p>
            <a:pPr marL="789305" lvl="1" indent="-323850">
              <a:lnSpc>
                <a:spcPts val="1035"/>
              </a:lnSpc>
              <a:buFont typeface="Arial MT"/>
              <a:buChar char="○"/>
              <a:tabLst>
                <a:tab pos="789305" algn="l"/>
              </a:tabLst>
            </a:pPr>
            <a:r>
              <a:rPr dirty="0">
                <a:sym typeface="+mn-ea"/>
              </a:rPr>
              <a:t>Creator</a:t>
            </a:r>
            <a:r>
              <a:rPr spc="-15" dirty="0">
                <a:sym typeface="+mn-ea"/>
              </a:rPr>
              <a:t> </a:t>
            </a:r>
            <a:r>
              <a:rPr spc="-25" dirty="0">
                <a:sym typeface="+mn-ea"/>
              </a:rPr>
              <a:t>positionality</a:t>
            </a:r>
            <a:r>
              <a:rPr spc="-15" dirty="0">
                <a:sym typeface="+mn-ea"/>
              </a:rPr>
              <a:t> </a:t>
            </a:r>
            <a:r>
              <a:rPr spc="-10" dirty="0">
                <a:sym typeface="+mn-ea"/>
              </a:rPr>
              <a:t>statements.</a:t>
            </a:r>
            <a:endParaRPr>
              <a:latin typeface="Calibri" panose="020F0502020204030204" charset="0"/>
              <a:cs typeface="Calibri" panose="020F0502020204030204" charset="0"/>
            </a:endParaRPr>
          </a:p>
          <a:p>
            <a:pPr marL="789305" lvl="1" indent="-323850">
              <a:lnSpc>
                <a:spcPts val="1190"/>
              </a:lnSpc>
              <a:buFont typeface="Arial MT"/>
              <a:buChar char="○"/>
              <a:tabLst>
                <a:tab pos="789305" algn="l"/>
              </a:tabLst>
            </a:pPr>
            <a:r>
              <a:rPr spc="-20" dirty="0">
                <a:sym typeface="+mn-ea"/>
              </a:rPr>
              <a:t>Documentation</a:t>
            </a:r>
            <a:r>
              <a:rPr spc="-25" dirty="0">
                <a:sym typeface="+mn-ea"/>
              </a:rPr>
              <a:t> </a:t>
            </a:r>
            <a:r>
              <a:rPr dirty="0">
                <a:sym typeface="+mn-ea"/>
              </a:rPr>
              <a:t>of</a:t>
            </a:r>
            <a:r>
              <a:rPr spc="-25" dirty="0">
                <a:sym typeface="+mn-ea"/>
              </a:rPr>
              <a:t> </a:t>
            </a:r>
            <a:r>
              <a:rPr spc="-10" dirty="0">
                <a:sym typeface="+mn-ea"/>
              </a:rPr>
              <a:t>known</a:t>
            </a:r>
            <a:r>
              <a:rPr spc="-20" dirty="0">
                <a:sym typeface="+mn-ea"/>
              </a:rPr>
              <a:t> </a:t>
            </a:r>
            <a:r>
              <a:rPr dirty="0">
                <a:sym typeface="+mn-ea"/>
              </a:rPr>
              <a:t>or</a:t>
            </a:r>
            <a:r>
              <a:rPr spc="-25" dirty="0">
                <a:sym typeface="+mn-ea"/>
              </a:rPr>
              <a:t> </a:t>
            </a:r>
            <a:r>
              <a:rPr spc="-10" dirty="0">
                <a:sym typeface="+mn-ea"/>
              </a:rPr>
              <a:t>potential</a:t>
            </a:r>
            <a:r>
              <a:rPr spc="-20" dirty="0">
                <a:sym typeface="+mn-ea"/>
              </a:rPr>
              <a:t> </a:t>
            </a:r>
            <a:r>
              <a:rPr spc="-10" dirty="0">
                <a:sym typeface="+mn-ea"/>
              </a:rPr>
              <a:t>risks.</a:t>
            </a:r>
            <a:endParaRPr>
              <a:latin typeface="Calibri" panose="020F0502020204030204" charset="0"/>
              <a:cs typeface="Calibri" panose="020F0502020204030204" charset="0"/>
            </a:endParaRPr>
          </a:p>
          <a:p>
            <a:pPr marL="789305" marR="3315335" lvl="1" indent="-323850">
              <a:lnSpc>
                <a:spcPct val="79000"/>
              </a:lnSpc>
              <a:spcBef>
                <a:spcPts val="155"/>
              </a:spcBef>
              <a:buFont typeface="Arial MT"/>
              <a:buChar char="○"/>
              <a:tabLst>
                <a:tab pos="789305" algn="l"/>
              </a:tabLst>
            </a:pPr>
            <a:r>
              <a:rPr dirty="0">
                <a:sym typeface="+mn-ea"/>
              </a:rPr>
              <a:t>Clear</a:t>
            </a:r>
            <a:r>
              <a:rPr spc="-35" dirty="0">
                <a:sym typeface="+mn-ea"/>
              </a:rPr>
              <a:t> </a:t>
            </a:r>
            <a:r>
              <a:rPr spc="-10" dirty="0">
                <a:sym typeface="+mn-ea"/>
              </a:rPr>
              <a:t>labeling</a:t>
            </a:r>
            <a:r>
              <a:rPr spc="-30" dirty="0">
                <a:sym typeface="+mn-ea"/>
              </a:rPr>
              <a:t> </a:t>
            </a:r>
            <a:r>
              <a:rPr dirty="0">
                <a:sym typeface="+mn-ea"/>
              </a:rPr>
              <a:t>of</a:t>
            </a:r>
            <a:r>
              <a:rPr spc="-30" dirty="0">
                <a:sym typeface="+mn-ea"/>
              </a:rPr>
              <a:t> AI-</a:t>
            </a:r>
            <a:r>
              <a:rPr spc="-20" dirty="0">
                <a:sym typeface="+mn-ea"/>
              </a:rPr>
              <a:t>generated</a:t>
            </a:r>
            <a:r>
              <a:rPr spc="-30" dirty="0">
                <a:sym typeface="+mn-ea"/>
              </a:rPr>
              <a:t> </a:t>
            </a:r>
            <a:r>
              <a:rPr spc="-10" dirty="0">
                <a:sym typeface="+mn-ea"/>
              </a:rPr>
              <a:t>content,</a:t>
            </a:r>
            <a:r>
              <a:rPr spc="-35" dirty="0">
                <a:sym typeface="+mn-ea"/>
              </a:rPr>
              <a:t> </a:t>
            </a:r>
            <a:r>
              <a:rPr dirty="0">
                <a:sym typeface="+mn-ea"/>
              </a:rPr>
              <a:t>so</a:t>
            </a:r>
            <a:r>
              <a:rPr spc="-30" dirty="0">
                <a:sym typeface="+mn-ea"/>
              </a:rPr>
              <a:t> </a:t>
            </a:r>
            <a:r>
              <a:rPr dirty="0">
                <a:sym typeface="+mn-ea"/>
              </a:rPr>
              <a:t>it</a:t>
            </a:r>
            <a:r>
              <a:rPr spc="-30" dirty="0">
                <a:sym typeface="+mn-ea"/>
              </a:rPr>
              <a:t> </a:t>
            </a:r>
            <a:r>
              <a:rPr dirty="0">
                <a:sym typeface="+mn-ea"/>
              </a:rPr>
              <a:t>is</a:t>
            </a:r>
            <a:r>
              <a:rPr spc="-30" dirty="0">
                <a:sym typeface="+mn-ea"/>
              </a:rPr>
              <a:t> </a:t>
            </a:r>
            <a:r>
              <a:rPr dirty="0">
                <a:sym typeface="+mn-ea"/>
              </a:rPr>
              <a:t>not</a:t>
            </a:r>
            <a:r>
              <a:rPr spc="-35" dirty="0">
                <a:sym typeface="+mn-ea"/>
              </a:rPr>
              <a:t> </a:t>
            </a:r>
            <a:r>
              <a:rPr spc="-10" dirty="0">
                <a:sym typeface="+mn-ea"/>
              </a:rPr>
              <a:t>confused with</a:t>
            </a:r>
            <a:r>
              <a:rPr spc="-5" dirty="0">
                <a:sym typeface="+mn-ea"/>
              </a:rPr>
              <a:t> </a:t>
            </a:r>
            <a:r>
              <a:rPr spc="-35" dirty="0">
                <a:sym typeface="+mn-ea"/>
              </a:rPr>
              <a:t>human-</a:t>
            </a:r>
            <a:r>
              <a:rPr spc="-20" dirty="0">
                <a:sym typeface="+mn-ea"/>
              </a:rPr>
              <a:t>generated</a:t>
            </a:r>
            <a:r>
              <a:rPr dirty="0">
                <a:sym typeface="+mn-ea"/>
              </a:rPr>
              <a:t> </a:t>
            </a:r>
            <a:r>
              <a:rPr spc="-10" dirty="0">
                <a:sym typeface="+mn-ea"/>
              </a:rPr>
              <a:t>content.</a:t>
            </a:r>
            <a:endParaRPr>
              <a:latin typeface="Calibri" panose="020F0502020204030204" charset="0"/>
              <a:cs typeface="Calibri" panose="020F0502020204030204" charset="0"/>
            </a:endParaRPr>
          </a:p>
          <a:p>
            <a:pPr marL="789305" marR="3158490" lvl="1" indent="-323850">
              <a:lnSpc>
                <a:spcPct val="79000"/>
              </a:lnSpc>
              <a:buFont typeface="Arial MT"/>
              <a:buChar char="○"/>
              <a:tabLst>
                <a:tab pos="789305" algn="l"/>
              </a:tabLst>
            </a:pPr>
            <a:r>
              <a:rPr spc="-10" dirty="0">
                <a:sym typeface="+mn-ea"/>
              </a:rPr>
              <a:t>Solicitation</a:t>
            </a:r>
            <a:r>
              <a:rPr spc="-40" dirty="0">
                <a:sym typeface="+mn-ea"/>
              </a:rPr>
              <a:t> </a:t>
            </a:r>
            <a:r>
              <a:rPr dirty="0">
                <a:sym typeface="+mn-ea"/>
              </a:rPr>
              <a:t>and</a:t>
            </a:r>
            <a:r>
              <a:rPr spc="-35" dirty="0">
                <a:sym typeface="+mn-ea"/>
              </a:rPr>
              <a:t> </a:t>
            </a:r>
            <a:r>
              <a:rPr spc="-20" dirty="0">
                <a:sym typeface="+mn-ea"/>
              </a:rPr>
              <a:t>inclusion</a:t>
            </a:r>
            <a:r>
              <a:rPr spc="-35" dirty="0">
                <a:sym typeface="+mn-ea"/>
              </a:rPr>
              <a:t> </a:t>
            </a:r>
            <a:r>
              <a:rPr dirty="0">
                <a:sym typeface="+mn-ea"/>
              </a:rPr>
              <a:t>of</a:t>
            </a:r>
            <a:r>
              <a:rPr spc="-40" dirty="0">
                <a:sym typeface="+mn-ea"/>
              </a:rPr>
              <a:t> </a:t>
            </a:r>
            <a:r>
              <a:rPr spc="-10" dirty="0">
                <a:sym typeface="+mn-ea"/>
              </a:rPr>
              <a:t>feedback</a:t>
            </a:r>
            <a:r>
              <a:rPr spc="-35" dirty="0">
                <a:sym typeface="+mn-ea"/>
              </a:rPr>
              <a:t> </a:t>
            </a:r>
            <a:r>
              <a:rPr dirty="0">
                <a:sym typeface="+mn-ea"/>
              </a:rPr>
              <a:t>from</a:t>
            </a:r>
            <a:r>
              <a:rPr spc="-35" dirty="0">
                <a:sym typeface="+mn-ea"/>
              </a:rPr>
              <a:t> </a:t>
            </a:r>
            <a:r>
              <a:rPr spc="-10" dirty="0">
                <a:sym typeface="+mn-ea"/>
              </a:rPr>
              <a:t>relevant</a:t>
            </a:r>
            <a:r>
              <a:rPr spc="-35" dirty="0">
                <a:sym typeface="+mn-ea"/>
              </a:rPr>
              <a:t> </a:t>
            </a:r>
            <a:r>
              <a:rPr spc="-10" dirty="0">
                <a:sym typeface="+mn-ea"/>
              </a:rPr>
              <a:t>members </a:t>
            </a:r>
            <a:r>
              <a:rPr dirty="0">
                <a:sym typeface="+mn-ea"/>
              </a:rPr>
              <a:t>of</a:t>
            </a:r>
            <a:r>
              <a:rPr spc="-35" dirty="0">
                <a:sym typeface="+mn-ea"/>
              </a:rPr>
              <a:t> </a:t>
            </a:r>
            <a:r>
              <a:rPr dirty="0">
                <a:sym typeface="+mn-ea"/>
              </a:rPr>
              <a:t>the</a:t>
            </a:r>
            <a:r>
              <a:rPr spc="-30" dirty="0">
                <a:sym typeface="+mn-ea"/>
              </a:rPr>
              <a:t> </a:t>
            </a:r>
            <a:r>
              <a:rPr spc="-10" dirty="0">
                <a:sym typeface="+mn-ea"/>
              </a:rPr>
              <a:t>community.</a:t>
            </a:r>
            <a:endParaRPr>
              <a:latin typeface="Calibri" panose="020F0502020204030204" charset="0"/>
              <a:cs typeface="Calibri" panose="020F0502020204030204" charset="0"/>
            </a:endParaRPr>
          </a:p>
          <a:p>
            <a:pPr marL="5016500">
              <a:lnSpc>
                <a:spcPct val="100000"/>
              </a:lnSpc>
              <a:spcBef>
                <a:spcPts val="805"/>
              </a:spcBef>
            </a:pPr>
            <a:endParaRPr>
              <a:latin typeface="Calibri" panose="020F0502020204030204" charset="0"/>
              <a:cs typeface="Calibri" panose="020F0502020204030204" charset="0"/>
            </a:endParaRPr>
          </a:p>
          <a:p>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dirty="0"/>
              <a:t>Datasheets for</a:t>
            </a:r>
            <a:r>
              <a:rPr spc="5" dirty="0"/>
              <a:t> </a:t>
            </a:r>
            <a:r>
              <a:rPr spc="-10" dirty="0"/>
              <a:t>datasets</a:t>
            </a:r>
            <a:endParaRPr spc="-10" dirty="0"/>
          </a:p>
        </p:txBody>
      </p:sp>
      <p:sp>
        <p:nvSpPr>
          <p:cNvPr id="3" name="object 3"/>
          <p:cNvSpPr txBox="1"/>
          <p:nvPr/>
        </p:nvSpPr>
        <p:spPr>
          <a:xfrm>
            <a:off x="513080" y="1567180"/>
            <a:ext cx="10916920" cy="3847465"/>
          </a:xfrm>
          <a:prstGeom prst="rect">
            <a:avLst/>
          </a:prstGeom>
        </p:spPr>
        <p:txBody>
          <a:bodyPr vert="horz" wrap="square" lIns="0" tIns="16933" rIns="0" bIns="0" rtlCol="0">
            <a:noAutofit/>
          </a:bodyPr>
          <a:lstStyle/>
          <a:p>
            <a:pPr marL="12700" marR="5080">
              <a:lnSpc>
                <a:spcPct val="115000"/>
              </a:lnSpc>
              <a:spcBef>
                <a:spcPts val="100"/>
              </a:spcBef>
            </a:pPr>
            <a:r>
              <a:rPr lang="en-US" spc="-10" dirty="0">
                <a:solidFill>
                  <a:srgbClr val="595959"/>
                </a:solidFill>
                <a:latin typeface="Calibri" panose="020F0502020204030204" charset="0"/>
                <a:cs typeface="Calibri" panose="020F0502020204030204" charset="0"/>
              </a:rPr>
              <a:t>Activity: </a:t>
            </a:r>
            <a:r>
              <a:rPr spc="-10" dirty="0">
                <a:solidFill>
                  <a:srgbClr val="595959"/>
                </a:solidFill>
                <a:latin typeface="Calibri" panose="020F0502020204030204" charset="0"/>
                <a:cs typeface="Calibri" panose="020F0502020204030204" charset="0"/>
              </a:rPr>
              <a:t>Provide</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comprehensive</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documentation</a:t>
            </a:r>
            <a:r>
              <a:rPr spc="-6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about</a:t>
            </a:r>
            <a:r>
              <a:rPr spc="-60" dirty="0">
                <a:solidFill>
                  <a:srgbClr val="595959"/>
                </a:solidFill>
                <a:latin typeface="Calibri" panose="020F0502020204030204" charset="0"/>
                <a:cs typeface="Calibri" panose="020F0502020204030204" charset="0"/>
              </a:rPr>
              <a:t> </a:t>
            </a:r>
            <a:r>
              <a:rPr spc="-50" dirty="0">
                <a:solidFill>
                  <a:srgbClr val="595959"/>
                </a:solidFill>
                <a:latin typeface="Calibri" panose="020F0502020204030204" charset="0"/>
                <a:cs typeface="Calibri" panose="020F0502020204030204" charset="0"/>
              </a:rPr>
              <a:t>a </a:t>
            </a:r>
            <a:r>
              <a:rPr spc="-10" dirty="0">
                <a:solidFill>
                  <a:srgbClr val="595959"/>
                </a:solidFill>
                <a:latin typeface="Calibri" panose="020F0502020204030204" charset="0"/>
                <a:cs typeface="Calibri" panose="020F0502020204030204" charset="0"/>
              </a:rPr>
              <a:t>dataset's</a:t>
            </a:r>
            <a:endParaRPr>
              <a:latin typeface="Calibri" panose="020F0502020204030204" charset="0"/>
              <a:cs typeface="Calibri" panose="020F0502020204030204" charset="0"/>
            </a:endParaRPr>
          </a:p>
          <a:p>
            <a:pPr marL="469265" indent="-366395">
              <a:lnSpc>
                <a:spcPct val="100000"/>
              </a:lnSpc>
              <a:spcBef>
                <a:spcPts val="1525"/>
              </a:spcBef>
              <a:buFont typeface="Arial MT"/>
              <a:buChar char="●"/>
              <a:tabLst>
                <a:tab pos="469265" algn="l"/>
              </a:tabLst>
            </a:pPr>
            <a:r>
              <a:rPr spc="-10" dirty="0">
                <a:solidFill>
                  <a:srgbClr val="595959"/>
                </a:solidFill>
                <a:latin typeface="Calibri" panose="020F0502020204030204" charset="0"/>
                <a:cs typeface="Calibri" panose="020F0502020204030204" charset="0"/>
              </a:rPr>
              <a:t>creation,</a:t>
            </a:r>
            <a:endParaRPr>
              <a:latin typeface="Calibri" panose="020F0502020204030204" charset="0"/>
              <a:cs typeface="Calibri" panose="020F0502020204030204" charset="0"/>
            </a:endParaRPr>
          </a:p>
          <a:p>
            <a:pPr marL="469265" indent="-366395">
              <a:lnSpc>
                <a:spcPct val="100000"/>
              </a:lnSpc>
              <a:spcBef>
                <a:spcPts val="320"/>
              </a:spcBef>
              <a:buFont typeface="Arial MT"/>
              <a:buChar char="●"/>
              <a:tabLst>
                <a:tab pos="469265" algn="l"/>
              </a:tabLst>
            </a:pPr>
            <a:r>
              <a:rPr spc="-10" dirty="0">
                <a:solidFill>
                  <a:srgbClr val="595959"/>
                </a:solidFill>
                <a:latin typeface="Calibri" panose="020F0502020204030204" charset="0"/>
                <a:cs typeface="Calibri" panose="020F0502020204030204" charset="0"/>
              </a:rPr>
              <a:t>composition,</a:t>
            </a:r>
            <a:endParaRPr>
              <a:latin typeface="Calibri" panose="020F0502020204030204" charset="0"/>
              <a:cs typeface="Calibri" panose="020F0502020204030204" charset="0"/>
            </a:endParaRPr>
          </a:p>
          <a:p>
            <a:pPr marL="469265" indent="-366395">
              <a:lnSpc>
                <a:spcPct val="100000"/>
              </a:lnSpc>
              <a:spcBef>
                <a:spcPts val="325"/>
              </a:spcBef>
              <a:buFont typeface="Arial MT"/>
              <a:buChar char="●"/>
              <a:tabLst>
                <a:tab pos="469265" algn="l"/>
              </a:tabLst>
            </a:pPr>
            <a:r>
              <a:rPr spc="-10" dirty="0">
                <a:solidFill>
                  <a:srgbClr val="595959"/>
                </a:solidFill>
                <a:latin typeface="Calibri" panose="020F0502020204030204" charset="0"/>
                <a:cs typeface="Calibri" panose="020F0502020204030204" charset="0"/>
              </a:rPr>
              <a:t>potential</a:t>
            </a:r>
            <a:r>
              <a:rPr spc="-30" dirty="0">
                <a:solidFill>
                  <a:srgbClr val="595959"/>
                </a:solidFill>
                <a:latin typeface="Calibri" panose="020F0502020204030204" charset="0"/>
                <a:cs typeface="Calibri" panose="020F0502020204030204" charset="0"/>
              </a:rPr>
              <a:t> </a:t>
            </a:r>
            <a:r>
              <a:rPr spc="-10" dirty="0">
                <a:solidFill>
                  <a:srgbClr val="595959"/>
                </a:solidFill>
                <a:latin typeface="Calibri" panose="020F0502020204030204" charset="0"/>
                <a:cs typeface="Calibri" panose="020F0502020204030204" charset="0"/>
              </a:rPr>
              <a:t>biases,</a:t>
            </a:r>
            <a:endParaRPr>
              <a:latin typeface="Calibri" panose="020F0502020204030204" charset="0"/>
              <a:cs typeface="Calibri" panose="020F0502020204030204" charset="0"/>
            </a:endParaRPr>
          </a:p>
          <a:p>
            <a:pPr marL="469265" indent="-366395">
              <a:lnSpc>
                <a:spcPct val="100000"/>
              </a:lnSpc>
              <a:spcBef>
                <a:spcPts val="325"/>
              </a:spcBef>
              <a:buFont typeface="Arial MT"/>
              <a:buChar char="●"/>
              <a:tabLst>
                <a:tab pos="469265" algn="l"/>
              </a:tabLst>
            </a:pPr>
            <a:r>
              <a:rPr dirty="0">
                <a:solidFill>
                  <a:srgbClr val="595959"/>
                </a:solidFill>
                <a:latin typeface="Calibri" panose="020F0502020204030204" charset="0"/>
                <a:cs typeface="Calibri" panose="020F0502020204030204" charset="0"/>
              </a:rPr>
              <a:t>intended</a:t>
            </a:r>
            <a:r>
              <a:rPr spc="-85" dirty="0">
                <a:solidFill>
                  <a:srgbClr val="595959"/>
                </a:solidFill>
                <a:latin typeface="Calibri" panose="020F0502020204030204" charset="0"/>
                <a:cs typeface="Calibri" panose="020F0502020204030204" charset="0"/>
              </a:rPr>
              <a:t> </a:t>
            </a:r>
            <a:r>
              <a:rPr dirty="0">
                <a:solidFill>
                  <a:srgbClr val="595959"/>
                </a:solidFill>
                <a:latin typeface="Calibri" panose="020F0502020204030204" charset="0"/>
                <a:cs typeface="Calibri" panose="020F0502020204030204" charset="0"/>
              </a:rPr>
              <a:t>use,</a:t>
            </a:r>
            <a:r>
              <a:rPr spc="-80" dirty="0">
                <a:solidFill>
                  <a:srgbClr val="595959"/>
                </a:solidFill>
                <a:latin typeface="Calibri" panose="020F0502020204030204" charset="0"/>
                <a:cs typeface="Calibri" panose="020F0502020204030204" charset="0"/>
              </a:rPr>
              <a:t> </a:t>
            </a:r>
            <a:r>
              <a:rPr spc="-25" dirty="0">
                <a:solidFill>
                  <a:srgbClr val="595959"/>
                </a:solidFill>
                <a:latin typeface="Calibri" panose="020F0502020204030204" charset="0"/>
                <a:cs typeface="Calibri" panose="020F0502020204030204" charset="0"/>
              </a:rPr>
              <a:t>and</a:t>
            </a:r>
            <a:endParaRPr>
              <a:latin typeface="Calibri" panose="020F0502020204030204" charset="0"/>
              <a:cs typeface="Calibri" panose="020F0502020204030204" charset="0"/>
            </a:endParaRPr>
          </a:p>
          <a:p>
            <a:pPr marL="469265" indent="-366395">
              <a:lnSpc>
                <a:spcPct val="100000"/>
              </a:lnSpc>
              <a:spcBef>
                <a:spcPts val="325"/>
              </a:spcBef>
              <a:buFont typeface="Arial MT"/>
              <a:buChar char="●"/>
              <a:tabLst>
                <a:tab pos="469265" algn="l"/>
              </a:tabLst>
            </a:pPr>
            <a:r>
              <a:rPr spc="-10" dirty="0">
                <a:solidFill>
                  <a:srgbClr val="595959"/>
                </a:solidFill>
                <a:latin typeface="Calibri" panose="020F0502020204030204" charset="0"/>
                <a:cs typeface="Calibri" panose="020F0502020204030204" charset="0"/>
              </a:rPr>
              <a:t>limitations</a:t>
            </a:r>
            <a:endParaRPr>
              <a:latin typeface="Calibri" panose="020F0502020204030204" charset="0"/>
              <a:cs typeface="Calibri" panose="020F050202020403020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7021"/>
            <a:ext cx="10972800" cy="1118235"/>
          </a:xfrm>
          <a:prstGeom prst="rect">
            <a:avLst/>
          </a:prstGeom>
        </p:spPr>
        <p:txBody>
          <a:bodyPr vert="horz" wrap="square" lIns="0" tIns="503038" rIns="0" bIns="0" rtlCol="0">
            <a:spAutoFit/>
          </a:bodyPr>
          <a:lstStyle/>
          <a:p>
            <a:pPr marL="12700">
              <a:lnSpc>
                <a:spcPct val="100000"/>
              </a:lnSpc>
              <a:spcBef>
                <a:spcPts val="120"/>
              </a:spcBef>
            </a:pPr>
            <a:r>
              <a:rPr spc="-10" dirty="0"/>
              <a:t>Activity</a:t>
            </a:r>
            <a:endParaRPr spc="-10" dirty="0"/>
          </a:p>
        </p:txBody>
      </p:sp>
      <p:sp>
        <p:nvSpPr>
          <p:cNvPr id="3" name="object 3"/>
          <p:cNvSpPr txBox="1">
            <a:spLocks noGrp="1"/>
          </p:cNvSpPr>
          <p:nvPr>
            <p:ph type="body" idx="1"/>
          </p:nvPr>
        </p:nvSpPr>
        <p:spPr>
          <a:xfrm>
            <a:off x="609600" y="1600200"/>
            <a:ext cx="10972800" cy="2357755"/>
          </a:xfrm>
          <a:prstGeom prst="rect">
            <a:avLst/>
          </a:prstGeom>
        </p:spPr>
        <p:txBody>
          <a:bodyPr vert="horz" wrap="square" lIns="0" tIns="16933" rIns="0" bIns="0" rtlCol="0">
            <a:spAutoFit/>
          </a:bodyPr>
          <a:lstStyle/>
          <a:p>
            <a:pPr marL="12700">
              <a:lnSpc>
                <a:spcPct val="150000"/>
              </a:lnSpc>
              <a:spcBef>
                <a:spcPts val="100"/>
              </a:spcBef>
            </a:pPr>
            <a:r>
              <a:rPr spc="-10" dirty="0"/>
              <a:t>Revisit</a:t>
            </a:r>
            <a:r>
              <a:rPr spc="-60" dirty="0"/>
              <a:t> </a:t>
            </a:r>
            <a:r>
              <a:rPr dirty="0"/>
              <a:t>the</a:t>
            </a:r>
            <a:r>
              <a:rPr spc="-55" dirty="0"/>
              <a:t> </a:t>
            </a:r>
            <a:r>
              <a:rPr dirty="0"/>
              <a:t>machine</a:t>
            </a:r>
            <a:r>
              <a:rPr spc="-60" dirty="0"/>
              <a:t> </a:t>
            </a:r>
            <a:r>
              <a:rPr dirty="0"/>
              <a:t>learning</a:t>
            </a:r>
            <a:r>
              <a:rPr spc="-55" dirty="0"/>
              <a:t> </a:t>
            </a:r>
            <a:r>
              <a:rPr spc="-10" dirty="0"/>
              <a:t>project</a:t>
            </a:r>
            <a:r>
              <a:rPr spc="-60" dirty="0"/>
              <a:t> </a:t>
            </a:r>
            <a:r>
              <a:rPr dirty="0"/>
              <a:t>idea</a:t>
            </a:r>
            <a:r>
              <a:rPr spc="-55" dirty="0"/>
              <a:t> </a:t>
            </a:r>
            <a:r>
              <a:rPr dirty="0"/>
              <a:t>you</a:t>
            </a:r>
            <a:r>
              <a:rPr spc="-55" dirty="0"/>
              <a:t> </a:t>
            </a:r>
            <a:r>
              <a:rPr dirty="0"/>
              <a:t>came</a:t>
            </a:r>
            <a:r>
              <a:rPr spc="-60" dirty="0"/>
              <a:t> </a:t>
            </a:r>
            <a:r>
              <a:rPr dirty="0"/>
              <a:t>up</a:t>
            </a:r>
            <a:r>
              <a:rPr spc="-55" dirty="0"/>
              <a:t> </a:t>
            </a:r>
            <a:r>
              <a:rPr dirty="0"/>
              <a:t>with</a:t>
            </a:r>
            <a:r>
              <a:rPr spc="-60" dirty="0"/>
              <a:t> </a:t>
            </a:r>
            <a:r>
              <a:rPr dirty="0"/>
              <a:t>in</a:t>
            </a:r>
            <a:r>
              <a:rPr spc="-55" dirty="0"/>
              <a:t> </a:t>
            </a:r>
            <a:r>
              <a:rPr dirty="0"/>
              <a:t>the</a:t>
            </a:r>
            <a:r>
              <a:rPr spc="-60" dirty="0"/>
              <a:t> </a:t>
            </a:r>
            <a:r>
              <a:rPr dirty="0"/>
              <a:t>last</a:t>
            </a:r>
            <a:r>
              <a:rPr spc="-55" dirty="0"/>
              <a:t> </a:t>
            </a:r>
            <a:r>
              <a:rPr spc="-10" dirty="0"/>
              <a:t>activity.</a:t>
            </a:r>
            <a:endParaRPr spc="-10" dirty="0"/>
          </a:p>
          <a:p>
            <a:pPr marL="469900" marR="114300" indent="-367030">
              <a:lnSpc>
                <a:spcPct val="150000"/>
              </a:lnSpc>
              <a:spcBef>
                <a:spcPts val="1200"/>
              </a:spcBef>
              <a:buFont typeface="Arial MT"/>
              <a:buChar char="●"/>
              <a:tabLst>
                <a:tab pos="469900" algn="l"/>
              </a:tabLst>
            </a:pPr>
            <a:r>
              <a:rPr dirty="0"/>
              <a:t>What</a:t>
            </a:r>
            <a:r>
              <a:rPr spc="-45" dirty="0"/>
              <a:t> </a:t>
            </a:r>
            <a:r>
              <a:rPr dirty="0"/>
              <a:t>are</a:t>
            </a:r>
            <a:r>
              <a:rPr spc="-40" dirty="0"/>
              <a:t> </a:t>
            </a:r>
            <a:r>
              <a:rPr dirty="0"/>
              <a:t>some</a:t>
            </a:r>
            <a:r>
              <a:rPr spc="-45" dirty="0"/>
              <a:t> </a:t>
            </a:r>
            <a:r>
              <a:rPr spc="-10" dirty="0"/>
              <a:t>potential</a:t>
            </a:r>
            <a:r>
              <a:rPr spc="-40" dirty="0"/>
              <a:t> </a:t>
            </a:r>
            <a:r>
              <a:rPr dirty="0"/>
              <a:t>risks</a:t>
            </a:r>
            <a:r>
              <a:rPr spc="-40" dirty="0"/>
              <a:t> </a:t>
            </a:r>
            <a:r>
              <a:rPr dirty="0"/>
              <a:t>that</a:t>
            </a:r>
            <a:r>
              <a:rPr spc="-45" dirty="0"/>
              <a:t> </a:t>
            </a:r>
            <a:r>
              <a:rPr dirty="0"/>
              <a:t>can</a:t>
            </a:r>
            <a:r>
              <a:rPr spc="-40" dirty="0"/>
              <a:t> </a:t>
            </a:r>
            <a:r>
              <a:rPr dirty="0"/>
              <a:t>arise</a:t>
            </a:r>
            <a:r>
              <a:rPr spc="-45" dirty="0"/>
              <a:t> </a:t>
            </a:r>
            <a:r>
              <a:rPr spc="-20" dirty="0"/>
              <a:t>throughout</a:t>
            </a:r>
            <a:r>
              <a:rPr spc="-40" dirty="0"/>
              <a:t> </a:t>
            </a:r>
            <a:r>
              <a:rPr dirty="0"/>
              <a:t>the</a:t>
            </a:r>
            <a:r>
              <a:rPr spc="-40" dirty="0"/>
              <a:t> </a:t>
            </a:r>
            <a:r>
              <a:rPr dirty="0"/>
              <a:t>lifecycle</a:t>
            </a:r>
            <a:r>
              <a:rPr spc="-45" dirty="0"/>
              <a:t> </a:t>
            </a:r>
            <a:r>
              <a:rPr dirty="0"/>
              <a:t>of</a:t>
            </a:r>
            <a:r>
              <a:rPr spc="-40" dirty="0"/>
              <a:t> </a:t>
            </a:r>
            <a:r>
              <a:rPr spc="-20" dirty="0"/>
              <a:t>your </a:t>
            </a:r>
            <a:r>
              <a:rPr spc="-10" dirty="0"/>
              <a:t>project?</a:t>
            </a:r>
            <a:endParaRPr spc="-10" dirty="0"/>
          </a:p>
          <a:p>
            <a:pPr marL="469900" marR="566420" indent="-367030">
              <a:lnSpc>
                <a:spcPct val="150000"/>
              </a:lnSpc>
              <a:buFont typeface="Arial MT"/>
              <a:buChar char="●"/>
              <a:tabLst>
                <a:tab pos="469900" algn="l"/>
              </a:tabLst>
            </a:pPr>
            <a:r>
              <a:rPr dirty="0"/>
              <a:t>What</a:t>
            </a:r>
            <a:r>
              <a:rPr spc="-65" dirty="0"/>
              <a:t> </a:t>
            </a:r>
            <a:r>
              <a:rPr dirty="0"/>
              <a:t>ethical</a:t>
            </a:r>
            <a:r>
              <a:rPr spc="-60" dirty="0"/>
              <a:t> </a:t>
            </a:r>
            <a:r>
              <a:rPr spc="-20" dirty="0"/>
              <a:t>considerations</a:t>
            </a:r>
            <a:r>
              <a:rPr spc="-60" dirty="0"/>
              <a:t> </a:t>
            </a:r>
            <a:r>
              <a:rPr dirty="0"/>
              <a:t>do</a:t>
            </a:r>
            <a:r>
              <a:rPr spc="-60" dirty="0"/>
              <a:t> </a:t>
            </a:r>
            <a:r>
              <a:rPr dirty="0"/>
              <a:t>you</a:t>
            </a:r>
            <a:r>
              <a:rPr spc="-60" dirty="0"/>
              <a:t> </a:t>
            </a:r>
            <a:r>
              <a:rPr dirty="0"/>
              <a:t>think</a:t>
            </a:r>
            <a:r>
              <a:rPr spc="-60" dirty="0"/>
              <a:t> </a:t>
            </a:r>
            <a:r>
              <a:rPr dirty="0"/>
              <a:t>you</a:t>
            </a:r>
            <a:r>
              <a:rPr spc="-60" dirty="0"/>
              <a:t> </a:t>
            </a:r>
            <a:r>
              <a:rPr spc="-10" dirty="0"/>
              <a:t>should</a:t>
            </a:r>
            <a:r>
              <a:rPr spc="-60" dirty="0"/>
              <a:t> </a:t>
            </a:r>
            <a:r>
              <a:rPr dirty="0"/>
              <a:t>keep</a:t>
            </a:r>
            <a:r>
              <a:rPr spc="-60" dirty="0"/>
              <a:t> </a:t>
            </a:r>
            <a:r>
              <a:rPr dirty="0"/>
              <a:t>in</a:t>
            </a:r>
            <a:r>
              <a:rPr spc="-60" dirty="0"/>
              <a:t> </a:t>
            </a:r>
            <a:r>
              <a:rPr dirty="0"/>
              <a:t>mind</a:t>
            </a:r>
            <a:r>
              <a:rPr spc="-60" dirty="0"/>
              <a:t> </a:t>
            </a:r>
            <a:r>
              <a:rPr spc="-20" dirty="0"/>
              <a:t>when </a:t>
            </a:r>
            <a:r>
              <a:rPr spc="-10" dirty="0"/>
              <a:t>developing</a:t>
            </a:r>
            <a:r>
              <a:rPr spc="-35" dirty="0"/>
              <a:t> </a:t>
            </a:r>
            <a:r>
              <a:rPr dirty="0"/>
              <a:t>a</a:t>
            </a:r>
            <a:r>
              <a:rPr spc="-30" dirty="0"/>
              <a:t> </a:t>
            </a:r>
            <a:r>
              <a:rPr spc="-10" dirty="0"/>
              <a:t>workflow</a:t>
            </a:r>
            <a:r>
              <a:rPr spc="-30" dirty="0"/>
              <a:t> </a:t>
            </a:r>
            <a:r>
              <a:rPr dirty="0"/>
              <a:t>for</a:t>
            </a:r>
            <a:r>
              <a:rPr spc="-30" dirty="0"/>
              <a:t> </a:t>
            </a:r>
            <a:r>
              <a:rPr spc="-25" dirty="0"/>
              <a:t>it?</a:t>
            </a:r>
            <a:endParaRPr spc="-25" dirty="0"/>
          </a:p>
          <a:p>
            <a:pPr marL="469900" marR="5080" indent="-367030">
              <a:lnSpc>
                <a:spcPct val="150000"/>
              </a:lnSpc>
              <a:buFont typeface="Arial MT"/>
              <a:buChar char="●"/>
              <a:tabLst>
                <a:tab pos="469900" algn="l"/>
              </a:tabLst>
            </a:pPr>
            <a:r>
              <a:rPr spc="-10" dirty="0"/>
              <a:t>Discuss</a:t>
            </a:r>
            <a:r>
              <a:rPr spc="-50" dirty="0"/>
              <a:t> </a:t>
            </a:r>
            <a:r>
              <a:rPr spc="-85" dirty="0"/>
              <a:t>2-</a:t>
            </a:r>
            <a:r>
              <a:rPr dirty="0"/>
              <a:t>3</a:t>
            </a:r>
            <a:r>
              <a:rPr spc="-50" dirty="0"/>
              <a:t> </a:t>
            </a:r>
            <a:r>
              <a:rPr spc="-10" dirty="0"/>
              <a:t>potential</a:t>
            </a:r>
            <a:r>
              <a:rPr spc="-45" dirty="0"/>
              <a:t> </a:t>
            </a:r>
            <a:r>
              <a:rPr spc="-10" dirty="0"/>
              <a:t>points</a:t>
            </a:r>
            <a:r>
              <a:rPr spc="-50" dirty="0"/>
              <a:t> </a:t>
            </a:r>
            <a:r>
              <a:rPr dirty="0"/>
              <a:t>at</a:t>
            </a:r>
            <a:r>
              <a:rPr spc="-45" dirty="0"/>
              <a:t> </a:t>
            </a:r>
            <a:r>
              <a:rPr spc="-10" dirty="0"/>
              <a:t>which</a:t>
            </a:r>
            <a:r>
              <a:rPr spc="-50" dirty="0"/>
              <a:t> </a:t>
            </a:r>
            <a:r>
              <a:rPr dirty="0"/>
              <a:t>bias</a:t>
            </a:r>
            <a:r>
              <a:rPr spc="-45" dirty="0"/>
              <a:t> </a:t>
            </a:r>
            <a:r>
              <a:rPr dirty="0"/>
              <a:t>may</a:t>
            </a:r>
            <a:r>
              <a:rPr spc="-50" dirty="0"/>
              <a:t> </a:t>
            </a:r>
            <a:r>
              <a:rPr dirty="0"/>
              <a:t>enter</a:t>
            </a:r>
            <a:r>
              <a:rPr spc="-45" dirty="0"/>
              <a:t> </a:t>
            </a:r>
            <a:r>
              <a:rPr dirty="0"/>
              <a:t>the</a:t>
            </a:r>
            <a:r>
              <a:rPr spc="-50" dirty="0"/>
              <a:t> </a:t>
            </a:r>
            <a:r>
              <a:rPr dirty="0"/>
              <a:t>pipeline</a:t>
            </a:r>
            <a:r>
              <a:rPr spc="-45" dirty="0"/>
              <a:t> </a:t>
            </a:r>
            <a:r>
              <a:rPr dirty="0"/>
              <a:t>of</a:t>
            </a:r>
            <a:r>
              <a:rPr spc="-50" dirty="0"/>
              <a:t> </a:t>
            </a:r>
            <a:r>
              <a:rPr spc="-20" dirty="0"/>
              <a:t>your </a:t>
            </a:r>
            <a:r>
              <a:rPr spc="-10" dirty="0"/>
              <a:t>project,</a:t>
            </a:r>
            <a:r>
              <a:rPr spc="-45" dirty="0"/>
              <a:t> </a:t>
            </a:r>
            <a:r>
              <a:rPr dirty="0"/>
              <a:t>and</a:t>
            </a:r>
            <a:r>
              <a:rPr spc="-45" dirty="0"/>
              <a:t> </a:t>
            </a:r>
            <a:r>
              <a:rPr spc="-20" dirty="0"/>
              <a:t>questions/strategies</a:t>
            </a:r>
            <a:r>
              <a:rPr spc="-45" dirty="0"/>
              <a:t> </a:t>
            </a:r>
            <a:r>
              <a:rPr lang="en-US" dirty="0"/>
              <a:t>UMU</a:t>
            </a:r>
            <a:r>
              <a:rPr spc="-45" dirty="0"/>
              <a:t> </a:t>
            </a:r>
            <a:r>
              <a:rPr dirty="0"/>
              <a:t>staff</a:t>
            </a:r>
            <a:r>
              <a:rPr spc="-45" dirty="0"/>
              <a:t> </a:t>
            </a:r>
            <a:r>
              <a:rPr dirty="0"/>
              <a:t>might</a:t>
            </a:r>
            <a:r>
              <a:rPr spc="-45" dirty="0"/>
              <a:t> </a:t>
            </a:r>
            <a:r>
              <a:rPr dirty="0"/>
              <a:t>want</a:t>
            </a:r>
            <a:r>
              <a:rPr spc="-40" dirty="0"/>
              <a:t> </a:t>
            </a:r>
            <a:r>
              <a:rPr dirty="0"/>
              <a:t>to</a:t>
            </a:r>
            <a:r>
              <a:rPr spc="-45" dirty="0"/>
              <a:t> </a:t>
            </a:r>
            <a:r>
              <a:rPr dirty="0"/>
              <a:t>consider</a:t>
            </a:r>
            <a:r>
              <a:rPr spc="-45" dirty="0"/>
              <a:t> </a:t>
            </a:r>
            <a:r>
              <a:rPr dirty="0"/>
              <a:t>in</a:t>
            </a:r>
            <a:r>
              <a:rPr spc="-45" dirty="0"/>
              <a:t> </a:t>
            </a:r>
            <a:r>
              <a:rPr spc="-10" dirty="0"/>
              <a:t>order </a:t>
            </a:r>
            <a:r>
              <a:rPr dirty="0"/>
              <a:t>to</a:t>
            </a:r>
            <a:r>
              <a:rPr spc="-50" dirty="0"/>
              <a:t> </a:t>
            </a:r>
            <a:r>
              <a:rPr dirty="0"/>
              <a:t>manage</a:t>
            </a:r>
            <a:r>
              <a:rPr spc="-45" dirty="0"/>
              <a:t> </a:t>
            </a:r>
            <a:r>
              <a:rPr spc="-25" dirty="0"/>
              <a:t>it.</a:t>
            </a:r>
            <a:endParaRPr spc="-25"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Title 1"/>
          <p:cNvSpPr>
            <a:spLocks noGrp="1"/>
          </p:cNvSpPr>
          <p:nvPr>
            <p:ph type="title"/>
          </p:nvPr>
        </p:nvSpPr>
        <p:spPr>
          <a:xfrm>
            <a:off x="234950" y="-76200"/>
            <a:ext cx="10433050" cy="1143000"/>
          </a:xfrm>
        </p:spPr>
        <p:txBody>
          <a:bodyPr vert="horz" wrap="square" lIns="91440" tIns="45720" rIns="91440" bIns="45720" anchor="ctr" anchorCtr="0"/>
          <a:p>
            <a:pPr eaLnBrk="1" hangingPunct="1"/>
            <a:r>
              <a:rPr dirty="0">
                <a:solidFill>
                  <a:schemeClr val="tx1"/>
                </a:solidFill>
              </a:rPr>
              <a:t>Top Machine Learning Software Tools</a:t>
            </a:r>
            <a:endParaRPr dirty="0">
              <a:solidFill>
                <a:schemeClr val="tx1"/>
              </a:solidFill>
            </a:endParaRPr>
          </a:p>
        </p:txBody>
      </p:sp>
      <p:graphicFrame>
        <p:nvGraphicFramePr>
          <p:cNvPr id="6" name="Table 5"/>
          <p:cNvGraphicFramePr>
            <a:graphicFrameLocks noGrp="1"/>
          </p:cNvGraphicFramePr>
          <p:nvPr/>
        </p:nvGraphicFramePr>
        <p:xfrm>
          <a:off x="1905000" y="914400"/>
          <a:ext cx="8229600" cy="5432425"/>
        </p:xfrm>
        <a:graphic>
          <a:graphicData uri="http://schemas.openxmlformats.org/drawingml/2006/table">
            <a:tbl>
              <a:tblPr/>
              <a:tblGrid>
                <a:gridCol w="1311910"/>
                <a:gridCol w="1888490"/>
                <a:gridCol w="1524000"/>
                <a:gridCol w="3505200"/>
              </a:tblGrid>
              <a:tr h="701040">
                <a:tc>
                  <a:txBody>
                    <a:bodyPr/>
                    <a:lstStyle/>
                    <a:p>
                      <a:pPr marL="0" marR="0" algn="ctr">
                        <a:lnSpc>
                          <a:spcPct val="115000"/>
                        </a:lnSpc>
                        <a:spcBef>
                          <a:spcPts val="0"/>
                        </a:spcBef>
                        <a:spcAft>
                          <a:spcPts val="1000"/>
                        </a:spcAft>
                      </a:pPr>
                      <a:r>
                        <a:rPr lang="en-US" sz="2000" b="1" dirty="0">
                          <a:latin typeface="Calibri" panose="020F0502020204030204"/>
                          <a:ea typeface="Calibri" panose="020F0502020204030204"/>
                          <a:cs typeface="Times New Roman" panose="02020603050405020304"/>
                        </a:rPr>
                        <a:t>Software  </a:t>
                      </a:r>
                      <a:endParaRPr lang="en-US" sz="2000" dirty="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b="1">
                          <a:latin typeface="Calibri" panose="020F0502020204030204"/>
                          <a:ea typeface="Calibri" panose="020F0502020204030204"/>
                          <a:cs typeface="Times New Roman" panose="02020603050405020304"/>
                        </a:rPr>
                        <a:t>Platform</a:t>
                      </a:r>
                      <a:endParaRPr lang="en-US" sz="200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b="1">
                          <a:latin typeface="Calibri" panose="020F0502020204030204"/>
                          <a:ea typeface="Calibri" panose="020F0502020204030204"/>
                          <a:cs typeface="Times New Roman" panose="02020603050405020304"/>
                        </a:rPr>
                        <a:t>Written in language</a:t>
                      </a:r>
                      <a:endParaRPr lang="en-US" sz="200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b="1">
                          <a:latin typeface="Calibri" panose="020F0502020204030204"/>
                          <a:ea typeface="Calibri" panose="020F0502020204030204"/>
                          <a:cs typeface="Times New Roman" panose="02020603050405020304"/>
                        </a:rPr>
                        <a:t>Algorithms or Features</a:t>
                      </a:r>
                      <a:endParaRPr lang="en-US" sz="200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02715">
                <a:tc>
                  <a:txBody>
                    <a:bodyPr/>
                    <a:lstStyle/>
                    <a:p>
                      <a:pPr marL="0" marR="0" algn="ctr">
                        <a:lnSpc>
                          <a:spcPct val="115000"/>
                        </a:lnSpc>
                        <a:spcBef>
                          <a:spcPts val="0"/>
                        </a:spcBef>
                        <a:spcAft>
                          <a:spcPts val="1000"/>
                        </a:spcAft>
                      </a:pPr>
                      <a:r>
                        <a:rPr lang="en-US" sz="2000" dirty="0" err="1">
                          <a:latin typeface="Calibri" panose="020F0502020204030204"/>
                          <a:ea typeface="Calibri" panose="020F0502020204030204"/>
                          <a:cs typeface="Times New Roman" panose="02020603050405020304"/>
                        </a:rPr>
                        <a:t>Scikit</a:t>
                      </a:r>
                      <a:r>
                        <a:rPr lang="en-US" sz="2000" dirty="0">
                          <a:latin typeface="Calibri" panose="020F0502020204030204"/>
                          <a:ea typeface="Calibri" panose="020F0502020204030204"/>
                          <a:cs typeface="Times New Roman" panose="02020603050405020304"/>
                        </a:rPr>
                        <a:t> Learn</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Linux, Mac OS, Windows</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a:latin typeface="Calibri" panose="020F0502020204030204"/>
                          <a:ea typeface="Calibri" panose="020F0502020204030204"/>
                          <a:cs typeface="Times New Roman" panose="02020603050405020304"/>
                        </a:rPr>
                        <a:t>Python, Cython, C, C++</a:t>
                      </a:r>
                      <a:endParaRPr lang="en-US" sz="200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smtClean="0">
                          <a:latin typeface="Calibri" panose="020F0502020204030204"/>
                          <a:ea typeface="Calibri" panose="020F0502020204030204"/>
                          <a:cs typeface="Times New Roman" panose="02020603050405020304"/>
                        </a:rPr>
                        <a:t>Classification, Regression</a:t>
                      </a:r>
                      <a:br>
                        <a:rPr lang="en-US" sz="2000" dirty="0">
                          <a:latin typeface="Calibri" panose="020F0502020204030204"/>
                          <a:ea typeface="Calibri" panose="020F0502020204030204"/>
                          <a:cs typeface="Times New Roman" panose="02020603050405020304"/>
                        </a:rPr>
                      </a:br>
                      <a:r>
                        <a:rPr lang="en-US" sz="2000" dirty="0" smtClean="0">
                          <a:latin typeface="Calibri" panose="020F0502020204030204"/>
                          <a:ea typeface="Calibri" panose="020F0502020204030204"/>
                          <a:cs typeface="Times New Roman" panose="02020603050405020304"/>
                        </a:rPr>
                        <a:t>Clustering, Preprocessing</a:t>
                      </a:r>
                      <a:br>
                        <a:rPr lang="en-US" sz="2000" dirty="0">
                          <a:latin typeface="Calibri" panose="020F0502020204030204"/>
                          <a:ea typeface="Calibri" panose="020F0502020204030204"/>
                          <a:cs typeface="Times New Roman" panose="02020603050405020304"/>
                        </a:rPr>
                      </a:br>
                      <a:r>
                        <a:rPr lang="en-US" sz="2000" dirty="0">
                          <a:latin typeface="Calibri" panose="020F0502020204030204"/>
                          <a:ea typeface="Calibri" panose="020F0502020204030204"/>
                          <a:cs typeface="Times New Roman" panose="02020603050405020304"/>
                        </a:rPr>
                        <a:t>Model Selection</a:t>
                      </a:r>
                      <a:br>
                        <a:rPr lang="en-US" sz="2000" dirty="0">
                          <a:latin typeface="Calibri" panose="020F0502020204030204"/>
                          <a:ea typeface="Calibri" panose="020F0502020204030204"/>
                          <a:cs typeface="Times New Roman" panose="02020603050405020304"/>
                        </a:rPr>
                      </a:br>
                      <a:r>
                        <a:rPr lang="en-US" sz="2000" dirty="0">
                          <a:latin typeface="Calibri" panose="020F0502020204030204"/>
                          <a:ea typeface="Calibri" panose="020F0502020204030204"/>
                          <a:cs typeface="Times New Roman" panose="02020603050405020304"/>
                        </a:rPr>
                        <a:t>Dimensionality reduction.</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1675">
                <a:tc>
                  <a:txBody>
                    <a:bodyPr/>
                    <a:lstStyle/>
                    <a:p>
                      <a:pPr marL="0" marR="0" algn="ctr">
                        <a:lnSpc>
                          <a:spcPct val="115000"/>
                        </a:lnSpc>
                        <a:spcBef>
                          <a:spcPts val="0"/>
                        </a:spcBef>
                        <a:spcAft>
                          <a:spcPts val="1000"/>
                        </a:spcAft>
                      </a:pPr>
                      <a:r>
                        <a:rPr lang="en-US" sz="2000" dirty="0" err="1">
                          <a:latin typeface="Calibri" panose="020F0502020204030204"/>
                          <a:ea typeface="Calibri" panose="020F0502020204030204"/>
                          <a:cs typeface="Times New Roman" panose="02020603050405020304"/>
                        </a:rPr>
                        <a:t>PyTorch</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Linux, Mac OS,</a:t>
                      </a:r>
                      <a:br>
                        <a:rPr lang="en-US" sz="2000" dirty="0">
                          <a:latin typeface="Calibri" panose="020F0502020204030204"/>
                          <a:ea typeface="Calibri" panose="020F0502020204030204"/>
                          <a:cs typeface="Times New Roman" panose="02020603050405020304"/>
                        </a:rPr>
                      </a:br>
                      <a:r>
                        <a:rPr lang="en-US" sz="2000" dirty="0">
                          <a:latin typeface="Calibri" panose="020F0502020204030204"/>
                          <a:ea typeface="Calibri" panose="020F0502020204030204"/>
                          <a:cs typeface="Times New Roman" panose="02020603050405020304"/>
                        </a:rPr>
                        <a:t>Windows</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a:latin typeface="Calibri" panose="020F0502020204030204"/>
                          <a:ea typeface="Calibri" panose="020F0502020204030204"/>
                          <a:cs typeface="Times New Roman" panose="02020603050405020304"/>
                        </a:rPr>
                        <a:t>Python, C++,</a:t>
                      </a:r>
                      <a:br>
                        <a:rPr lang="en-US" sz="2000">
                          <a:latin typeface="Calibri" panose="020F0502020204030204"/>
                          <a:ea typeface="Calibri" panose="020F0502020204030204"/>
                          <a:cs typeface="Times New Roman" panose="02020603050405020304"/>
                        </a:rPr>
                      </a:br>
                      <a:r>
                        <a:rPr lang="en-US" sz="2000">
                          <a:latin typeface="Calibri" panose="020F0502020204030204"/>
                          <a:ea typeface="Calibri" panose="020F0502020204030204"/>
                          <a:cs typeface="Times New Roman" panose="02020603050405020304"/>
                        </a:rPr>
                        <a:t>CUDA</a:t>
                      </a:r>
                      <a:endParaRPr lang="en-US" sz="200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err="1">
                          <a:latin typeface="Calibri" panose="020F0502020204030204"/>
                          <a:ea typeface="Calibri" panose="020F0502020204030204"/>
                          <a:cs typeface="Times New Roman" panose="02020603050405020304"/>
                        </a:rPr>
                        <a:t>Autograd</a:t>
                      </a:r>
                      <a:r>
                        <a:rPr lang="en-US" sz="2000" dirty="0">
                          <a:latin typeface="Calibri" panose="020F0502020204030204"/>
                          <a:ea typeface="Calibri" panose="020F0502020204030204"/>
                          <a:cs typeface="Times New Roman" panose="02020603050405020304"/>
                        </a:rPr>
                        <a:t> </a:t>
                      </a:r>
                      <a:r>
                        <a:rPr lang="en-US" sz="2000" dirty="0" smtClean="0">
                          <a:latin typeface="Calibri" panose="020F0502020204030204"/>
                          <a:ea typeface="Calibri" panose="020F0502020204030204"/>
                          <a:cs typeface="Times New Roman" panose="02020603050405020304"/>
                        </a:rPr>
                        <a:t>Module, </a:t>
                      </a:r>
                      <a:r>
                        <a:rPr lang="en-US" sz="2000" dirty="0" err="1" smtClean="0">
                          <a:latin typeface="Calibri" panose="020F0502020204030204"/>
                          <a:ea typeface="Calibri" panose="020F0502020204030204"/>
                          <a:cs typeface="Times New Roman" panose="02020603050405020304"/>
                        </a:rPr>
                        <a:t>Optim</a:t>
                      </a:r>
                      <a:r>
                        <a:rPr lang="en-US" sz="2000" dirty="0" smtClean="0">
                          <a:latin typeface="Calibri" panose="020F0502020204030204"/>
                          <a:ea typeface="Calibri" panose="020F0502020204030204"/>
                          <a:cs typeface="Times New Roman" panose="02020603050405020304"/>
                        </a:rPr>
                        <a:t> Module, </a:t>
                      </a:r>
                      <a:r>
                        <a:rPr lang="en-US" sz="2000" dirty="0" err="1" smtClean="0">
                          <a:latin typeface="Calibri" panose="020F0502020204030204"/>
                          <a:ea typeface="Calibri" panose="020F0502020204030204"/>
                          <a:cs typeface="Times New Roman" panose="02020603050405020304"/>
                        </a:rPr>
                        <a:t>nn</a:t>
                      </a:r>
                      <a:r>
                        <a:rPr lang="en-US" sz="2000" dirty="0" smtClean="0">
                          <a:latin typeface="Calibri" panose="020F0502020204030204"/>
                          <a:ea typeface="Calibri" panose="020F0502020204030204"/>
                          <a:cs typeface="Times New Roman" panose="02020603050405020304"/>
                        </a:rPr>
                        <a:t> </a:t>
                      </a:r>
                      <a:r>
                        <a:rPr lang="en-US" sz="2000" dirty="0">
                          <a:latin typeface="Calibri" panose="020F0502020204030204"/>
                          <a:ea typeface="Calibri" panose="020F0502020204030204"/>
                          <a:cs typeface="Times New Roman" panose="02020603050405020304"/>
                        </a:rPr>
                        <a:t>Module</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1040">
                <a:tc>
                  <a:txBody>
                    <a:bodyPr/>
                    <a:lstStyle/>
                    <a:p>
                      <a:pPr marL="0" marR="0" algn="ctr">
                        <a:lnSpc>
                          <a:spcPct val="115000"/>
                        </a:lnSpc>
                        <a:spcBef>
                          <a:spcPts val="0"/>
                        </a:spcBef>
                        <a:spcAft>
                          <a:spcPts val="1000"/>
                        </a:spcAft>
                      </a:pPr>
                      <a:r>
                        <a:rPr lang="en-US" sz="2000" dirty="0" err="1">
                          <a:latin typeface="Calibri" panose="020F0502020204030204"/>
                          <a:ea typeface="Calibri" panose="020F0502020204030204"/>
                          <a:cs typeface="Times New Roman" panose="02020603050405020304"/>
                        </a:rPr>
                        <a:t>TensorFlow</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Linux, Mac OS,</a:t>
                      </a:r>
                      <a:br>
                        <a:rPr lang="en-US" sz="2000" dirty="0">
                          <a:latin typeface="Calibri" panose="020F0502020204030204"/>
                          <a:ea typeface="Calibri" panose="020F0502020204030204"/>
                          <a:cs typeface="Times New Roman" panose="02020603050405020304"/>
                        </a:rPr>
                      </a:br>
                      <a:r>
                        <a:rPr lang="en-US" sz="2000" dirty="0">
                          <a:latin typeface="Calibri" panose="020F0502020204030204"/>
                          <a:ea typeface="Calibri" panose="020F0502020204030204"/>
                          <a:cs typeface="Times New Roman" panose="02020603050405020304"/>
                        </a:rPr>
                        <a:t>Windows</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Python, C++,</a:t>
                      </a:r>
                      <a:br>
                        <a:rPr lang="en-US" sz="2000" dirty="0">
                          <a:latin typeface="Calibri" panose="020F0502020204030204"/>
                          <a:ea typeface="Calibri" panose="020F0502020204030204"/>
                          <a:cs typeface="Times New Roman" panose="02020603050405020304"/>
                        </a:rPr>
                      </a:br>
                      <a:r>
                        <a:rPr lang="en-US" sz="2000" dirty="0">
                          <a:latin typeface="Calibri" panose="020F0502020204030204"/>
                          <a:ea typeface="Calibri" panose="020F0502020204030204"/>
                          <a:cs typeface="Times New Roman" panose="02020603050405020304"/>
                        </a:rPr>
                        <a:t>CUDA</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Provides a library for dataflow programming.</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25955">
                <a:tc>
                  <a:txBody>
                    <a:bodyPr/>
                    <a:lstStyle/>
                    <a:p>
                      <a:pPr marL="0" marR="0" algn="ctr">
                        <a:lnSpc>
                          <a:spcPct val="115000"/>
                        </a:lnSpc>
                        <a:spcBef>
                          <a:spcPts val="0"/>
                        </a:spcBef>
                        <a:spcAft>
                          <a:spcPts val="1000"/>
                        </a:spcAft>
                      </a:pPr>
                      <a:r>
                        <a:rPr lang="en-US" sz="2000" dirty="0" err="1" smtClean="0">
                          <a:latin typeface="Calibri" panose="020F0502020204030204"/>
                          <a:ea typeface="Calibri" panose="020F0502020204030204"/>
                          <a:cs typeface="Times New Roman" panose="02020603050405020304"/>
                        </a:rPr>
                        <a:t>Weka</a:t>
                      </a:r>
                      <a:r>
                        <a:rPr lang="en-US" sz="2000" dirty="0" smtClean="0">
                          <a:latin typeface="Calibri" panose="020F0502020204030204"/>
                          <a:ea typeface="Calibri" panose="020F0502020204030204"/>
                          <a:cs typeface="Times New Roman" panose="02020603050405020304"/>
                        </a:rPr>
                        <a:t> </a:t>
                      </a:r>
                      <a:r>
                        <a:rPr lang="en-US" sz="1800" b="0" i="0" kern="1200" dirty="0" smtClean="0">
                          <a:solidFill>
                            <a:schemeClr val="tx1"/>
                          </a:solidFill>
                          <a:latin typeface="+mn-lt"/>
                          <a:ea typeface="+mn-ea"/>
                          <a:cs typeface="+mn-cs"/>
                        </a:rPr>
                        <a:t>Waikato Environment for Knowledge Analysis</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Linux, Mac OS,</a:t>
                      </a:r>
                      <a:br>
                        <a:rPr lang="en-US" sz="2000" dirty="0">
                          <a:latin typeface="Calibri" panose="020F0502020204030204"/>
                          <a:ea typeface="Calibri" panose="020F0502020204030204"/>
                          <a:cs typeface="Times New Roman" panose="02020603050405020304"/>
                        </a:rPr>
                      </a:br>
                      <a:r>
                        <a:rPr lang="en-US" sz="2000" dirty="0">
                          <a:latin typeface="Calibri" panose="020F0502020204030204"/>
                          <a:ea typeface="Calibri" panose="020F0502020204030204"/>
                          <a:cs typeface="Times New Roman" panose="02020603050405020304"/>
                        </a:rPr>
                        <a:t>Windows</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Java</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Data </a:t>
                      </a:r>
                      <a:r>
                        <a:rPr lang="en-US" sz="2000" dirty="0" smtClean="0">
                          <a:latin typeface="Calibri" panose="020F0502020204030204"/>
                          <a:ea typeface="Calibri" panose="020F0502020204030204"/>
                          <a:cs typeface="Times New Roman" panose="02020603050405020304"/>
                        </a:rPr>
                        <a:t>preparation, Classification</a:t>
                      </a:r>
                      <a:br>
                        <a:rPr lang="en-US" sz="2000" dirty="0">
                          <a:latin typeface="Calibri" panose="020F0502020204030204"/>
                          <a:ea typeface="Calibri" panose="020F0502020204030204"/>
                          <a:cs typeface="Times New Roman" panose="02020603050405020304"/>
                        </a:rPr>
                      </a:br>
                      <a:r>
                        <a:rPr lang="en-US" sz="2000" dirty="0" smtClean="0">
                          <a:latin typeface="Calibri" panose="020F0502020204030204"/>
                          <a:ea typeface="Calibri" panose="020F0502020204030204"/>
                          <a:cs typeface="Times New Roman" panose="02020603050405020304"/>
                        </a:rPr>
                        <a:t>Regression, Clustering</a:t>
                      </a:r>
                      <a:br>
                        <a:rPr lang="en-US" sz="2000" dirty="0">
                          <a:latin typeface="Calibri" panose="020F0502020204030204"/>
                          <a:ea typeface="Calibri" panose="020F0502020204030204"/>
                          <a:cs typeface="Times New Roman" panose="02020603050405020304"/>
                        </a:rPr>
                      </a:br>
                      <a:r>
                        <a:rPr lang="en-US" sz="2000" dirty="0" smtClean="0">
                          <a:latin typeface="Calibri" panose="020F0502020204030204"/>
                          <a:ea typeface="Calibri" panose="020F0502020204030204"/>
                          <a:cs typeface="Times New Roman" panose="02020603050405020304"/>
                        </a:rPr>
                        <a:t>Visualization, Association </a:t>
                      </a:r>
                      <a:r>
                        <a:rPr lang="en-US" sz="2000" dirty="0">
                          <a:latin typeface="Calibri" panose="020F0502020204030204"/>
                          <a:ea typeface="Calibri" panose="020F0502020204030204"/>
                          <a:cs typeface="Times New Roman" panose="02020603050405020304"/>
                        </a:rPr>
                        <a:t>rules mining</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Date Placeholder 4"/>
          <p:cNvSpPr txBox="1">
            <a:spLocks noGrp="1"/>
          </p:cNvSpPr>
          <p:nvPr>
            <p:ph type="dt" sz="half" idx="10"/>
          </p:nvPr>
        </p:nvSpPr>
        <p:spPr>
          <a:noFill/>
        </p:spPr>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defRPr/>
            </a:pPr>
            <a:fld id="{16D8C1C7-799C-48F6-8722-3A97674DA64A}" type="datetime1">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Slide Number Placeholder 7"/>
          <p:cNvSpPr txBox="1">
            <a:spLocks noGrp="1"/>
          </p:cNvSpPr>
          <p:nvPr>
            <p:ph type="sldNum" sz="quarter" idx="12"/>
          </p:nvPr>
        </p:nvSpPr>
        <p:spPr>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None/>
            </a:pPr>
            <a:fld id="{9A0DB2DC-4C9A-4742-B13C-FB6460FD3503}" type="slidenum">
              <a:rPr lang="en-US" sz="1200" dirty="0">
                <a:solidFill>
                  <a:srgbClr val="898989"/>
                </a:solidFill>
              </a:rPr>
            </a:fld>
            <a:endParaRPr lang="en-US" sz="1200" dirty="0">
              <a:solidFill>
                <a:srgbClr val="898989"/>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Title 1"/>
          <p:cNvSpPr>
            <a:spLocks noGrp="1"/>
          </p:cNvSpPr>
          <p:nvPr>
            <p:ph type="title"/>
          </p:nvPr>
        </p:nvSpPr>
        <p:spPr>
          <a:xfrm>
            <a:off x="92075" y="-76200"/>
            <a:ext cx="10575925" cy="1310005"/>
          </a:xfrm>
        </p:spPr>
        <p:txBody>
          <a:bodyPr vert="horz" wrap="square" lIns="91440" tIns="45720" rIns="91440" bIns="45720" anchor="ctr" anchorCtr="0"/>
          <a:p>
            <a:pPr eaLnBrk="1" hangingPunct="1"/>
            <a:r>
              <a:rPr dirty="0">
                <a:solidFill>
                  <a:schemeClr val="tx1"/>
                </a:solidFill>
              </a:rPr>
              <a:t>Top Machine Learning Software Tools</a:t>
            </a:r>
            <a:endParaRPr dirty="0">
              <a:solidFill>
                <a:schemeClr val="tx1"/>
              </a:solidFill>
            </a:endParaRPr>
          </a:p>
        </p:txBody>
      </p:sp>
      <p:graphicFrame>
        <p:nvGraphicFramePr>
          <p:cNvPr id="6" name="Table 5"/>
          <p:cNvGraphicFramePr>
            <a:graphicFrameLocks noGrp="1"/>
          </p:cNvGraphicFramePr>
          <p:nvPr/>
        </p:nvGraphicFramePr>
        <p:xfrm>
          <a:off x="1905000" y="914400"/>
          <a:ext cx="8229600" cy="5503545"/>
        </p:xfrm>
        <a:graphic>
          <a:graphicData uri="http://schemas.openxmlformats.org/drawingml/2006/table">
            <a:tbl>
              <a:tblPr/>
              <a:tblGrid>
                <a:gridCol w="1311910"/>
                <a:gridCol w="1431290"/>
                <a:gridCol w="1752600"/>
                <a:gridCol w="3733800"/>
              </a:tblGrid>
              <a:tr h="701040">
                <a:tc>
                  <a:txBody>
                    <a:bodyPr/>
                    <a:lstStyle/>
                    <a:p>
                      <a:pPr marL="0" marR="0">
                        <a:lnSpc>
                          <a:spcPct val="115000"/>
                        </a:lnSpc>
                        <a:spcBef>
                          <a:spcPts val="0"/>
                        </a:spcBef>
                        <a:spcAft>
                          <a:spcPts val="1000"/>
                        </a:spcAft>
                      </a:pPr>
                      <a:r>
                        <a:rPr lang="en-US" sz="2000" b="1" dirty="0">
                          <a:latin typeface="Calibri" panose="020F0502020204030204"/>
                          <a:ea typeface="Calibri" panose="020F0502020204030204"/>
                          <a:cs typeface="Times New Roman" panose="02020603050405020304"/>
                        </a:rPr>
                        <a:t>Software  </a:t>
                      </a:r>
                      <a:endParaRPr lang="en-US" sz="2000" dirty="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b="1">
                          <a:latin typeface="Calibri" panose="020F0502020204030204"/>
                          <a:ea typeface="Calibri" panose="020F0502020204030204"/>
                          <a:cs typeface="Times New Roman" panose="02020603050405020304"/>
                        </a:rPr>
                        <a:t>Platform</a:t>
                      </a:r>
                      <a:endParaRPr lang="en-US" sz="200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b="1">
                          <a:latin typeface="Calibri" panose="020F0502020204030204"/>
                          <a:ea typeface="Calibri" panose="020F0502020204030204"/>
                          <a:cs typeface="Times New Roman" panose="02020603050405020304"/>
                        </a:rPr>
                        <a:t>Written in language</a:t>
                      </a:r>
                      <a:endParaRPr lang="en-US" sz="200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b="1">
                          <a:latin typeface="Calibri" panose="020F0502020204030204"/>
                          <a:ea typeface="Calibri" panose="020F0502020204030204"/>
                          <a:cs typeface="Times New Roman" panose="02020603050405020304"/>
                        </a:rPr>
                        <a:t>Algorithms or Features</a:t>
                      </a:r>
                      <a:endParaRPr lang="en-US" sz="200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96035">
                <a:tc>
                  <a:txBody>
                    <a:bodyPr/>
                    <a:lstStyle/>
                    <a:p>
                      <a:pPr marL="0" marR="0" algn="ctr">
                        <a:lnSpc>
                          <a:spcPct val="115000"/>
                        </a:lnSpc>
                        <a:spcBef>
                          <a:spcPts val="0"/>
                        </a:spcBef>
                        <a:spcAft>
                          <a:spcPts val="1000"/>
                        </a:spcAft>
                      </a:pPr>
                      <a:r>
                        <a:rPr lang="en-US" sz="2000" dirty="0" smtClean="0">
                          <a:latin typeface="Calibri" panose="020F0502020204030204"/>
                          <a:ea typeface="Calibri" panose="020F0502020204030204"/>
                          <a:cs typeface="Times New Roman" panose="02020603050405020304"/>
                        </a:rPr>
                        <a:t>KNIME </a:t>
                      </a:r>
                      <a:r>
                        <a:rPr lang="en-US" sz="1800" b="0" i="0" kern="1200" dirty="0" smtClean="0">
                          <a:solidFill>
                            <a:schemeClr val="tx1"/>
                          </a:solidFill>
                          <a:latin typeface="+mn-lt"/>
                          <a:ea typeface="+mn-ea"/>
                          <a:cs typeface="+mn-cs"/>
                        </a:rPr>
                        <a:t>Konstanz Information Miner</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Linux, Mac OS,</a:t>
                      </a:r>
                      <a:br>
                        <a:rPr lang="en-US" sz="2000" dirty="0">
                          <a:latin typeface="Calibri" panose="020F0502020204030204"/>
                          <a:ea typeface="Calibri" panose="020F0502020204030204"/>
                          <a:cs typeface="Times New Roman" panose="02020603050405020304"/>
                        </a:rPr>
                      </a:br>
                      <a:r>
                        <a:rPr lang="en-US" sz="2000" dirty="0">
                          <a:latin typeface="Calibri" panose="020F0502020204030204"/>
                          <a:ea typeface="Calibri" panose="020F0502020204030204"/>
                          <a:cs typeface="Times New Roman" panose="02020603050405020304"/>
                        </a:rPr>
                        <a:t>Windows</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Java</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Can work with large data volume.</a:t>
                      </a:r>
                      <a:br>
                        <a:rPr lang="en-US" sz="2000" dirty="0">
                          <a:latin typeface="Calibri" panose="020F0502020204030204"/>
                          <a:ea typeface="Calibri" panose="020F0502020204030204"/>
                          <a:cs typeface="Times New Roman" panose="02020603050405020304"/>
                        </a:rPr>
                      </a:br>
                      <a:r>
                        <a:rPr lang="en-US" sz="2000" dirty="0">
                          <a:latin typeface="Calibri" panose="020F0502020204030204"/>
                          <a:ea typeface="Calibri" panose="020F0502020204030204"/>
                          <a:cs typeface="Times New Roman" panose="02020603050405020304"/>
                        </a:rPr>
                        <a:t>Supports text mining &amp; image mining through </a:t>
                      </a:r>
                      <a:r>
                        <a:rPr lang="en-US" sz="2000" dirty="0" err="1">
                          <a:latin typeface="Calibri" panose="020F0502020204030204"/>
                          <a:ea typeface="Calibri" panose="020F0502020204030204"/>
                          <a:cs typeface="Times New Roman" panose="02020603050405020304"/>
                        </a:rPr>
                        <a:t>plugins</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1040">
                <a:tc>
                  <a:txBody>
                    <a:bodyPr/>
                    <a:lstStyle/>
                    <a:p>
                      <a:pPr marL="0" marR="0" algn="ctr">
                        <a:lnSpc>
                          <a:spcPct val="115000"/>
                        </a:lnSpc>
                        <a:spcBef>
                          <a:spcPts val="0"/>
                        </a:spcBef>
                        <a:spcAft>
                          <a:spcPts val="1000"/>
                        </a:spcAft>
                      </a:pPr>
                      <a:r>
                        <a:rPr lang="en-US" sz="2000" dirty="0" err="1">
                          <a:latin typeface="Calibri" panose="020F0502020204030204"/>
                          <a:ea typeface="Calibri" panose="020F0502020204030204"/>
                          <a:cs typeface="Times New Roman" panose="02020603050405020304"/>
                        </a:rPr>
                        <a:t>Colab</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a:latin typeface="Calibri" panose="020F0502020204030204"/>
                          <a:ea typeface="Calibri" panose="020F0502020204030204"/>
                          <a:cs typeface="Times New Roman" panose="02020603050405020304"/>
                        </a:rPr>
                        <a:t>Cloud Service</a:t>
                      </a:r>
                      <a:endParaRPr lang="en-US" sz="200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a:latin typeface="Calibri" panose="020F0502020204030204"/>
                          <a:ea typeface="Calibri" panose="020F0502020204030204"/>
                          <a:cs typeface="Times New Roman" panose="02020603050405020304"/>
                        </a:rPr>
                        <a:t>-</a:t>
                      </a:r>
                      <a:endParaRPr lang="en-US" sz="200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Supports libraries of </a:t>
                      </a:r>
                      <a:r>
                        <a:rPr lang="en-US" sz="2000" dirty="0" err="1">
                          <a:latin typeface="Calibri" panose="020F0502020204030204"/>
                          <a:ea typeface="Calibri" panose="020F0502020204030204"/>
                          <a:cs typeface="Times New Roman" panose="02020603050405020304"/>
                        </a:rPr>
                        <a:t>PyTorch</a:t>
                      </a:r>
                      <a:r>
                        <a:rPr lang="en-US" sz="2000" dirty="0">
                          <a:latin typeface="Calibri" panose="020F0502020204030204"/>
                          <a:ea typeface="Calibri" panose="020F0502020204030204"/>
                          <a:cs typeface="Times New Roman" panose="02020603050405020304"/>
                        </a:rPr>
                        <a:t>, </a:t>
                      </a:r>
                      <a:r>
                        <a:rPr lang="en-US" sz="2000" dirty="0" err="1">
                          <a:latin typeface="Calibri" panose="020F0502020204030204"/>
                          <a:ea typeface="Calibri" panose="020F0502020204030204"/>
                          <a:cs typeface="Times New Roman" panose="02020603050405020304"/>
                        </a:rPr>
                        <a:t>Keras</a:t>
                      </a:r>
                      <a:r>
                        <a:rPr lang="en-US" sz="2000" dirty="0">
                          <a:latin typeface="Calibri" panose="020F0502020204030204"/>
                          <a:ea typeface="Calibri" panose="020F0502020204030204"/>
                          <a:cs typeface="Times New Roman" panose="02020603050405020304"/>
                        </a:rPr>
                        <a:t>, </a:t>
                      </a:r>
                      <a:r>
                        <a:rPr lang="en-US" sz="2000" dirty="0" err="1">
                          <a:latin typeface="Calibri" panose="020F0502020204030204"/>
                          <a:ea typeface="Calibri" panose="020F0502020204030204"/>
                          <a:cs typeface="Times New Roman" panose="02020603050405020304"/>
                        </a:rPr>
                        <a:t>TensorFlow</a:t>
                      </a:r>
                      <a:r>
                        <a:rPr lang="en-US" sz="2000" dirty="0">
                          <a:latin typeface="Calibri" panose="020F0502020204030204"/>
                          <a:ea typeface="Calibri" panose="020F0502020204030204"/>
                          <a:cs typeface="Times New Roman" panose="02020603050405020304"/>
                        </a:rPr>
                        <a:t>, and </a:t>
                      </a:r>
                      <a:r>
                        <a:rPr lang="en-US" sz="2000" dirty="0" err="1">
                          <a:latin typeface="Calibri" panose="020F0502020204030204"/>
                          <a:ea typeface="Calibri" panose="020F0502020204030204"/>
                          <a:cs typeface="Times New Roman" panose="02020603050405020304"/>
                        </a:rPr>
                        <a:t>OpenCV</a:t>
                      </a:r>
                      <a:endParaRPr lang="en-US" sz="2000" dirty="0">
                        <a:latin typeface="Calibri" panose="020F0502020204030204"/>
                        <a:ea typeface="Calibri" panose="020F0502020204030204"/>
                        <a:cs typeface="Times New Roman" panose="02020603050405020304"/>
                      </a:endParaRPr>
                    </a:p>
                  </a:txBody>
                  <a:tcPr marL="30582" marR="30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52195">
                <a:tc>
                  <a:txBody>
                    <a:bodyPr/>
                    <a:lstStyle/>
                    <a:p>
                      <a:pPr marL="0" marR="0" algn="ctr">
                        <a:lnSpc>
                          <a:spcPct val="115000"/>
                        </a:lnSpc>
                        <a:spcBef>
                          <a:spcPts val="0"/>
                        </a:spcBef>
                        <a:spcAft>
                          <a:spcPts val="1000"/>
                        </a:spcAft>
                      </a:pPr>
                      <a:r>
                        <a:rPr lang="en-US" sz="2000" dirty="0">
                          <a:latin typeface="Calibri" panose="020F0502020204030204"/>
                          <a:ea typeface="Calibri" panose="020F0502020204030204"/>
                          <a:cs typeface="Times New Roman" panose="02020603050405020304"/>
                        </a:rPr>
                        <a:t>Apache Mahout</a:t>
                      </a:r>
                      <a:endParaRPr lang="en-US" sz="11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a:latin typeface="Calibri" panose="020F0502020204030204"/>
                          <a:ea typeface="Calibri" panose="020F0502020204030204"/>
                          <a:cs typeface="Times New Roman" panose="02020603050405020304"/>
                        </a:rPr>
                        <a:t>Cross-platform</a:t>
                      </a:r>
                      <a:endParaRPr lang="en-US" sz="110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a:latin typeface="Calibri" panose="020F0502020204030204"/>
                          <a:ea typeface="Calibri" panose="020F0502020204030204"/>
                          <a:cs typeface="Times New Roman" panose="02020603050405020304"/>
                        </a:rPr>
                        <a:t>Java</a:t>
                      </a:r>
                      <a:br>
                        <a:rPr lang="en-US" sz="2000">
                          <a:latin typeface="Calibri" panose="020F0502020204030204"/>
                          <a:ea typeface="Calibri" panose="020F0502020204030204"/>
                          <a:cs typeface="Times New Roman" panose="02020603050405020304"/>
                        </a:rPr>
                      </a:br>
                      <a:r>
                        <a:rPr lang="en-US" sz="2000">
                          <a:latin typeface="Calibri" panose="020F0502020204030204"/>
                          <a:ea typeface="Calibri" panose="020F0502020204030204"/>
                          <a:cs typeface="Times New Roman" panose="02020603050405020304"/>
                        </a:rPr>
                        <a:t>Scala</a:t>
                      </a:r>
                      <a:endParaRPr lang="en-US" sz="110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smtClean="0">
                          <a:latin typeface="Calibri" panose="020F0502020204030204"/>
                          <a:ea typeface="Calibri" panose="020F0502020204030204"/>
                          <a:cs typeface="Times New Roman" panose="02020603050405020304"/>
                        </a:rPr>
                        <a:t>Preprocessors, Regression</a:t>
                      </a:r>
                      <a:br>
                        <a:rPr lang="en-US" sz="2000" dirty="0">
                          <a:latin typeface="Calibri" panose="020F0502020204030204"/>
                          <a:ea typeface="Calibri" panose="020F0502020204030204"/>
                          <a:cs typeface="Times New Roman" panose="02020603050405020304"/>
                        </a:rPr>
                      </a:br>
                      <a:r>
                        <a:rPr lang="en-US" sz="2000" dirty="0" smtClean="0">
                          <a:latin typeface="Calibri" panose="020F0502020204030204"/>
                          <a:ea typeface="Calibri" panose="020F0502020204030204"/>
                          <a:cs typeface="Times New Roman" panose="02020603050405020304"/>
                        </a:rPr>
                        <a:t>Clustering, Recommenders</a:t>
                      </a:r>
                      <a:br>
                        <a:rPr lang="en-US" sz="2000" dirty="0">
                          <a:latin typeface="Calibri" panose="020F0502020204030204"/>
                          <a:ea typeface="Calibri" panose="020F0502020204030204"/>
                          <a:cs typeface="Times New Roman" panose="02020603050405020304"/>
                        </a:rPr>
                      </a:br>
                      <a:r>
                        <a:rPr lang="en-US" sz="2000" dirty="0">
                          <a:latin typeface="Calibri" panose="020F0502020204030204"/>
                          <a:ea typeface="Calibri" panose="020F0502020204030204"/>
                          <a:cs typeface="Times New Roman" panose="02020603050405020304"/>
                        </a:rPr>
                        <a:t>Distributed Linear Algebra.</a:t>
                      </a:r>
                      <a:endParaRPr lang="en-US" sz="11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53235">
                <a:tc>
                  <a:txBody>
                    <a:bodyPr/>
                    <a:lstStyle/>
                    <a:p>
                      <a:pPr marL="0" marR="0" algn="ctr">
                        <a:lnSpc>
                          <a:spcPct val="115000"/>
                        </a:lnSpc>
                        <a:spcBef>
                          <a:spcPts val="0"/>
                        </a:spcBef>
                        <a:spcAft>
                          <a:spcPts val="1000"/>
                        </a:spcAft>
                      </a:pPr>
                      <a:r>
                        <a:rPr lang="en-US" sz="2000" dirty="0" err="1">
                          <a:latin typeface="Calibri" panose="020F0502020204030204"/>
                          <a:ea typeface="Calibri" panose="020F0502020204030204"/>
                          <a:cs typeface="Times New Roman" panose="02020603050405020304"/>
                        </a:rPr>
                        <a:t>Accors.Net</a:t>
                      </a:r>
                      <a:endParaRPr lang="en-US" sz="11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a:latin typeface="Calibri" panose="020F0502020204030204"/>
                          <a:ea typeface="Calibri" panose="020F0502020204030204"/>
                          <a:cs typeface="Times New Roman" panose="02020603050405020304"/>
                        </a:rPr>
                        <a:t>Cross-platform</a:t>
                      </a:r>
                      <a:endParaRPr lang="en-US" sz="110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a:latin typeface="Calibri" panose="020F0502020204030204"/>
                          <a:ea typeface="Calibri" panose="020F0502020204030204"/>
                          <a:cs typeface="Times New Roman" panose="02020603050405020304"/>
                        </a:rPr>
                        <a:t>C#</a:t>
                      </a:r>
                      <a:endParaRPr lang="en-US" sz="110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000" dirty="0" smtClean="0">
                          <a:latin typeface="Calibri" panose="020F0502020204030204"/>
                          <a:ea typeface="Calibri" panose="020F0502020204030204"/>
                          <a:cs typeface="Times New Roman" panose="02020603050405020304"/>
                        </a:rPr>
                        <a:t>Classification, Regression, Distribution, Clustering</a:t>
                      </a:r>
                      <a:br>
                        <a:rPr lang="en-US" sz="2000" dirty="0">
                          <a:latin typeface="Calibri" panose="020F0502020204030204"/>
                          <a:ea typeface="Calibri" panose="020F0502020204030204"/>
                          <a:cs typeface="Times New Roman" panose="02020603050405020304"/>
                        </a:rPr>
                      </a:br>
                      <a:r>
                        <a:rPr lang="en-US" sz="2000" dirty="0">
                          <a:latin typeface="Calibri" panose="020F0502020204030204"/>
                          <a:ea typeface="Calibri" panose="020F0502020204030204"/>
                          <a:cs typeface="Times New Roman" panose="02020603050405020304"/>
                        </a:rPr>
                        <a:t>Hypothesis Tests </a:t>
                      </a:r>
                      <a:r>
                        <a:rPr lang="en-US" sz="2000" dirty="0" smtClean="0">
                          <a:latin typeface="Calibri" panose="020F0502020204030204"/>
                          <a:ea typeface="Calibri" panose="020F0502020204030204"/>
                          <a:cs typeface="Times New Roman" panose="02020603050405020304"/>
                        </a:rPr>
                        <a:t>&amp; Kernel Methods, Image</a:t>
                      </a:r>
                      <a:r>
                        <a:rPr lang="en-US" sz="2000" dirty="0">
                          <a:latin typeface="Calibri" panose="020F0502020204030204"/>
                          <a:ea typeface="Calibri" panose="020F0502020204030204"/>
                          <a:cs typeface="Times New Roman" panose="02020603050405020304"/>
                        </a:rPr>
                        <a:t>, Audio &amp; Signal. &amp; Vision</a:t>
                      </a:r>
                      <a:endParaRPr lang="en-US" sz="11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Date Placeholder 4"/>
          <p:cNvSpPr txBox="1">
            <a:spLocks noGrp="1"/>
          </p:cNvSpPr>
          <p:nvPr>
            <p:ph type="dt" sz="half" idx="10"/>
          </p:nvPr>
        </p:nvSpPr>
        <p:spPr>
          <a:noFill/>
        </p:spPr>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defRPr/>
            </a:pPr>
            <a:fld id="{B36B82C2-0BCF-4D14-AE7E-700C23F89C5D}" type="datetime1">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Slide Number Placeholder 7"/>
          <p:cNvSpPr txBox="1">
            <a:spLocks noGrp="1"/>
          </p:cNvSpPr>
          <p:nvPr>
            <p:ph type="sldNum" sz="quarter" idx="12"/>
          </p:nvPr>
        </p:nvSpPr>
        <p:spPr>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None/>
            </a:pPr>
            <a:fld id="{9A0DB2DC-4C9A-4742-B13C-FB6460FD3503}" type="slidenum">
              <a:rPr lang="en-US" sz="1200" dirty="0">
                <a:solidFill>
                  <a:srgbClr val="898989"/>
                </a:solidFill>
              </a:rPr>
            </a:fld>
            <a:endParaRPr lang="en-US" sz="1200" dirty="0">
              <a:solidFill>
                <a:srgbClr val="898989"/>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Title 1"/>
          <p:cNvSpPr>
            <a:spLocks noGrp="1"/>
          </p:cNvSpPr>
          <p:nvPr>
            <p:ph type="title"/>
          </p:nvPr>
        </p:nvSpPr>
        <p:spPr>
          <a:xfrm>
            <a:off x="67310" y="-76200"/>
            <a:ext cx="10600690" cy="941705"/>
          </a:xfrm>
        </p:spPr>
        <p:txBody>
          <a:bodyPr vert="horz" wrap="square" lIns="91440" tIns="45720" rIns="91440" bIns="45720" anchor="ctr" anchorCtr="0"/>
          <a:p>
            <a:pPr eaLnBrk="1" hangingPunct="1"/>
            <a:r>
              <a:rPr dirty="0">
                <a:solidFill>
                  <a:schemeClr val="tx1"/>
                </a:solidFill>
              </a:rPr>
              <a:t>Top Machine Learning Software Tools</a:t>
            </a:r>
            <a:endParaRPr dirty="0">
              <a:solidFill>
                <a:schemeClr val="tx1"/>
              </a:solidFill>
            </a:endParaRPr>
          </a:p>
        </p:txBody>
      </p:sp>
      <p:graphicFrame>
        <p:nvGraphicFramePr>
          <p:cNvPr id="6" name="Table 5"/>
          <p:cNvGraphicFramePr>
            <a:graphicFrameLocks noGrp="1"/>
          </p:cNvGraphicFramePr>
          <p:nvPr/>
        </p:nvGraphicFramePr>
        <p:xfrm>
          <a:off x="1905000" y="944563"/>
          <a:ext cx="8305800" cy="5397500"/>
        </p:xfrm>
        <a:graphic>
          <a:graphicData uri="http://schemas.openxmlformats.org/drawingml/2006/table">
            <a:tbl>
              <a:tblPr/>
              <a:tblGrid>
                <a:gridCol w="1388110"/>
                <a:gridCol w="1431290"/>
                <a:gridCol w="1752600"/>
                <a:gridCol w="3733800"/>
              </a:tblGrid>
              <a:tr h="770890">
                <a:tc>
                  <a:txBody>
                    <a:bodyPr/>
                    <a:lstStyle/>
                    <a:p>
                      <a:pPr marL="0" marR="0">
                        <a:lnSpc>
                          <a:spcPct val="115000"/>
                        </a:lnSpc>
                        <a:spcBef>
                          <a:spcPts val="0"/>
                        </a:spcBef>
                        <a:spcAft>
                          <a:spcPts val="1000"/>
                        </a:spcAft>
                      </a:pPr>
                      <a:r>
                        <a:rPr lang="en-US" sz="2200" b="1" dirty="0">
                          <a:latin typeface="Calibri" panose="020F0502020204030204"/>
                          <a:ea typeface="Calibri" panose="020F0502020204030204"/>
                          <a:cs typeface="Times New Roman" panose="02020603050405020304"/>
                        </a:rPr>
                        <a:t>Software  </a:t>
                      </a:r>
                      <a:endParaRPr lang="en-US" sz="2200" dirty="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b="1">
                          <a:latin typeface="Calibri" panose="020F0502020204030204"/>
                          <a:ea typeface="Calibri" panose="020F0502020204030204"/>
                          <a:cs typeface="Times New Roman" panose="02020603050405020304"/>
                        </a:rPr>
                        <a:t>Platform</a:t>
                      </a:r>
                      <a:endParaRPr lang="en-US" sz="220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b="1" dirty="0">
                          <a:latin typeface="Calibri" panose="020F0502020204030204"/>
                          <a:ea typeface="Calibri" panose="020F0502020204030204"/>
                          <a:cs typeface="Times New Roman" panose="02020603050405020304"/>
                        </a:rPr>
                        <a:t>Written in language</a:t>
                      </a:r>
                      <a:endParaRPr lang="en-US" sz="2200" dirty="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b="1">
                          <a:latin typeface="Calibri" panose="020F0502020204030204"/>
                          <a:ea typeface="Calibri" panose="020F0502020204030204"/>
                          <a:cs typeface="Times New Roman" panose="02020603050405020304"/>
                        </a:rPr>
                        <a:t>Algorithms or Features</a:t>
                      </a:r>
                      <a:endParaRPr lang="en-US" sz="2200">
                        <a:latin typeface="Calibri" panose="020F0502020204030204"/>
                        <a:ea typeface="Calibri" panose="020F0502020204030204"/>
                        <a:cs typeface="Times New Roman" panose="02020603050405020304"/>
                      </a:endParaRPr>
                    </a:p>
                  </a:txBody>
                  <a:tcPr marL="30582" marR="305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42415">
                <a:tc>
                  <a:txBody>
                    <a:bodyPr/>
                    <a:lstStyle/>
                    <a:p>
                      <a:pPr marL="0" marR="0" algn="ctr">
                        <a:lnSpc>
                          <a:spcPct val="115000"/>
                        </a:lnSpc>
                        <a:spcBef>
                          <a:spcPts val="0"/>
                        </a:spcBef>
                        <a:spcAft>
                          <a:spcPts val="1000"/>
                        </a:spcAft>
                      </a:pPr>
                      <a:r>
                        <a:rPr lang="en-US" sz="2200" dirty="0">
                          <a:latin typeface="Calibri" panose="020F0502020204030204"/>
                          <a:ea typeface="Calibri" panose="020F0502020204030204"/>
                          <a:cs typeface="Times New Roman" panose="02020603050405020304"/>
                        </a:rPr>
                        <a:t>Shogun</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dirty="0">
                          <a:latin typeface="Calibri" panose="020F0502020204030204"/>
                          <a:ea typeface="Calibri" panose="020F0502020204030204"/>
                          <a:cs typeface="Times New Roman" panose="02020603050405020304"/>
                        </a:rPr>
                        <a:t>Windows</a:t>
                      </a:r>
                      <a:br>
                        <a:rPr lang="en-US" sz="2200" dirty="0">
                          <a:latin typeface="Calibri" panose="020F0502020204030204"/>
                          <a:ea typeface="Calibri" panose="020F0502020204030204"/>
                          <a:cs typeface="Times New Roman" panose="02020603050405020304"/>
                        </a:rPr>
                      </a:br>
                      <a:r>
                        <a:rPr lang="en-US" sz="2200" dirty="0">
                          <a:latin typeface="Calibri" panose="020F0502020204030204"/>
                          <a:ea typeface="Calibri" panose="020F0502020204030204"/>
                          <a:cs typeface="Times New Roman" panose="02020603050405020304"/>
                        </a:rPr>
                        <a:t>Linux</a:t>
                      </a:r>
                      <a:br>
                        <a:rPr lang="en-US" sz="2200" dirty="0">
                          <a:latin typeface="Calibri" panose="020F0502020204030204"/>
                          <a:ea typeface="Calibri" panose="020F0502020204030204"/>
                          <a:cs typeface="Times New Roman" panose="02020603050405020304"/>
                        </a:rPr>
                      </a:br>
                      <a:r>
                        <a:rPr lang="en-US" sz="2200" dirty="0">
                          <a:latin typeface="Calibri" panose="020F0502020204030204"/>
                          <a:ea typeface="Calibri" panose="020F0502020204030204"/>
                          <a:cs typeface="Times New Roman" panose="02020603050405020304"/>
                        </a:rPr>
                        <a:t>UNIX</a:t>
                      </a:r>
                      <a:br>
                        <a:rPr lang="en-US" sz="2200" dirty="0">
                          <a:latin typeface="Calibri" panose="020F0502020204030204"/>
                          <a:ea typeface="Calibri" panose="020F0502020204030204"/>
                          <a:cs typeface="Times New Roman" panose="02020603050405020304"/>
                        </a:rPr>
                      </a:br>
                      <a:r>
                        <a:rPr lang="en-US" sz="2200" dirty="0">
                          <a:latin typeface="Calibri" panose="020F0502020204030204"/>
                          <a:ea typeface="Calibri" panose="020F0502020204030204"/>
                          <a:cs typeface="Times New Roman" panose="02020603050405020304"/>
                        </a:rPr>
                        <a:t>Mac OS</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dirty="0">
                          <a:latin typeface="Calibri" panose="020F0502020204030204"/>
                          <a:ea typeface="Calibri" panose="020F0502020204030204"/>
                          <a:cs typeface="Times New Roman" panose="02020603050405020304"/>
                        </a:rPr>
                        <a:t>C++</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dirty="0" smtClean="0">
                          <a:latin typeface="Calibri" panose="020F0502020204030204"/>
                          <a:ea typeface="Calibri" panose="020F0502020204030204"/>
                          <a:cs typeface="Times New Roman" panose="02020603050405020304"/>
                        </a:rPr>
                        <a:t>Regression, Classification</a:t>
                      </a:r>
                      <a:br>
                        <a:rPr lang="en-US" sz="2200" dirty="0">
                          <a:latin typeface="Calibri" panose="020F0502020204030204"/>
                          <a:ea typeface="Calibri" panose="020F0502020204030204"/>
                          <a:cs typeface="Times New Roman" panose="02020603050405020304"/>
                        </a:rPr>
                      </a:br>
                      <a:r>
                        <a:rPr lang="en-US" sz="2200" dirty="0" smtClean="0">
                          <a:latin typeface="Calibri" panose="020F0502020204030204"/>
                          <a:ea typeface="Calibri" panose="020F0502020204030204"/>
                          <a:cs typeface="Times New Roman" panose="02020603050405020304"/>
                        </a:rPr>
                        <a:t>Clustering, Support </a:t>
                      </a:r>
                      <a:r>
                        <a:rPr lang="en-US" sz="2200" dirty="0">
                          <a:latin typeface="Calibri" panose="020F0502020204030204"/>
                          <a:ea typeface="Calibri" panose="020F0502020204030204"/>
                          <a:cs typeface="Times New Roman" panose="02020603050405020304"/>
                        </a:rPr>
                        <a:t>vector </a:t>
                      </a:r>
                      <a:r>
                        <a:rPr lang="en-US" sz="2200" dirty="0" smtClean="0">
                          <a:latin typeface="Calibri" panose="020F0502020204030204"/>
                          <a:ea typeface="Calibri" panose="020F0502020204030204"/>
                          <a:cs typeface="Times New Roman" panose="02020603050405020304"/>
                        </a:rPr>
                        <a:t>machines,</a:t>
                      </a:r>
                      <a:r>
                        <a:rPr lang="en-US" sz="2200" baseline="0" dirty="0" smtClean="0">
                          <a:latin typeface="Calibri" panose="020F0502020204030204"/>
                          <a:ea typeface="Calibri" panose="020F0502020204030204"/>
                          <a:cs typeface="Times New Roman" panose="02020603050405020304"/>
                        </a:rPr>
                        <a:t> </a:t>
                      </a:r>
                      <a:r>
                        <a:rPr lang="en-US" sz="2200" dirty="0" smtClean="0">
                          <a:latin typeface="Calibri" panose="020F0502020204030204"/>
                          <a:ea typeface="Calibri" panose="020F0502020204030204"/>
                          <a:cs typeface="Times New Roman" panose="02020603050405020304"/>
                        </a:rPr>
                        <a:t>Dimensionality reduction, Online </a:t>
                      </a:r>
                      <a:r>
                        <a:rPr lang="en-US" sz="2200" dirty="0">
                          <a:latin typeface="Calibri" panose="020F0502020204030204"/>
                          <a:ea typeface="Calibri" panose="020F0502020204030204"/>
                          <a:cs typeface="Times New Roman" panose="02020603050405020304"/>
                        </a:rPr>
                        <a:t>learning etc.</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70890">
                <a:tc>
                  <a:txBody>
                    <a:bodyPr/>
                    <a:lstStyle/>
                    <a:p>
                      <a:pPr marL="0" marR="0" algn="ctr">
                        <a:lnSpc>
                          <a:spcPct val="115000"/>
                        </a:lnSpc>
                        <a:spcBef>
                          <a:spcPts val="0"/>
                        </a:spcBef>
                        <a:spcAft>
                          <a:spcPts val="1000"/>
                        </a:spcAft>
                      </a:pPr>
                      <a:r>
                        <a:rPr lang="en-US" sz="2200" dirty="0">
                          <a:latin typeface="Calibri" panose="020F0502020204030204"/>
                          <a:ea typeface="Calibri" panose="020F0502020204030204"/>
                          <a:cs typeface="Times New Roman" panose="02020603050405020304"/>
                        </a:rPr>
                        <a:t>Keras.io</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a:latin typeface="Calibri" panose="020F0502020204030204"/>
                          <a:ea typeface="Calibri" panose="020F0502020204030204"/>
                          <a:cs typeface="Times New Roman" panose="02020603050405020304"/>
                        </a:rPr>
                        <a:t>Cross-platform</a:t>
                      </a:r>
                      <a:endParaRPr lang="en-US" sz="220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dirty="0">
                          <a:latin typeface="Calibri" panose="020F0502020204030204"/>
                          <a:ea typeface="Calibri" panose="020F0502020204030204"/>
                          <a:cs typeface="Times New Roman" panose="02020603050405020304"/>
                        </a:rPr>
                        <a:t>Python</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dirty="0">
                          <a:latin typeface="Calibri" panose="020F0502020204030204"/>
                          <a:ea typeface="Calibri" panose="020F0502020204030204"/>
                          <a:cs typeface="Times New Roman" panose="02020603050405020304"/>
                        </a:rPr>
                        <a:t>API for neural </a:t>
                      </a:r>
                      <a:r>
                        <a:rPr lang="en-US" sz="2200" dirty="0" smtClean="0">
                          <a:latin typeface="Calibri" panose="020F0502020204030204"/>
                          <a:ea typeface="Calibri" panose="020F0502020204030204"/>
                          <a:cs typeface="Times New Roman" panose="02020603050405020304"/>
                        </a:rPr>
                        <a:t>networks , supports CNN</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56970">
                <a:tc>
                  <a:txBody>
                    <a:bodyPr/>
                    <a:lstStyle/>
                    <a:p>
                      <a:pPr marL="0" marR="0" algn="ctr">
                        <a:lnSpc>
                          <a:spcPct val="115000"/>
                        </a:lnSpc>
                        <a:spcBef>
                          <a:spcPts val="0"/>
                        </a:spcBef>
                        <a:spcAft>
                          <a:spcPts val="1000"/>
                        </a:spcAft>
                      </a:pPr>
                      <a:r>
                        <a:rPr lang="en-US" sz="2200" dirty="0">
                          <a:latin typeface="Calibri" panose="020F0502020204030204"/>
                          <a:ea typeface="Calibri" panose="020F0502020204030204"/>
                          <a:cs typeface="Times New Roman" panose="02020603050405020304"/>
                        </a:rPr>
                        <a:t>Rapid Miner</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a:latin typeface="Calibri" panose="020F0502020204030204"/>
                          <a:ea typeface="Calibri" panose="020F0502020204030204"/>
                          <a:cs typeface="Times New Roman" panose="02020603050405020304"/>
                        </a:rPr>
                        <a:t>Cross-platform</a:t>
                      </a:r>
                      <a:endParaRPr lang="en-US" sz="220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a:latin typeface="Calibri" panose="020F0502020204030204"/>
                          <a:ea typeface="Calibri" panose="020F0502020204030204"/>
                          <a:cs typeface="Times New Roman" panose="02020603050405020304"/>
                        </a:rPr>
                        <a:t>Java</a:t>
                      </a:r>
                      <a:endParaRPr lang="en-US" sz="220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dirty="0">
                          <a:latin typeface="Calibri" panose="020F0502020204030204"/>
                          <a:ea typeface="Calibri" panose="020F0502020204030204"/>
                          <a:cs typeface="Times New Roman" panose="02020603050405020304"/>
                        </a:rPr>
                        <a:t>Data loading &amp; Transformation</a:t>
                      </a:r>
                      <a:br>
                        <a:rPr lang="en-US" sz="2200" dirty="0">
                          <a:latin typeface="Calibri" panose="020F0502020204030204"/>
                          <a:ea typeface="Calibri" panose="020F0502020204030204"/>
                          <a:cs typeface="Times New Roman" panose="02020603050405020304"/>
                        </a:rPr>
                      </a:br>
                      <a:r>
                        <a:rPr lang="en-US" sz="2200" dirty="0">
                          <a:latin typeface="Calibri" panose="020F0502020204030204"/>
                          <a:ea typeface="Calibri" panose="020F0502020204030204"/>
                          <a:cs typeface="Times New Roman" panose="02020603050405020304"/>
                        </a:rPr>
                        <a:t>Data preprocessing &amp; visualization.</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56335">
                <a:tc>
                  <a:txBody>
                    <a:bodyPr/>
                    <a:lstStyle/>
                    <a:p>
                      <a:pPr marL="0" marR="0" algn="ctr">
                        <a:lnSpc>
                          <a:spcPct val="115000"/>
                        </a:lnSpc>
                        <a:spcBef>
                          <a:spcPts val="0"/>
                        </a:spcBef>
                        <a:spcAft>
                          <a:spcPts val="1000"/>
                        </a:spcAft>
                      </a:pPr>
                      <a:r>
                        <a:rPr lang="en-US" sz="2200" dirty="0" smtClean="0">
                          <a:latin typeface="Calibri" panose="020F0502020204030204"/>
                          <a:ea typeface="Calibri" panose="020F0502020204030204"/>
                          <a:cs typeface="Times New Roman" panose="02020603050405020304"/>
                        </a:rPr>
                        <a:t>Oryx2</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dirty="0" smtClean="0">
                          <a:latin typeface="Calibri" panose="020F0502020204030204"/>
                          <a:ea typeface="Calibri" panose="020F0502020204030204"/>
                          <a:cs typeface="Times New Roman" panose="02020603050405020304"/>
                        </a:rPr>
                        <a:t>Cross Platform</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dirty="0" smtClean="0">
                          <a:latin typeface="Calibri" panose="020F0502020204030204"/>
                          <a:ea typeface="Calibri" panose="020F0502020204030204"/>
                          <a:cs typeface="Times New Roman" panose="02020603050405020304"/>
                        </a:rPr>
                        <a:t>Python</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2200" b="0" i="0" kern="1200" dirty="0" smtClean="0">
                          <a:solidFill>
                            <a:schemeClr val="tx1"/>
                          </a:solidFill>
                          <a:latin typeface="+mn-lt"/>
                          <a:ea typeface="+mn-ea"/>
                          <a:cs typeface="+mn-cs"/>
                        </a:rPr>
                        <a:t>collaborative filtering, classification, regression ,</a:t>
                      </a:r>
                      <a:r>
                        <a:rPr lang="en-US" sz="2200" b="0" i="0" kern="1200" baseline="0" dirty="0" smtClean="0">
                          <a:solidFill>
                            <a:schemeClr val="tx1"/>
                          </a:solidFill>
                          <a:latin typeface="+mn-lt"/>
                          <a:ea typeface="+mn-ea"/>
                          <a:cs typeface="+mn-cs"/>
                        </a:rPr>
                        <a:t> DL, CNN</a:t>
                      </a:r>
                      <a:endParaRPr lang="en-US" sz="2200" dirty="0">
                        <a:latin typeface="Calibri" panose="020F0502020204030204"/>
                        <a:ea typeface="Calibri" panose="020F0502020204030204"/>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Date Placeholder 4"/>
          <p:cNvSpPr txBox="1">
            <a:spLocks noGrp="1"/>
          </p:cNvSpPr>
          <p:nvPr>
            <p:ph type="dt" sz="half" idx="10"/>
          </p:nvPr>
        </p:nvSpPr>
        <p:spPr>
          <a:noFill/>
        </p:spPr>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defRPr/>
            </a:pPr>
            <a:fld id="{6B02D171-7D82-4501-A1CC-451F91EED655}" type="datetime1">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Slide Number Placeholder 7"/>
          <p:cNvSpPr txBox="1">
            <a:spLocks noGrp="1"/>
          </p:cNvSpPr>
          <p:nvPr>
            <p:ph type="sldNum" sz="quarter" idx="12"/>
          </p:nvPr>
        </p:nvSpPr>
        <p:spPr>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None/>
            </a:pPr>
            <a:fld id="{9A0DB2DC-4C9A-4742-B13C-FB6460FD3503}" type="slidenum">
              <a:rPr lang="en-US" sz="1200" dirty="0">
                <a:solidFill>
                  <a:srgbClr val="898989"/>
                </a:solidFill>
              </a:rPr>
            </a:fld>
            <a:endParaRPr lang="en-US" sz="1200" dirty="0">
              <a:solidFill>
                <a:srgbClr val="898989"/>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555" y="356553"/>
            <a:ext cx="11551285" cy="628015"/>
          </a:xfrm>
          <a:prstGeom prst="rect">
            <a:avLst/>
          </a:prstGeom>
        </p:spPr>
        <p:txBody>
          <a:bodyPr vert="horz" wrap="square" lIns="0" tIns="12700" rIns="0" bIns="0" rtlCol="0">
            <a:spAutoFit/>
          </a:bodyPr>
          <a:lstStyle/>
          <a:p>
            <a:pPr marL="12700">
              <a:lnSpc>
                <a:spcPct val="100000"/>
              </a:lnSpc>
              <a:spcBef>
                <a:spcPts val="100"/>
              </a:spcBef>
            </a:pPr>
            <a:r>
              <a:rPr lang="en-US" dirty="0"/>
              <a:t>Python Programming Languages: </a:t>
            </a:r>
            <a:r>
              <a:rPr dirty="0"/>
              <a:t>Some</a:t>
            </a:r>
            <a:r>
              <a:rPr spc="-15" dirty="0"/>
              <a:t> </a:t>
            </a:r>
            <a:r>
              <a:rPr spc="-10" dirty="0"/>
              <a:t>History</a:t>
            </a:r>
            <a:endParaRPr spc="-10" dirty="0"/>
          </a:p>
        </p:txBody>
      </p:sp>
      <p:sp>
        <p:nvSpPr>
          <p:cNvPr id="3" name="object 3"/>
          <p:cNvSpPr txBox="1"/>
          <p:nvPr/>
        </p:nvSpPr>
        <p:spPr>
          <a:xfrm>
            <a:off x="866241" y="1351534"/>
            <a:ext cx="10461625" cy="4344035"/>
          </a:xfrm>
          <a:prstGeom prst="rect">
            <a:avLst/>
          </a:prstGeom>
        </p:spPr>
        <p:txBody>
          <a:bodyPr vert="horz" wrap="square" lIns="0" tIns="12700" rIns="0" bIns="0" rtlCol="0">
            <a:spAutoFit/>
          </a:bodyPr>
          <a:lstStyle/>
          <a:p>
            <a:pPr marL="381000" marR="128905" indent="-342900">
              <a:lnSpc>
                <a:spcPct val="100000"/>
              </a:lnSpc>
              <a:spcBef>
                <a:spcPts val="100"/>
              </a:spcBef>
              <a:buClr>
                <a:srgbClr val="2575B4"/>
              </a:buClr>
              <a:buFont typeface="Wingdings" panose="05000000000000000000"/>
              <a:buChar char=""/>
              <a:tabLst>
                <a:tab pos="381000" algn="l"/>
              </a:tabLst>
            </a:pPr>
            <a:r>
              <a:rPr sz="2400" dirty="0">
                <a:latin typeface="Arial MT"/>
                <a:cs typeface="Arial MT"/>
              </a:rPr>
              <a:t>“Over</a:t>
            </a:r>
            <a:r>
              <a:rPr sz="2400" spc="-65" dirty="0">
                <a:latin typeface="Arial MT"/>
                <a:cs typeface="Arial MT"/>
              </a:rPr>
              <a:t> </a:t>
            </a:r>
            <a:r>
              <a:rPr sz="2400" dirty="0">
                <a:latin typeface="Arial MT"/>
                <a:cs typeface="Arial MT"/>
              </a:rPr>
              <a:t>six</a:t>
            </a:r>
            <a:r>
              <a:rPr sz="2400" spc="-50" dirty="0">
                <a:latin typeface="Arial MT"/>
                <a:cs typeface="Arial MT"/>
              </a:rPr>
              <a:t> </a:t>
            </a:r>
            <a:r>
              <a:rPr sz="2400" dirty="0">
                <a:latin typeface="Arial MT"/>
                <a:cs typeface="Arial MT"/>
              </a:rPr>
              <a:t>years</a:t>
            </a:r>
            <a:r>
              <a:rPr sz="2400" spc="-45" dirty="0">
                <a:latin typeface="Arial MT"/>
                <a:cs typeface="Arial MT"/>
              </a:rPr>
              <a:t> </a:t>
            </a:r>
            <a:r>
              <a:rPr sz="2400" dirty="0">
                <a:latin typeface="Arial MT"/>
                <a:cs typeface="Arial MT"/>
              </a:rPr>
              <a:t>ago,</a:t>
            </a:r>
            <a:r>
              <a:rPr sz="2400" spc="-40" dirty="0">
                <a:latin typeface="Arial MT"/>
                <a:cs typeface="Arial MT"/>
              </a:rPr>
              <a:t> </a:t>
            </a:r>
            <a:r>
              <a:rPr sz="2400" dirty="0">
                <a:latin typeface="Arial MT"/>
                <a:cs typeface="Arial MT"/>
              </a:rPr>
              <a:t>in</a:t>
            </a:r>
            <a:r>
              <a:rPr sz="2400" spc="-55" dirty="0">
                <a:latin typeface="Arial MT"/>
                <a:cs typeface="Arial MT"/>
              </a:rPr>
              <a:t> </a:t>
            </a:r>
            <a:r>
              <a:rPr sz="2400" dirty="0">
                <a:latin typeface="Arial MT"/>
                <a:cs typeface="Arial MT"/>
              </a:rPr>
              <a:t>December</a:t>
            </a:r>
            <a:r>
              <a:rPr sz="2400" spc="-35" dirty="0">
                <a:latin typeface="Arial MT"/>
                <a:cs typeface="Arial MT"/>
              </a:rPr>
              <a:t> </a:t>
            </a:r>
            <a:r>
              <a:rPr sz="2400" dirty="0">
                <a:latin typeface="Arial MT"/>
                <a:cs typeface="Arial MT"/>
              </a:rPr>
              <a:t>1989,</a:t>
            </a:r>
            <a:r>
              <a:rPr sz="2400" spc="-30" dirty="0">
                <a:latin typeface="Arial MT"/>
                <a:cs typeface="Arial MT"/>
              </a:rPr>
              <a:t> </a:t>
            </a:r>
            <a:r>
              <a:rPr sz="2400" dirty="0">
                <a:latin typeface="Arial MT"/>
                <a:cs typeface="Arial MT"/>
              </a:rPr>
              <a:t>I</a:t>
            </a:r>
            <a:r>
              <a:rPr sz="2400" spc="-55" dirty="0">
                <a:latin typeface="Arial MT"/>
                <a:cs typeface="Arial MT"/>
              </a:rPr>
              <a:t> </a:t>
            </a:r>
            <a:r>
              <a:rPr sz="2400" dirty="0">
                <a:latin typeface="Arial MT"/>
                <a:cs typeface="Arial MT"/>
              </a:rPr>
              <a:t>was</a:t>
            </a:r>
            <a:r>
              <a:rPr sz="2400" spc="-35" dirty="0">
                <a:latin typeface="Arial MT"/>
                <a:cs typeface="Arial MT"/>
              </a:rPr>
              <a:t> </a:t>
            </a:r>
            <a:r>
              <a:rPr sz="2400" dirty="0">
                <a:latin typeface="Arial MT"/>
                <a:cs typeface="Arial MT"/>
              </a:rPr>
              <a:t>looking</a:t>
            </a:r>
            <a:r>
              <a:rPr sz="2400" spc="-25" dirty="0">
                <a:latin typeface="Arial MT"/>
                <a:cs typeface="Arial MT"/>
              </a:rPr>
              <a:t> </a:t>
            </a:r>
            <a:r>
              <a:rPr sz="2400" dirty="0">
                <a:latin typeface="Arial MT"/>
                <a:cs typeface="Arial MT"/>
              </a:rPr>
              <a:t>for</a:t>
            </a:r>
            <a:r>
              <a:rPr sz="2400" spc="-40" dirty="0">
                <a:latin typeface="Arial MT"/>
                <a:cs typeface="Arial MT"/>
              </a:rPr>
              <a:t> </a:t>
            </a:r>
            <a:r>
              <a:rPr sz="2400" dirty="0">
                <a:latin typeface="Arial MT"/>
                <a:cs typeface="Arial MT"/>
              </a:rPr>
              <a:t>a</a:t>
            </a:r>
            <a:r>
              <a:rPr sz="2400" spc="-55" dirty="0">
                <a:latin typeface="Arial MT"/>
                <a:cs typeface="Arial MT"/>
              </a:rPr>
              <a:t> </a:t>
            </a:r>
            <a:r>
              <a:rPr sz="2400" spc="-10" dirty="0">
                <a:latin typeface="Arial MT"/>
                <a:cs typeface="Arial MT"/>
              </a:rPr>
              <a:t>"hobby" programming</a:t>
            </a:r>
            <a:r>
              <a:rPr sz="2400" spc="-55" dirty="0">
                <a:latin typeface="Arial MT"/>
                <a:cs typeface="Arial MT"/>
              </a:rPr>
              <a:t> </a:t>
            </a:r>
            <a:r>
              <a:rPr sz="2400" dirty="0">
                <a:latin typeface="Arial MT"/>
                <a:cs typeface="Arial MT"/>
              </a:rPr>
              <a:t>project</a:t>
            </a:r>
            <a:r>
              <a:rPr sz="2400" spc="-65" dirty="0">
                <a:latin typeface="Arial MT"/>
                <a:cs typeface="Arial MT"/>
              </a:rPr>
              <a:t> </a:t>
            </a:r>
            <a:r>
              <a:rPr sz="2400" dirty="0">
                <a:latin typeface="Arial MT"/>
                <a:cs typeface="Arial MT"/>
              </a:rPr>
              <a:t>that</a:t>
            </a:r>
            <a:r>
              <a:rPr sz="2400" spc="-80" dirty="0">
                <a:latin typeface="Arial MT"/>
                <a:cs typeface="Arial MT"/>
              </a:rPr>
              <a:t> </a:t>
            </a:r>
            <a:r>
              <a:rPr sz="2400" dirty="0">
                <a:latin typeface="Arial MT"/>
                <a:cs typeface="Arial MT"/>
              </a:rPr>
              <a:t>would</a:t>
            </a:r>
            <a:r>
              <a:rPr sz="2400" spc="-40" dirty="0">
                <a:latin typeface="Arial MT"/>
                <a:cs typeface="Arial MT"/>
              </a:rPr>
              <a:t> </a:t>
            </a:r>
            <a:r>
              <a:rPr sz="2400" dirty="0">
                <a:latin typeface="Arial MT"/>
                <a:cs typeface="Arial MT"/>
              </a:rPr>
              <a:t>keep</a:t>
            </a:r>
            <a:r>
              <a:rPr sz="2400" spc="-55" dirty="0">
                <a:latin typeface="Arial MT"/>
                <a:cs typeface="Arial MT"/>
              </a:rPr>
              <a:t> </a:t>
            </a:r>
            <a:r>
              <a:rPr sz="2400" dirty="0">
                <a:latin typeface="Arial MT"/>
                <a:cs typeface="Arial MT"/>
              </a:rPr>
              <a:t>me</a:t>
            </a:r>
            <a:r>
              <a:rPr sz="2400" spc="-70" dirty="0">
                <a:latin typeface="Arial MT"/>
                <a:cs typeface="Arial MT"/>
              </a:rPr>
              <a:t> </a:t>
            </a:r>
            <a:r>
              <a:rPr sz="2400" dirty="0">
                <a:latin typeface="Arial MT"/>
                <a:cs typeface="Arial MT"/>
              </a:rPr>
              <a:t>occupied</a:t>
            </a:r>
            <a:r>
              <a:rPr sz="2400" spc="-35" dirty="0">
                <a:latin typeface="Arial MT"/>
                <a:cs typeface="Arial MT"/>
              </a:rPr>
              <a:t> </a:t>
            </a:r>
            <a:r>
              <a:rPr sz="2400" dirty="0">
                <a:latin typeface="Arial MT"/>
                <a:cs typeface="Arial MT"/>
              </a:rPr>
              <a:t>during</a:t>
            </a:r>
            <a:r>
              <a:rPr sz="2400" spc="-60" dirty="0">
                <a:latin typeface="Arial MT"/>
                <a:cs typeface="Arial MT"/>
              </a:rPr>
              <a:t> </a:t>
            </a:r>
            <a:r>
              <a:rPr sz="2400" dirty="0">
                <a:latin typeface="Arial MT"/>
                <a:cs typeface="Arial MT"/>
              </a:rPr>
              <a:t>the</a:t>
            </a:r>
            <a:r>
              <a:rPr sz="2400" spc="-75" dirty="0">
                <a:latin typeface="Arial MT"/>
                <a:cs typeface="Arial MT"/>
              </a:rPr>
              <a:t> </a:t>
            </a:r>
            <a:r>
              <a:rPr sz="2400" spc="-20" dirty="0">
                <a:latin typeface="Arial MT"/>
                <a:cs typeface="Arial MT"/>
              </a:rPr>
              <a:t>week </a:t>
            </a:r>
            <a:r>
              <a:rPr sz="2400" dirty="0">
                <a:latin typeface="Arial MT"/>
                <a:cs typeface="Arial MT"/>
              </a:rPr>
              <a:t>around</a:t>
            </a:r>
            <a:r>
              <a:rPr sz="2400" spc="-60" dirty="0">
                <a:latin typeface="Arial MT"/>
                <a:cs typeface="Arial MT"/>
              </a:rPr>
              <a:t> </a:t>
            </a:r>
            <a:r>
              <a:rPr sz="2400" dirty="0">
                <a:latin typeface="Arial MT"/>
                <a:cs typeface="Arial MT"/>
              </a:rPr>
              <a:t>Christmas…I</a:t>
            </a:r>
            <a:r>
              <a:rPr sz="2400" spc="-55" dirty="0">
                <a:latin typeface="Arial MT"/>
                <a:cs typeface="Arial MT"/>
              </a:rPr>
              <a:t> </a:t>
            </a:r>
            <a:r>
              <a:rPr sz="2400" dirty="0">
                <a:latin typeface="Arial MT"/>
                <a:cs typeface="Arial MT"/>
              </a:rPr>
              <a:t>chose</a:t>
            </a:r>
            <a:r>
              <a:rPr sz="2400" spc="-65" dirty="0">
                <a:latin typeface="Arial MT"/>
                <a:cs typeface="Arial MT"/>
              </a:rPr>
              <a:t> </a:t>
            </a:r>
            <a:r>
              <a:rPr sz="2400" dirty="0">
                <a:latin typeface="Arial MT"/>
                <a:cs typeface="Arial MT"/>
              </a:rPr>
              <a:t>Python</a:t>
            </a:r>
            <a:r>
              <a:rPr sz="2400" spc="-60" dirty="0">
                <a:latin typeface="Arial MT"/>
                <a:cs typeface="Arial MT"/>
              </a:rPr>
              <a:t> </a:t>
            </a:r>
            <a:r>
              <a:rPr sz="2400" dirty="0">
                <a:latin typeface="Arial MT"/>
                <a:cs typeface="Arial MT"/>
              </a:rPr>
              <a:t>as</a:t>
            </a:r>
            <a:r>
              <a:rPr sz="2400" spc="-60" dirty="0">
                <a:latin typeface="Arial MT"/>
                <a:cs typeface="Arial MT"/>
              </a:rPr>
              <a:t> </a:t>
            </a:r>
            <a:r>
              <a:rPr sz="2400" dirty="0">
                <a:latin typeface="Arial MT"/>
                <a:cs typeface="Arial MT"/>
              </a:rPr>
              <a:t>a</a:t>
            </a:r>
            <a:r>
              <a:rPr sz="2400" spc="-60" dirty="0">
                <a:latin typeface="Arial MT"/>
                <a:cs typeface="Arial MT"/>
              </a:rPr>
              <a:t> </a:t>
            </a:r>
            <a:r>
              <a:rPr sz="2400" dirty="0">
                <a:latin typeface="Arial MT"/>
                <a:cs typeface="Arial MT"/>
              </a:rPr>
              <a:t>working</a:t>
            </a:r>
            <a:r>
              <a:rPr sz="2400" spc="-45" dirty="0">
                <a:latin typeface="Arial MT"/>
                <a:cs typeface="Arial MT"/>
              </a:rPr>
              <a:t> </a:t>
            </a:r>
            <a:r>
              <a:rPr sz="2400" dirty="0">
                <a:latin typeface="Arial MT"/>
                <a:cs typeface="Arial MT"/>
              </a:rPr>
              <a:t>title</a:t>
            </a:r>
            <a:r>
              <a:rPr sz="2400" spc="-70" dirty="0">
                <a:latin typeface="Arial MT"/>
                <a:cs typeface="Arial MT"/>
              </a:rPr>
              <a:t> </a:t>
            </a:r>
            <a:r>
              <a:rPr sz="2400" dirty="0">
                <a:latin typeface="Arial MT"/>
                <a:cs typeface="Arial MT"/>
              </a:rPr>
              <a:t>for</a:t>
            </a:r>
            <a:r>
              <a:rPr sz="2400" spc="-60"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project,</a:t>
            </a:r>
            <a:r>
              <a:rPr sz="2400" spc="-55" dirty="0">
                <a:latin typeface="Arial MT"/>
                <a:cs typeface="Arial MT"/>
              </a:rPr>
              <a:t> </a:t>
            </a:r>
            <a:r>
              <a:rPr sz="2400" spc="-10" dirty="0">
                <a:latin typeface="Arial MT"/>
                <a:cs typeface="Arial MT"/>
              </a:rPr>
              <a:t>being </a:t>
            </a:r>
            <a:r>
              <a:rPr sz="2400" dirty="0">
                <a:latin typeface="Arial MT"/>
                <a:cs typeface="Arial MT"/>
              </a:rPr>
              <a:t>in</a:t>
            </a:r>
            <a:r>
              <a:rPr sz="2400" spc="-65" dirty="0">
                <a:latin typeface="Arial MT"/>
                <a:cs typeface="Arial MT"/>
              </a:rPr>
              <a:t> </a:t>
            </a:r>
            <a:r>
              <a:rPr sz="2400" dirty="0">
                <a:latin typeface="Arial MT"/>
                <a:cs typeface="Arial MT"/>
              </a:rPr>
              <a:t>a</a:t>
            </a:r>
            <a:r>
              <a:rPr sz="2400" spc="-55" dirty="0">
                <a:latin typeface="Arial MT"/>
                <a:cs typeface="Arial MT"/>
              </a:rPr>
              <a:t> </a:t>
            </a:r>
            <a:r>
              <a:rPr sz="2400" dirty="0">
                <a:latin typeface="Arial MT"/>
                <a:cs typeface="Arial MT"/>
              </a:rPr>
              <a:t>slightly</a:t>
            </a:r>
            <a:r>
              <a:rPr sz="2400" spc="-35" dirty="0">
                <a:latin typeface="Arial MT"/>
                <a:cs typeface="Arial MT"/>
              </a:rPr>
              <a:t> </a:t>
            </a:r>
            <a:r>
              <a:rPr sz="2400" dirty="0">
                <a:latin typeface="Arial MT"/>
                <a:cs typeface="Arial MT"/>
              </a:rPr>
              <a:t>irreverent</a:t>
            </a:r>
            <a:r>
              <a:rPr sz="2400" spc="-45" dirty="0">
                <a:latin typeface="Arial MT"/>
                <a:cs typeface="Arial MT"/>
              </a:rPr>
              <a:t> </a:t>
            </a:r>
            <a:r>
              <a:rPr sz="2400" dirty="0">
                <a:latin typeface="Arial MT"/>
                <a:cs typeface="Arial MT"/>
              </a:rPr>
              <a:t>mood</a:t>
            </a:r>
            <a:r>
              <a:rPr sz="2400" spc="-55" dirty="0">
                <a:latin typeface="Arial MT"/>
                <a:cs typeface="Arial MT"/>
              </a:rPr>
              <a:t> </a:t>
            </a:r>
            <a:r>
              <a:rPr sz="2400" dirty="0">
                <a:latin typeface="Arial MT"/>
                <a:cs typeface="Arial MT"/>
              </a:rPr>
              <a:t>(and</a:t>
            </a:r>
            <a:r>
              <a:rPr sz="2400" spc="-65" dirty="0">
                <a:latin typeface="Arial MT"/>
                <a:cs typeface="Arial MT"/>
              </a:rPr>
              <a:t> </a:t>
            </a:r>
            <a:r>
              <a:rPr sz="2400" dirty="0">
                <a:latin typeface="Arial MT"/>
                <a:cs typeface="Arial MT"/>
              </a:rPr>
              <a:t>a</a:t>
            </a:r>
            <a:r>
              <a:rPr sz="2400" spc="-50" dirty="0">
                <a:latin typeface="Arial MT"/>
                <a:cs typeface="Arial MT"/>
              </a:rPr>
              <a:t> </a:t>
            </a:r>
            <a:r>
              <a:rPr sz="2400" dirty="0">
                <a:latin typeface="Arial MT"/>
                <a:cs typeface="Arial MT"/>
              </a:rPr>
              <a:t>big</a:t>
            </a:r>
            <a:r>
              <a:rPr sz="2400" spc="-45" dirty="0">
                <a:latin typeface="Arial MT"/>
                <a:cs typeface="Arial MT"/>
              </a:rPr>
              <a:t> </a:t>
            </a:r>
            <a:r>
              <a:rPr sz="2400" dirty="0">
                <a:latin typeface="Arial MT"/>
                <a:cs typeface="Arial MT"/>
              </a:rPr>
              <a:t>fan</a:t>
            </a:r>
            <a:r>
              <a:rPr sz="2400" spc="-55" dirty="0">
                <a:latin typeface="Arial MT"/>
                <a:cs typeface="Arial MT"/>
              </a:rPr>
              <a:t> </a:t>
            </a:r>
            <a:r>
              <a:rPr sz="2400" dirty="0">
                <a:latin typeface="Arial MT"/>
                <a:cs typeface="Arial MT"/>
              </a:rPr>
              <a:t>of</a:t>
            </a:r>
            <a:r>
              <a:rPr sz="2400" spc="-55" dirty="0">
                <a:latin typeface="Arial MT"/>
                <a:cs typeface="Arial MT"/>
              </a:rPr>
              <a:t> </a:t>
            </a:r>
            <a:r>
              <a:rPr sz="2400" dirty="0">
                <a:latin typeface="Arial MT"/>
                <a:cs typeface="Arial MT"/>
              </a:rPr>
              <a:t>Monty</a:t>
            </a:r>
            <a:r>
              <a:rPr sz="2400" spc="-50" dirty="0">
                <a:latin typeface="Arial MT"/>
                <a:cs typeface="Arial MT"/>
              </a:rPr>
              <a:t> </a:t>
            </a:r>
            <a:r>
              <a:rPr sz="2400" dirty="0">
                <a:latin typeface="Arial MT"/>
                <a:cs typeface="Arial MT"/>
              </a:rPr>
              <a:t>Python's</a:t>
            </a:r>
            <a:r>
              <a:rPr sz="2400" spc="-45" dirty="0">
                <a:latin typeface="Arial MT"/>
                <a:cs typeface="Arial MT"/>
              </a:rPr>
              <a:t> </a:t>
            </a:r>
            <a:r>
              <a:rPr sz="2400" spc="-10" dirty="0">
                <a:latin typeface="Arial MT"/>
                <a:cs typeface="Arial MT"/>
              </a:rPr>
              <a:t>Flying Circus).”</a:t>
            </a:r>
            <a:endParaRPr sz="2400">
              <a:latin typeface="Arial MT"/>
              <a:cs typeface="Arial MT"/>
            </a:endParaRPr>
          </a:p>
          <a:p>
            <a:pPr marL="2515870">
              <a:lnSpc>
                <a:spcPct val="100000"/>
              </a:lnSpc>
              <a:spcBef>
                <a:spcPts val="405"/>
              </a:spcBef>
            </a:pPr>
            <a:r>
              <a:rPr sz="1600" dirty="0">
                <a:latin typeface="Arial MT"/>
                <a:cs typeface="Arial MT"/>
              </a:rPr>
              <a:t>–Python</a:t>
            </a:r>
            <a:r>
              <a:rPr sz="1600" spc="-25" dirty="0">
                <a:latin typeface="Arial MT"/>
                <a:cs typeface="Arial MT"/>
              </a:rPr>
              <a:t> </a:t>
            </a:r>
            <a:r>
              <a:rPr sz="1600" dirty="0">
                <a:latin typeface="Arial MT"/>
                <a:cs typeface="Arial MT"/>
              </a:rPr>
              <a:t>creator</a:t>
            </a:r>
            <a:r>
              <a:rPr sz="1600" spc="-30" dirty="0">
                <a:latin typeface="Arial MT"/>
                <a:cs typeface="Arial MT"/>
              </a:rPr>
              <a:t> </a:t>
            </a:r>
            <a:r>
              <a:rPr sz="1600" dirty="0">
                <a:latin typeface="Arial MT"/>
                <a:cs typeface="Arial MT"/>
              </a:rPr>
              <a:t>Guido</a:t>
            </a:r>
            <a:r>
              <a:rPr sz="1600" spc="-30" dirty="0">
                <a:latin typeface="Arial MT"/>
                <a:cs typeface="Arial MT"/>
              </a:rPr>
              <a:t> </a:t>
            </a:r>
            <a:r>
              <a:rPr sz="1600" dirty="0">
                <a:latin typeface="Arial MT"/>
                <a:cs typeface="Arial MT"/>
              </a:rPr>
              <a:t>Van</a:t>
            </a:r>
            <a:r>
              <a:rPr sz="1600" spc="-40" dirty="0">
                <a:latin typeface="Arial MT"/>
                <a:cs typeface="Arial MT"/>
              </a:rPr>
              <a:t> </a:t>
            </a:r>
            <a:r>
              <a:rPr sz="1600" dirty="0">
                <a:latin typeface="Arial MT"/>
                <a:cs typeface="Arial MT"/>
              </a:rPr>
              <a:t>Rossum,</a:t>
            </a:r>
            <a:r>
              <a:rPr sz="1600" spc="-45" dirty="0">
                <a:latin typeface="Arial MT"/>
                <a:cs typeface="Arial MT"/>
              </a:rPr>
              <a:t> </a:t>
            </a:r>
            <a:r>
              <a:rPr sz="1600" dirty="0">
                <a:latin typeface="Arial MT"/>
                <a:cs typeface="Arial MT"/>
              </a:rPr>
              <a:t>from</a:t>
            </a:r>
            <a:r>
              <a:rPr sz="1600" spc="-10" dirty="0">
                <a:latin typeface="Arial MT"/>
                <a:cs typeface="Arial MT"/>
              </a:rPr>
              <a:t> </a:t>
            </a:r>
            <a:r>
              <a:rPr sz="1600" dirty="0">
                <a:latin typeface="Arial MT"/>
                <a:cs typeface="Arial MT"/>
              </a:rPr>
              <a:t>the</a:t>
            </a:r>
            <a:r>
              <a:rPr sz="1600" spc="-15" dirty="0">
                <a:latin typeface="Arial MT"/>
                <a:cs typeface="Arial MT"/>
              </a:rPr>
              <a:t> </a:t>
            </a:r>
            <a:r>
              <a:rPr sz="1600" dirty="0">
                <a:latin typeface="Arial MT"/>
                <a:cs typeface="Arial MT"/>
              </a:rPr>
              <a:t>foreward</a:t>
            </a:r>
            <a:r>
              <a:rPr sz="1600" spc="-15" dirty="0">
                <a:latin typeface="Arial MT"/>
                <a:cs typeface="Arial MT"/>
              </a:rPr>
              <a:t> </a:t>
            </a:r>
            <a:r>
              <a:rPr sz="1600" dirty="0">
                <a:latin typeface="Arial MT"/>
                <a:cs typeface="Arial MT"/>
              </a:rPr>
              <a:t>to</a:t>
            </a:r>
            <a:r>
              <a:rPr sz="1600" spc="-30" dirty="0">
                <a:latin typeface="Arial MT"/>
                <a:cs typeface="Arial MT"/>
              </a:rPr>
              <a:t> </a:t>
            </a:r>
            <a:r>
              <a:rPr sz="1600" i="1" dirty="0">
                <a:latin typeface="Arial" panose="020B0604020202020204"/>
                <a:cs typeface="Arial" panose="020B0604020202020204"/>
              </a:rPr>
              <a:t>Programming</a:t>
            </a:r>
            <a:r>
              <a:rPr sz="1600" i="1" spc="-10" dirty="0">
                <a:latin typeface="Arial" panose="020B0604020202020204"/>
                <a:cs typeface="Arial" panose="020B0604020202020204"/>
              </a:rPr>
              <a:t> </a:t>
            </a:r>
            <a:r>
              <a:rPr sz="1600" i="1" dirty="0">
                <a:latin typeface="Arial" panose="020B0604020202020204"/>
                <a:cs typeface="Arial" panose="020B0604020202020204"/>
              </a:rPr>
              <a:t>Python</a:t>
            </a:r>
            <a:r>
              <a:rPr sz="1600" i="1" spc="-45" dirty="0">
                <a:latin typeface="Arial" panose="020B0604020202020204"/>
                <a:cs typeface="Arial" panose="020B0604020202020204"/>
              </a:rPr>
              <a:t> </a:t>
            </a:r>
            <a:r>
              <a:rPr sz="1600" i="1" dirty="0">
                <a:latin typeface="Arial" panose="020B0604020202020204"/>
                <a:cs typeface="Arial" panose="020B0604020202020204"/>
              </a:rPr>
              <a:t>(1</a:t>
            </a:r>
            <a:r>
              <a:rPr sz="1575" i="1" baseline="26000" dirty="0">
                <a:latin typeface="Arial" panose="020B0604020202020204"/>
                <a:cs typeface="Arial" panose="020B0604020202020204"/>
              </a:rPr>
              <a:t>st</a:t>
            </a:r>
            <a:r>
              <a:rPr sz="1575" i="1" spc="179" baseline="26000" dirty="0">
                <a:latin typeface="Arial" panose="020B0604020202020204"/>
                <a:cs typeface="Arial" panose="020B0604020202020204"/>
              </a:rPr>
              <a:t> </a:t>
            </a:r>
            <a:r>
              <a:rPr sz="1600" i="1" spc="-20" dirty="0">
                <a:latin typeface="Arial" panose="020B0604020202020204"/>
                <a:cs typeface="Arial" panose="020B0604020202020204"/>
              </a:rPr>
              <a:t>ed.)</a:t>
            </a:r>
            <a:endParaRPr sz="1600">
              <a:latin typeface="Arial" panose="020B0604020202020204"/>
              <a:cs typeface="Arial" panose="020B0604020202020204"/>
            </a:endParaRPr>
          </a:p>
          <a:p>
            <a:pPr>
              <a:lnSpc>
                <a:spcPct val="100000"/>
              </a:lnSpc>
            </a:pPr>
            <a:endParaRPr sz="1600">
              <a:latin typeface="Arial" panose="020B0604020202020204"/>
              <a:cs typeface="Arial" panose="020B0604020202020204"/>
            </a:endParaRPr>
          </a:p>
          <a:p>
            <a:pPr>
              <a:lnSpc>
                <a:spcPct val="100000"/>
              </a:lnSpc>
              <a:spcBef>
                <a:spcPts val="335"/>
              </a:spcBef>
            </a:pPr>
            <a:endParaRPr sz="1600">
              <a:latin typeface="Arial" panose="020B0604020202020204"/>
              <a:cs typeface="Arial" panose="020B0604020202020204"/>
            </a:endParaRPr>
          </a:p>
          <a:p>
            <a:pPr marL="380365" indent="-342265">
              <a:lnSpc>
                <a:spcPct val="100000"/>
              </a:lnSpc>
              <a:buClr>
                <a:srgbClr val="2575B4"/>
              </a:buClr>
              <a:buFont typeface="Wingdings" panose="05000000000000000000"/>
              <a:buChar char=""/>
              <a:tabLst>
                <a:tab pos="380365" algn="l"/>
              </a:tabLst>
            </a:pPr>
            <a:r>
              <a:rPr sz="2400" spc="-10" dirty="0">
                <a:latin typeface="Arial MT"/>
                <a:cs typeface="Arial MT"/>
              </a:rPr>
              <a:t>Goals:</a:t>
            </a:r>
            <a:endParaRPr sz="2400">
              <a:latin typeface="Arial MT"/>
              <a:cs typeface="Arial MT"/>
            </a:endParaRPr>
          </a:p>
          <a:p>
            <a:pPr marL="781685" lvl="1" indent="-286385">
              <a:lnSpc>
                <a:spcPct val="100000"/>
              </a:lnSpc>
              <a:spcBef>
                <a:spcPts val="445"/>
              </a:spcBef>
              <a:buClr>
                <a:srgbClr val="2575B4"/>
              </a:buClr>
              <a:buFont typeface="Wingdings" panose="05000000000000000000"/>
              <a:buChar char=""/>
              <a:tabLst>
                <a:tab pos="781685" algn="l"/>
              </a:tabLst>
            </a:pPr>
            <a:r>
              <a:rPr sz="1800" dirty="0">
                <a:latin typeface="Arial MT"/>
                <a:cs typeface="Arial MT"/>
              </a:rPr>
              <a:t>An</a:t>
            </a:r>
            <a:r>
              <a:rPr sz="1800" spc="-50" dirty="0">
                <a:latin typeface="Arial MT"/>
                <a:cs typeface="Arial MT"/>
              </a:rPr>
              <a:t> </a:t>
            </a:r>
            <a:r>
              <a:rPr sz="1800" dirty="0">
                <a:latin typeface="Arial MT"/>
                <a:cs typeface="Arial MT"/>
              </a:rPr>
              <a:t>easy</a:t>
            </a:r>
            <a:r>
              <a:rPr sz="1800" spc="-25" dirty="0">
                <a:latin typeface="Arial MT"/>
                <a:cs typeface="Arial MT"/>
              </a:rPr>
              <a:t> </a:t>
            </a:r>
            <a:r>
              <a:rPr sz="1800" dirty="0">
                <a:latin typeface="Arial MT"/>
                <a:cs typeface="Arial MT"/>
              </a:rPr>
              <a:t>and</a:t>
            </a:r>
            <a:r>
              <a:rPr sz="1800" spc="-25" dirty="0">
                <a:latin typeface="Arial MT"/>
                <a:cs typeface="Arial MT"/>
              </a:rPr>
              <a:t> </a:t>
            </a:r>
            <a:r>
              <a:rPr sz="1800" dirty="0">
                <a:latin typeface="Arial MT"/>
                <a:cs typeface="Arial MT"/>
              </a:rPr>
              <a:t>intuitive</a:t>
            </a:r>
            <a:r>
              <a:rPr sz="1800" spc="-20" dirty="0">
                <a:latin typeface="Arial MT"/>
                <a:cs typeface="Arial MT"/>
              </a:rPr>
              <a:t> </a:t>
            </a:r>
            <a:r>
              <a:rPr sz="1800" dirty="0">
                <a:latin typeface="Arial MT"/>
                <a:cs typeface="Arial MT"/>
              </a:rPr>
              <a:t>language</a:t>
            </a:r>
            <a:r>
              <a:rPr sz="1800" spc="-15" dirty="0">
                <a:latin typeface="Arial MT"/>
                <a:cs typeface="Arial MT"/>
              </a:rPr>
              <a:t> </a:t>
            </a:r>
            <a:r>
              <a:rPr sz="1800" dirty="0">
                <a:latin typeface="Arial MT"/>
                <a:cs typeface="Arial MT"/>
              </a:rPr>
              <a:t>just</a:t>
            </a:r>
            <a:r>
              <a:rPr sz="1800" spc="-20" dirty="0">
                <a:latin typeface="Arial MT"/>
                <a:cs typeface="Arial MT"/>
              </a:rPr>
              <a:t> </a:t>
            </a:r>
            <a:r>
              <a:rPr sz="1800" dirty="0">
                <a:latin typeface="Arial MT"/>
                <a:cs typeface="Arial MT"/>
              </a:rPr>
              <a:t>as</a:t>
            </a:r>
            <a:r>
              <a:rPr sz="1800" spc="-30" dirty="0">
                <a:latin typeface="Arial MT"/>
                <a:cs typeface="Arial MT"/>
              </a:rPr>
              <a:t> </a:t>
            </a:r>
            <a:r>
              <a:rPr sz="1800" dirty="0">
                <a:latin typeface="Arial MT"/>
                <a:cs typeface="Arial MT"/>
              </a:rPr>
              <a:t>powerful</a:t>
            </a:r>
            <a:r>
              <a:rPr sz="1800" spc="25" dirty="0">
                <a:latin typeface="Arial MT"/>
                <a:cs typeface="Arial MT"/>
              </a:rPr>
              <a:t> </a:t>
            </a:r>
            <a:r>
              <a:rPr sz="1800" dirty="0">
                <a:latin typeface="Arial MT"/>
                <a:cs typeface="Arial MT"/>
              </a:rPr>
              <a:t>as</a:t>
            </a:r>
            <a:r>
              <a:rPr sz="1800" spc="-25" dirty="0">
                <a:latin typeface="Arial MT"/>
                <a:cs typeface="Arial MT"/>
              </a:rPr>
              <a:t> </a:t>
            </a:r>
            <a:r>
              <a:rPr sz="1800" dirty="0">
                <a:latin typeface="Arial MT"/>
                <a:cs typeface="Arial MT"/>
              </a:rPr>
              <a:t>major</a:t>
            </a:r>
            <a:r>
              <a:rPr sz="1800" spc="-25" dirty="0">
                <a:latin typeface="Arial MT"/>
                <a:cs typeface="Arial MT"/>
              </a:rPr>
              <a:t> </a:t>
            </a:r>
            <a:r>
              <a:rPr sz="1800" spc="-10" dirty="0">
                <a:latin typeface="Arial MT"/>
                <a:cs typeface="Arial MT"/>
              </a:rPr>
              <a:t>competitors</a:t>
            </a:r>
            <a:endParaRPr sz="1800">
              <a:latin typeface="Arial MT"/>
              <a:cs typeface="Arial MT"/>
            </a:endParaRPr>
          </a:p>
          <a:p>
            <a:pPr marL="781685" lvl="1" indent="-286385">
              <a:lnSpc>
                <a:spcPct val="100000"/>
              </a:lnSpc>
              <a:spcBef>
                <a:spcPts val="430"/>
              </a:spcBef>
              <a:buClr>
                <a:srgbClr val="2575B4"/>
              </a:buClr>
              <a:buFont typeface="Wingdings" panose="05000000000000000000"/>
              <a:buChar char=""/>
              <a:tabLst>
                <a:tab pos="781685" algn="l"/>
              </a:tabLst>
            </a:pPr>
            <a:r>
              <a:rPr sz="1800" dirty="0">
                <a:latin typeface="Arial MT"/>
                <a:cs typeface="Arial MT"/>
              </a:rPr>
              <a:t>Open</a:t>
            </a:r>
            <a:r>
              <a:rPr sz="1800" spc="-35" dirty="0">
                <a:latin typeface="Arial MT"/>
                <a:cs typeface="Arial MT"/>
              </a:rPr>
              <a:t> </a:t>
            </a:r>
            <a:r>
              <a:rPr sz="1800" dirty="0">
                <a:latin typeface="Arial MT"/>
                <a:cs typeface="Arial MT"/>
              </a:rPr>
              <a:t>source,</a:t>
            </a:r>
            <a:r>
              <a:rPr sz="1800" spc="-10" dirty="0">
                <a:latin typeface="Arial MT"/>
                <a:cs typeface="Arial MT"/>
              </a:rPr>
              <a:t> </a:t>
            </a:r>
            <a:r>
              <a:rPr sz="1800" dirty="0">
                <a:latin typeface="Arial MT"/>
                <a:cs typeface="Arial MT"/>
              </a:rPr>
              <a:t>so</a:t>
            </a:r>
            <a:r>
              <a:rPr sz="1800" spc="-25" dirty="0">
                <a:latin typeface="Arial MT"/>
                <a:cs typeface="Arial MT"/>
              </a:rPr>
              <a:t> </a:t>
            </a:r>
            <a:r>
              <a:rPr sz="1800" dirty="0">
                <a:latin typeface="Arial MT"/>
                <a:cs typeface="Arial MT"/>
              </a:rPr>
              <a:t>anyone</a:t>
            </a:r>
            <a:r>
              <a:rPr sz="1800" spc="5" dirty="0">
                <a:latin typeface="Arial MT"/>
                <a:cs typeface="Arial MT"/>
              </a:rPr>
              <a:t> </a:t>
            </a:r>
            <a:r>
              <a:rPr sz="1800" dirty="0">
                <a:latin typeface="Arial MT"/>
                <a:cs typeface="Arial MT"/>
              </a:rPr>
              <a:t>can</a:t>
            </a:r>
            <a:r>
              <a:rPr sz="1800" spc="-30" dirty="0">
                <a:latin typeface="Arial MT"/>
                <a:cs typeface="Arial MT"/>
              </a:rPr>
              <a:t> </a:t>
            </a:r>
            <a:r>
              <a:rPr sz="1800" dirty="0">
                <a:latin typeface="Arial MT"/>
                <a:cs typeface="Arial MT"/>
              </a:rPr>
              <a:t>contribute</a:t>
            </a:r>
            <a:r>
              <a:rPr sz="1800" spc="-15"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its</a:t>
            </a:r>
            <a:r>
              <a:rPr sz="1800" spc="-20" dirty="0">
                <a:latin typeface="Arial MT"/>
                <a:cs typeface="Arial MT"/>
              </a:rPr>
              <a:t> </a:t>
            </a:r>
            <a:r>
              <a:rPr sz="1800" spc="-10" dirty="0">
                <a:latin typeface="Arial MT"/>
                <a:cs typeface="Arial MT"/>
              </a:rPr>
              <a:t>development</a:t>
            </a:r>
            <a:endParaRPr sz="1800">
              <a:latin typeface="Arial MT"/>
              <a:cs typeface="Arial MT"/>
            </a:endParaRPr>
          </a:p>
          <a:p>
            <a:pPr marL="781685" lvl="1" indent="-286385">
              <a:lnSpc>
                <a:spcPct val="100000"/>
              </a:lnSpc>
              <a:spcBef>
                <a:spcPts val="435"/>
              </a:spcBef>
              <a:buClr>
                <a:srgbClr val="2575B4"/>
              </a:buClr>
              <a:buFont typeface="Wingdings" panose="05000000000000000000"/>
              <a:buChar char=""/>
              <a:tabLst>
                <a:tab pos="781685" algn="l"/>
              </a:tabLst>
            </a:pPr>
            <a:r>
              <a:rPr sz="1800" dirty="0">
                <a:latin typeface="Arial MT"/>
                <a:cs typeface="Arial MT"/>
              </a:rPr>
              <a:t>Code</a:t>
            </a:r>
            <a:r>
              <a:rPr sz="1800" spc="-35" dirty="0">
                <a:latin typeface="Arial MT"/>
                <a:cs typeface="Arial MT"/>
              </a:rPr>
              <a:t> </a:t>
            </a:r>
            <a:r>
              <a:rPr sz="1800" dirty="0">
                <a:latin typeface="Arial MT"/>
                <a:cs typeface="Arial MT"/>
              </a:rPr>
              <a:t>that</a:t>
            </a:r>
            <a:r>
              <a:rPr sz="1800" spc="-30"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as</a:t>
            </a:r>
            <a:r>
              <a:rPr sz="1800" spc="-30" dirty="0">
                <a:latin typeface="Arial MT"/>
                <a:cs typeface="Arial MT"/>
              </a:rPr>
              <a:t> </a:t>
            </a:r>
            <a:r>
              <a:rPr sz="1800" dirty="0">
                <a:latin typeface="Arial MT"/>
                <a:cs typeface="Arial MT"/>
              </a:rPr>
              <a:t>understandable</a:t>
            </a:r>
            <a:r>
              <a:rPr sz="1800" spc="-10" dirty="0">
                <a:latin typeface="Arial MT"/>
                <a:cs typeface="Arial MT"/>
              </a:rPr>
              <a:t> </a:t>
            </a:r>
            <a:r>
              <a:rPr sz="1800" dirty="0">
                <a:latin typeface="Arial MT"/>
                <a:cs typeface="Arial MT"/>
              </a:rPr>
              <a:t>as</a:t>
            </a:r>
            <a:r>
              <a:rPr sz="1800" spc="-30" dirty="0">
                <a:latin typeface="Arial MT"/>
                <a:cs typeface="Arial MT"/>
              </a:rPr>
              <a:t> </a:t>
            </a:r>
            <a:r>
              <a:rPr sz="1800" dirty="0">
                <a:latin typeface="Arial MT"/>
                <a:cs typeface="Arial MT"/>
              </a:rPr>
              <a:t>plain</a:t>
            </a:r>
            <a:r>
              <a:rPr sz="1800" spc="-25" dirty="0">
                <a:latin typeface="Arial MT"/>
                <a:cs typeface="Arial MT"/>
              </a:rPr>
              <a:t> </a:t>
            </a:r>
            <a:r>
              <a:rPr sz="1800" spc="-10" dirty="0">
                <a:latin typeface="Arial MT"/>
                <a:cs typeface="Arial MT"/>
              </a:rPr>
              <a:t>English</a:t>
            </a:r>
            <a:endParaRPr sz="1800">
              <a:latin typeface="Arial MT"/>
              <a:cs typeface="Arial MT"/>
            </a:endParaRPr>
          </a:p>
          <a:p>
            <a:pPr marL="781685" lvl="1" indent="-286385">
              <a:lnSpc>
                <a:spcPct val="100000"/>
              </a:lnSpc>
              <a:spcBef>
                <a:spcPts val="430"/>
              </a:spcBef>
              <a:buClr>
                <a:srgbClr val="2575B4"/>
              </a:buClr>
              <a:buFont typeface="Wingdings" panose="05000000000000000000"/>
              <a:buChar char=""/>
              <a:tabLst>
                <a:tab pos="781685" algn="l"/>
              </a:tabLst>
            </a:pPr>
            <a:r>
              <a:rPr sz="1800" dirty="0">
                <a:latin typeface="Arial MT"/>
                <a:cs typeface="Arial MT"/>
              </a:rPr>
              <a:t>Suitability</a:t>
            </a:r>
            <a:r>
              <a:rPr sz="1800" spc="-35" dirty="0">
                <a:latin typeface="Arial MT"/>
                <a:cs typeface="Arial MT"/>
              </a:rPr>
              <a:t> </a:t>
            </a:r>
            <a:r>
              <a:rPr sz="1800" dirty="0">
                <a:latin typeface="Arial MT"/>
                <a:cs typeface="Arial MT"/>
              </a:rPr>
              <a:t>for</a:t>
            </a:r>
            <a:r>
              <a:rPr sz="1800" spc="-40" dirty="0">
                <a:latin typeface="Arial MT"/>
                <a:cs typeface="Arial MT"/>
              </a:rPr>
              <a:t> </a:t>
            </a:r>
            <a:r>
              <a:rPr sz="1800" dirty="0">
                <a:latin typeface="Arial MT"/>
                <a:cs typeface="Arial MT"/>
              </a:rPr>
              <a:t>everyday</a:t>
            </a:r>
            <a:r>
              <a:rPr sz="1800" spc="-5" dirty="0">
                <a:latin typeface="Arial MT"/>
                <a:cs typeface="Arial MT"/>
              </a:rPr>
              <a:t> </a:t>
            </a:r>
            <a:r>
              <a:rPr sz="1800" dirty="0">
                <a:latin typeface="Arial MT"/>
                <a:cs typeface="Arial MT"/>
              </a:rPr>
              <a:t>tasks,</a:t>
            </a:r>
            <a:r>
              <a:rPr sz="1800" spc="-50" dirty="0">
                <a:latin typeface="Arial MT"/>
                <a:cs typeface="Arial MT"/>
              </a:rPr>
              <a:t> </a:t>
            </a:r>
            <a:r>
              <a:rPr sz="1800" dirty="0">
                <a:latin typeface="Arial MT"/>
                <a:cs typeface="Arial MT"/>
              </a:rPr>
              <a:t>allowing</a:t>
            </a:r>
            <a:r>
              <a:rPr sz="1800" spc="5" dirty="0">
                <a:latin typeface="Arial MT"/>
                <a:cs typeface="Arial MT"/>
              </a:rPr>
              <a:t> </a:t>
            </a:r>
            <a:r>
              <a:rPr sz="1800" dirty="0">
                <a:latin typeface="Arial MT"/>
                <a:cs typeface="Arial MT"/>
              </a:rPr>
              <a:t>for</a:t>
            </a:r>
            <a:r>
              <a:rPr sz="1800" spc="-45" dirty="0">
                <a:latin typeface="Arial MT"/>
                <a:cs typeface="Arial MT"/>
              </a:rPr>
              <a:t> </a:t>
            </a:r>
            <a:r>
              <a:rPr sz="1800" dirty="0">
                <a:latin typeface="Arial MT"/>
                <a:cs typeface="Arial MT"/>
              </a:rPr>
              <a:t>short</a:t>
            </a:r>
            <a:r>
              <a:rPr sz="1800" spc="-35" dirty="0">
                <a:latin typeface="Arial MT"/>
                <a:cs typeface="Arial MT"/>
              </a:rPr>
              <a:t> </a:t>
            </a:r>
            <a:r>
              <a:rPr sz="1800" dirty="0">
                <a:latin typeface="Arial MT"/>
                <a:cs typeface="Arial MT"/>
              </a:rPr>
              <a:t>development</a:t>
            </a:r>
            <a:r>
              <a:rPr sz="1800" spc="-20" dirty="0">
                <a:latin typeface="Arial MT"/>
                <a:cs typeface="Arial MT"/>
              </a:rPr>
              <a:t> </a:t>
            </a:r>
            <a:r>
              <a:rPr sz="1800" spc="-10" dirty="0">
                <a:latin typeface="Arial MT"/>
                <a:cs typeface="Arial MT"/>
              </a:rPr>
              <a:t>times</a:t>
            </a:r>
            <a:endParaRPr sz="1800">
              <a:latin typeface="Arial MT"/>
              <a:cs typeface="Arial MT"/>
            </a:endParaRPr>
          </a:p>
        </p:txBody>
      </p:sp>
      <p:pic>
        <p:nvPicPr>
          <p:cNvPr id="4" name="object 4"/>
          <p:cNvPicPr/>
          <p:nvPr/>
        </p:nvPicPr>
        <p:blipFill>
          <a:blip r:embed="rId1" cstate="print"/>
          <a:stretch>
            <a:fillRect/>
          </a:stretch>
        </p:blipFill>
        <p:spPr>
          <a:xfrm>
            <a:off x="8859011" y="3992879"/>
            <a:ext cx="2651759" cy="2685288"/>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925" y="180975"/>
            <a:ext cx="8808720" cy="689610"/>
          </a:xfrm>
          <a:prstGeom prst="rect">
            <a:avLst/>
          </a:prstGeom>
        </p:spPr>
        <p:txBody>
          <a:bodyPr vert="horz" wrap="square" lIns="0" tIns="12700" rIns="0" bIns="0" rtlCol="0">
            <a:spAutoFit/>
          </a:bodyPr>
          <a:lstStyle/>
          <a:p>
            <a:pPr marL="12700">
              <a:lnSpc>
                <a:spcPct val="100000"/>
              </a:lnSpc>
              <a:spcBef>
                <a:spcPts val="100"/>
              </a:spcBef>
            </a:pPr>
            <a:r>
              <a:rPr dirty="0"/>
              <a:t>Compiled</a:t>
            </a:r>
            <a:r>
              <a:rPr spc="-40" dirty="0"/>
              <a:t> </a:t>
            </a:r>
            <a:r>
              <a:rPr spc="-10" dirty="0"/>
              <a:t>Languages</a:t>
            </a:r>
            <a:endParaRPr spc="-10" dirty="0"/>
          </a:p>
        </p:txBody>
      </p:sp>
      <p:sp>
        <p:nvSpPr>
          <p:cNvPr id="3" name="object 3"/>
          <p:cNvSpPr txBox="1"/>
          <p:nvPr/>
        </p:nvSpPr>
        <p:spPr>
          <a:xfrm>
            <a:off x="5590794" y="985774"/>
            <a:ext cx="2266315"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MT"/>
                <a:cs typeface="Arial MT"/>
              </a:rPr>
              <a:t>(ex.</a:t>
            </a:r>
            <a:r>
              <a:rPr sz="2000" spc="-30" dirty="0">
                <a:latin typeface="Arial MT"/>
                <a:cs typeface="Arial MT"/>
              </a:rPr>
              <a:t> </a:t>
            </a:r>
            <a:r>
              <a:rPr sz="2000" dirty="0">
                <a:latin typeface="Arial MT"/>
                <a:cs typeface="Arial MT"/>
              </a:rPr>
              <a:t>C++</a:t>
            </a:r>
            <a:r>
              <a:rPr sz="2000" spc="-25" dirty="0">
                <a:latin typeface="Arial MT"/>
                <a:cs typeface="Arial MT"/>
              </a:rPr>
              <a:t> </a:t>
            </a:r>
            <a:r>
              <a:rPr sz="2000" dirty="0">
                <a:latin typeface="Arial MT"/>
                <a:cs typeface="Arial MT"/>
              </a:rPr>
              <a:t>or</a:t>
            </a:r>
            <a:r>
              <a:rPr sz="2000" spc="-25" dirty="0">
                <a:latin typeface="Arial MT"/>
                <a:cs typeface="Arial MT"/>
              </a:rPr>
              <a:t> </a:t>
            </a:r>
            <a:r>
              <a:rPr sz="2000" spc="-10" dirty="0">
                <a:latin typeface="Arial MT"/>
                <a:cs typeface="Arial MT"/>
              </a:rPr>
              <a:t>Fortran)</a:t>
            </a:r>
            <a:endParaRPr sz="2000">
              <a:latin typeface="Arial MT"/>
              <a:cs typeface="Arial MT"/>
            </a:endParaRPr>
          </a:p>
        </p:txBody>
      </p:sp>
      <p:pic>
        <p:nvPicPr>
          <p:cNvPr id="4" name="object 4"/>
          <p:cNvPicPr/>
          <p:nvPr/>
        </p:nvPicPr>
        <p:blipFill>
          <a:blip r:embed="rId1" cstate="print"/>
          <a:stretch>
            <a:fillRect/>
          </a:stretch>
        </p:blipFill>
        <p:spPr>
          <a:xfrm>
            <a:off x="1798323" y="1554483"/>
            <a:ext cx="9183619" cy="4768592"/>
          </a:xfrm>
          <a:prstGeom prst="rect">
            <a:avLst/>
          </a:prstGeom>
        </p:spPr>
      </p:pic>
      <p:sp>
        <p:nvSpPr>
          <p:cNvPr id="5" name="Date Placeholder 4"/>
          <p:cNvSpPr>
            <a:spLocks noGrp="1"/>
          </p:cNvSpPr>
          <p:nvPr>
            <p:ph type="dt" sz="half" idx="10"/>
          </p:nvPr>
        </p:nvSpPr>
        <p:spPr/>
        <p:txBody>
          <a:bodyPr/>
          <a:p>
            <a:fld id="{63A1C593-65D0-4073-BCC9-577B9352EA97}" type="datetime1">
              <a:rPr lang="en-US" smtClean="0"/>
            </a:fld>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80975"/>
            <a:ext cx="7092315" cy="689610"/>
          </a:xfrm>
          <a:prstGeom prst="rect">
            <a:avLst/>
          </a:prstGeom>
        </p:spPr>
        <p:txBody>
          <a:bodyPr vert="horz" wrap="square" lIns="0" tIns="12700" rIns="0" bIns="0" rtlCol="0">
            <a:spAutoFit/>
          </a:bodyPr>
          <a:lstStyle/>
          <a:p>
            <a:pPr marL="12700">
              <a:lnSpc>
                <a:spcPct val="100000"/>
              </a:lnSpc>
              <a:spcBef>
                <a:spcPts val="100"/>
              </a:spcBef>
            </a:pPr>
            <a:r>
              <a:rPr dirty="0"/>
              <a:t>Interpreted</a:t>
            </a:r>
            <a:r>
              <a:rPr spc="-65" dirty="0"/>
              <a:t> </a:t>
            </a:r>
            <a:r>
              <a:rPr spc="-10" dirty="0"/>
              <a:t>Languages</a:t>
            </a:r>
            <a:endParaRPr spc="-10" dirty="0"/>
          </a:p>
        </p:txBody>
      </p:sp>
      <p:sp>
        <p:nvSpPr>
          <p:cNvPr id="3" name="object 3"/>
          <p:cNvSpPr txBox="1"/>
          <p:nvPr/>
        </p:nvSpPr>
        <p:spPr>
          <a:xfrm>
            <a:off x="5871209" y="985774"/>
            <a:ext cx="194056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Arial MT"/>
                <a:cs typeface="Arial MT"/>
              </a:rPr>
              <a:t>(ex.</a:t>
            </a:r>
            <a:r>
              <a:rPr sz="2000" spc="-40" dirty="0">
                <a:latin typeface="Arial MT"/>
                <a:cs typeface="Arial MT"/>
              </a:rPr>
              <a:t> </a:t>
            </a:r>
            <a:r>
              <a:rPr sz="2000" dirty="0">
                <a:latin typeface="Arial MT"/>
                <a:cs typeface="Arial MT"/>
              </a:rPr>
              <a:t>Python</a:t>
            </a:r>
            <a:r>
              <a:rPr sz="2000" spc="-25" dirty="0">
                <a:latin typeface="Arial MT"/>
                <a:cs typeface="Arial MT"/>
              </a:rPr>
              <a:t> </a:t>
            </a:r>
            <a:r>
              <a:rPr sz="2000" dirty="0">
                <a:latin typeface="Arial MT"/>
                <a:cs typeface="Arial MT"/>
              </a:rPr>
              <a:t>or</a:t>
            </a:r>
            <a:r>
              <a:rPr sz="2000" spc="-25" dirty="0">
                <a:latin typeface="Arial MT"/>
                <a:cs typeface="Arial MT"/>
              </a:rPr>
              <a:t> R)</a:t>
            </a:r>
            <a:endParaRPr sz="2000">
              <a:latin typeface="Arial MT"/>
              <a:cs typeface="Arial MT"/>
            </a:endParaRPr>
          </a:p>
        </p:txBody>
      </p:sp>
      <p:sp>
        <p:nvSpPr>
          <p:cNvPr id="4" name="object 4"/>
          <p:cNvSpPr/>
          <p:nvPr/>
        </p:nvSpPr>
        <p:spPr>
          <a:xfrm>
            <a:off x="1065275" y="1565147"/>
            <a:ext cx="1889760" cy="1496695"/>
          </a:xfrm>
          <a:custGeom>
            <a:avLst/>
            <a:gdLst/>
            <a:ahLst/>
            <a:cxnLst/>
            <a:rect l="l" t="t" r="r" b="b"/>
            <a:pathLst>
              <a:path w="1889760" h="1496695">
                <a:moveTo>
                  <a:pt x="0" y="255142"/>
                </a:moveTo>
                <a:lnTo>
                  <a:pt x="1626870" y="255142"/>
                </a:lnTo>
                <a:lnTo>
                  <a:pt x="1626870" y="1251203"/>
                </a:lnTo>
                <a:lnTo>
                  <a:pt x="1567362" y="1251907"/>
                </a:lnTo>
                <a:lnTo>
                  <a:pt x="1510752" y="1253958"/>
                </a:lnTo>
                <a:lnTo>
                  <a:pt x="1456887" y="1257267"/>
                </a:lnTo>
                <a:lnTo>
                  <a:pt x="1405615" y="1261744"/>
                </a:lnTo>
                <a:lnTo>
                  <a:pt x="1356784" y="1267299"/>
                </a:lnTo>
                <a:lnTo>
                  <a:pt x="1310240" y="1273841"/>
                </a:lnTo>
                <a:lnTo>
                  <a:pt x="1265831" y="1281282"/>
                </a:lnTo>
                <a:lnTo>
                  <a:pt x="1223406" y="1289532"/>
                </a:lnTo>
                <a:lnTo>
                  <a:pt x="1182810" y="1298500"/>
                </a:lnTo>
                <a:lnTo>
                  <a:pt x="1143892" y="1308098"/>
                </a:lnTo>
                <a:lnTo>
                  <a:pt x="1106500" y="1318234"/>
                </a:lnTo>
                <a:lnTo>
                  <a:pt x="1035680" y="1339764"/>
                </a:lnTo>
                <a:lnTo>
                  <a:pt x="969131" y="1362371"/>
                </a:lnTo>
                <a:lnTo>
                  <a:pt x="905632" y="1385339"/>
                </a:lnTo>
                <a:lnTo>
                  <a:pt x="874645" y="1396732"/>
                </a:lnTo>
                <a:lnTo>
                  <a:pt x="843964" y="1407947"/>
                </a:lnTo>
                <a:lnTo>
                  <a:pt x="782905" y="1429476"/>
                </a:lnTo>
                <a:lnTo>
                  <a:pt x="721237" y="1449210"/>
                </a:lnTo>
                <a:lnTo>
                  <a:pt x="657738" y="1466428"/>
                </a:lnTo>
                <a:lnTo>
                  <a:pt x="591189" y="1480412"/>
                </a:lnTo>
                <a:lnTo>
                  <a:pt x="520369" y="1490443"/>
                </a:lnTo>
                <a:lnTo>
                  <a:pt x="444059" y="1495803"/>
                </a:lnTo>
                <a:lnTo>
                  <a:pt x="403463" y="1496507"/>
                </a:lnTo>
                <a:lnTo>
                  <a:pt x="361038" y="1495773"/>
                </a:lnTo>
                <a:lnTo>
                  <a:pt x="316629" y="1493512"/>
                </a:lnTo>
                <a:lnTo>
                  <a:pt x="270085" y="1489634"/>
                </a:lnTo>
                <a:lnTo>
                  <a:pt x="221254" y="1484050"/>
                </a:lnTo>
                <a:lnTo>
                  <a:pt x="169982" y="1476668"/>
                </a:lnTo>
                <a:lnTo>
                  <a:pt x="116117" y="1467401"/>
                </a:lnTo>
                <a:lnTo>
                  <a:pt x="59507" y="1456157"/>
                </a:lnTo>
                <a:lnTo>
                  <a:pt x="0" y="1442847"/>
                </a:lnTo>
                <a:lnTo>
                  <a:pt x="0" y="255142"/>
                </a:lnTo>
                <a:close/>
              </a:path>
              <a:path w="1889760" h="1496695">
                <a:moveTo>
                  <a:pt x="134035" y="255142"/>
                </a:moveTo>
                <a:lnTo>
                  <a:pt x="134035" y="125984"/>
                </a:lnTo>
                <a:lnTo>
                  <a:pt x="1749806" y="125984"/>
                </a:lnTo>
                <a:lnTo>
                  <a:pt x="1749806" y="1128267"/>
                </a:lnTo>
                <a:lnTo>
                  <a:pt x="1704665" y="1129359"/>
                </a:lnTo>
                <a:lnTo>
                  <a:pt x="1665287" y="1131760"/>
                </a:lnTo>
                <a:lnTo>
                  <a:pt x="1637434" y="1134161"/>
                </a:lnTo>
                <a:lnTo>
                  <a:pt x="1626870" y="1135252"/>
                </a:lnTo>
              </a:path>
              <a:path w="1889760" h="1496695">
                <a:moveTo>
                  <a:pt x="259969" y="125984"/>
                </a:moveTo>
                <a:lnTo>
                  <a:pt x="259969" y="0"/>
                </a:lnTo>
                <a:lnTo>
                  <a:pt x="1889760" y="0"/>
                </a:lnTo>
                <a:lnTo>
                  <a:pt x="1889760" y="999236"/>
                </a:lnTo>
                <a:lnTo>
                  <a:pt x="1838370" y="1000049"/>
                </a:lnTo>
                <a:lnTo>
                  <a:pt x="1793541" y="1001839"/>
                </a:lnTo>
                <a:lnTo>
                  <a:pt x="1761833" y="1003629"/>
                </a:lnTo>
                <a:lnTo>
                  <a:pt x="1749806" y="1004442"/>
                </a:lnTo>
              </a:path>
            </a:pathLst>
          </a:custGeom>
          <a:ln w="9525">
            <a:solidFill>
              <a:srgbClr val="000000"/>
            </a:solidFill>
          </a:ln>
        </p:spPr>
        <p:txBody>
          <a:bodyPr wrap="square" lIns="0" tIns="0" rIns="0" bIns="0" rtlCol="0"/>
          <a:lstStyle/>
          <a:p/>
        </p:txBody>
      </p:sp>
      <p:sp>
        <p:nvSpPr>
          <p:cNvPr id="5" name="object 5"/>
          <p:cNvSpPr txBox="1"/>
          <p:nvPr/>
        </p:nvSpPr>
        <p:spPr>
          <a:xfrm>
            <a:off x="1070038" y="2077974"/>
            <a:ext cx="1617345" cy="666115"/>
          </a:xfrm>
          <a:prstGeom prst="rect">
            <a:avLst/>
          </a:prstGeom>
        </p:spPr>
        <p:txBody>
          <a:bodyPr vert="horz" wrap="square" lIns="0" tIns="13335" rIns="0" bIns="0" rtlCol="0">
            <a:spAutoFit/>
          </a:bodyPr>
          <a:lstStyle/>
          <a:p>
            <a:pPr marL="100965">
              <a:lnSpc>
                <a:spcPct val="100000"/>
              </a:lnSpc>
              <a:spcBef>
                <a:spcPts val="105"/>
              </a:spcBef>
            </a:pPr>
            <a:r>
              <a:rPr sz="1400" b="1" dirty="0">
                <a:latin typeface="Arial" panose="020B0604020202020204"/>
                <a:cs typeface="Arial" panose="020B0604020202020204"/>
              </a:rPr>
              <a:t>Source</a:t>
            </a:r>
            <a:r>
              <a:rPr sz="1400" b="1" spc="-50" dirty="0">
                <a:latin typeface="Arial" panose="020B0604020202020204"/>
                <a:cs typeface="Arial" panose="020B0604020202020204"/>
              </a:rPr>
              <a:t> </a:t>
            </a:r>
            <a:r>
              <a:rPr sz="1400" b="1" dirty="0">
                <a:latin typeface="Arial" panose="020B0604020202020204"/>
                <a:cs typeface="Arial" panose="020B0604020202020204"/>
              </a:rPr>
              <a:t>code</a:t>
            </a:r>
            <a:r>
              <a:rPr sz="1400" b="1" spc="-45" dirty="0">
                <a:latin typeface="Arial" panose="020B0604020202020204"/>
                <a:cs typeface="Arial" panose="020B0604020202020204"/>
              </a:rPr>
              <a:t> </a:t>
            </a:r>
            <a:r>
              <a:rPr sz="1400" b="1" spc="-10" dirty="0">
                <a:latin typeface="Arial" panose="020B0604020202020204"/>
                <a:cs typeface="Arial" panose="020B0604020202020204"/>
              </a:rPr>
              <a:t>files</a:t>
            </a:r>
            <a:endParaRPr sz="1400">
              <a:latin typeface="Arial" panose="020B0604020202020204"/>
              <a:cs typeface="Arial" panose="020B0604020202020204"/>
            </a:endParaRPr>
          </a:p>
          <a:p>
            <a:pPr marL="100965" marR="873760">
              <a:lnSpc>
                <a:spcPct val="100000"/>
              </a:lnSpc>
            </a:pPr>
            <a:r>
              <a:rPr sz="1400" spc="-10" dirty="0">
                <a:latin typeface="Arial MT"/>
                <a:cs typeface="Arial MT"/>
              </a:rPr>
              <a:t>prog.py math.py</a:t>
            </a:r>
            <a:endParaRPr sz="1400">
              <a:latin typeface="Arial MT"/>
              <a:cs typeface="Arial MT"/>
            </a:endParaRPr>
          </a:p>
        </p:txBody>
      </p:sp>
      <p:grpSp>
        <p:nvGrpSpPr>
          <p:cNvPr id="6" name="object 6"/>
          <p:cNvGrpSpPr/>
          <p:nvPr/>
        </p:nvGrpSpPr>
        <p:grpSpPr>
          <a:xfrm>
            <a:off x="3648265" y="1798129"/>
            <a:ext cx="2094864" cy="1024890"/>
            <a:chOff x="3648265" y="1798129"/>
            <a:chExt cx="2094864" cy="1024890"/>
          </a:xfrm>
        </p:grpSpPr>
        <p:sp>
          <p:nvSpPr>
            <p:cNvPr id="7" name="object 7"/>
            <p:cNvSpPr/>
            <p:nvPr/>
          </p:nvSpPr>
          <p:spPr>
            <a:xfrm>
              <a:off x="3653028" y="1802892"/>
              <a:ext cx="2085339" cy="1015365"/>
            </a:xfrm>
            <a:custGeom>
              <a:avLst/>
              <a:gdLst/>
              <a:ahLst/>
              <a:cxnLst/>
              <a:rect l="l" t="t" r="r" b="b"/>
              <a:pathLst>
                <a:path w="2085339" h="1015364">
                  <a:moveTo>
                    <a:pt x="1915668" y="0"/>
                  </a:moveTo>
                  <a:lnTo>
                    <a:pt x="169163" y="0"/>
                  </a:lnTo>
                  <a:lnTo>
                    <a:pt x="124177" y="6039"/>
                  </a:lnTo>
                  <a:lnTo>
                    <a:pt x="83763" y="23085"/>
                  </a:lnTo>
                  <a:lnTo>
                    <a:pt x="49530" y="49530"/>
                  </a:lnTo>
                  <a:lnTo>
                    <a:pt x="23085" y="83763"/>
                  </a:lnTo>
                  <a:lnTo>
                    <a:pt x="6039" y="124177"/>
                  </a:lnTo>
                  <a:lnTo>
                    <a:pt x="0" y="169163"/>
                  </a:lnTo>
                  <a:lnTo>
                    <a:pt x="0" y="845820"/>
                  </a:lnTo>
                  <a:lnTo>
                    <a:pt x="6039" y="890806"/>
                  </a:lnTo>
                  <a:lnTo>
                    <a:pt x="23085" y="931220"/>
                  </a:lnTo>
                  <a:lnTo>
                    <a:pt x="49530" y="965453"/>
                  </a:lnTo>
                  <a:lnTo>
                    <a:pt x="83763" y="991898"/>
                  </a:lnTo>
                  <a:lnTo>
                    <a:pt x="124177" y="1008944"/>
                  </a:lnTo>
                  <a:lnTo>
                    <a:pt x="169163" y="1014984"/>
                  </a:lnTo>
                  <a:lnTo>
                    <a:pt x="1915668" y="1014984"/>
                  </a:lnTo>
                  <a:lnTo>
                    <a:pt x="1960654" y="1008944"/>
                  </a:lnTo>
                  <a:lnTo>
                    <a:pt x="2001068" y="991898"/>
                  </a:lnTo>
                  <a:lnTo>
                    <a:pt x="2035302" y="965453"/>
                  </a:lnTo>
                  <a:lnTo>
                    <a:pt x="2061746" y="931220"/>
                  </a:lnTo>
                  <a:lnTo>
                    <a:pt x="2078792" y="890806"/>
                  </a:lnTo>
                  <a:lnTo>
                    <a:pt x="2084832" y="845820"/>
                  </a:lnTo>
                  <a:lnTo>
                    <a:pt x="2084832" y="169163"/>
                  </a:lnTo>
                  <a:lnTo>
                    <a:pt x="2078792" y="124177"/>
                  </a:lnTo>
                  <a:lnTo>
                    <a:pt x="2061746" y="83763"/>
                  </a:lnTo>
                  <a:lnTo>
                    <a:pt x="2035302" y="49530"/>
                  </a:lnTo>
                  <a:lnTo>
                    <a:pt x="2001068" y="23085"/>
                  </a:lnTo>
                  <a:lnTo>
                    <a:pt x="1960654" y="6039"/>
                  </a:lnTo>
                  <a:lnTo>
                    <a:pt x="1915668" y="0"/>
                  </a:lnTo>
                  <a:close/>
                </a:path>
              </a:pathLst>
            </a:custGeom>
            <a:solidFill>
              <a:srgbClr val="FFF1CC"/>
            </a:solidFill>
          </p:spPr>
          <p:txBody>
            <a:bodyPr wrap="square" lIns="0" tIns="0" rIns="0" bIns="0" rtlCol="0"/>
            <a:lstStyle/>
            <a:p/>
          </p:txBody>
        </p:sp>
        <p:sp>
          <p:nvSpPr>
            <p:cNvPr id="8" name="object 8"/>
            <p:cNvSpPr/>
            <p:nvPr/>
          </p:nvSpPr>
          <p:spPr>
            <a:xfrm>
              <a:off x="3653028" y="1802892"/>
              <a:ext cx="2085339" cy="1015365"/>
            </a:xfrm>
            <a:custGeom>
              <a:avLst/>
              <a:gdLst/>
              <a:ahLst/>
              <a:cxnLst/>
              <a:rect l="l" t="t" r="r" b="b"/>
              <a:pathLst>
                <a:path w="2085339" h="1015364">
                  <a:moveTo>
                    <a:pt x="0" y="169163"/>
                  </a:moveTo>
                  <a:lnTo>
                    <a:pt x="6039" y="124177"/>
                  </a:lnTo>
                  <a:lnTo>
                    <a:pt x="23085" y="83763"/>
                  </a:lnTo>
                  <a:lnTo>
                    <a:pt x="49530" y="49530"/>
                  </a:lnTo>
                  <a:lnTo>
                    <a:pt x="83763" y="23085"/>
                  </a:lnTo>
                  <a:lnTo>
                    <a:pt x="124177" y="6039"/>
                  </a:lnTo>
                  <a:lnTo>
                    <a:pt x="169163" y="0"/>
                  </a:lnTo>
                  <a:lnTo>
                    <a:pt x="1915668" y="0"/>
                  </a:lnTo>
                  <a:lnTo>
                    <a:pt x="1960654" y="6039"/>
                  </a:lnTo>
                  <a:lnTo>
                    <a:pt x="2001068" y="23085"/>
                  </a:lnTo>
                  <a:lnTo>
                    <a:pt x="2035302" y="49530"/>
                  </a:lnTo>
                  <a:lnTo>
                    <a:pt x="2061746" y="83763"/>
                  </a:lnTo>
                  <a:lnTo>
                    <a:pt x="2078792" y="124177"/>
                  </a:lnTo>
                  <a:lnTo>
                    <a:pt x="2084832" y="169163"/>
                  </a:lnTo>
                  <a:lnTo>
                    <a:pt x="2084832" y="845820"/>
                  </a:lnTo>
                  <a:lnTo>
                    <a:pt x="2078792" y="890806"/>
                  </a:lnTo>
                  <a:lnTo>
                    <a:pt x="2061746" y="931220"/>
                  </a:lnTo>
                  <a:lnTo>
                    <a:pt x="2035302" y="965453"/>
                  </a:lnTo>
                  <a:lnTo>
                    <a:pt x="2001068" y="991898"/>
                  </a:lnTo>
                  <a:lnTo>
                    <a:pt x="1960654" y="1008944"/>
                  </a:lnTo>
                  <a:lnTo>
                    <a:pt x="1915668" y="1014984"/>
                  </a:lnTo>
                  <a:lnTo>
                    <a:pt x="169163" y="1014984"/>
                  </a:lnTo>
                  <a:lnTo>
                    <a:pt x="124177" y="1008944"/>
                  </a:lnTo>
                  <a:lnTo>
                    <a:pt x="83763" y="991898"/>
                  </a:lnTo>
                  <a:lnTo>
                    <a:pt x="49530" y="965453"/>
                  </a:lnTo>
                  <a:lnTo>
                    <a:pt x="23085" y="931220"/>
                  </a:lnTo>
                  <a:lnTo>
                    <a:pt x="6039" y="890806"/>
                  </a:lnTo>
                  <a:lnTo>
                    <a:pt x="0" y="845820"/>
                  </a:lnTo>
                  <a:lnTo>
                    <a:pt x="0" y="169163"/>
                  </a:lnTo>
                  <a:close/>
                </a:path>
              </a:pathLst>
            </a:custGeom>
            <a:ln w="9524">
              <a:solidFill>
                <a:srgbClr val="000000"/>
              </a:solidFill>
            </a:ln>
          </p:spPr>
          <p:txBody>
            <a:bodyPr wrap="square" lIns="0" tIns="0" rIns="0" bIns="0" rtlCol="0"/>
            <a:lstStyle/>
            <a:p/>
          </p:txBody>
        </p:sp>
      </p:grpSp>
      <p:sp>
        <p:nvSpPr>
          <p:cNvPr id="9" name="object 9"/>
          <p:cNvSpPr txBox="1"/>
          <p:nvPr/>
        </p:nvSpPr>
        <p:spPr>
          <a:xfrm>
            <a:off x="3819525" y="2145919"/>
            <a:ext cx="1751964"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Python</a:t>
            </a:r>
            <a:r>
              <a:rPr sz="1800" spc="-40" dirty="0">
                <a:latin typeface="Calibri" panose="020F0502020204030204"/>
                <a:cs typeface="Calibri" panose="020F0502020204030204"/>
              </a:rPr>
              <a:t> </a:t>
            </a:r>
            <a:r>
              <a:rPr sz="1800" spc="-10" dirty="0">
                <a:latin typeface="Calibri" panose="020F0502020204030204"/>
                <a:cs typeface="Calibri" panose="020F0502020204030204"/>
              </a:rPr>
              <a:t>interpreter</a:t>
            </a:r>
            <a:endParaRPr sz="1800">
              <a:latin typeface="Calibri" panose="020F0502020204030204"/>
              <a:cs typeface="Calibri" panose="020F0502020204030204"/>
            </a:endParaRPr>
          </a:p>
        </p:txBody>
      </p:sp>
      <p:grpSp>
        <p:nvGrpSpPr>
          <p:cNvPr id="10" name="object 10"/>
          <p:cNvGrpSpPr/>
          <p:nvPr/>
        </p:nvGrpSpPr>
        <p:grpSpPr>
          <a:xfrm>
            <a:off x="6322885" y="1670113"/>
            <a:ext cx="1666239" cy="1288415"/>
            <a:chOff x="6322885" y="1670113"/>
            <a:chExt cx="1666239" cy="1288415"/>
          </a:xfrm>
        </p:grpSpPr>
        <p:sp>
          <p:nvSpPr>
            <p:cNvPr id="11" name="object 11"/>
            <p:cNvSpPr/>
            <p:nvPr/>
          </p:nvSpPr>
          <p:spPr>
            <a:xfrm>
              <a:off x="6327647" y="1674876"/>
              <a:ext cx="1656714" cy="1278890"/>
            </a:xfrm>
            <a:custGeom>
              <a:avLst/>
              <a:gdLst/>
              <a:ahLst/>
              <a:cxnLst/>
              <a:rect l="l" t="t" r="r" b="b"/>
              <a:pathLst>
                <a:path w="1656715" h="1278889">
                  <a:moveTo>
                    <a:pt x="1656587" y="0"/>
                  </a:moveTo>
                  <a:lnTo>
                    <a:pt x="331343" y="0"/>
                  </a:lnTo>
                  <a:lnTo>
                    <a:pt x="0" y="255777"/>
                  </a:lnTo>
                  <a:lnTo>
                    <a:pt x="0" y="1278636"/>
                  </a:lnTo>
                  <a:lnTo>
                    <a:pt x="1656587" y="1278636"/>
                  </a:lnTo>
                  <a:lnTo>
                    <a:pt x="1656587" y="0"/>
                  </a:lnTo>
                  <a:close/>
                </a:path>
              </a:pathLst>
            </a:custGeom>
            <a:solidFill>
              <a:srgbClr val="BADFE2"/>
            </a:solidFill>
          </p:spPr>
          <p:txBody>
            <a:bodyPr wrap="square" lIns="0" tIns="0" rIns="0" bIns="0" rtlCol="0"/>
            <a:lstStyle/>
            <a:p/>
          </p:txBody>
        </p:sp>
        <p:sp>
          <p:nvSpPr>
            <p:cNvPr id="12" name="object 12"/>
            <p:cNvSpPr/>
            <p:nvPr/>
          </p:nvSpPr>
          <p:spPr>
            <a:xfrm>
              <a:off x="6327647" y="1674876"/>
              <a:ext cx="1656714" cy="1278890"/>
            </a:xfrm>
            <a:custGeom>
              <a:avLst/>
              <a:gdLst/>
              <a:ahLst/>
              <a:cxnLst/>
              <a:rect l="l" t="t" r="r" b="b"/>
              <a:pathLst>
                <a:path w="1656715" h="1278889">
                  <a:moveTo>
                    <a:pt x="0" y="255777"/>
                  </a:moveTo>
                  <a:lnTo>
                    <a:pt x="331343" y="0"/>
                  </a:lnTo>
                  <a:lnTo>
                    <a:pt x="1656587" y="0"/>
                  </a:lnTo>
                  <a:lnTo>
                    <a:pt x="1656587" y="1278636"/>
                  </a:lnTo>
                  <a:lnTo>
                    <a:pt x="0" y="1278636"/>
                  </a:lnTo>
                  <a:lnTo>
                    <a:pt x="0" y="255777"/>
                  </a:lnTo>
                  <a:close/>
                </a:path>
              </a:pathLst>
            </a:custGeom>
            <a:ln w="9524">
              <a:solidFill>
                <a:srgbClr val="000000"/>
              </a:solidFill>
            </a:ln>
          </p:spPr>
          <p:txBody>
            <a:bodyPr wrap="square" lIns="0" tIns="0" rIns="0" bIns="0" rtlCol="0"/>
            <a:lstStyle/>
            <a:p/>
          </p:txBody>
        </p:sp>
      </p:grpSp>
      <p:sp>
        <p:nvSpPr>
          <p:cNvPr id="13" name="object 13"/>
          <p:cNvSpPr txBox="1"/>
          <p:nvPr/>
        </p:nvSpPr>
        <p:spPr>
          <a:xfrm>
            <a:off x="6407022" y="1947163"/>
            <a:ext cx="1142365" cy="635635"/>
          </a:xfrm>
          <a:prstGeom prst="rect">
            <a:avLst/>
          </a:prstGeom>
        </p:spPr>
        <p:txBody>
          <a:bodyPr vert="horz" wrap="square" lIns="0" tIns="13335" rIns="0" bIns="0" rtlCol="0">
            <a:spAutoFit/>
          </a:bodyPr>
          <a:lstStyle/>
          <a:p>
            <a:pPr marL="12700" marR="5080">
              <a:lnSpc>
                <a:spcPct val="100000"/>
              </a:lnSpc>
              <a:spcBef>
                <a:spcPts val="105"/>
              </a:spcBef>
            </a:pPr>
            <a:r>
              <a:rPr sz="2000" spc="-10" dirty="0">
                <a:latin typeface="Calibri" panose="020F0502020204030204"/>
                <a:cs typeface="Calibri" panose="020F0502020204030204"/>
              </a:rPr>
              <a:t>bytecode </a:t>
            </a:r>
            <a:r>
              <a:rPr sz="2000" spc="-20" dirty="0">
                <a:latin typeface="Calibri" panose="020F0502020204030204"/>
                <a:cs typeface="Calibri" panose="020F0502020204030204"/>
              </a:rPr>
              <a:t>conversion</a:t>
            </a:r>
            <a:endParaRPr sz="2000">
              <a:latin typeface="Calibri" panose="020F0502020204030204"/>
              <a:cs typeface="Calibri" panose="020F0502020204030204"/>
            </a:endParaRPr>
          </a:p>
        </p:txBody>
      </p:sp>
      <p:grpSp>
        <p:nvGrpSpPr>
          <p:cNvPr id="14" name="object 14"/>
          <p:cNvGrpSpPr/>
          <p:nvPr/>
        </p:nvGrpSpPr>
        <p:grpSpPr>
          <a:xfrm>
            <a:off x="8677465" y="1798129"/>
            <a:ext cx="2216785" cy="1024890"/>
            <a:chOff x="8677465" y="1798129"/>
            <a:chExt cx="2216785" cy="1024890"/>
          </a:xfrm>
        </p:grpSpPr>
        <p:sp>
          <p:nvSpPr>
            <p:cNvPr id="15" name="object 15"/>
            <p:cNvSpPr/>
            <p:nvPr/>
          </p:nvSpPr>
          <p:spPr>
            <a:xfrm>
              <a:off x="8682228" y="1802892"/>
              <a:ext cx="2207260" cy="1015365"/>
            </a:xfrm>
            <a:custGeom>
              <a:avLst/>
              <a:gdLst/>
              <a:ahLst/>
              <a:cxnLst/>
              <a:rect l="l" t="t" r="r" b="b"/>
              <a:pathLst>
                <a:path w="2207259" h="1015364">
                  <a:moveTo>
                    <a:pt x="2037588" y="0"/>
                  </a:moveTo>
                  <a:lnTo>
                    <a:pt x="169164" y="0"/>
                  </a:lnTo>
                  <a:lnTo>
                    <a:pt x="124177" y="6039"/>
                  </a:lnTo>
                  <a:lnTo>
                    <a:pt x="83763" y="23085"/>
                  </a:lnTo>
                  <a:lnTo>
                    <a:pt x="49529" y="49530"/>
                  </a:lnTo>
                  <a:lnTo>
                    <a:pt x="23085" y="83763"/>
                  </a:lnTo>
                  <a:lnTo>
                    <a:pt x="6039" y="124177"/>
                  </a:lnTo>
                  <a:lnTo>
                    <a:pt x="0" y="169163"/>
                  </a:lnTo>
                  <a:lnTo>
                    <a:pt x="0" y="845820"/>
                  </a:lnTo>
                  <a:lnTo>
                    <a:pt x="6039" y="890806"/>
                  </a:lnTo>
                  <a:lnTo>
                    <a:pt x="23085" y="931220"/>
                  </a:lnTo>
                  <a:lnTo>
                    <a:pt x="49530" y="965453"/>
                  </a:lnTo>
                  <a:lnTo>
                    <a:pt x="83763" y="991898"/>
                  </a:lnTo>
                  <a:lnTo>
                    <a:pt x="124177" y="1008944"/>
                  </a:lnTo>
                  <a:lnTo>
                    <a:pt x="169164" y="1014984"/>
                  </a:lnTo>
                  <a:lnTo>
                    <a:pt x="2037588" y="1014984"/>
                  </a:lnTo>
                  <a:lnTo>
                    <a:pt x="2082574" y="1008944"/>
                  </a:lnTo>
                  <a:lnTo>
                    <a:pt x="2122988" y="991898"/>
                  </a:lnTo>
                  <a:lnTo>
                    <a:pt x="2157222" y="965453"/>
                  </a:lnTo>
                  <a:lnTo>
                    <a:pt x="2183666" y="931220"/>
                  </a:lnTo>
                  <a:lnTo>
                    <a:pt x="2200712" y="890806"/>
                  </a:lnTo>
                  <a:lnTo>
                    <a:pt x="2206752" y="845820"/>
                  </a:lnTo>
                  <a:lnTo>
                    <a:pt x="2206752" y="169163"/>
                  </a:lnTo>
                  <a:lnTo>
                    <a:pt x="2200712" y="124177"/>
                  </a:lnTo>
                  <a:lnTo>
                    <a:pt x="2183666" y="83763"/>
                  </a:lnTo>
                  <a:lnTo>
                    <a:pt x="2157222" y="49530"/>
                  </a:lnTo>
                  <a:lnTo>
                    <a:pt x="2122988" y="23085"/>
                  </a:lnTo>
                  <a:lnTo>
                    <a:pt x="2082574" y="6039"/>
                  </a:lnTo>
                  <a:lnTo>
                    <a:pt x="2037588" y="0"/>
                  </a:lnTo>
                  <a:close/>
                </a:path>
              </a:pathLst>
            </a:custGeom>
            <a:solidFill>
              <a:srgbClr val="FFF1CC"/>
            </a:solidFill>
          </p:spPr>
          <p:txBody>
            <a:bodyPr wrap="square" lIns="0" tIns="0" rIns="0" bIns="0" rtlCol="0"/>
            <a:lstStyle/>
            <a:p/>
          </p:txBody>
        </p:sp>
        <p:sp>
          <p:nvSpPr>
            <p:cNvPr id="16" name="object 16"/>
            <p:cNvSpPr/>
            <p:nvPr/>
          </p:nvSpPr>
          <p:spPr>
            <a:xfrm>
              <a:off x="8682228" y="1802892"/>
              <a:ext cx="2207260" cy="1015365"/>
            </a:xfrm>
            <a:custGeom>
              <a:avLst/>
              <a:gdLst/>
              <a:ahLst/>
              <a:cxnLst/>
              <a:rect l="l" t="t" r="r" b="b"/>
              <a:pathLst>
                <a:path w="2207259" h="1015364">
                  <a:moveTo>
                    <a:pt x="0" y="169163"/>
                  </a:moveTo>
                  <a:lnTo>
                    <a:pt x="6039" y="124177"/>
                  </a:lnTo>
                  <a:lnTo>
                    <a:pt x="23085" y="83763"/>
                  </a:lnTo>
                  <a:lnTo>
                    <a:pt x="49529" y="49530"/>
                  </a:lnTo>
                  <a:lnTo>
                    <a:pt x="83763" y="23085"/>
                  </a:lnTo>
                  <a:lnTo>
                    <a:pt x="124177" y="6039"/>
                  </a:lnTo>
                  <a:lnTo>
                    <a:pt x="169164" y="0"/>
                  </a:lnTo>
                  <a:lnTo>
                    <a:pt x="2037588" y="0"/>
                  </a:lnTo>
                  <a:lnTo>
                    <a:pt x="2082574" y="6039"/>
                  </a:lnTo>
                  <a:lnTo>
                    <a:pt x="2122988" y="23085"/>
                  </a:lnTo>
                  <a:lnTo>
                    <a:pt x="2157222" y="49530"/>
                  </a:lnTo>
                  <a:lnTo>
                    <a:pt x="2183666" y="83763"/>
                  </a:lnTo>
                  <a:lnTo>
                    <a:pt x="2200712" y="124177"/>
                  </a:lnTo>
                  <a:lnTo>
                    <a:pt x="2206752" y="169163"/>
                  </a:lnTo>
                  <a:lnTo>
                    <a:pt x="2206752" y="845820"/>
                  </a:lnTo>
                  <a:lnTo>
                    <a:pt x="2200712" y="890806"/>
                  </a:lnTo>
                  <a:lnTo>
                    <a:pt x="2183666" y="931220"/>
                  </a:lnTo>
                  <a:lnTo>
                    <a:pt x="2157222" y="965453"/>
                  </a:lnTo>
                  <a:lnTo>
                    <a:pt x="2122988" y="991898"/>
                  </a:lnTo>
                  <a:lnTo>
                    <a:pt x="2082574" y="1008944"/>
                  </a:lnTo>
                  <a:lnTo>
                    <a:pt x="2037588" y="1014984"/>
                  </a:lnTo>
                  <a:lnTo>
                    <a:pt x="169164" y="1014984"/>
                  </a:lnTo>
                  <a:lnTo>
                    <a:pt x="124177" y="1008944"/>
                  </a:lnTo>
                  <a:lnTo>
                    <a:pt x="83763" y="991898"/>
                  </a:lnTo>
                  <a:lnTo>
                    <a:pt x="49530" y="965453"/>
                  </a:lnTo>
                  <a:lnTo>
                    <a:pt x="23085" y="931220"/>
                  </a:lnTo>
                  <a:lnTo>
                    <a:pt x="6039" y="890806"/>
                  </a:lnTo>
                  <a:lnTo>
                    <a:pt x="0" y="845820"/>
                  </a:lnTo>
                  <a:lnTo>
                    <a:pt x="0" y="169163"/>
                  </a:lnTo>
                  <a:close/>
                </a:path>
              </a:pathLst>
            </a:custGeom>
            <a:ln w="9525">
              <a:solidFill>
                <a:srgbClr val="000000"/>
              </a:solidFill>
            </a:ln>
          </p:spPr>
          <p:txBody>
            <a:bodyPr wrap="square" lIns="0" tIns="0" rIns="0" bIns="0" rtlCol="0"/>
            <a:lstStyle/>
            <a:p/>
          </p:txBody>
        </p:sp>
      </p:grpSp>
      <p:sp>
        <p:nvSpPr>
          <p:cNvPr id="17" name="object 17"/>
          <p:cNvSpPr txBox="1"/>
          <p:nvPr/>
        </p:nvSpPr>
        <p:spPr>
          <a:xfrm>
            <a:off x="8880475" y="1870913"/>
            <a:ext cx="1814195" cy="849630"/>
          </a:xfrm>
          <a:prstGeom prst="rect">
            <a:avLst/>
          </a:prstGeom>
        </p:spPr>
        <p:txBody>
          <a:bodyPr vert="horz" wrap="square" lIns="0" tIns="12700" rIns="0" bIns="0" rtlCol="0">
            <a:spAutoFit/>
          </a:bodyPr>
          <a:lstStyle/>
          <a:p>
            <a:pPr marL="12700" marR="5080" algn="ctr">
              <a:lnSpc>
                <a:spcPct val="100000"/>
              </a:lnSpc>
              <a:spcBef>
                <a:spcPts val="100"/>
              </a:spcBef>
            </a:pPr>
            <a:r>
              <a:rPr sz="1800" dirty="0">
                <a:latin typeface="Calibri" panose="020F0502020204030204"/>
                <a:cs typeface="Calibri" panose="020F0502020204030204"/>
              </a:rPr>
              <a:t>Python</a:t>
            </a:r>
            <a:r>
              <a:rPr sz="1800" spc="-40" dirty="0">
                <a:latin typeface="Calibri" panose="020F0502020204030204"/>
                <a:cs typeface="Calibri" panose="020F0502020204030204"/>
              </a:rPr>
              <a:t> </a:t>
            </a:r>
            <a:r>
              <a:rPr sz="1800" spc="-10" dirty="0">
                <a:latin typeface="Calibri" panose="020F0502020204030204"/>
                <a:cs typeface="Calibri" panose="020F0502020204030204"/>
              </a:rPr>
              <a:t>interpreter: </a:t>
            </a:r>
            <a:r>
              <a:rPr sz="1800" dirty="0">
                <a:latin typeface="Calibri" panose="020F0502020204030204"/>
                <a:cs typeface="Calibri" panose="020F0502020204030204"/>
              </a:rPr>
              <a:t>follows</a:t>
            </a:r>
            <a:r>
              <a:rPr sz="1800" spc="-95" dirty="0">
                <a:latin typeface="Calibri" panose="020F0502020204030204"/>
                <a:cs typeface="Calibri" panose="020F0502020204030204"/>
              </a:rPr>
              <a:t> </a:t>
            </a:r>
            <a:r>
              <a:rPr sz="1800" spc="-10" dirty="0">
                <a:latin typeface="Calibri" panose="020F0502020204030204"/>
                <a:cs typeface="Calibri" panose="020F0502020204030204"/>
              </a:rPr>
              <a:t>bytecode instructions</a:t>
            </a:r>
            <a:endParaRPr sz="1800">
              <a:latin typeface="Calibri" panose="020F0502020204030204"/>
              <a:cs typeface="Calibri" panose="020F0502020204030204"/>
            </a:endParaRPr>
          </a:p>
        </p:txBody>
      </p:sp>
      <p:grpSp>
        <p:nvGrpSpPr>
          <p:cNvPr id="18" name="object 18"/>
          <p:cNvGrpSpPr/>
          <p:nvPr/>
        </p:nvGrpSpPr>
        <p:grpSpPr>
          <a:xfrm>
            <a:off x="3884485" y="3209353"/>
            <a:ext cx="3707129" cy="466725"/>
            <a:chOff x="3884485" y="3209353"/>
            <a:chExt cx="3707129" cy="466725"/>
          </a:xfrm>
        </p:grpSpPr>
        <p:pic>
          <p:nvPicPr>
            <p:cNvPr id="19" name="object 19"/>
            <p:cNvPicPr/>
            <p:nvPr/>
          </p:nvPicPr>
          <p:blipFill>
            <a:blip r:embed="rId1" cstate="print"/>
            <a:stretch>
              <a:fillRect/>
            </a:stretch>
          </p:blipFill>
          <p:spPr>
            <a:xfrm>
              <a:off x="3889247" y="3214116"/>
              <a:ext cx="3697224" cy="457200"/>
            </a:xfrm>
            <a:prstGeom prst="rect">
              <a:avLst/>
            </a:prstGeom>
          </p:spPr>
        </p:pic>
        <p:sp>
          <p:nvSpPr>
            <p:cNvPr id="20" name="object 20"/>
            <p:cNvSpPr/>
            <p:nvPr/>
          </p:nvSpPr>
          <p:spPr>
            <a:xfrm>
              <a:off x="3889247" y="3214116"/>
              <a:ext cx="3697604" cy="457200"/>
            </a:xfrm>
            <a:custGeom>
              <a:avLst/>
              <a:gdLst/>
              <a:ahLst/>
              <a:cxnLst/>
              <a:rect l="l" t="t" r="r" b="b"/>
              <a:pathLst>
                <a:path w="3697604" h="457200">
                  <a:moveTo>
                    <a:pt x="0" y="76200"/>
                  </a:moveTo>
                  <a:lnTo>
                    <a:pt x="5994" y="46559"/>
                  </a:lnTo>
                  <a:lnTo>
                    <a:pt x="22336" y="22336"/>
                  </a:lnTo>
                  <a:lnTo>
                    <a:pt x="46559" y="5994"/>
                  </a:lnTo>
                  <a:lnTo>
                    <a:pt x="76200" y="0"/>
                  </a:lnTo>
                  <a:lnTo>
                    <a:pt x="3621024" y="0"/>
                  </a:lnTo>
                  <a:lnTo>
                    <a:pt x="3650664" y="5994"/>
                  </a:lnTo>
                  <a:lnTo>
                    <a:pt x="3674887" y="22336"/>
                  </a:lnTo>
                  <a:lnTo>
                    <a:pt x="3691229" y="46559"/>
                  </a:lnTo>
                  <a:lnTo>
                    <a:pt x="3697224" y="76200"/>
                  </a:lnTo>
                  <a:lnTo>
                    <a:pt x="3697224" y="381000"/>
                  </a:lnTo>
                  <a:lnTo>
                    <a:pt x="3691229" y="410640"/>
                  </a:lnTo>
                  <a:lnTo>
                    <a:pt x="3674887" y="434863"/>
                  </a:lnTo>
                  <a:lnTo>
                    <a:pt x="3650664" y="451205"/>
                  </a:lnTo>
                  <a:lnTo>
                    <a:pt x="3621024" y="457200"/>
                  </a:lnTo>
                  <a:lnTo>
                    <a:pt x="76200" y="457200"/>
                  </a:lnTo>
                  <a:lnTo>
                    <a:pt x="46559" y="451205"/>
                  </a:lnTo>
                  <a:lnTo>
                    <a:pt x="22336" y="434863"/>
                  </a:lnTo>
                  <a:lnTo>
                    <a:pt x="5994" y="410640"/>
                  </a:lnTo>
                  <a:lnTo>
                    <a:pt x="0" y="381000"/>
                  </a:lnTo>
                  <a:lnTo>
                    <a:pt x="0" y="76200"/>
                  </a:lnTo>
                  <a:close/>
                </a:path>
              </a:pathLst>
            </a:custGeom>
            <a:ln w="9525">
              <a:solidFill>
                <a:srgbClr val="000000"/>
              </a:solidFill>
            </a:ln>
          </p:spPr>
          <p:txBody>
            <a:bodyPr wrap="square" lIns="0" tIns="0" rIns="0" bIns="0" rtlCol="0"/>
            <a:lstStyle/>
            <a:p/>
          </p:txBody>
        </p:sp>
      </p:grpSp>
      <p:sp>
        <p:nvSpPr>
          <p:cNvPr id="21" name="object 21"/>
          <p:cNvSpPr txBox="1"/>
          <p:nvPr/>
        </p:nvSpPr>
        <p:spPr>
          <a:xfrm>
            <a:off x="891641" y="3277870"/>
            <a:ext cx="10359390" cy="2713355"/>
          </a:xfrm>
          <a:prstGeom prst="rect">
            <a:avLst/>
          </a:prstGeom>
        </p:spPr>
        <p:txBody>
          <a:bodyPr vert="horz" wrap="square" lIns="0" tIns="12700" rIns="0" bIns="0" rtlCol="0">
            <a:spAutoFit/>
          </a:bodyPr>
          <a:lstStyle/>
          <a:p>
            <a:pPr marR="657860" algn="ctr">
              <a:lnSpc>
                <a:spcPct val="100000"/>
              </a:lnSpc>
              <a:spcBef>
                <a:spcPts val="100"/>
              </a:spcBef>
            </a:pPr>
            <a:r>
              <a:rPr sz="1800" dirty="0">
                <a:latin typeface="Calibri" panose="020F0502020204030204"/>
                <a:cs typeface="Calibri" panose="020F0502020204030204"/>
              </a:rPr>
              <a:t>python</a:t>
            </a:r>
            <a:r>
              <a:rPr sz="1800" spc="-50" dirty="0">
                <a:latin typeface="Calibri" panose="020F0502020204030204"/>
                <a:cs typeface="Calibri" panose="020F0502020204030204"/>
              </a:rPr>
              <a:t> </a:t>
            </a:r>
            <a:r>
              <a:rPr sz="1800" spc="-10" dirty="0">
                <a:latin typeface="Calibri" panose="020F0502020204030204"/>
                <a:cs typeface="Calibri" panose="020F0502020204030204"/>
              </a:rPr>
              <a:t>prog.py</a:t>
            </a:r>
            <a:endParaRPr sz="1800">
              <a:latin typeface="Calibri" panose="020F0502020204030204"/>
              <a:cs typeface="Calibri" panose="020F0502020204030204"/>
            </a:endParaRPr>
          </a:p>
          <a:p>
            <a:pPr>
              <a:lnSpc>
                <a:spcPct val="100000"/>
              </a:lnSpc>
              <a:spcBef>
                <a:spcPts val="960"/>
              </a:spcBef>
            </a:pPr>
            <a:endParaRPr sz="1800">
              <a:latin typeface="Calibri" panose="020F0502020204030204"/>
              <a:cs typeface="Calibri" panose="020F0502020204030204"/>
            </a:endParaRPr>
          </a:p>
          <a:p>
            <a:pPr marL="354965" indent="-342265">
              <a:lnSpc>
                <a:spcPct val="100000"/>
              </a:lnSpc>
              <a:buClr>
                <a:srgbClr val="2575B4"/>
              </a:buClr>
              <a:buFont typeface="Wingdings" panose="05000000000000000000"/>
              <a:buChar char=""/>
              <a:tabLst>
                <a:tab pos="354965" algn="l"/>
              </a:tabLst>
            </a:pPr>
            <a:r>
              <a:rPr sz="2000" dirty="0">
                <a:latin typeface="Arial MT"/>
                <a:cs typeface="Arial MT"/>
              </a:rPr>
              <a:t>A</a:t>
            </a:r>
            <a:r>
              <a:rPr sz="2000" spc="-20" dirty="0">
                <a:latin typeface="Arial MT"/>
                <a:cs typeface="Arial MT"/>
              </a:rPr>
              <a:t> </a:t>
            </a:r>
            <a:r>
              <a:rPr sz="2000" dirty="0">
                <a:latin typeface="Arial MT"/>
                <a:cs typeface="Arial MT"/>
              </a:rPr>
              <a:t>lot</a:t>
            </a:r>
            <a:r>
              <a:rPr sz="2000" spc="-20" dirty="0">
                <a:latin typeface="Arial MT"/>
                <a:cs typeface="Arial MT"/>
              </a:rPr>
              <a:t> </a:t>
            </a:r>
            <a:r>
              <a:rPr sz="2000" dirty="0">
                <a:latin typeface="Arial MT"/>
                <a:cs typeface="Arial MT"/>
              </a:rPr>
              <a:t>less</a:t>
            </a:r>
            <a:r>
              <a:rPr sz="2000" spc="-25" dirty="0">
                <a:latin typeface="Arial MT"/>
                <a:cs typeface="Arial MT"/>
              </a:rPr>
              <a:t> </a:t>
            </a:r>
            <a:r>
              <a:rPr sz="2000" dirty="0">
                <a:latin typeface="Arial MT"/>
                <a:cs typeface="Arial MT"/>
              </a:rPr>
              <a:t>work</a:t>
            </a:r>
            <a:r>
              <a:rPr sz="2000" spc="-35" dirty="0">
                <a:latin typeface="Arial MT"/>
                <a:cs typeface="Arial MT"/>
              </a:rPr>
              <a:t> </a:t>
            </a:r>
            <a:r>
              <a:rPr sz="2000" dirty="0">
                <a:latin typeface="Arial MT"/>
                <a:cs typeface="Arial MT"/>
              </a:rPr>
              <a:t>is</a:t>
            </a:r>
            <a:r>
              <a:rPr sz="2000" spc="-25" dirty="0">
                <a:latin typeface="Arial MT"/>
                <a:cs typeface="Arial MT"/>
              </a:rPr>
              <a:t> </a:t>
            </a:r>
            <a:r>
              <a:rPr sz="2000" dirty="0">
                <a:latin typeface="Arial MT"/>
                <a:cs typeface="Arial MT"/>
              </a:rPr>
              <a:t>done</a:t>
            </a:r>
            <a:r>
              <a:rPr sz="2000" spc="-25" dirty="0">
                <a:latin typeface="Arial MT"/>
                <a:cs typeface="Arial MT"/>
              </a:rPr>
              <a:t> </a:t>
            </a:r>
            <a:r>
              <a:rPr sz="2000" dirty="0">
                <a:latin typeface="Arial MT"/>
                <a:cs typeface="Arial MT"/>
              </a:rPr>
              <a:t>to</a:t>
            </a:r>
            <a:r>
              <a:rPr sz="2000" spc="-20" dirty="0">
                <a:latin typeface="Arial MT"/>
                <a:cs typeface="Arial MT"/>
              </a:rPr>
              <a:t> </a:t>
            </a:r>
            <a:r>
              <a:rPr sz="2000" dirty="0">
                <a:latin typeface="Arial MT"/>
                <a:cs typeface="Arial MT"/>
              </a:rPr>
              <a:t>get</a:t>
            </a:r>
            <a:r>
              <a:rPr sz="2000" spc="-25" dirty="0">
                <a:latin typeface="Arial MT"/>
                <a:cs typeface="Arial MT"/>
              </a:rPr>
              <a:t> </a:t>
            </a:r>
            <a:r>
              <a:rPr sz="2000" dirty="0">
                <a:latin typeface="Arial MT"/>
                <a:cs typeface="Arial MT"/>
              </a:rPr>
              <a:t>a</a:t>
            </a:r>
            <a:r>
              <a:rPr sz="2000" spc="-25" dirty="0">
                <a:latin typeface="Arial MT"/>
                <a:cs typeface="Arial MT"/>
              </a:rPr>
              <a:t> </a:t>
            </a:r>
            <a:r>
              <a:rPr sz="2000" dirty="0">
                <a:latin typeface="Arial MT"/>
                <a:cs typeface="Arial MT"/>
              </a:rPr>
              <a:t>program</a:t>
            </a:r>
            <a:r>
              <a:rPr sz="2000" spc="-50" dirty="0">
                <a:latin typeface="Arial MT"/>
                <a:cs typeface="Arial MT"/>
              </a:rPr>
              <a:t> </a:t>
            </a:r>
            <a:r>
              <a:rPr sz="2000" dirty="0">
                <a:latin typeface="Arial MT"/>
                <a:cs typeface="Arial MT"/>
              </a:rPr>
              <a:t>to</a:t>
            </a:r>
            <a:r>
              <a:rPr sz="2000" spc="-30" dirty="0">
                <a:latin typeface="Arial MT"/>
                <a:cs typeface="Arial MT"/>
              </a:rPr>
              <a:t> </a:t>
            </a:r>
            <a:r>
              <a:rPr sz="2000" dirty="0">
                <a:latin typeface="Arial MT"/>
                <a:cs typeface="Arial MT"/>
              </a:rPr>
              <a:t>start</a:t>
            </a:r>
            <a:r>
              <a:rPr sz="2000" spc="-45" dirty="0">
                <a:latin typeface="Arial MT"/>
                <a:cs typeface="Arial MT"/>
              </a:rPr>
              <a:t> </a:t>
            </a:r>
            <a:r>
              <a:rPr sz="2000" dirty="0">
                <a:latin typeface="Arial MT"/>
                <a:cs typeface="Arial MT"/>
              </a:rPr>
              <a:t>running</a:t>
            </a:r>
            <a:r>
              <a:rPr sz="2000" spc="-35" dirty="0">
                <a:latin typeface="Arial MT"/>
                <a:cs typeface="Arial MT"/>
              </a:rPr>
              <a:t> </a:t>
            </a:r>
            <a:r>
              <a:rPr sz="2000" dirty="0">
                <a:latin typeface="Arial MT"/>
                <a:cs typeface="Arial MT"/>
              </a:rPr>
              <a:t>compared</a:t>
            </a:r>
            <a:r>
              <a:rPr sz="2000" spc="-55" dirty="0">
                <a:latin typeface="Arial MT"/>
                <a:cs typeface="Arial MT"/>
              </a:rPr>
              <a:t> </a:t>
            </a:r>
            <a:r>
              <a:rPr sz="2000" dirty="0">
                <a:latin typeface="Arial MT"/>
                <a:cs typeface="Arial MT"/>
              </a:rPr>
              <a:t>with</a:t>
            </a:r>
            <a:r>
              <a:rPr sz="2000" spc="-10" dirty="0">
                <a:latin typeface="Arial MT"/>
                <a:cs typeface="Arial MT"/>
              </a:rPr>
              <a:t> compiled</a:t>
            </a:r>
            <a:endParaRPr sz="2000">
              <a:latin typeface="Arial MT"/>
              <a:cs typeface="Arial MT"/>
            </a:endParaRPr>
          </a:p>
          <a:p>
            <a:pPr marL="355600">
              <a:lnSpc>
                <a:spcPct val="100000"/>
              </a:lnSpc>
            </a:pPr>
            <a:r>
              <a:rPr sz="2000" spc="-10" dirty="0">
                <a:latin typeface="Arial MT"/>
                <a:cs typeface="Arial MT"/>
              </a:rPr>
              <a:t>languages!</a:t>
            </a:r>
            <a:endParaRPr sz="2000">
              <a:latin typeface="Arial MT"/>
              <a:cs typeface="Arial MT"/>
            </a:endParaRPr>
          </a:p>
          <a:p>
            <a:pPr marL="354965" indent="-342265">
              <a:lnSpc>
                <a:spcPct val="100000"/>
              </a:lnSpc>
              <a:spcBef>
                <a:spcPts val="485"/>
              </a:spcBef>
              <a:buClr>
                <a:srgbClr val="2575B4"/>
              </a:buClr>
              <a:buFont typeface="Wingdings" panose="05000000000000000000"/>
              <a:buChar char=""/>
              <a:tabLst>
                <a:tab pos="354965" algn="l"/>
              </a:tabLst>
            </a:pPr>
            <a:r>
              <a:rPr sz="2000" dirty="0">
                <a:latin typeface="Arial MT"/>
                <a:cs typeface="Arial MT"/>
              </a:rPr>
              <a:t>Python</a:t>
            </a:r>
            <a:r>
              <a:rPr sz="2000" spc="-10" dirty="0">
                <a:latin typeface="Arial MT"/>
                <a:cs typeface="Arial MT"/>
              </a:rPr>
              <a:t> </a:t>
            </a:r>
            <a:r>
              <a:rPr sz="2000" dirty="0">
                <a:latin typeface="Arial MT"/>
                <a:cs typeface="Arial MT"/>
              </a:rPr>
              <a:t>programs</a:t>
            </a:r>
            <a:r>
              <a:rPr sz="2000" spc="-45" dirty="0">
                <a:latin typeface="Arial MT"/>
                <a:cs typeface="Arial MT"/>
              </a:rPr>
              <a:t> </a:t>
            </a:r>
            <a:r>
              <a:rPr sz="2000" dirty="0">
                <a:latin typeface="Arial MT"/>
                <a:cs typeface="Arial MT"/>
              </a:rPr>
              <a:t>start</a:t>
            </a:r>
            <a:r>
              <a:rPr sz="2000" spc="-50" dirty="0">
                <a:latin typeface="Arial MT"/>
                <a:cs typeface="Arial MT"/>
              </a:rPr>
              <a:t> </a:t>
            </a:r>
            <a:r>
              <a:rPr sz="2000" dirty="0">
                <a:latin typeface="Arial MT"/>
                <a:cs typeface="Arial MT"/>
              </a:rPr>
              <a:t>running</a:t>
            </a:r>
            <a:r>
              <a:rPr sz="2000" spc="-35" dirty="0">
                <a:latin typeface="Arial MT"/>
                <a:cs typeface="Arial MT"/>
              </a:rPr>
              <a:t> </a:t>
            </a:r>
            <a:r>
              <a:rPr sz="2000" dirty="0">
                <a:latin typeface="Arial MT"/>
                <a:cs typeface="Arial MT"/>
              </a:rPr>
              <a:t>immediately</a:t>
            </a:r>
            <a:r>
              <a:rPr sz="2000" spc="-15" dirty="0">
                <a:latin typeface="Arial MT"/>
                <a:cs typeface="Arial MT"/>
              </a:rPr>
              <a:t> </a:t>
            </a:r>
            <a:r>
              <a:rPr sz="2000" dirty="0">
                <a:latin typeface="Arial MT"/>
                <a:cs typeface="Arial MT"/>
              </a:rPr>
              <a:t>–</a:t>
            </a:r>
            <a:r>
              <a:rPr sz="2000" spc="-20" dirty="0">
                <a:latin typeface="Arial MT"/>
                <a:cs typeface="Arial MT"/>
              </a:rPr>
              <a:t> </a:t>
            </a:r>
            <a:r>
              <a:rPr sz="2000" dirty="0">
                <a:latin typeface="Arial MT"/>
                <a:cs typeface="Arial MT"/>
              </a:rPr>
              <a:t>no</a:t>
            </a:r>
            <a:r>
              <a:rPr sz="2000" spc="-10" dirty="0">
                <a:latin typeface="Arial MT"/>
                <a:cs typeface="Arial MT"/>
              </a:rPr>
              <a:t> </a:t>
            </a:r>
            <a:r>
              <a:rPr sz="2000" dirty="0">
                <a:latin typeface="Arial MT"/>
                <a:cs typeface="Arial MT"/>
              </a:rPr>
              <a:t>waiting</a:t>
            </a:r>
            <a:r>
              <a:rPr sz="2000" spc="-25" dirty="0">
                <a:latin typeface="Arial MT"/>
                <a:cs typeface="Arial MT"/>
              </a:rPr>
              <a:t> </a:t>
            </a:r>
            <a:r>
              <a:rPr sz="2000" dirty="0">
                <a:latin typeface="Arial MT"/>
                <a:cs typeface="Arial MT"/>
              </a:rPr>
              <a:t>for</a:t>
            </a:r>
            <a:r>
              <a:rPr sz="2000" spc="-20" dirty="0">
                <a:latin typeface="Arial MT"/>
                <a:cs typeface="Arial MT"/>
              </a:rPr>
              <a:t> </a:t>
            </a:r>
            <a:r>
              <a:rPr sz="2000" dirty="0">
                <a:latin typeface="Arial MT"/>
                <a:cs typeface="Arial MT"/>
              </a:rPr>
              <a:t>the</a:t>
            </a:r>
            <a:r>
              <a:rPr sz="2000" spc="-30" dirty="0">
                <a:latin typeface="Arial MT"/>
                <a:cs typeface="Arial MT"/>
              </a:rPr>
              <a:t> </a:t>
            </a:r>
            <a:r>
              <a:rPr sz="2000" dirty="0">
                <a:latin typeface="Arial MT"/>
                <a:cs typeface="Arial MT"/>
              </a:rPr>
              <a:t>compiler</a:t>
            </a:r>
            <a:r>
              <a:rPr sz="2000" spc="-35" dirty="0">
                <a:latin typeface="Arial MT"/>
                <a:cs typeface="Arial MT"/>
              </a:rPr>
              <a:t> </a:t>
            </a:r>
            <a:r>
              <a:rPr sz="2000" dirty="0">
                <a:latin typeface="Arial MT"/>
                <a:cs typeface="Arial MT"/>
              </a:rPr>
              <a:t>to</a:t>
            </a:r>
            <a:r>
              <a:rPr sz="2000" spc="-25" dirty="0">
                <a:latin typeface="Arial MT"/>
                <a:cs typeface="Arial MT"/>
              </a:rPr>
              <a:t> </a:t>
            </a:r>
            <a:r>
              <a:rPr sz="2000" spc="-10" dirty="0">
                <a:latin typeface="Arial MT"/>
                <a:cs typeface="Arial MT"/>
              </a:rPr>
              <a:t>finish.</a:t>
            </a:r>
            <a:endParaRPr sz="2000">
              <a:latin typeface="Arial MT"/>
              <a:cs typeface="Arial MT"/>
            </a:endParaRPr>
          </a:p>
          <a:p>
            <a:pPr marL="355600" marR="5080" indent="-342900">
              <a:lnSpc>
                <a:spcPct val="100000"/>
              </a:lnSpc>
              <a:spcBef>
                <a:spcPts val="480"/>
              </a:spcBef>
              <a:buClr>
                <a:srgbClr val="2575B4"/>
              </a:buClr>
              <a:buFont typeface="Wingdings" panose="05000000000000000000"/>
              <a:buChar char=""/>
              <a:tabLst>
                <a:tab pos="355600" algn="l"/>
              </a:tabLst>
            </a:pPr>
            <a:r>
              <a:rPr sz="2000" dirty="0">
                <a:latin typeface="Arial MT"/>
                <a:cs typeface="Arial MT"/>
              </a:rPr>
              <a:t>Bytecodes</a:t>
            </a:r>
            <a:r>
              <a:rPr sz="2000" spc="-40" dirty="0">
                <a:latin typeface="Arial MT"/>
                <a:cs typeface="Arial MT"/>
              </a:rPr>
              <a:t> </a:t>
            </a:r>
            <a:r>
              <a:rPr sz="2000" dirty="0">
                <a:latin typeface="Arial MT"/>
                <a:cs typeface="Arial MT"/>
              </a:rPr>
              <a:t>are</a:t>
            </a:r>
            <a:r>
              <a:rPr sz="2000" spc="-45" dirty="0">
                <a:latin typeface="Arial MT"/>
                <a:cs typeface="Arial MT"/>
              </a:rPr>
              <a:t> </a:t>
            </a:r>
            <a:r>
              <a:rPr sz="2000" dirty="0">
                <a:latin typeface="Arial MT"/>
                <a:cs typeface="Arial MT"/>
              </a:rPr>
              <a:t>an</a:t>
            </a:r>
            <a:r>
              <a:rPr sz="2000" spc="-15" dirty="0">
                <a:latin typeface="Arial MT"/>
                <a:cs typeface="Arial MT"/>
              </a:rPr>
              <a:t> </a:t>
            </a:r>
            <a:r>
              <a:rPr sz="2000" dirty="0">
                <a:latin typeface="Arial MT"/>
                <a:cs typeface="Arial MT"/>
              </a:rPr>
              <a:t>internal</a:t>
            </a:r>
            <a:r>
              <a:rPr sz="2000" spc="-40" dirty="0">
                <a:latin typeface="Arial MT"/>
                <a:cs typeface="Arial MT"/>
              </a:rPr>
              <a:t> </a:t>
            </a:r>
            <a:r>
              <a:rPr sz="2000" dirty="0">
                <a:latin typeface="Arial MT"/>
                <a:cs typeface="Arial MT"/>
              </a:rPr>
              <a:t>representation</a:t>
            </a:r>
            <a:r>
              <a:rPr sz="2000" spc="-60" dirty="0">
                <a:latin typeface="Arial MT"/>
                <a:cs typeface="Arial MT"/>
              </a:rPr>
              <a:t> </a:t>
            </a:r>
            <a:r>
              <a:rPr sz="2000" dirty="0">
                <a:latin typeface="Arial MT"/>
                <a:cs typeface="Arial MT"/>
              </a:rPr>
              <a:t>of</a:t>
            </a:r>
            <a:r>
              <a:rPr sz="2000" spc="-35" dirty="0">
                <a:latin typeface="Arial MT"/>
                <a:cs typeface="Arial MT"/>
              </a:rPr>
              <a:t> </a:t>
            </a:r>
            <a:r>
              <a:rPr sz="2000" dirty="0">
                <a:latin typeface="Arial MT"/>
                <a:cs typeface="Arial MT"/>
              </a:rPr>
              <a:t>the</a:t>
            </a:r>
            <a:r>
              <a:rPr sz="2000" spc="-35" dirty="0">
                <a:latin typeface="Arial MT"/>
                <a:cs typeface="Arial MT"/>
              </a:rPr>
              <a:t> </a:t>
            </a:r>
            <a:r>
              <a:rPr sz="2000" dirty="0">
                <a:latin typeface="Arial MT"/>
                <a:cs typeface="Arial MT"/>
              </a:rPr>
              <a:t>text</a:t>
            </a:r>
            <a:r>
              <a:rPr sz="2000" spc="-25" dirty="0">
                <a:latin typeface="Arial MT"/>
                <a:cs typeface="Arial MT"/>
              </a:rPr>
              <a:t> </a:t>
            </a:r>
            <a:r>
              <a:rPr sz="2000" dirty="0">
                <a:latin typeface="Arial MT"/>
                <a:cs typeface="Arial MT"/>
              </a:rPr>
              <a:t>program</a:t>
            </a:r>
            <a:r>
              <a:rPr sz="2000" spc="-70" dirty="0">
                <a:latin typeface="Arial MT"/>
                <a:cs typeface="Arial MT"/>
              </a:rPr>
              <a:t> </a:t>
            </a:r>
            <a:r>
              <a:rPr sz="2000" dirty="0">
                <a:latin typeface="Arial MT"/>
                <a:cs typeface="Arial MT"/>
              </a:rPr>
              <a:t>that</a:t>
            </a:r>
            <a:r>
              <a:rPr sz="2000" spc="-40" dirty="0">
                <a:latin typeface="Arial MT"/>
                <a:cs typeface="Arial MT"/>
              </a:rPr>
              <a:t> </a:t>
            </a:r>
            <a:r>
              <a:rPr sz="2000" dirty="0">
                <a:latin typeface="Arial MT"/>
                <a:cs typeface="Arial MT"/>
              </a:rPr>
              <a:t>can</a:t>
            </a:r>
            <a:r>
              <a:rPr sz="2000" spc="-30" dirty="0">
                <a:latin typeface="Arial MT"/>
                <a:cs typeface="Arial MT"/>
              </a:rPr>
              <a:t> </a:t>
            </a:r>
            <a:r>
              <a:rPr sz="2000" dirty="0">
                <a:latin typeface="Arial MT"/>
                <a:cs typeface="Arial MT"/>
              </a:rPr>
              <a:t>be</a:t>
            </a:r>
            <a:r>
              <a:rPr sz="2000" spc="-30" dirty="0">
                <a:latin typeface="Arial MT"/>
                <a:cs typeface="Arial MT"/>
              </a:rPr>
              <a:t> </a:t>
            </a:r>
            <a:r>
              <a:rPr sz="2000" dirty="0">
                <a:latin typeface="Arial MT"/>
                <a:cs typeface="Arial MT"/>
              </a:rPr>
              <a:t>efficiently</a:t>
            </a:r>
            <a:r>
              <a:rPr sz="2000" spc="-30" dirty="0">
                <a:latin typeface="Arial MT"/>
                <a:cs typeface="Arial MT"/>
              </a:rPr>
              <a:t> </a:t>
            </a:r>
            <a:r>
              <a:rPr sz="2000" dirty="0">
                <a:latin typeface="Arial MT"/>
                <a:cs typeface="Arial MT"/>
              </a:rPr>
              <a:t>run</a:t>
            </a:r>
            <a:r>
              <a:rPr sz="2000" spc="-40" dirty="0">
                <a:latin typeface="Arial MT"/>
                <a:cs typeface="Arial MT"/>
              </a:rPr>
              <a:t> </a:t>
            </a:r>
            <a:r>
              <a:rPr sz="2000" spc="-25" dirty="0">
                <a:latin typeface="Arial MT"/>
                <a:cs typeface="Arial MT"/>
              </a:rPr>
              <a:t>by </a:t>
            </a:r>
            <a:r>
              <a:rPr sz="2000" dirty="0">
                <a:latin typeface="Arial MT"/>
                <a:cs typeface="Arial MT"/>
              </a:rPr>
              <a:t>the</a:t>
            </a:r>
            <a:r>
              <a:rPr sz="2000" spc="-40" dirty="0">
                <a:latin typeface="Arial MT"/>
                <a:cs typeface="Arial MT"/>
              </a:rPr>
              <a:t> </a:t>
            </a:r>
            <a:r>
              <a:rPr sz="2000" dirty="0">
                <a:latin typeface="Arial MT"/>
                <a:cs typeface="Arial MT"/>
              </a:rPr>
              <a:t>Python</a:t>
            </a:r>
            <a:r>
              <a:rPr sz="2000" spc="-15" dirty="0">
                <a:latin typeface="Arial MT"/>
                <a:cs typeface="Arial MT"/>
              </a:rPr>
              <a:t> </a:t>
            </a:r>
            <a:r>
              <a:rPr sz="2000" spc="-10" dirty="0">
                <a:latin typeface="Arial MT"/>
                <a:cs typeface="Arial MT"/>
              </a:rPr>
              <a:t>interpreter.</a:t>
            </a:r>
            <a:endParaRPr sz="2000">
              <a:latin typeface="Arial MT"/>
              <a:cs typeface="Arial MT"/>
            </a:endParaRPr>
          </a:p>
          <a:p>
            <a:pPr marL="354965" indent="-342265">
              <a:lnSpc>
                <a:spcPct val="100000"/>
              </a:lnSpc>
              <a:spcBef>
                <a:spcPts val="480"/>
              </a:spcBef>
              <a:buClr>
                <a:srgbClr val="2575B4"/>
              </a:buClr>
              <a:buFont typeface="Wingdings" panose="05000000000000000000"/>
              <a:buChar char=""/>
              <a:tabLst>
                <a:tab pos="354965" algn="l"/>
              </a:tabLst>
            </a:pPr>
            <a:r>
              <a:rPr sz="2000" dirty="0">
                <a:latin typeface="Arial MT"/>
                <a:cs typeface="Arial MT"/>
              </a:rPr>
              <a:t>The</a:t>
            </a:r>
            <a:r>
              <a:rPr sz="2000" spc="-35" dirty="0">
                <a:latin typeface="Arial MT"/>
                <a:cs typeface="Arial MT"/>
              </a:rPr>
              <a:t> </a:t>
            </a:r>
            <a:r>
              <a:rPr sz="2000" dirty="0">
                <a:latin typeface="Arial MT"/>
                <a:cs typeface="Arial MT"/>
              </a:rPr>
              <a:t>interpreter</a:t>
            </a:r>
            <a:r>
              <a:rPr sz="2000" spc="-55" dirty="0">
                <a:latin typeface="Arial MT"/>
                <a:cs typeface="Arial MT"/>
              </a:rPr>
              <a:t> </a:t>
            </a:r>
            <a:r>
              <a:rPr sz="2000" dirty="0">
                <a:latin typeface="Arial MT"/>
                <a:cs typeface="Arial MT"/>
              </a:rPr>
              <a:t>itself</a:t>
            </a:r>
            <a:r>
              <a:rPr sz="2000" spc="-30" dirty="0">
                <a:latin typeface="Arial MT"/>
                <a:cs typeface="Arial MT"/>
              </a:rPr>
              <a:t> </a:t>
            </a:r>
            <a:r>
              <a:rPr sz="2000" dirty="0">
                <a:latin typeface="Arial MT"/>
                <a:cs typeface="Arial MT"/>
              </a:rPr>
              <a:t>is</a:t>
            </a:r>
            <a:r>
              <a:rPr sz="2000" spc="-15" dirty="0">
                <a:latin typeface="Arial MT"/>
                <a:cs typeface="Arial MT"/>
              </a:rPr>
              <a:t> </a:t>
            </a:r>
            <a:r>
              <a:rPr sz="2000" dirty="0">
                <a:latin typeface="Arial MT"/>
                <a:cs typeface="Arial MT"/>
              </a:rPr>
              <a:t>written</a:t>
            </a:r>
            <a:r>
              <a:rPr sz="2000" spc="-45" dirty="0">
                <a:latin typeface="Arial MT"/>
                <a:cs typeface="Arial MT"/>
              </a:rPr>
              <a:t> </a:t>
            </a:r>
            <a:r>
              <a:rPr sz="2000" dirty="0">
                <a:latin typeface="Arial MT"/>
                <a:cs typeface="Arial MT"/>
              </a:rPr>
              <a:t>in</a:t>
            </a:r>
            <a:r>
              <a:rPr sz="2000" spc="-20" dirty="0">
                <a:latin typeface="Arial MT"/>
                <a:cs typeface="Arial MT"/>
              </a:rPr>
              <a:t> </a:t>
            </a:r>
            <a:r>
              <a:rPr sz="2000" dirty="0">
                <a:latin typeface="Arial MT"/>
                <a:cs typeface="Arial MT"/>
              </a:rPr>
              <a:t>C</a:t>
            </a:r>
            <a:r>
              <a:rPr sz="2000" spc="-10" dirty="0">
                <a:latin typeface="Arial MT"/>
                <a:cs typeface="Arial MT"/>
              </a:rPr>
              <a:t> </a:t>
            </a:r>
            <a:r>
              <a:rPr sz="2000" dirty="0">
                <a:latin typeface="Arial MT"/>
                <a:cs typeface="Arial MT"/>
              </a:rPr>
              <a:t>and</a:t>
            </a:r>
            <a:r>
              <a:rPr sz="2000" spc="-35" dirty="0">
                <a:latin typeface="Arial MT"/>
                <a:cs typeface="Arial MT"/>
              </a:rPr>
              <a:t> </a:t>
            </a:r>
            <a:r>
              <a:rPr sz="2000" dirty="0">
                <a:latin typeface="Arial MT"/>
                <a:cs typeface="Arial MT"/>
              </a:rPr>
              <a:t>is</a:t>
            </a:r>
            <a:r>
              <a:rPr sz="2000" spc="-15" dirty="0">
                <a:latin typeface="Arial MT"/>
                <a:cs typeface="Arial MT"/>
              </a:rPr>
              <a:t> </a:t>
            </a:r>
            <a:r>
              <a:rPr sz="2000" dirty="0">
                <a:latin typeface="Arial MT"/>
                <a:cs typeface="Arial MT"/>
              </a:rPr>
              <a:t>a</a:t>
            </a:r>
            <a:r>
              <a:rPr sz="2000" spc="-35" dirty="0">
                <a:latin typeface="Arial MT"/>
                <a:cs typeface="Arial MT"/>
              </a:rPr>
              <a:t> </a:t>
            </a:r>
            <a:r>
              <a:rPr sz="2000" dirty="0">
                <a:latin typeface="Arial MT"/>
                <a:cs typeface="Arial MT"/>
              </a:rPr>
              <a:t>compiled</a:t>
            </a:r>
            <a:r>
              <a:rPr sz="2000" spc="-30" dirty="0">
                <a:latin typeface="Arial MT"/>
                <a:cs typeface="Arial MT"/>
              </a:rPr>
              <a:t> </a:t>
            </a:r>
            <a:r>
              <a:rPr sz="2000" spc="-10" dirty="0">
                <a:latin typeface="Arial MT"/>
                <a:cs typeface="Arial MT"/>
              </a:rPr>
              <a:t>program.</a:t>
            </a:r>
            <a:endParaRPr sz="2000">
              <a:latin typeface="Arial MT"/>
              <a:cs typeface="Arial MT"/>
            </a:endParaRPr>
          </a:p>
        </p:txBody>
      </p:sp>
      <p:sp>
        <p:nvSpPr>
          <p:cNvPr id="22" name="object 22"/>
          <p:cNvSpPr/>
          <p:nvPr/>
        </p:nvSpPr>
        <p:spPr>
          <a:xfrm>
            <a:off x="2955036" y="2272664"/>
            <a:ext cx="5727065" cy="79375"/>
          </a:xfrm>
          <a:custGeom>
            <a:avLst/>
            <a:gdLst/>
            <a:ahLst/>
            <a:cxnLst/>
            <a:rect l="l" t="t" r="r" b="b"/>
            <a:pathLst>
              <a:path w="5727065" h="79375">
                <a:moveTo>
                  <a:pt x="697484" y="37719"/>
                </a:moveTo>
                <a:lnTo>
                  <a:pt x="685507" y="31838"/>
                </a:lnTo>
                <a:lnTo>
                  <a:pt x="621030" y="127"/>
                </a:lnTo>
                <a:lnTo>
                  <a:pt x="621233" y="31838"/>
                </a:lnTo>
                <a:lnTo>
                  <a:pt x="0" y="35941"/>
                </a:lnTo>
                <a:lnTo>
                  <a:pt x="0" y="48641"/>
                </a:lnTo>
                <a:lnTo>
                  <a:pt x="621322" y="44538"/>
                </a:lnTo>
                <a:lnTo>
                  <a:pt x="621538" y="76327"/>
                </a:lnTo>
                <a:lnTo>
                  <a:pt x="684072" y="44538"/>
                </a:lnTo>
                <a:lnTo>
                  <a:pt x="697484" y="37719"/>
                </a:lnTo>
                <a:close/>
              </a:path>
              <a:path w="5727065" h="79375">
                <a:moveTo>
                  <a:pt x="3372104" y="41275"/>
                </a:moveTo>
                <a:lnTo>
                  <a:pt x="3358807" y="34544"/>
                </a:lnTo>
                <a:lnTo>
                  <a:pt x="3296158" y="2794"/>
                </a:lnTo>
                <a:lnTo>
                  <a:pt x="3295942" y="34467"/>
                </a:lnTo>
                <a:lnTo>
                  <a:pt x="2782824" y="31369"/>
                </a:lnTo>
                <a:lnTo>
                  <a:pt x="2782824" y="44069"/>
                </a:lnTo>
                <a:lnTo>
                  <a:pt x="3295853" y="47167"/>
                </a:lnTo>
                <a:lnTo>
                  <a:pt x="3308604" y="47244"/>
                </a:lnTo>
                <a:lnTo>
                  <a:pt x="3295853" y="47244"/>
                </a:lnTo>
                <a:lnTo>
                  <a:pt x="3295650" y="78994"/>
                </a:lnTo>
                <a:lnTo>
                  <a:pt x="3360001" y="47244"/>
                </a:lnTo>
                <a:lnTo>
                  <a:pt x="3372104" y="41275"/>
                </a:lnTo>
                <a:close/>
              </a:path>
              <a:path w="5727065" h="79375">
                <a:moveTo>
                  <a:pt x="5726684" y="37719"/>
                </a:moveTo>
                <a:lnTo>
                  <a:pt x="5714708" y="31826"/>
                </a:lnTo>
                <a:lnTo>
                  <a:pt x="5650230" y="0"/>
                </a:lnTo>
                <a:lnTo>
                  <a:pt x="5650433" y="31826"/>
                </a:lnTo>
                <a:lnTo>
                  <a:pt x="5029200" y="34925"/>
                </a:lnTo>
                <a:lnTo>
                  <a:pt x="5029200" y="47625"/>
                </a:lnTo>
                <a:lnTo>
                  <a:pt x="5650522" y="44513"/>
                </a:lnTo>
                <a:lnTo>
                  <a:pt x="5650738" y="76200"/>
                </a:lnTo>
                <a:lnTo>
                  <a:pt x="5713273" y="44513"/>
                </a:lnTo>
                <a:lnTo>
                  <a:pt x="5726684" y="37719"/>
                </a:lnTo>
                <a:close/>
              </a:path>
            </a:pathLst>
          </a:custGeom>
          <a:solidFill>
            <a:srgbClr val="000000"/>
          </a:solidFill>
        </p:spPr>
        <p:txBody>
          <a:bodyPr wrap="square" lIns="0" tIns="0" rIns="0" bIns="0" rtlCol="0"/>
          <a:lstStyle/>
          <a:p/>
        </p:txBody>
      </p:sp>
      <p:sp>
        <p:nvSpPr>
          <p:cNvPr id="23" name="Date Placeholder 22"/>
          <p:cNvSpPr>
            <a:spLocks noGrp="1"/>
          </p:cNvSpPr>
          <p:nvPr>
            <p:ph type="dt" sz="half" idx="10"/>
          </p:nvPr>
        </p:nvSpPr>
        <p:spPr/>
        <p:txBody>
          <a:bodyPr/>
          <a:p>
            <a:fld id="{63A1C593-65D0-4073-BCC9-577B9352EA97}" type="datetime1">
              <a:rPr lang="en-US" smtClean="0"/>
            </a:fld>
            <a:endParaRPr lang="en-US"/>
          </a:p>
        </p:txBody>
      </p:sp>
      <p:sp>
        <p:nvSpPr>
          <p:cNvPr id="24" name="Slide Number Placeholder 2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540" y="725170"/>
            <a:ext cx="10773410" cy="689610"/>
          </a:xfrm>
          <a:prstGeom prst="rect">
            <a:avLst/>
          </a:prstGeom>
        </p:spPr>
        <p:txBody>
          <a:bodyPr vert="horz" wrap="square" lIns="0" tIns="12700" rIns="0" bIns="0" rtlCol="0">
            <a:spAutoFit/>
          </a:bodyPr>
          <a:lstStyle/>
          <a:p>
            <a:pPr marL="12700">
              <a:lnSpc>
                <a:spcPct val="100000"/>
              </a:lnSpc>
              <a:spcBef>
                <a:spcPts val="100"/>
              </a:spcBef>
              <a:tabLst>
                <a:tab pos="5880100" algn="l"/>
              </a:tabLst>
            </a:pPr>
            <a:r>
              <a:rPr dirty="0"/>
              <a:t>Getting</a:t>
            </a:r>
            <a:r>
              <a:rPr spc="-20" dirty="0"/>
              <a:t> </a:t>
            </a:r>
            <a:r>
              <a:rPr dirty="0"/>
              <a:t>Python</a:t>
            </a:r>
            <a:r>
              <a:rPr spc="-15" dirty="0"/>
              <a:t> </a:t>
            </a:r>
            <a:r>
              <a:rPr dirty="0"/>
              <a:t>for</a:t>
            </a:r>
            <a:r>
              <a:rPr spc="-15" dirty="0"/>
              <a:t> </a:t>
            </a:r>
            <a:r>
              <a:rPr spc="-10" dirty="0"/>
              <a:t>Yourself:</a:t>
            </a:r>
            <a:r>
              <a:rPr dirty="0"/>
              <a:t>	</a:t>
            </a:r>
            <a:r>
              <a:rPr spc="-10" dirty="0"/>
              <a:t>Anaconda</a:t>
            </a:r>
            <a:endParaRPr spc="-10" dirty="0"/>
          </a:p>
        </p:txBody>
      </p:sp>
      <p:sp>
        <p:nvSpPr>
          <p:cNvPr id="3" name="object 3"/>
          <p:cNvSpPr txBox="1"/>
          <p:nvPr/>
        </p:nvSpPr>
        <p:spPr>
          <a:xfrm>
            <a:off x="891641" y="1780603"/>
            <a:ext cx="10163175" cy="4697730"/>
          </a:xfrm>
          <a:prstGeom prst="rect">
            <a:avLst/>
          </a:prstGeom>
        </p:spPr>
        <p:txBody>
          <a:bodyPr vert="horz" wrap="square" lIns="0" tIns="86360" rIns="0" bIns="0" rtlCol="0">
            <a:spAutoFit/>
          </a:bodyPr>
          <a:lstStyle/>
          <a:p>
            <a:pPr marL="354965" indent="-342265">
              <a:lnSpc>
                <a:spcPct val="100000"/>
              </a:lnSpc>
              <a:spcBef>
                <a:spcPts val="680"/>
              </a:spcBef>
              <a:buClr>
                <a:srgbClr val="2575B4"/>
              </a:buClr>
              <a:buFont typeface="Wingdings" panose="05000000000000000000"/>
              <a:buChar char=""/>
              <a:tabLst>
                <a:tab pos="354965" algn="l"/>
              </a:tabLst>
            </a:pPr>
            <a:r>
              <a:rPr sz="2400" dirty="0">
                <a:latin typeface="Arial MT"/>
                <a:cs typeface="Arial MT"/>
              </a:rPr>
              <a:t>The</a:t>
            </a:r>
            <a:r>
              <a:rPr sz="2400" spc="-55" dirty="0">
                <a:latin typeface="Arial MT"/>
                <a:cs typeface="Arial MT"/>
              </a:rPr>
              <a:t> </a:t>
            </a:r>
            <a:r>
              <a:rPr sz="2400" dirty="0">
                <a:latin typeface="Arial MT"/>
                <a:cs typeface="Arial MT"/>
              </a:rPr>
              <a:t>most</a:t>
            </a:r>
            <a:r>
              <a:rPr sz="2400" spc="-50" dirty="0">
                <a:latin typeface="Arial MT"/>
                <a:cs typeface="Arial MT"/>
              </a:rPr>
              <a:t> </a:t>
            </a:r>
            <a:r>
              <a:rPr sz="2400" dirty="0">
                <a:latin typeface="Arial MT"/>
                <a:cs typeface="Arial MT"/>
              </a:rPr>
              <a:t>popular</a:t>
            </a:r>
            <a:r>
              <a:rPr sz="2400" spc="-30" dirty="0">
                <a:latin typeface="Arial MT"/>
                <a:cs typeface="Arial MT"/>
              </a:rPr>
              <a:t> </a:t>
            </a:r>
            <a:r>
              <a:rPr sz="2400" dirty="0">
                <a:latin typeface="Arial MT"/>
                <a:cs typeface="Arial MT"/>
              </a:rPr>
              <a:t>setup</a:t>
            </a:r>
            <a:r>
              <a:rPr sz="2400" spc="-65" dirty="0">
                <a:latin typeface="Arial MT"/>
                <a:cs typeface="Arial MT"/>
              </a:rPr>
              <a:t> </a:t>
            </a:r>
            <a:r>
              <a:rPr sz="2400" dirty="0">
                <a:latin typeface="Arial MT"/>
                <a:cs typeface="Arial MT"/>
              </a:rPr>
              <a:t>for</a:t>
            </a:r>
            <a:r>
              <a:rPr sz="2400" spc="-50" dirty="0">
                <a:latin typeface="Arial MT"/>
                <a:cs typeface="Arial MT"/>
              </a:rPr>
              <a:t> </a:t>
            </a:r>
            <a:r>
              <a:rPr sz="2400" dirty="0">
                <a:latin typeface="Arial MT"/>
                <a:cs typeface="Arial MT"/>
              </a:rPr>
              <a:t>personal</a:t>
            </a:r>
            <a:r>
              <a:rPr sz="2400" spc="-40" dirty="0">
                <a:latin typeface="Arial MT"/>
                <a:cs typeface="Arial MT"/>
              </a:rPr>
              <a:t> </a:t>
            </a:r>
            <a:r>
              <a:rPr sz="2400" spc="-10" dirty="0">
                <a:latin typeface="Arial MT"/>
                <a:cs typeface="Arial MT"/>
              </a:rPr>
              <a:t>computers</a:t>
            </a:r>
            <a:endParaRPr sz="2400">
              <a:latin typeface="Arial MT"/>
              <a:cs typeface="Arial MT"/>
            </a:endParaRPr>
          </a:p>
          <a:p>
            <a:pPr marL="354965" indent="-342265">
              <a:lnSpc>
                <a:spcPct val="100000"/>
              </a:lnSpc>
              <a:spcBef>
                <a:spcPts val="580"/>
              </a:spcBef>
              <a:buClr>
                <a:srgbClr val="2575B4"/>
              </a:buClr>
              <a:buFont typeface="Wingdings" panose="05000000000000000000"/>
              <a:buChar char=""/>
              <a:tabLst>
                <a:tab pos="354965" algn="l"/>
              </a:tabLst>
            </a:pPr>
            <a:r>
              <a:rPr sz="2400" u="sng" spc="-10" dirty="0">
                <a:solidFill>
                  <a:srgbClr val="009999"/>
                </a:solidFill>
                <a:uFill>
                  <a:solidFill>
                    <a:srgbClr val="009999"/>
                  </a:solidFill>
                </a:uFill>
                <a:latin typeface="Arial MT"/>
                <a:cs typeface="Arial MT"/>
                <a:hlinkClick r:id="rId1"/>
              </a:rPr>
              <a:t>https://www.anaconda.com/download/</a:t>
            </a:r>
            <a:endParaRPr sz="2400">
              <a:latin typeface="Arial MT"/>
              <a:cs typeface="Arial MT"/>
            </a:endParaRPr>
          </a:p>
          <a:p>
            <a:pPr>
              <a:lnSpc>
                <a:spcPct val="100000"/>
              </a:lnSpc>
              <a:spcBef>
                <a:spcPts val="1270"/>
              </a:spcBef>
              <a:buClr>
                <a:srgbClr val="2575B4"/>
              </a:buClr>
              <a:buFont typeface="Wingdings" panose="05000000000000000000"/>
              <a:buChar char=""/>
            </a:pPr>
            <a:endParaRPr sz="2400">
              <a:latin typeface="Arial MT"/>
              <a:cs typeface="Arial MT"/>
            </a:endParaRPr>
          </a:p>
          <a:p>
            <a:pPr marL="355600" marR="5080" indent="-342900">
              <a:lnSpc>
                <a:spcPct val="100000"/>
              </a:lnSpc>
              <a:buClr>
                <a:srgbClr val="2575B4"/>
              </a:buClr>
              <a:buFont typeface="Wingdings" panose="05000000000000000000"/>
              <a:buChar char=""/>
              <a:tabLst>
                <a:tab pos="355600" algn="l"/>
              </a:tabLst>
            </a:pPr>
            <a:r>
              <a:rPr sz="2400" dirty="0">
                <a:latin typeface="Arial MT"/>
                <a:cs typeface="Arial MT"/>
              </a:rPr>
              <a:t>Anaconda</a:t>
            </a:r>
            <a:r>
              <a:rPr sz="2400" spc="-60" dirty="0">
                <a:latin typeface="Arial MT"/>
                <a:cs typeface="Arial MT"/>
              </a:rPr>
              <a:t> </a:t>
            </a:r>
            <a:r>
              <a:rPr sz="2400" dirty="0">
                <a:latin typeface="Arial MT"/>
                <a:cs typeface="Arial MT"/>
              </a:rPr>
              <a:t>is</a:t>
            </a:r>
            <a:r>
              <a:rPr sz="2400" spc="-70" dirty="0">
                <a:latin typeface="Arial MT"/>
                <a:cs typeface="Arial MT"/>
              </a:rPr>
              <a:t> </a:t>
            </a:r>
            <a:r>
              <a:rPr sz="2400" dirty="0">
                <a:latin typeface="Arial MT"/>
                <a:cs typeface="Arial MT"/>
              </a:rPr>
              <a:t>a</a:t>
            </a:r>
            <a:r>
              <a:rPr sz="2400" spc="-75" dirty="0">
                <a:latin typeface="Arial MT"/>
                <a:cs typeface="Arial MT"/>
              </a:rPr>
              <a:t> </a:t>
            </a:r>
            <a:r>
              <a:rPr sz="2400" dirty="0">
                <a:latin typeface="Arial MT"/>
                <a:cs typeface="Arial MT"/>
              </a:rPr>
              <a:t>packaged</a:t>
            </a:r>
            <a:r>
              <a:rPr sz="2400" spc="-55" dirty="0">
                <a:latin typeface="Arial MT"/>
                <a:cs typeface="Arial MT"/>
              </a:rPr>
              <a:t> </a:t>
            </a:r>
            <a:r>
              <a:rPr sz="2400" dirty="0">
                <a:latin typeface="Arial MT"/>
                <a:cs typeface="Arial MT"/>
              </a:rPr>
              <a:t>set</a:t>
            </a:r>
            <a:r>
              <a:rPr sz="2400" spc="-70" dirty="0">
                <a:latin typeface="Arial MT"/>
                <a:cs typeface="Arial MT"/>
              </a:rPr>
              <a:t> </a:t>
            </a:r>
            <a:r>
              <a:rPr sz="2400" dirty="0">
                <a:latin typeface="Arial MT"/>
                <a:cs typeface="Arial MT"/>
              </a:rPr>
              <a:t>of</a:t>
            </a:r>
            <a:r>
              <a:rPr sz="2400" spc="-75" dirty="0">
                <a:latin typeface="Arial MT"/>
                <a:cs typeface="Arial MT"/>
              </a:rPr>
              <a:t> </a:t>
            </a:r>
            <a:r>
              <a:rPr sz="2400" dirty="0">
                <a:latin typeface="Arial MT"/>
                <a:cs typeface="Arial MT"/>
              </a:rPr>
              <a:t>programs</a:t>
            </a:r>
            <a:r>
              <a:rPr sz="2400" spc="-70" dirty="0">
                <a:latin typeface="Arial MT"/>
                <a:cs typeface="Arial MT"/>
              </a:rPr>
              <a:t> </a:t>
            </a:r>
            <a:r>
              <a:rPr sz="2400" dirty="0">
                <a:latin typeface="Arial MT"/>
                <a:cs typeface="Arial MT"/>
              </a:rPr>
              <a:t>including</a:t>
            </a:r>
            <a:r>
              <a:rPr sz="2400" spc="-30" dirty="0">
                <a:latin typeface="Arial MT"/>
                <a:cs typeface="Arial MT"/>
              </a:rPr>
              <a:t> </a:t>
            </a:r>
            <a:r>
              <a:rPr sz="2400" dirty="0">
                <a:latin typeface="Arial MT"/>
                <a:cs typeface="Arial MT"/>
              </a:rPr>
              <a:t>the</a:t>
            </a:r>
            <a:r>
              <a:rPr sz="2400" spc="-75" dirty="0">
                <a:latin typeface="Arial MT"/>
                <a:cs typeface="Arial MT"/>
              </a:rPr>
              <a:t> </a:t>
            </a:r>
            <a:r>
              <a:rPr sz="2400" dirty="0">
                <a:latin typeface="Arial MT"/>
                <a:cs typeface="Arial MT"/>
              </a:rPr>
              <a:t>Python</a:t>
            </a:r>
            <a:r>
              <a:rPr sz="2400" spc="-75" dirty="0">
                <a:latin typeface="Arial MT"/>
                <a:cs typeface="Arial MT"/>
              </a:rPr>
              <a:t> </a:t>
            </a:r>
            <a:r>
              <a:rPr sz="2400" spc="-10" dirty="0">
                <a:latin typeface="Arial MT"/>
                <a:cs typeface="Arial MT"/>
              </a:rPr>
              <a:t>language, </a:t>
            </a:r>
            <a:r>
              <a:rPr sz="2400" dirty="0">
                <a:latin typeface="Arial MT"/>
                <a:cs typeface="Arial MT"/>
              </a:rPr>
              <a:t>a</a:t>
            </a:r>
            <a:r>
              <a:rPr sz="2400" spc="-65" dirty="0">
                <a:latin typeface="Arial MT"/>
                <a:cs typeface="Arial MT"/>
              </a:rPr>
              <a:t> </a:t>
            </a:r>
            <a:r>
              <a:rPr sz="2400" dirty="0">
                <a:latin typeface="Arial MT"/>
                <a:cs typeface="Arial MT"/>
              </a:rPr>
              <a:t>huge</a:t>
            </a:r>
            <a:r>
              <a:rPr sz="2400" spc="-55" dirty="0">
                <a:latin typeface="Arial MT"/>
                <a:cs typeface="Arial MT"/>
              </a:rPr>
              <a:t> </a:t>
            </a:r>
            <a:r>
              <a:rPr sz="2400" dirty="0">
                <a:latin typeface="Arial MT"/>
                <a:cs typeface="Arial MT"/>
              </a:rPr>
              <a:t>number</a:t>
            </a:r>
            <a:r>
              <a:rPr sz="2400" spc="-65" dirty="0">
                <a:latin typeface="Arial MT"/>
                <a:cs typeface="Arial MT"/>
              </a:rPr>
              <a:t> </a:t>
            </a:r>
            <a:r>
              <a:rPr sz="2400" dirty="0">
                <a:latin typeface="Arial MT"/>
                <a:cs typeface="Arial MT"/>
              </a:rPr>
              <a:t>of</a:t>
            </a:r>
            <a:r>
              <a:rPr sz="2400" spc="-55" dirty="0">
                <a:latin typeface="Arial MT"/>
                <a:cs typeface="Arial MT"/>
              </a:rPr>
              <a:t> </a:t>
            </a:r>
            <a:r>
              <a:rPr sz="2400" dirty="0">
                <a:latin typeface="Arial MT"/>
                <a:cs typeface="Arial MT"/>
              </a:rPr>
              <a:t>libraries,</a:t>
            </a:r>
            <a:r>
              <a:rPr sz="2400" spc="-50" dirty="0">
                <a:latin typeface="Arial MT"/>
                <a:cs typeface="Arial MT"/>
              </a:rPr>
              <a:t> </a:t>
            </a:r>
            <a:r>
              <a:rPr sz="2400" dirty="0">
                <a:latin typeface="Arial MT"/>
                <a:cs typeface="Arial MT"/>
              </a:rPr>
              <a:t>and</a:t>
            </a:r>
            <a:r>
              <a:rPr sz="2400" spc="-60" dirty="0">
                <a:latin typeface="Arial MT"/>
                <a:cs typeface="Arial MT"/>
              </a:rPr>
              <a:t> </a:t>
            </a:r>
            <a:r>
              <a:rPr sz="2400" dirty="0">
                <a:latin typeface="Arial MT"/>
                <a:cs typeface="Arial MT"/>
              </a:rPr>
              <a:t>several</a:t>
            </a:r>
            <a:r>
              <a:rPr sz="2400" spc="-55" dirty="0">
                <a:latin typeface="Arial MT"/>
                <a:cs typeface="Arial MT"/>
              </a:rPr>
              <a:t> </a:t>
            </a:r>
            <a:r>
              <a:rPr sz="2400" spc="-10" dirty="0">
                <a:latin typeface="Arial MT"/>
                <a:cs typeface="Arial MT"/>
              </a:rPr>
              <a:t>tools.</a:t>
            </a:r>
            <a:endParaRPr sz="2400">
              <a:latin typeface="Arial MT"/>
              <a:cs typeface="Arial MT"/>
            </a:endParaRPr>
          </a:p>
          <a:p>
            <a:pPr marL="756285" lvl="1" indent="-286385">
              <a:lnSpc>
                <a:spcPct val="100000"/>
              </a:lnSpc>
              <a:spcBef>
                <a:spcPts val="485"/>
              </a:spcBef>
              <a:buClr>
                <a:srgbClr val="2575B4"/>
              </a:buClr>
              <a:buFont typeface="Wingdings" panose="05000000000000000000"/>
              <a:buChar char=""/>
              <a:tabLst>
                <a:tab pos="756285" algn="l"/>
              </a:tabLst>
            </a:pPr>
            <a:r>
              <a:rPr sz="2000" dirty="0">
                <a:latin typeface="Arial MT"/>
                <a:cs typeface="Arial MT"/>
              </a:rPr>
              <a:t>These</a:t>
            </a:r>
            <a:r>
              <a:rPr sz="2000" spc="-60" dirty="0">
                <a:latin typeface="Arial MT"/>
                <a:cs typeface="Arial MT"/>
              </a:rPr>
              <a:t> </a:t>
            </a:r>
            <a:r>
              <a:rPr sz="2000" dirty="0">
                <a:latin typeface="Arial MT"/>
                <a:cs typeface="Arial MT"/>
              </a:rPr>
              <a:t>include</a:t>
            </a:r>
            <a:r>
              <a:rPr sz="2000" spc="-40" dirty="0">
                <a:latin typeface="Arial MT"/>
                <a:cs typeface="Arial MT"/>
              </a:rPr>
              <a:t> </a:t>
            </a:r>
            <a:r>
              <a:rPr sz="2000" dirty="0">
                <a:latin typeface="Arial MT"/>
                <a:cs typeface="Arial MT"/>
              </a:rPr>
              <a:t>the</a:t>
            </a:r>
            <a:r>
              <a:rPr sz="2000" spc="-40" dirty="0">
                <a:latin typeface="Arial MT"/>
                <a:cs typeface="Arial MT"/>
              </a:rPr>
              <a:t> </a:t>
            </a:r>
            <a:r>
              <a:rPr sz="2000" b="1" dirty="0">
                <a:latin typeface="Arial" panose="020B0604020202020204"/>
                <a:cs typeface="Arial" panose="020B0604020202020204"/>
              </a:rPr>
              <a:t>Spyder</a:t>
            </a:r>
            <a:r>
              <a:rPr sz="2000" b="1" spc="5" dirty="0">
                <a:latin typeface="Arial" panose="020B0604020202020204"/>
                <a:cs typeface="Arial" panose="020B0604020202020204"/>
              </a:rPr>
              <a:t> </a:t>
            </a:r>
            <a:r>
              <a:rPr sz="2000" dirty="0">
                <a:latin typeface="Arial MT"/>
                <a:cs typeface="Arial MT"/>
              </a:rPr>
              <a:t>development</a:t>
            </a:r>
            <a:r>
              <a:rPr sz="2000" spc="-55" dirty="0">
                <a:latin typeface="Arial MT"/>
                <a:cs typeface="Arial MT"/>
              </a:rPr>
              <a:t> </a:t>
            </a:r>
            <a:r>
              <a:rPr sz="2000" dirty="0">
                <a:latin typeface="Arial MT"/>
                <a:cs typeface="Arial MT"/>
              </a:rPr>
              <a:t>environment</a:t>
            </a:r>
            <a:r>
              <a:rPr sz="2000" spc="-70" dirty="0">
                <a:latin typeface="Arial MT"/>
                <a:cs typeface="Arial MT"/>
              </a:rPr>
              <a:t> </a:t>
            </a:r>
            <a:r>
              <a:rPr sz="2000" dirty="0">
                <a:latin typeface="Arial MT"/>
                <a:cs typeface="Arial MT"/>
              </a:rPr>
              <a:t>and</a:t>
            </a:r>
            <a:r>
              <a:rPr sz="2000" spc="-40" dirty="0">
                <a:latin typeface="Arial MT"/>
                <a:cs typeface="Arial MT"/>
              </a:rPr>
              <a:t> </a:t>
            </a:r>
            <a:r>
              <a:rPr sz="2000" b="1" dirty="0">
                <a:latin typeface="Arial" panose="020B0604020202020204"/>
                <a:cs typeface="Arial" panose="020B0604020202020204"/>
              </a:rPr>
              <a:t>Jupyter</a:t>
            </a:r>
            <a:r>
              <a:rPr sz="2000" b="1" spc="-15" dirty="0">
                <a:latin typeface="Arial" panose="020B0604020202020204"/>
                <a:cs typeface="Arial" panose="020B0604020202020204"/>
              </a:rPr>
              <a:t> </a:t>
            </a:r>
            <a:r>
              <a:rPr sz="2000" spc="-10" dirty="0">
                <a:latin typeface="Arial MT"/>
                <a:cs typeface="Arial MT"/>
              </a:rPr>
              <a:t>notebooks.</a:t>
            </a:r>
            <a:endParaRPr sz="2000" spc="-10" dirty="0">
              <a:latin typeface="Arial MT"/>
              <a:cs typeface="Arial MT"/>
            </a:endParaRPr>
          </a:p>
          <a:p>
            <a:pPr marL="756285" lvl="1" indent="-286385">
              <a:lnSpc>
                <a:spcPct val="100000"/>
              </a:lnSpc>
              <a:spcBef>
                <a:spcPts val="485"/>
              </a:spcBef>
              <a:buClr>
                <a:srgbClr val="2575B4"/>
              </a:buClr>
              <a:buFont typeface="Wingdings" panose="05000000000000000000"/>
              <a:buChar char=""/>
              <a:tabLst>
                <a:tab pos="756285" algn="l"/>
              </a:tabLst>
            </a:pPr>
            <a:endParaRPr sz="2400">
              <a:latin typeface="Arial MT"/>
              <a:cs typeface="Arial MT"/>
            </a:endParaRPr>
          </a:p>
          <a:p>
            <a:pPr marL="12700" lvl="0" indent="0">
              <a:lnSpc>
                <a:spcPct val="100000"/>
              </a:lnSpc>
              <a:spcBef>
                <a:spcPts val="485"/>
              </a:spcBef>
              <a:buClr>
                <a:srgbClr val="2575B4"/>
              </a:buClr>
              <a:buFont typeface="Wingdings" panose="05000000000000000000"/>
              <a:buNone/>
              <a:tabLst>
                <a:tab pos="756285" algn="l"/>
              </a:tabLst>
            </a:pPr>
            <a:r>
              <a:rPr lang="en-US" altLang="en-US" sz="2400">
                <a:latin typeface="Arial MT"/>
                <a:cs typeface="Arial MT"/>
                <a:sym typeface="+mn-ea"/>
              </a:rPr>
              <a:t>Optional – Google Colab (No Installation Needed)</a:t>
            </a:r>
            <a:endParaRPr lang="en-US" altLang="en-US" sz="2400">
              <a:latin typeface="Arial MT"/>
              <a:cs typeface="Arial MT"/>
            </a:endParaRPr>
          </a:p>
          <a:p>
            <a:pPr marL="756285" lvl="1" indent="-286385">
              <a:lnSpc>
                <a:spcPct val="100000"/>
              </a:lnSpc>
              <a:spcBef>
                <a:spcPts val="485"/>
              </a:spcBef>
              <a:buClr>
                <a:srgbClr val="2575B4"/>
              </a:buClr>
              <a:buFont typeface="Wingdings" panose="05000000000000000000"/>
              <a:buChar char=""/>
              <a:tabLst>
                <a:tab pos="756285" algn="l"/>
              </a:tabLst>
            </a:pPr>
            <a:r>
              <a:rPr lang="en-US" altLang="en-US" sz="2400">
                <a:latin typeface="Arial MT"/>
                <a:cs typeface="Arial MT"/>
                <a:sym typeface="+mn-ea"/>
              </a:rPr>
              <a:t>Google Colab:</a:t>
            </a:r>
            <a:endParaRPr lang="en-US" altLang="en-US" sz="2400">
              <a:latin typeface="Arial MT"/>
              <a:cs typeface="Arial MT"/>
            </a:endParaRPr>
          </a:p>
          <a:p>
            <a:pPr marL="756285" lvl="1" indent="-286385">
              <a:lnSpc>
                <a:spcPct val="100000"/>
              </a:lnSpc>
              <a:spcBef>
                <a:spcPts val="485"/>
              </a:spcBef>
              <a:buClr>
                <a:srgbClr val="2575B4"/>
              </a:buClr>
              <a:buFont typeface="Wingdings" panose="05000000000000000000"/>
              <a:buChar char=""/>
              <a:tabLst>
                <a:tab pos="756285" algn="l"/>
              </a:tabLst>
            </a:pPr>
            <a:r>
              <a:rPr lang="en-US" altLang="en-US" sz="2400">
                <a:latin typeface="Arial MT"/>
                <a:cs typeface="Arial MT"/>
                <a:sym typeface="+mn-ea"/>
              </a:rPr>
              <a:t>https://colab.research.google.com/</a:t>
            </a:r>
            <a:endParaRPr lang="en-US" altLang="en-US" sz="2400">
              <a:latin typeface="Arial MT"/>
              <a:cs typeface="Arial MT"/>
            </a:endParaRPr>
          </a:p>
          <a:p>
            <a:pPr marL="756285" lvl="1" indent="-286385">
              <a:lnSpc>
                <a:spcPct val="100000"/>
              </a:lnSpc>
              <a:spcBef>
                <a:spcPts val="485"/>
              </a:spcBef>
              <a:buClr>
                <a:srgbClr val="2575B4"/>
              </a:buClr>
              <a:buFont typeface="Wingdings" panose="05000000000000000000"/>
              <a:buChar char=""/>
              <a:tabLst>
                <a:tab pos="756285" algn="l"/>
              </a:tabLst>
            </a:pPr>
            <a:endParaRPr sz="2400">
              <a:latin typeface="Arial MT"/>
              <a:cs typeface="Arial MT"/>
            </a:endParaRPr>
          </a:p>
        </p:txBody>
      </p:sp>
      <p:sp>
        <p:nvSpPr>
          <p:cNvPr id="4" name="Date Placeholder 3"/>
          <p:cNvSpPr>
            <a:spLocks noGrp="1"/>
          </p:cNvSpPr>
          <p:nvPr>
            <p:ph type="dt" sz="half" idx="10"/>
          </p:nvPr>
        </p:nvSpPr>
        <p:spPr/>
        <p:txBody>
          <a:bodyPr/>
          <a:p>
            <a:fld id="{63A1C593-65D0-4073-BCC9-577B9352EA97}" type="datetime1">
              <a:rPr lang="en-US" smtClean="0"/>
            </a:fld>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tags/tag1.xml><?xml version="1.0" encoding="utf-8"?>
<p:tagLst xmlns:p="http://schemas.openxmlformats.org/presentationml/2006/main">
  <p:tag name="TABLE_ENDDRAG_ORIGIN_RECT" val="765*415"/>
  <p:tag name="TABLE_ENDDRAG_RECT" val="55*116*765*415"/>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39196</Words>
  <Application>WPS Presentation</Application>
  <PresentationFormat>Widescreen</PresentationFormat>
  <Paragraphs>1422</Paragraphs>
  <Slides>112</Slides>
  <Notes>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112</vt:i4>
      </vt:variant>
    </vt:vector>
  </HeadingPairs>
  <TitlesOfParts>
    <vt:vector size="136" baseType="lpstr">
      <vt:lpstr>Arial</vt:lpstr>
      <vt:lpstr>SimSun</vt:lpstr>
      <vt:lpstr>Wingdings</vt:lpstr>
      <vt:lpstr>Calibri</vt:lpstr>
      <vt:lpstr>Tahoma</vt:lpstr>
      <vt:lpstr>Times New Roman</vt:lpstr>
      <vt:lpstr>Segoe UI Symbol</vt:lpstr>
      <vt:lpstr>Wingdings</vt:lpstr>
      <vt:lpstr>Georgia</vt:lpstr>
      <vt:lpstr>Times New Roman</vt:lpstr>
      <vt:lpstr>Microsoft YaHei</vt:lpstr>
      <vt:lpstr>Arial Unicode MS</vt:lpstr>
      <vt:lpstr>Wingdings</vt:lpstr>
      <vt:lpstr>Microsoft Sans Serif</vt:lpstr>
      <vt:lpstr>Roboto Lt</vt:lpstr>
      <vt:lpstr>Segoe Print</vt:lpstr>
      <vt:lpstr>Arial MT</vt:lpstr>
      <vt:lpstr>Arial</vt:lpstr>
      <vt:lpstr>Roboto</vt:lpstr>
      <vt:lpstr>Cambria</vt:lpstr>
      <vt:lpstr>Courier New</vt:lpstr>
      <vt:lpstr>Tahoma</vt:lpstr>
      <vt:lpstr>Calibri</vt:lpstr>
      <vt:lpstr>Default Design</vt:lpstr>
      <vt:lpstr>CSC 63106 – Artificial Intelligence   — Introduction to AI —</vt:lpstr>
      <vt:lpstr>Outline</vt:lpstr>
      <vt:lpstr>What is Artificial Intelligence ?</vt:lpstr>
      <vt:lpstr>Definition of AI</vt:lpstr>
      <vt:lpstr>Early History of AI</vt:lpstr>
      <vt:lpstr>Current status of AI</vt:lpstr>
      <vt:lpstr>Future of AI </vt:lpstr>
      <vt:lpstr>How does AI work? </vt:lpstr>
      <vt:lpstr>Processes in Artificial Intelligence</vt:lpstr>
      <vt:lpstr>Processes in Artificial Intelligence</vt:lpstr>
      <vt:lpstr>Processes in Artificial Intelligence</vt:lpstr>
      <vt:lpstr>Processes in Artificial Intelligence</vt:lpstr>
      <vt:lpstr>Goals of AI</vt:lpstr>
      <vt:lpstr>Some Advantages of Artificial Intelligence</vt:lpstr>
      <vt:lpstr>How safe is AI?</vt:lpstr>
      <vt:lpstr>Risks of AI</vt:lpstr>
      <vt:lpstr>Programming Without and With AI</vt:lpstr>
      <vt:lpstr>What Contributes to AI?</vt:lpstr>
      <vt:lpstr>Major Sub-fields of AI</vt:lpstr>
      <vt:lpstr>AI example: Email SPAM filter</vt:lpstr>
      <vt:lpstr>ML example: SPAM filter</vt:lpstr>
      <vt:lpstr>PowerPoint 演示文稿</vt:lpstr>
      <vt:lpstr>Activity: Which of the following applications are ML, AI, or neither?</vt:lpstr>
      <vt:lpstr>Concepts in Artificial Intelligence</vt:lpstr>
      <vt:lpstr>Concepts in Artificial Intelligence</vt:lpstr>
      <vt:lpstr>Concepts in Artificial Intelligence</vt:lpstr>
      <vt:lpstr>Concepts in Artificial Intelligence</vt:lpstr>
      <vt:lpstr>Unsupervised learning Machine learning</vt:lpstr>
      <vt:lpstr>Concepts in Artificial Intelligence</vt:lpstr>
      <vt:lpstr>Concepts in Artificial Intelligence</vt:lpstr>
      <vt:lpstr>Concepts in Artificial Intelligence</vt:lpstr>
      <vt:lpstr>Reinforcement learning Machine learning</vt:lpstr>
      <vt:lpstr>Reinforcement learning Machine learning</vt:lpstr>
      <vt:lpstr>Concepts in Artificial Intelligence</vt:lpstr>
      <vt:lpstr>Deep Learning</vt:lpstr>
      <vt:lpstr>PowerPoint 演示文稿</vt:lpstr>
      <vt:lpstr>Neural networks in Artificial Intelligence</vt:lpstr>
      <vt:lpstr>How do ANNs work?</vt:lpstr>
      <vt:lpstr>How do our brains work?</vt:lpstr>
      <vt:lpstr>How do our brains work?</vt:lpstr>
      <vt:lpstr>How do our brains work?</vt:lpstr>
      <vt:lpstr>How do ANNs work?</vt:lpstr>
      <vt:lpstr>How do ANNs work?</vt:lpstr>
      <vt:lpstr>How do ANNs work?</vt:lpstr>
      <vt:lpstr>How do ANNs work?</vt:lpstr>
      <vt:lpstr>How do ANNs work?</vt:lpstr>
      <vt:lpstr>The output is a function of the input, that is affected by the weights, and the transfer functions</vt:lpstr>
      <vt:lpstr>Artificial Neural Networks</vt:lpstr>
      <vt:lpstr>Neural networks in Artificial Intelligence</vt:lpstr>
      <vt:lpstr>Neural networks in Artificial Intelligence</vt:lpstr>
      <vt:lpstr>PowerPoint 演示文稿</vt:lpstr>
      <vt:lpstr>Deep Learning in Neural Networks</vt:lpstr>
      <vt:lpstr>Scope of Artificial Intelligence</vt:lpstr>
      <vt:lpstr>Scope of Artificial Intelligence</vt:lpstr>
      <vt:lpstr>The main topics in AI</vt:lpstr>
      <vt:lpstr>Computer Vision</vt:lpstr>
      <vt:lpstr>Computer Vision Tasks</vt:lpstr>
      <vt:lpstr>Computer Vision Tasks</vt:lpstr>
      <vt:lpstr>Natural Language Processing (NLP) Tasks</vt:lpstr>
      <vt:lpstr>NLP + CV: Multimodal</vt:lpstr>
      <vt:lpstr>Audio</vt:lpstr>
      <vt:lpstr>Activity</vt:lpstr>
      <vt:lpstr>Artificial Intelligence Techniques</vt:lpstr>
      <vt:lpstr>Artificial Intelligence Approach</vt:lpstr>
      <vt:lpstr>Artificial Intelligence Approach</vt:lpstr>
      <vt:lpstr>Artificial Intelligence Approach</vt:lpstr>
      <vt:lpstr>Components of Artificial Intelligence</vt:lpstr>
      <vt:lpstr>Three dimensional model of artificial intelligence</vt:lpstr>
      <vt:lpstr>Types of artificial intelligence</vt:lpstr>
      <vt:lpstr>Types of artificial intelligence</vt:lpstr>
      <vt:lpstr>Types of Artificial Intelligence</vt:lpstr>
      <vt:lpstr>Types of artificial intelligence</vt:lpstr>
      <vt:lpstr>Types of artificial intelligence</vt:lpstr>
      <vt:lpstr>ChatGPT and LLMs</vt:lpstr>
      <vt:lpstr>LLMs: Emerging properties</vt:lpstr>
      <vt:lpstr>LLMs: Additional applications</vt:lpstr>
      <vt:lpstr>LLMs: Hallucinations</vt:lpstr>
      <vt:lpstr>LLMs: Prompt Engineering</vt:lpstr>
      <vt:lpstr>LLMs: Retrieval Augmented Generation</vt:lpstr>
      <vt:lpstr>Types of artificial intelligence</vt:lpstr>
      <vt:lpstr>Types of artificial intelligence</vt:lpstr>
      <vt:lpstr>Types of artificial intelligence</vt:lpstr>
      <vt:lpstr>Types of artificial intelligence</vt:lpstr>
      <vt:lpstr>Types of artificial intelligence</vt:lpstr>
      <vt:lpstr>Applications of artificial intelligence</vt:lpstr>
      <vt:lpstr>Applications of Artificial Intelligence</vt:lpstr>
      <vt:lpstr>Applications of Artificial Intelligence</vt:lpstr>
      <vt:lpstr>Applications of Artificial Intelligence</vt:lpstr>
      <vt:lpstr>Applications of Artificial Intelligence</vt:lpstr>
      <vt:lpstr>AI Applications</vt:lpstr>
      <vt:lpstr>AI Applications</vt:lpstr>
      <vt:lpstr>AI Applications</vt:lpstr>
      <vt:lpstr>AI Applications</vt:lpstr>
      <vt:lpstr>AI Applications</vt:lpstr>
      <vt:lpstr>AI Applications</vt:lpstr>
      <vt:lpstr>AI Applications</vt:lpstr>
      <vt:lpstr>PowerPoint 演示文稿</vt:lpstr>
      <vt:lpstr>AI Applications</vt:lpstr>
      <vt:lpstr>AI Applications</vt:lpstr>
      <vt:lpstr>Types of bias in machine learning</vt:lpstr>
      <vt:lpstr>Bias in ML</vt:lpstr>
      <vt:lpstr>Mitigating bias</vt:lpstr>
      <vt:lpstr>Risk and Ethics in AI Projects: SI AI Values Statement</vt:lpstr>
      <vt:lpstr>Datasheets for datasets</vt:lpstr>
      <vt:lpstr>Activity</vt:lpstr>
      <vt:lpstr>Top Machine Learning Software Tools</vt:lpstr>
      <vt:lpstr>Top Machine Learning Software Tools</vt:lpstr>
      <vt:lpstr>Top Machine Learning Software Tools</vt:lpstr>
      <vt:lpstr>Python Programming Languages: Some History</vt:lpstr>
      <vt:lpstr>Compiled Languages</vt:lpstr>
      <vt:lpstr>Interpreted Languages</vt:lpstr>
      <vt:lpstr>Getting Python for Yourself:	Anaconda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63106 – Artificial Intelligence    — Introduction to AI —</dc:title>
  <dc:creator>Harriet Sibitenda</dc:creator>
  <cp:lastModifiedBy>sibitenda harriet</cp:lastModifiedBy>
  <cp:revision>6</cp:revision>
  <dcterms:created xsi:type="dcterms:W3CDTF">2025-08-14T02:00:00Z</dcterms:created>
  <dcterms:modified xsi:type="dcterms:W3CDTF">2025-08-19T19:00:48Z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D2611D5933414BA484205A90B4CA4735_12</vt:lpwstr>
  </property>
  <property fmtid="{D5CDD505-2E9C-101B-9397-08002B2CF9AE}" pid="3" name="KSOProductBuildVer">
    <vt:lpwstr>1033-12.2.0.22222</vt:lpwstr>
  </property>
</Properties>
</file>